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31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9966960" cy="6217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12263F"/>
                </a:solidFill>
                <a:latin typeface="Aptos"/>
              </a:rPr>
              <a:t>Desenvolvimento de Software Integrado - DevOps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11680"/>
            <a:ext cx="960120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ptos"/>
              </a:rPr>
              <a:t>Guia de aula | Turma 4 - Z251 | Semestre 2026.2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2788920"/>
            <a:ext cx="34747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" y="2788920"/>
            <a:ext cx="64008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926079"/>
            <a:ext cx="31546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Dados da turma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3319272"/>
            <a:ext cx="3154679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Curso/Turma: PG2305-04-Z251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Encontros: 10, 11, 12, 24, 25 e 26/09/2026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Carga horária: 24h presenciais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2788920"/>
            <a:ext cx="34747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2788920"/>
            <a:ext cx="64008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2926079"/>
            <a:ext cx="31546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Linha condutora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319272"/>
            <a:ext cx="3154679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Cultura e fluxo de valor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Automação de build, teste e entrega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Operação, observabilidade e melhoria contínua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47888" y="2788920"/>
            <a:ext cx="312724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2788920"/>
            <a:ext cx="64008" cy="1554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926079"/>
            <a:ext cx="2807208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IA na disciplina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319272"/>
            <a:ext cx="2807208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Apoio ao SDLC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Validação humana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Registro crítico de uso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83480"/>
            <a:ext cx="10561320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ptos"/>
              </a:rPr>
              <a:t>Use este material como roteiro de condução: cada encontro traz fala inicial, sequência de explicação, laboratório, evidências e fechamento.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1</a:t>
            </a:r>
          </a:p>
        </p:txBody>
      </p:sp>
      <p:pic>
        <p:nvPicPr>
          <p:cNvPr id="23" name="Picture 22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5474" y="347472"/>
            <a:ext cx="1525925" cy="530352"/>
          </a:xfrm>
          <a:prstGeom prst="rect">
            <a:avLst/>
          </a:prstGeom>
        </p:spPr>
      </p:pic>
      <p:pic>
        <p:nvPicPr>
          <p:cNvPr id="24" name="Picture 23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Como usar este guia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Estrutura para conduzir as aulas sem depender de improviso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4290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1508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3108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Antes da aula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3108960" cy="850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220">
                <a:solidFill>
                  <a:srgbClr val="475569"/>
                </a:solidFill>
                <a:latin typeface="Aptos"/>
              </a:defRPr>
            </a:pPr>
            <a:r>
              <a:t>• Leia o roteiro do encontro inteiro</a:t>
            </a:r>
          </a:p>
          <a:p>
            <a:pPr>
              <a:spcAft>
                <a:spcPts val="200"/>
              </a:spcAft>
              <a:defRPr sz="1220">
                <a:solidFill>
                  <a:srgbClr val="475569"/>
                </a:solidFill>
                <a:latin typeface="Aptos"/>
              </a:defRPr>
            </a:pPr>
            <a:r>
              <a:t>• Teste comandos e acessos no ambiente da turma</a:t>
            </a:r>
          </a:p>
          <a:p>
            <a:pPr>
              <a:spcAft>
                <a:spcPts val="200"/>
              </a:spcAft>
              <a:defRPr sz="1220">
                <a:solidFill>
                  <a:srgbClr val="475569"/>
                </a:solidFill>
                <a:latin typeface="Aptos"/>
              </a:defRPr>
            </a:pPr>
            <a:r>
              <a:t>• Separe repositório base, exemplos e evidências esperadas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00200"/>
            <a:ext cx="34290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600200"/>
            <a:ext cx="64008" cy="1508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737360"/>
            <a:ext cx="3108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Durante a aula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130552"/>
            <a:ext cx="3108960" cy="850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220">
                <a:solidFill>
                  <a:srgbClr val="475569"/>
                </a:solidFill>
                <a:latin typeface="Aptos"/>
              </a:defRPr>
            </a:pPr>
            <a:r>
              <a:t>• Abra com o problema prático do encontro</a:t>
            </a:r>
          </a:p>
          <a:p>
            <a:pPr>
              <a:spcAft>
                <a:spcPts val="200"/>
              </a:spcAft>
              <a:defRPr sz="1220">
                <a:solidFill>
                  <a:srgbClr val="475569"/>
                </a:solidFill>
                <a:latin typeface="Aptos"/>
              </a:defRPr>
            </a:pPr>
            <a:r>
              <a:t>• Explique somente o necessário para o laboratório</a:t>
            </a:r>
          </a:p>
          <a:p>
            <a:pPr>
              <a:spcAft>
                <a:spcPts val="200"/>
              </a:spcAft>
              <a:defRPr sz="1220">
                <a:solidFill>
                  <a:srgbClr val="475569"/>
                </a:solidFill>
                <a:latin typeface="Aptos"/>
              </a:defRPr>
            </a:pPr>
            <a:r>
              <a:t>• Faça demonstração curta e depois prática em grupo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600200"/>
            <a:ext cx="33832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600200"/>
            <a:ext cx="64008" cy="1508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57031" y="1737360"/>
            <a:ext cx="30632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Depois da aula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130552"/>
            <a:ext cx="3063240" cy="850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220">
                <a:solidFill>
                  <a:srgbClr val="475569"/>
                </a:solidFill>
                <a:latin typeface="Aptos"/>
              </a:defRPr>
            </a:pPr>
            <a:r>
              <a:t>• Colete evidências do projeto</a:t>
            </a:r>
          </a:p>
          <a:p>
            <a:pPr>
              <a:spcAft>
                <a:spcPts val="200"/>
              </a:spcAft>
              <a:defRPr sz="1220">
                <a:solidFill>
                  <a:srgbClr val="475569"/>
                </a:solidFill>
                <a:latin typeface="Aptos"/>
              </a:defRPr>
            </a:pPr>
            <a:r>
              <a:t>• Registre dúvidas recorrentes</a:t>
            </a:r>
          </a:p>
          <a:p>
            <a:pPr>
              <a:spcAft>
                <a:spcPts val="200"/>
              </a:spcAft>
              <a:defRPr sz="1220">
                <a:solidFill>
                  <a:srgbClr val="475569"/>
                </a:solidFill>
                <a:latin typeface="Aptos"/>
              </a:defRPr>
            </a:pPr>
            <a:r>
              <a:t>• Ajuste o próximo encontro a partir dos gargalos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703320"/>
            <a:ext cx="516636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703320"/>
            <a:ext cx="64008" cy="1280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" y="3840480"/>
            <a:ext cx="4846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Regra didática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" y="4233672"/>
            <a:ext cx="4846320" cy="6217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Cada bloco conceitual deve responder: para que serve, quando usar, como validar e qual evidência fica no projeto.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Evite aula expositiva longa: teoria entra conectada ao artefato que o aluno vai produzir.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703320"/>
            <a:ext cx="5257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703320"/>
            <a:ext cx="64008" cy="12801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840480"/>
            <a:ext cx="4937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Regra de 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233672"/>
            <a:ext cx="4937760" cy="6217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IA pode acelerar entendimento, implementação, revisão e diagnóstico.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Toda sugestão precisa de teste, revisão humana e registro do que foi aceito ou descartado.</a:t>
            </a:r>
          </a:p>
        </p:txBody>
      </p:sp>
      <p:pic>
        <p:nvPicPr>
          <p:cNvPr id="30" name="Picture 2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31" name="Picture 3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Visão geral da disciplina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O fio condutor dos seis encontros presenciais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Competência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Entregar software integrado com fluxo rastreável do código à operação.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Conectar cultura, processo, automação e evidências técnicas.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Usar IA como apoio supervisionado, não como atalho sem validação.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Artefatos que a turma constrói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Repositório com README e estratégia de branches.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Pipeline com build, testes e qualidade.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Dockerfile, compose.yaml e evidências de execução.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Plano de release, rollback e observabilidade.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Postura esperada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Pensar em fluxo de valor e feedback rápido.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Justificar decisões técnicas e tradeoffs.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Validar tudo que for automatizado ou sugerido por IA.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Registrar evidências em vez de só descrever intenção.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Objetivos de aprendizagem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O que o aluno deve conseguir fazer ao final da disciplina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Compreender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Explicar cultura DevOps e responsabilidade compartilhada.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Identificar gargalos entre desenvolvimento, qualidade e operação.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Relacionar métricas, feedback e melhoria contínua.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Construir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Aplicar Git e PRs com revisão objetiva.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Criar pipeline de CI com testes e artefatos.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Containerizar uma aplicação e padronizar execução.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Planejar CD com segurança básica e rollback.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Avaliar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Usar IA criticamente no SDLC.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Analisar logs, falhas, riscos e decisões.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Defender o projeto final com evidências executáveis.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Mapa dos encontros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Datas oficiais e foco de cada dia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1A31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572768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572768"/>
            <a:ext cx="73152" cy="6217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682495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0D9488"/>
                </a:solidFill>
                <a:latin typeface="Aptos"/>
              </a:rPr>
              <a:t>10/09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664208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Encontro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664208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Cultura DevOps, fluxo de valor, IA no SDLC e diagnóstico inicial.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295144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295144"/>
            <a:ext cx="73152" cy="6217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2404872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2563EB"/>
                </a:solidFill>
                <a:latin typeface="Aptos"/>
              </a:rPr>
              <a:t>11/09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2386584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Encontro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2386584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Git, colaboração, pull requests, qualidade e revisão assistida por 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017520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017520"/>
            <a:ext cx="73152" cy="6217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127248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16A34A"/>
                </a:solidFill>
                <a:latin typeface="Aptos"/>
              </a:rPr>
              <a:t>12/09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3108960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Encontro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108960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CI, testes automatizados, análise de logs e automação de feedback.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739896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739896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849624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EA580C"/>
                </a:solidFill>
                <a:latin typeface="Aptos"/>
              </a:rPr>
              <a:t>24/09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831335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Encontro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3831335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Docker, Compose, integração de serviços e troubleshooting.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462272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462272"/>
            <a:ext cx="73152" cy="6217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572000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7C3AED"/>
                </a:solidFill>
                <a:latin typeface="Aptos"/>
              </a:rPr>
              <a:t>25/09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4553712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Encontro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553712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CD, configuração, segurança, rollback e governança de IA.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184648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5184648"/>
            <a:ext cx="73152" cy="6217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5294376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D97706"/>
                </a:solidFill>
                <a:latin typeface="Aptos"/>
              </a:rPr>
              <a:t>26/09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5276088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Encontro 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276088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Observabilidade, incidente simulado, projeto integrador e apresentação final.</a:t>
            </a:r>
          </a:p>
        </p:txBody>
      </p:sp>
      <p:pic>
        <p:nvPicPr>
          <p:cNvPr id="40" name="Picture 3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41" name="Picture 4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Projeto integrador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Use o mesmo projeto como fio prático da disciplina inteira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Incrementos por encontro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E1: diagnóstico e proposta priorizada.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E2: repositório, PR e tag inicial.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E3: pipeline CI com testes.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E4: execução com Docker/Compose.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E5: release, rollback e segurança.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E6: observabilidade e defesa.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Critério de escolha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Aplicação pequena, mas realista.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Deve ter build, teste e execução local.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Ideal ter API + dependência externa ou banco.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Evitar stack complexa que consuma a aula inteira.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Evidência mínima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README de execução.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Print/log de pipeline.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Dockerfile e compose.yaml.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Registro de release/rollback.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Registro de uso de IA, quando aplicado.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Ferramentas e ambiente sugerido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Defina antes da primeira aula para reduzir perda de tempo em setup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Essencial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Git instalado e configurado.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Conta em GitHub, GitLab ou Azure DevOps.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Editor com terminal integrado.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Docker Desktop ou Docker Engine + Compose.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GitHub Actions é a opção mais simples para laboratório.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GitLab CI ou Azure Pipelines funcionam com a mesma lógica.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Use exemplos curtos e versionados no repositório da turma.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IA assistida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GitHub Copilot, ChatGPT/Codex, Cursor, Gemini Code Assist, Amazon Q ou equivalente.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Acesso opcional, mas o professor pode demonstrar.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Nunca exigir ferramenta paga individualmente.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Política prática de IA para a turma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Combine regras simples desde o primeiro encontro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40690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Pode usar IA para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Entender código, erro, log ou pipeline.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Propor testes, refatorações pequenas e documentação.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Gerar hipóteses de causa para falhas.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Revisar PRs com checklist explícito.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Comparar alternativas técnicas e tradeoffs.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64008" cy="406908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Não pode fazer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Enviar segredos, chaves, tokens ou dados pessoais.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Entregar código sem entender e validar.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Ocultar uso de IA quando ele impactou a entrega.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Aceitar comandos perigosos sem revisão.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Substituir teste, revisão e defesa técnica por texto gerado.</a:t>
            </a:r>
          </a:p>
        </p:txBody>
      </p:sp>
      <p:pic>
        <p:nvPicPr>
          <p:cNvPr id="18" name="Picture 17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19" name="Picture 18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Avaliação em linguagem operacional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Explique a rubrica como evidência produzida ao longo do curso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50% Fluxo de entrega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25% projeto funcional: repositório, execução e documentação.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25% pipeline CI: build, testes, qualidade e artefatos.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Evidência vale mais que relato.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35% Execução e operação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20% containers/Compose: ambiente reproduzível.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15% entrega/operação: release, rollback, segurança, logs e métricas.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Falha tratada conta como aprendizagem técnica.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15% Análise e defesa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10% diagnóstico DevOps com riscos e oportunidades de IA.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5% apresentação final com decisões e tradeoffs.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Uso de IA deve ser registrado e validado.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A31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011680"/>
            <a:ext cx="103327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3100" b="1">
                <a:solidFill>
                  <a:srgbClr val="12263F"/>
                </a:solidFill>
                <a:latin typeface="Aptos"/>
              </a:rPr>
              <a:t>Encontro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79192"/>
            <a:ext cx="93268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800" b="0">
                <a:solidFill>
                  <a:srgbClr val="475569"/>
                </a:solidFill>
                <a:latin typeface="Aptos"/>
              </a:rPr>
              <a:t>Cultura DevOps, IA no SDLC e 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3291840"/>
            <a:ext cx="4480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700" b="1">
                <a:solidFill>
                  <a:srgbClr val="1A31B0"/>
                </a:solidFill>
                <a:latin typeface="Aptos"/>
              </a:rPr>
              <a:t>10/09/2026 | 4h presenciais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4160520"/>
            <a:ext cx="84582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500" b="0">
                <a:solidFill>
                  <a:srgbClr val="0F172A"/>
                </a:solidFill>
                <a:latin typeface="Aptos"/>
              </a:rPr>
              <a:t>Objetivo: saber exatamente o que explicar, demonstrar, praticar e cobrar ao final do encontro.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10</a:t>
            </a:r>
          </a:p>
        </p:txBody>
      </p:sp>
      <p:pic>
        <p:nvPicPr>
          <p:cNvPr id="10" name="Picture 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3609" y="128016"/>
            <a:ext cx="789272" cy="274320"/>
          </a:xfrm>
          <a:prstGeom prst="rect">
            <a:avLst/>
          </a:prstGeom>
        </p:spPr>
      </p:pic>
      <p:pic>
        <p:nvPicPr>
          <p:cNvPr id="11" name="Picture 1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Encontro 1 - condução de 4h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Objetivo: sair com diagnóstico inicial e proposta priorizada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572768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572768"/>
            <a:ext cx="73152" cy="6217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682495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0D9488"/>
                </a:solidFill>
                <a:latin typeface="Aptos"/>
              </a:rPr>
              <a:t>0-20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664208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Abertura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664208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Apresente disciplina, projeto integrador, avaliação e regra de uso de 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295144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295144"/>
            <a:ext cx="73152" cy="6217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2404872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2563EB"/>
                </a:solidFill>
                <a:latin typeface="Aptos"/>
              </a:rPr>
              <a:t>20-55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2386584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Problema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2386584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Mostre o conflito Dev x Ops e conecte com atrasos, retrabalho e falhas tardias.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017520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017520"/>
            <a:ext cx="73152" cy="6217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127248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16A34A"/>
                </a:solidFill>
                <a:latin typeface="Aptos"/>
              </a:rPr>
              <a:t>55-95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3108960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Ciclo DevOps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108960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Explique Plan, Code, Build, Test, Release, Deploy, Operate, Monitor com exemplos.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739896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739896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849624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EA580C"/>
                </a:solidFill>
                <a:latin typeface="Aptos"/>
              </a:rPr>
              <a:t>95-125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831335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IA no SDLC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3831335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Demonstre usos seguros: análise, teste, revisão, documentação e logs.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462272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462272"/>
            <a:ext cx="73152" cy="6217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572000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7C3AED"/>
                </a:solidFill>
                <a:latin typeface="Aptos"/>
              </a:rPr>
              <a:t>125-210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4553712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Diagnóstico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553712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Grupos mapeiam fluxo, gargalos, riscos e oportunidade de automação/IA.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184648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5184648"/>
            <a:ext cx="73152" cy="6217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5294376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D97706"/>
                </a:solidFill>
                <a:latin typeface="Aptos"/>
              </a:rPr>
              <a:t>210-240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5276088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Fechamento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276088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Cada grupo apresenta uma melhoria priorizada e a evidência esperada.</a:t>
            </a:r>
          </a:p>
        </p:txBody>
      </p:sp>
      <p:pic>
        <p:nvPicPr>
          <p:cNvPr id="40" name="Picture 3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41" name="Picture 4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Conceitos essenciais - DevOps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Explique apenas o necessário para sustentar a prática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Mensagem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DevOps não é uma ferramenta.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É integração entre cultura, processo, automação e medição.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O objetivo é reduzir tempo de ciclo sem perder qualidade e segurança.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Modelos úteis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CALMS: cultura, automação, lean, medição e compartilhamento.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Fluxo de valor: do pedido ao software em produção.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Feedback rápido: erro descoberto cedo é mais barato.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Métricas para citar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Lead time for changes.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Deployment frequency.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Change failure rate.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Mean time to restore.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Use como linguagem de decisão, não como decoração.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IA no ciclo DevOps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Mostre IA como apoio transversal, não como módulo isolado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Antes de codar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Transformar demanda em critérios de aceite.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Identificar riscos e dependências.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Explicar arquitetura ou código existente.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Durante a construção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Sugerir implementação incremental.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Gerar testes e cenários de borda.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Revisar diff e documentação.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Depois da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Interpretar logs e falhas de pipeline.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Gerar hipóteses para incidente simulado.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Ajudar em runbook e release notes.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Atividade 1 - diagnóstico DevOps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Como conduzir em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572768"/>
            <a:ext cx="32461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572768"/>
            <a:ext cx="64008" cy="2880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09928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Passo 1: mapear fluxo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03120"/>
            <a:ext cx="2926079" cy="222199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Começar em uma demanda simples.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Listar etapas até a entrega em produção ou homologação.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Marcar esperas, retrabalho e aprovações manuais.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572768"/>
            <a:ext cx="32461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572768"/>
            <a:ext cx="64008" cy="2880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09928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Passo 2: classificar gargalos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03120"/>
            <a:ext cx="2926079" cy="222199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Cultura: donos, comunicação, responsabilidade.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Processo: filas, aprovações, ausência de padrão.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Ferramenta/dado: falta de pipeline, logs, métricas, testes.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572768"/>
            <a:ext cx="32461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572768"/>
            <a:ext cx="64008" cy="2880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09928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Passo 3: priorizar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03120"/>
            <a:ext cx="2926079" cy="222199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Escolher 3 melhorias.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Para cada uma: impacto, esforço, risco e evidência.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Indicar onde IA pode ajudar e onde pode aumentar risco.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681728"/>
            <a:ext cx="107899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681728"/>
            <a:ext cx="64008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" y="4818888"/>
            <a:ext cx="104698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Entrega/evidência ao final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" y="5212080"/>
            <a:ext cx="10469880" cy="21031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Mapa do fluxo atual.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Tabela com 3 gargalos priorizados.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Uma melhoria escolhida para alimentar o projeto integrador.</a:t>
            </a:r>
          </a:p>
        </p:txBody>
      </p:sp>
      <p:pic>
        <p:nvPicPr>
          <p:cNvPr id="26" name="Picture 25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7" name="Picture 26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Prompts úteis - 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Use em demonstração controlada, sem dados sensíveis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08760"/>
            <a:ext cx="2103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>
                <a:solidFill>
                  <a:srgbClr val="2563EB"/>
                </a:solidFill>
                <a:latin typeface="Aptos"/>
              </a:rPr>
              <a:t>Mapear fluxo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490472"/>
            <a:ext cx="845820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2" y="1618488"/>
            <a:ext cx="8129016" cy="58521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E2E8F0"/>
                </a:solidFill>
                <a:latin typeface="Aptos Mono"/>
              </a:rPr>
              <a:t>Atue como consultor DevOps. Com base no fluxo abaixo, identifique gargalos, riscos e pontos de automação.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Fluxo: &lt;descrever sem dados sensíveis&gt;.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Responda em tabela: etapa, gargalo, impacto, evidência, melhoria.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532888"/>
            <a:ext cx="2103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>
                <a:solidFill>
                  <a:srgbClr val="7C3AED"/>
                </a:solidFill>
                <a:latin typeface="Aptos"/>
              </a:rPr>
              <a:t>Criticar melhoria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514600"/>
            <a:ext cx="845820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2642616"/>
            <a:ext cx="8129016" cy="58521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E2E8F0"/>
                </a:solidFill>
                <a:latin typeface="Aptos Mono"/>
              </a:rPr>
              <a:t>Avalie esta proposta de melhoria DevOps. Aponte premissas frágeis, riscos operacionais e como medir se funcionou.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Proposta: &lt;texto&gt;.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557016"/>
            <a:ext cx="2103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>
                <a:solidFill>
                  <a:srgbClr val="16A34A"/>
                </a:solidFill>
                <a:latin typeface="Aptos"/>
              </a:rPr>
              <a:t>Definir métrica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538728"/>
            <a:ext cx="845820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07792" y="3666744"/>
            <a:ext cx="8129016" cy="58521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E2E8F0"/>
                </a:solidFill>
                <a:latin typeface="Aptos Mono"/>
              </a:rPr>
              <a:t>Para o gargalo abaixo, sugira uma métrica simples, como coletar a evidência e qual decisão essa métrica apoiaria.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Gargalo: &lt;texto&gt;.</a:t>
            </a:r>
          </a:p>
        </p:txBody>
      </p:sp>
      <p:pic>
        <p:nvPicPr>
          <p:cNvPr id="19" name="Picture 18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0" name="Picture 19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Fechamento do Encontro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O que precisa ficar pronto para começar Git e colaboração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4069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Checklist do professor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Confirmar grupos e projetos.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Ver se todos têm Git e conta no provedor escolhido.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Recolher diagnóstico em formato editável.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Separar 2 ou 3 diagnósticos para comentar no início do Encontro 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64008" cy="4069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Tarefa da turma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Refinar a proposta de melhoria escolhida.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Criar ou escolher a aplicação base do grupo.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Levar ao próximo encontro: nome do projeto, stack, comandos de execução e principal risco técnico.</a:t>
            </a:r>
          </a:p>
        </p:txBody>
      </p:sp>
      <p:pic>
        <p:nvPicPr>
          <p:cNvPr id="18" name="Picture 17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19" name="Picture 18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A31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011680"/>
            <a:ext cx="103327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3100" b="1">
                <a:solidFill>
                  <a:srgbClr val="12263F"/>
                </a:solidFill>
                <a:latin typeface="Aptos"/>
              </a:rPr>
              <a:t>Encontro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79192"/>
            <a:ext cx="93268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800" b="0">
                <a:solidFill>
                  <a:srgbClr val="475569"/>
                </a:solidFill>
                <a:latin typeface="Aptos"/>
              </a:rPr>
              <a:t>Git, colaboração, qualidade e IA assistida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3291840"/>
            <a:ext cx="4480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700" b="1">
                <a:solidFill>
                  <a:srgbClr val="1A31B0"/>
                </a:solidFill>
                <a:latin typeface="Aptos"/>
              </a:rPr>
              <a:t>11/09/2026 | 4h presenciais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4160520"/>
            <a:ext cx="84582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500" b="0">
                <a:solidFill>
                  <a:srgbClr val="0F172A"/>
                </a:solidFill>
                <a:latin typeface="Aptos"/>
              </a:rPr>
              <a:t>Objetivo: saber exatamente o que explicar, demonstrar, praticar e cobrar ao final do encontro.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17</a:t>
            </a:r>
          </a:p>
        </p:txBody>
      </p:sp>
      <p:pic>
        <p:nvPicPr>
          <p:cNvPr id="10" name="Picture 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3609" y="128016"/>
            <a:ext cx="789272" cy="274320"/>
          </a:xfrm>
          <a:prstGeom prst="rect">
            <a:avLst/>
          </a:prstGeom>
        </p:spPr>
      </p:pic>
      <p:pic>
        <p:nvPicPr>
          <p:cNvPr id="11" name="Picture 1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Encontro 2 - condução de 4h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Objetivo: repositório organizado, PR revisado e primeira tag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572768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572768"/>
            <a:ext cx="73152" cy="6217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682495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0D9488"/>
                </a:solidFill>
                <a:latin typeface="Aptos"/>
              </a:rPr>
              <a:t>0-20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664208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Retomada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664208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Revisite diagnósticos e conecte gargalos com versionamento e colaboração.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295144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295144"/>
            <a:ext cx="73152" cy="6217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2404872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2563EB"/>
                </a:solidFill>
                <a:latin typeface="Aptos"/>
              </a:rPr>
              <a:t>20-55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2386584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Fluxo Git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2386584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Explique clone, branch, commit, push, pull request, review, merge e tag.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017520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017520"/>
            <a:ext cx="73152" cy="6217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127248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16A34A"/>
                </a:solidFill>
                <a:latin typeface="Aptos"/>
              </a:rPr>
              <a:t>55-95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3108960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Qualidade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108960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Defina README, padrões de commit, revisão e Definition of Done.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739896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739896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849624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EA580C"/>
                </a:solidFill>
                <a:latin typeface="Aptos"/>
              </a:rPr>
              <a:t>95-130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831335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IA assistida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3831335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Demonstre explicação de código, sugestão de teste e revisão de diff.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462272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462272"/>
            <a:ext cx="73152" cy="6217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572000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7C3AED"/>
                </a:solidFill>
                <a:latin typeface="Aptos"/>
              </a:rPr>
              <a:t>130-215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4553712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Laboratório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553712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Grupos criam fluxo colaborativo e abrem PR pequeno com checklist.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184648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5184648"/>
            <a:ext cx="73152" cy="6217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5294376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D97706"/>
                </a:solidFill>
                <a:latin typeface="Aptos"/>
              </a:rPr>
              <a:t>215-240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5276088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Fechamento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276088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Cada grupo mostra PR, decisão de revisão e tag inicial.</a:t>
            </a:r>
          </a:p>
        </p:txBody>
      </p:sp>
      <p:pic>
        <p:nvPicPr>
          <p:cNvPr id="40" name="Picture 3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41" name="Picture 4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Fluxo Git recomendado para a disciplina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Mantenha simples e rastreável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Branches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main: versão estável do projeto.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feature/&lt;tema&gt;: alteração pequena e revisável.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Evitar commits direto na main depois do primeiro encontro prático.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Pull request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Toda mudança relevante passa por PR.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PR deve ter objetivo, evidência de teste e risco conhecido.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Comentário de revisão deve discutir comportamento, não preferência pessoal.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Versionamento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Tag inicial: v0.1.0 ou aula-02.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Tags posteriores para releases de laboratório.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README deve indicar como executar a versão atual.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64592" y="128016"/>
            <a:ext cx="-329184" cy="-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50" b="0">
                <a:solidFill>
                  <a:srgbClr val="E2E8F0"/>
                </a:solidFill>
                <a:latin typeface="Aptos Mono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Laboratório Git - comandos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Use como roteiro mínimo; adapte para GitHub, GitLab ou Azure DevOps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508760"/>
            <a:ext cx="5303520" cy="3520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636776"/>
            <a:ext cx="4974336" cy="32644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30" b="0">
                <a:solidFill>
                  <a:srgbClr val="E2E8F0"/>
                </a:solidFill>
                <a:latin typeface="Aptos Mono"/>
              </a:rPr>
              <a:t># 1. Clonar ou iniciar repositório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git clone &lt;url-do-repositorio&gt;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cd &lt;nome-do-projeto&gt;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# 2. Criar branch de trabalho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git switch -c feature/readme-inicial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# 3. Alterar README e conferir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git status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git diff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# 4. Registrar alteração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git add README.md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git commit -m "docs: adiciona instrucoes iniciais"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08760"/>
            <a:ext cx="5074920" cy="3520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636776"/>
            <a:ext cx="4745736" cy="32644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30" b="0">
                <a:solidFill>
                  <a:srgbClr val="E2E8F0"/>
                </a:solidFill>
                <a:latin typeface="Aptos Mono"/>
              </a:rPr>
              <a:t># 5. Enviar branch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git push -u origin feature/readme-inicial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# 6. Abrir Pull Request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# No provedor: preencher objetivo, evidencias e riscos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# 7. Depois do merge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git switch main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git pull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git tag v0.1.0</a:t>
            </a:r>
          </a:p>
          <a:p>
            <a:r>
              <a:rPr sz="930" b="0">
                <a:solidFill>
                  <a:srgbClr val="E2E8F0"/>
                </a:solidFill>
                <a:latin typeface="Aptos Mono"/>
              </a:rPr>
              <a:t>git push origin v0.1.0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30368"/>
            <a:ext cx="106527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5230368"/>
            <a:ext cx="64008" cy="5029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367528"/>
            <a:ext cx="10332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Atenção em sala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760720"/>
            <a:ext cx="10332720" cy="-155447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40">
                <a:solidFill>
                  <a:srgbClr val="475569"/>
                </a:solidFill>
                <a:latin typeface="Aptos"/>
              </a:defRPr>
            </a:pPr>
            <a:r>
              <a:t>• Não gaste tempo ensinando todos os comandos Git; foque no fluxo colaborativo e na rastreabilidade da decisão.</a:t>
            </a:r>
          </a:p>
        </p:txBody>
      </p:sp>
      <p:pic>
        <p:nvPicPr>
          <p:cNvPr id="20" name="Picture 1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1" name="Picture 2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Revisão de PR com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Como usar sem perder o controle técnico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572768"/>
            <a:ext cx="32461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572768"/>
            <a:ext cx="64008" cy="2880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09928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Preparar o 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03120"/>
            <a:ext cx="2926079" cy="222199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Explicar objetivo da mudança.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Colar apenas diff ou trecho não sensível.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Informar stack, testes existentes e critérios de aceite.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572768"/>
            <a:ext cx="32461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572768"/>
            <a:ext cx="64008" cy="2880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09928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Pedir revisão objetiva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03120"/>
            <a:ext cx="2926079" cy="222199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Solicitar bugs, regressões, segurança e testes faltantes.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Pedir severidade e justificativa.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Evitar pergunta genérica: “está bom?”.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572768"/>
            <a:ext cx="32461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572768"/>
            <a:ext cx="64008" cy="2880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09928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Validar resultado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03120"/>
            <a:ext cx="2926079" cy="222199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Conferir cada sugestão no código.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Executar testes/lint/build.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Registrar o que foi aceito, rejeitado e por quê.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681728"/>
            <a:ext cx="107899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681728"/>
            <a:ext cx="64008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" y="4818888"/>
            <a:ext cx="104698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Entrega/evidência ao final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" y="5212080"/>
            <a:ext cx="10469880" cy="21031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PR com checklist humano.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Comentário de revisão ou resumo da análise.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Registro do uso de IA, caso tenha sido aplicada.</a:t>
            </a:r>
          </a:p>
        </p:txBody>
      </p:sp>
      <p:pic>
        <p:nvPicPr>
          <p:cNvPr id="26" name="Picture 25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7" name="Picture 26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Prompts úteis - revisão e qualidade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Modelos para demonstrar em sala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08760"/>
            <a:ext cx="2103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>
                <a:solidFill>
                  <a:srgbClr val="2563EB"/>
                </a:solidFill>
                <a:latin typeface="Aptos"/>
              </a:rPr>
              <a:t>Revisar PR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490472"/>
            <a:ext cx="845820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2" y="1618488"/>
            <a:ext cx="8129016" cy="58521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E2E8F0"/>
                </a:solidFill>
                <a:latin typeface="Aptos Mono"/>
              </a:rPr>
              <a:t>Atue como revisor sênior. Revise apenas o diff abaixo buscando bugs, regressões, riscos de segurança e testes ausentes.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Formato: severidade, arquivo/trecho, problema, sugestão e validação necessária.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Diff: &lt;colar diff sem segredos&gt;.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532888"/>
            <a:ext cx="2103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>
                <a:solidFill>
                  <a:srgbClr val="16A34A"/>
                </a:solidFill>
                <a:latin typeface="Aptos"/>
              </a:rPr>
              <a:t>Gerar teste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514600"/>
            <a:ext cx="845820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2642616"/>
            <a:ext cx="8129016" cy="58521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E2E8F0"/>
                </a:solidFill>
                <a:latin typeface="Aptos Mono"/>
              </a:rPr>
              <a:t>Com base nesta função e nos critérios de aceite, sugira testes unitários e casos de borda. Não altere a API pública sem justificar.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Código: &lt;trecho&gt;.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Critérios: &lt;lista&gt;.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557016"/>
            <a:ext cx="2103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>
                <a:solidFill>
                  <a:srgbClr val="EA580C"/>
                </a:solidFill>
                <a:latin typeface="Aptos"/>
              </a:rPr>
              <a:t>Melhorar README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538728"/>
            <a:ext cx="845820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07792" y="3666744"/>
            <a:ext cx="8129016" cy="58521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E2E8F0"/>
                </a:solidFill>
                <a:latin typeface="Aptos Mono"/>
              </a:rPr>
              <a:t>Reescreva as instruções de execução abaixo para ficarem reproduzíveis por uma pessoa que acabou de clonar o projeto. Indique comandos, variáveis e pré-requisitos.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README atual: &lt;texto&gt;.</a:t>
            </a:r>
          </a:p>
        </p:txBody>
      </p:sp>
      <p:pic>
        <p:nvPicPr>
          <p:cNvPr id="19" name="Picture 18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0" name="Picture 19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Fechamento do Encontro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O que deve estar pronto para CI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4069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Checklist do professor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Conferir se cada grupo tem repositório acessível.</a:t>
            </a:r>
          </a:p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Ver PR aberto ou já mergeado.</a:t>
            </a:r>
          </a:p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Ver README com comando de execução.</a:t>
            </a:r>
          </a:p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Checar tag inicial e padrão mínimo de commits.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64008" cy="4069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Tarefa da turma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Garantir que o projeto rode localmente.</a:t>
            </a:r>
          </a:p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Criar pelo menos um teste simples se ainda não existir.</a:t>
            </a:r>
          </a:p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Levar para o Encontro 3: comando de instalação, build e teste.</a:t>
            </a:r>
          </a:p>
        </p:txBody>
      </p:sp>
      <p:pic>
        <p:nvPicPr>
          <p:cNvPr id="18" name="Picture 17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19" name="Picture 18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A31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011680"/>
            <a:ext cx="103327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3100" b="1">
                <a:solidFill>
                  <a:srgbClr val="12263F"/>
                </a:solidFill>
                <a:latin typeface="Aptos"/>
              </a:rPr>
              <a:t>Encontro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79192"/>
            <a:ext cx="93268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800" b="0">
                <a:solidFill>
                  <a:srgbClr val="475569"/>
                </a:solidFill>
                <a:latin typeface="Aptos"/>
              </a:rPr>
              <a:t>Integração contínua, testes e IA para automação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3291840"/>
            <a:ext cx="4480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700" b="1">
                <a:solidFill>
                  <a:srgbClr val="1A31B0"/>
                </a:solidFill>
                <a:latin typeface="Aptos"/>
              </a:rPr>
              <a:t>12/09/2026 | 4h presenciais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4160520"/>
            <a:ext cx="84582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500" b="0">
                <a:solidFill>
                  <a:srgbClr val="0F172A"/>
                </a:solidFill>
                <a:latin typeface="Aptos"/>
              </a:rPr>
              <a:t>Objetivo: saber exatamente o que explicar, demonstrar, praticar e cobrar ao final do encontro.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24</a:t>
            </a:r>
          </a:p>
        </p:txBody>
      </p:sp>
      <p:pic>
        <p:nvPicPr>
          <p:cNvPr id="10" name="Picture 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3609" y="128016"/>
            <a:ext cx="789272" cy="274320"/>
          </a:xfrm>
          <a:prstGeom prst="rect">
            <a:avLst/>
          </a:prstGeom>
        </p:spPr>
      </p:pic>
      <p:pic>
        <p:nvPicPr>
          <p:cNvPr id="11" name="Picture 1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Encontro 3 - condução de 4h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Objetivo: pipeline rodando a cada push/PR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572768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572768"/>
            <a:ext cx="73152" cy="6217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682495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0D9488"/>
                </a:solidFill>
                <a:latin typeface="Aptos"/>
              </a:rPr>
              <a:t>0-20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664208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Retomada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664208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Mostre 1 PR bom e 1 lacuna comum: falta de teste, README ou evidência.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295144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295144"/>
            <a:ext cx="73152" cy="6217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2404872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2563EB"/>
                </a:solidFill>
                <a:latin typeface="Aptos"/>
              </a:rPr>
              <a:t>20-55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2386584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CI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2386584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Explique gatilhos, runner, jobs, steps, cache, artefatos e logs.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017520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017520"/>
            <a:ext cx="73152" cy="6217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127248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16A34A"/>
                </a:solidFill>
                <a:latin typeface="Aptos"/>
              </a:rPr>
              <a:t>55-85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3108960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Testes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108960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Diferencie teste unitário, integração e smoke test para o projeto.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739896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739896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849624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EA580C"/>
                </a:solidFill>
                <a:latin typeface="Aptos"/>
              </a:rPr>
              <a:t>85-120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831335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Demo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3831335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Crie pipeline mínimo e force uma falha para ler o log.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462272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462272"/>
            <a:ext cx="73152" cy="6217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572000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7C3AED"/>
                </a:solidFill>
                <a:latin typeface="Aptos"/>
              </a:rPr>
              <a:t>120-215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4553712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Laboratório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553712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Grupos implementam CI e registram evidências.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184648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5184648"/>
            <a:ext cx="73152" cy="6217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5294376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D97706"/>
                </a:solidFill>
                <a:latin typeface="Aptos"/>
              </a:rPr>
              <a:t>215-240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5276088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Fechamento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276088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Cada grupo mostra badge/log de execução e uma correção feita.</a:t>
            </a:r>
          </a:p>
        </p:txBody>
      </p:sp>
      <p:pic>
        <p:nvPicPr>
          <p:cNvPr id="40" name="Picture 3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41" name="Picture 4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CI explicado de forma prática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Use exemplos curtos e sempre mostre o log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Por que existe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Detectar quebra de integração cedo.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Padronizar build e testes fora da máquina do aluno.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Criar evidência objetiva para PR e release.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Componentes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Trigger: quando executar.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Runner: onde executar.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Job/step: o que executar.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Artifact/cache: o que guardar ou reaproveitar.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Erros comuns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Pipeline verde sem teste real.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Comando que só funciona localmente.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Segredo exposto em variável/log.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Falha ignorada para “passar” a entrega.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Pipeline mínimo - exemplo GitHub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Troque os comandos conforme a stack do projeto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81328"/>
            <a:ext cx="5349240" cy="4206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609344"/>
            <a:ext cx="5020055" cy="39502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80" b="0">
                <a:solidFill>
                  <a:srgbClr val="E2E8F0"/>
                </a:solidFill>
                <a:latin typeface="Aptos Mono"/>
              </a:rPr>
              <a:t>name: ci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on: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  pull_request: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  push: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    branches: [main]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jobs: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  build-test: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    runs-on: ubuntu-latest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    steps: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      - uses: actions/checkout@v4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      - uses: actions/setup-node@v4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        with: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          node-version: 22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          cache: npm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      - run: npm ci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      - run: npm test</a:t>
            </a:r>
          </a:p>
          <a:p>
            <a:r>
              <a:rPr sz="880" b="0">
                <a:solidFill>
                  <a:srgbClr val="E2E8F0"/>
                </a:solidFill>
                <a:latin typeface="Aptos Mono"/>
              </a:rPr>
              <a:t>      - run: npm run build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481328"/>
            <a:ext cx="4983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481328"/>
            <a:ext cx="64008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618488"/>
            <a:ext cx="46634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Como explicar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2011680"/>
            <a:ext cx="4663440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O YAML declara quando executar e qual sequência de validação será feita.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O pipeline deve falhar quando build ou testes falharem.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907792"/>
            <a:ext cx="4983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2907792"/>
            <a:ext cx="64008" cy="1234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3044952"/>
            <a:ext cx="46634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Como adaptar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3438144"/>
            <a:ext cx="4663440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Node pode virar Python, Java, Go ou .NET.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A lógica se mantém: checkout, setup, dependências, testes, build e artefato.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334256"/>
            <a:ext cx="4983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334256"/>
            <a:ext cx="64008" cy="1234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4471416"/>
            <a:ext cx="46634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Como validar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4864608"/>
            <a:ext cx="4663440" cy="5760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Abrir aba Actions/Pipelines.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Conferir logs, tempo de execução e commit associado.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Registrar link ou print como evidência.</a:t>
            </a:r>
          </a:p>
        </p:txBody>
      </p:sp>
      <p:pic>
        <p:nvPicPr>
          <p:cNvPr id="24" name="Picture 23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5" name="Picture 24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Testes para caber em 24h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Não tente cobrir tudo: escolha testes que provem o fluxo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Unitário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Funções puras, regras de negócio e validações.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Rápido, barato e ideal para CI inicial.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Mostre um teste passando e outro falhando.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Integração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API + banco ou API + dependência.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Útil para Compose e projeto final.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Pode ser simplificado com serviço fake ou banco local.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Smoke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Verifica se aplicação sobe e responde.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Bom para container e release.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Exemplo: curl /health ou chamada simples no endpoint principal.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Prompts úteis - testes e logs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Demonstre a IA como acelerador de investigação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08760"/>
            <a:ext cx="2103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>
                <a:solidFill>
                  <a:srgbClr val="16A34A"/>
                </a:solidFill>
                <a:latin typeface="Aptos"/>
              </a:rPr>
              <a:t>Teste de borda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490472"/>
            <a:ext cx="845820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2" y="1618488"/>
            <a:ext cx="8129016" cy="58521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E2E8F0"/>
                </a:solidFill>
                <a:latin typeface="Aptos Mono"/>
              </a:rPr>
              <a:t>Analise a função abaixo e sugira casos de teste relevantes, incluindo entradas inválidas, limites e regressões prováveis.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Código: &lt;trecho&gt;.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532888"/>
            <a:ext cx="2103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>
                <a:solidFill>
                  <a:srgbClr val="EA580C"/>
                </a:solidFill>
                <a:latin typeface="Aptos"/>
              </a:rPr>
              <a:t>Log de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514600"/>
            <a:ext cx="845820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2642616"/>
            <a:ext cx="8129016" cy="58521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E2E8F0"/>
                </a:solidFill>
                <a:latin typeface="Aptos Mono"/>
              </a:rPr>
              <a:t>Este job de CI falhou. Explique a provável causa, liste hipóteses em ordem de probabilidade e sugira validações antes de alterar código.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Log: &lt;colar trecho sem segredos&gt;.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557016"/>
            <a:ext cx="2103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>
                <a:solidFill>
                  <a:srgbClr val="2563EB"/>
                </a:solidFill>
                <a:latin typeface="Aptos"/>
              </a:rPr>
              <a:t>YAML de CI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538728"/>
            <a:ext cx="845820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07792" y="3666744"/>
            <a:ext cx="8129016" cy="58521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E2E8F0"/>
                </a:solidFill>
                <a:latin typeface="Aptos Mono"/>
              </a:rPr>
              <a:t>Revise este pipeline e aponte riscos: cache incorreto, comandos frágeis, segredos em log, falta de testes e etapas sem valor.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YAML: &lt;trecho&gt;.</a:t>
            </a:r>
          </a:p>
        </p:txBody>
      </p:sp>
      <p:pic>
        <p:nvPicPr>
          <p:cNvPr id="19" name="Picture 18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0" name="Picture 19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Fechamento do Encontro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O que deve estar pronto para Docker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40690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Checklist do professor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Cada grupo tem pipeline executando em push/PR.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Existe pelo menos uma validação real.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Há evidência de falha analisada e corrigida.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A turma entendeu que pipeline verde sem teste não prova qualidade.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64008" cy="4069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Tarefa da turma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Corrigir pendências do CI.</a:t>
            </a:r>
          </a:p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Documentar comandos de build/teste no README.</a:t>
            </a:r>
          </a:p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Levar para o Encontro 4: porta da aplicação, variáveis e dependências externas.</a:t>
            </a:r>
          </a:p>
        </p:txBody>
      </p:sp>
      <p:pic>
        <p:nvPicPr>
          <p:cNvPr id="18" name="Picture 17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19" name="Picture 18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A31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011680"/>
            <a:ext cx="103327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3100" b="1">
                <a:solidFill>
                  <a:srgbClr val="12263F"/>
                </a:solidFill>
                <a:latin typeface="Aptos"/>
              </a:rPr>
              <a:t>Encontro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79192"/>
            <a:ext cx="93268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800" b="0">
                <a:solidFill>
                  <a:srgbClr val="475569"/>
                </a:solidFill>
                <a:latin typeface="Aptos"/>
              </a:rPr>
              <a:t>Containers, Compose e troubleshooting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3291840"/>
            <a:ext cx="4480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700" b="1">
                <a:solidFill>
                  <a:srgbClr val="1A31B0"/>
                </a:solidFill>
                <a:latin typeface="Aptos"/>
              </a:rPr>
              <a:t>24/09/2026 | 4h presenciais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4160520"/>
            <a:ext cx="84582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500" b="0">
                <a:solidFill>
                  <a:srgbClr val="0F172A"/>
                </a:solidFill>
                <a:latin typeface="Aptos"/>
              </a:rPr>
              <a:t>Objetivo: saber exatamente o que explicar, demonstrar, praticar e cobrar ao final do encontro.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31</a:t>
            </a:r>
          </a:p>
        </p:txBody>
      </p:sp>
      <p:pic>
        <p:nvPicPr>
          <p:cNvPr id="10" name="Picture 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3609" y="128016"/>
            <a:ext cx="789272" cy="274320"/>
          </a:xfrm>
          <a:prstGeom prst="rect">
            <a:avLst/>
          </a:prstGeom>
        </p:spPr>
      </p:pic>
      <p:pic>
        <p:nvPicPr>
          <p:cNvPr id="11" name="Picture 1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Encontro 4 - condução de 4h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Objetivo: aplicação executável por comando padronizado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572768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572768"/>
            <a:ext cx="73152" cy="6217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682495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0D9488"/>
                </a:solidFill>
                <a:latin typeface="Aptos"/>
              </a:rPr>
              <a:t>0-20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664208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Retomada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664208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Conecte CI com ambiente reproduzível: “passa na minha máquina” não basta.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295144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295144"/>
            <a:ext cx="73152" cy="6217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2404872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2563EB"/>
                </a:solidFill>
                <a:latin typeface="Aptos"/>
              </a:rPr>
              <a:t>20-55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2386584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Containers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2386584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Explique imagem, container, camada, porta, volume, variável e rede.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017520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017520"/>
            <a:ext cx="73152" cy="6217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127248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16A34A"/>
                </a:solidFill>
                <a:latin typeface="Aptos"/>
              </a:rPr>
              <a:t>55-90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3108960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Dockerfile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108960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Demonstre build local e execução com variável/porta.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739896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739896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849624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EA580C"/>
                </a:solidFill>
                <a:latin typeface="Aptos"/>
              </a:rPr>
              <a:t>90-125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831335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Compose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3831335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Suba aplicação + dependência e mostre logs/health check.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462272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462272"/>
            <a:ext cx="73152" cy="6217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572000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7C3AED"/>
                </a:solidFill>
                <a:latin typeface="Aptos"/>
              </a:rPr>
              <a:t>125-215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4553712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Laboratório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553712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Grupos criam Dockerfile/compose.yaml e corrigem falhas.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184648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5184648"/>
            <a:ext cx="73152" cy="6217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5294376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D97706"/>
                </a:solidFill>
                <a:latin typeface="Aptos"/>
              </a:rPr>
              <a:t>215-240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5276088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Fechamento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276088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Cada grupo executa do zero e registra evidências.</a:t>
            </a:r>
          </a:p>
        </p:txBody>
      </p:sp>
      <p:pic>
        <p:nvPicPr>
          <p:cNvPr id="40" name="Picture 3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41" name="Picture 4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Containers explicados sem excesso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O aluno precisa saber operar e diagnosticar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Imagem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Pacote versionável da aplicação.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Criada por Dockerfile.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Deve ser reproduzível, pequena e sem segredos.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Container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Processo isolado criado a partir da imagem.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Tem logs, portas, variáveis e ciclo de vida.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Pode morrer: por isso health check e logs importam.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Compose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Orquestra múltiplos serviços localmente.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Padroniza API, banco, rede e volumes.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Ótimo para laboratório e validação integrada.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Dockerfile - roteiro de explicação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Use como base e adapte para a stack escolhida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508760"/>
            <a:ext cx="5349240" cy="41605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636776"/>
            <a:ext cx="5020055" cy="390448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40" b="0">
                <a:solidFill>
                  <a:srgbClr val="E2E8F0"/>
                </a:solidFill>
                <a:latin typeface="Aptos Mono"/>
              </a:rPr>
              <a:t>FROM node:22-alpine</a:t>
            </a:r>
          </a:p>
          <a:p>
            <a:r>
              <a:rPr sz="94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940" b="0">
                <a:solidFill>
                  <a:srgbClr val="E2E8F0"/>
                </a:solidFill>
                <a:latin typeface="Aptos Mono"/>
              </a:rPr>
              <a:t>WORKDIR /app</a:t>
            </a:r>
          </a:p>
          <a:p>
            <a:r>
              <a:rPr sz="94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940" b="0">
                <a:solidFill>
                  <a:srgbClr val="E2E8F0"/>
                </a:solidFill>
                <a:latin typeface="Aptos Mono"/>
              </a:rPr>
              <a:t>COPY package*.json ./</a:t>
            </a:r>
          </a:p>
          <a:p>
            <a:r>
              <a:rPr sz="940" b="0">
                <a:solidFill>
                  <a:srgbClr val="E2E8F0"/>
                </a:solidFill>
                <a:latin typeface="Aptos Mono"/>
              </a:rPr>
              <a:t>RUN npm ci --omit=dev</a:t>
            </a:r>
          </a:p>
          <a:p>
            <a:r>
              <a:rPr sz="94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940" b="0">
                <a:solidFill>
                  <a:srgbClr val="E2E8F0"/>
                </a:solidFill>
                <a:latin typeface="Aptos Mono"/>
              </a:rPr>
              <a:t>COPY . .</a:t>
            </a:r>
          </a:p>
          <a:p>
            <a:r>
              <a:rPr sz="94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940" b="0">
                <a:solidFill>
                  <a:srgbClr val="E2E8F0"/>
                </a:solidFill>
                <a:latin typeface="Aptos Mono"/>
              </a:rPr>
              <a:t>ENV NODE_ENV=production</a:t>
            </a:r>
          </a:p>
          <a:p>
            <a:r>
              <a:rPr sz="940" b="0">
                <a:solidFill>
                  <a:srgbClr val="E2E8F0"/>
                </a:solidFill>
                <a:latin typeface="Aptos Mono"/>
              </a:rPr>
              <a:t>EXPOSE 3000</a:t>
            </a:r>
          </a:p>
          <a:p>
            <a:r>
              <a:rPr sz="94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940" b="0">
                <a:solidFill>
                  <a:srgbClr val="E2E8F0"/>
                </a:solidFill>
                <a:latin typeface="Aptos Mono"/>
              </a:rPr>
              <a:t>CMD ["npm", "start"]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508760"/>
            <a:ext cx="49834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508760"/>
            <a:ext cx="64008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645919"/>
            <a:ext cx="46634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O que comentar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2039112"/>
            <a:ext cx="466344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Base image, diretório de trabalho, cópia de dependências, cache, variáveis, porta e comando final.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907792"/>
            <a:ext cx="49834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2907792"/>
            <a:ext cx="64008" cy="118872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3044952"/>
            <a:ext cx="46634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Cuidados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3438144"/>
            <a:ext cx="466344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Não copiar .env, node_modules, chaves ou arquivos desnecessários.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Usar .dockerignore e imagem base adequada.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297680"/>
            <a:ext cx="49834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297680"/>
            <a:ext cx="64008" cy="1188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4434840"/>
            <a:ext cx="46634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Validação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4828032"/>
            <a:ext cx="466344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docker build deve funcionar do zero.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docker run deve expor porta e responder endpoint simples.</a:t>
            </a:r>
          </a:p>
        </p:txBody>
      </p:sp>
      <p:pic>
        <p:nvPicPr>
          <p:cNvPr id="24" name="Picture 23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5" name="Picture 24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Compose - roteiro de laboratório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Padronizar execução local com serviços integrados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508760"/>
            <a:ext cx="5577840" cy="4251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636776"/>
            <a:ext cx="5248655" cy="399592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780" b="0">
                <a:solidFill>
                  <a:srgbClr val="E2E8F0"/>
                </a:solidFill>
                <a:latin typeface="Aptos Mono"/>
              </a:rPr>
              <a:t>services: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app: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build: .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ports: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  - "3000:3000"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environment: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  DATABASE_URL: postgres://app:app@db:5432/app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depends_on: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  db: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    condition: service_healthy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db: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image: postgres:16-alpine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environment: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  POSTGRES_USER: app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  POSTGRES_PASSWORD: app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  POSTGRES_DB: app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healthcheck: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  test: ["CMD-SHELL", "pg_isready -U app"]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  interval: 5s</a:t>
            </a:r>
          </a:p>
          <a:p>
            <a:r>
              <a:rPr sz="780" b="0">
                <a:solidFill>
                  <a:srgbClr val="E2E8F0"/>
                </a:solidFill>
                <a:latin typeface="Aptos Mono"/>
              </a:rPr>
              <a:t>      retries: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65392" y="1508760"/>
            <a:ext cx="48006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65392" y="1508760"/>
            <a:ext cx="64008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9983" y="1645919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Como explicar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9983" y="2039112"/>
            <a:ext cx="4480560" cy="4846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Cada serviço tem imagem/build, portas, variáveis e dependências.</a:t>
            </a:r>
          </a:p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O nome do serviço vira hostname na rede do Compose.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65392" y="2834640"/>
            <a:ext cx="48006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65392" y="2834640"/>
            <a:ext cx="64008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9983" y="2971800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Comandos em sala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9983" y="3364992"/>
            <a:ext cx="4480560" cy="4846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docker compose up --build</a:t>
            </a:r>
          </a:p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docker compose logs -f app</a:t>
            </a:r>
          </a:p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docker compose down -v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65392" y="4160520"/>
            <a:ext cx="48006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65392" y="4160520"/>
            <a:ext cx="64008" cy="1143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9983" y="4297680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Evidência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4690872"/>
            <a:ext cx="4480560" cy="4846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Print/log da aplicação subindo.</a:t>
            </a:r>
          </a:p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Endpoint funcionando.</a:t>
            </a:r>
          </a:p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README com comando único de execução.</a:t>
            </a:r>
          </a:p>
        </p:txBody>
      </p:sp>
      <p:pic>
        <p:nvPicPr>
          <p:cNvPr id="24" name="Picture 23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5" name="Picture 24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Prompts úteis - containers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Use IA para diagnosticar, não para colar segredos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08760"/>
            <a:ext cx="2103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>
                <a:solidFill>
                  <a:srgbClr val="EA580C"/>
                </a:solidFill>
                <a:latin typeface="Aptos"/>
              </a:rPr>
              <a:t>Erro de 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490472"/>
            <a:ext cx="845820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2" y="1618488"/>
            <a:ext cx="8129016" cy="58521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E2E8F0"/>
                </a:solidFill>
                <a:latin typeface="Aptos Mono"/>
              </a:rPr>
              <a:t>Este build Docker falhou. Liste causas prováveis e comandos para validar antes de alterar o Dockerfile.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Dockerfile: &lt;trecho&gt;.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Log: &lt;trecho sem segredos&gt;.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532888"/>
            <a:ext cx="2103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>
                <a:solidFill>
                  <a:srgbClr val="2563EB"/>
                </a:solidFill>
                <a:latin typeface="Aptos"/>
              </a:rPr>
              <a:t>Compose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514600"/>
            <a:ext cx="845820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2642616"/>
            <a:ext cx="8129016" cy="58521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E2E8F0"/>
                </a:solidFill>
                <a:latin typeface="Aptos Mono"/>
              </a:rPr>
              <a:t>Analise este compose.yaml e aponte problemas de rede, portas, variáveis, depends_on, volumes e health checks.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Arquivo: &lt;trecho&gt;.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557016"/>
            <a:ext cx="2103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>
                <a:solidFill>
                  <a:srgbClr val="16A34A"/>
                </a:solidFill>
                <a:latin typeface="Aptos"/>
              </a:rPr>
              <a:t>README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538728"/>
            <a:ext cx="845820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07792" y="3666744"/>
            <a:ext cx="8129016" cy="58521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E2E8F0"/>
                </a:solidFill>
                <a:latin typeface="Aptos Mono"/>
              </a:rPr>
              <a:t>Gere instruções curtas para executar este projeto com Docker Compose, incluindo pré-requisitos, comando de subida, teste de saúde e comando de limpeza.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Contexto: &lt;stack&gt;.</a:t>
            </a:r>
          </a:p>
        </p:txBody>
      </p:sp>
      <p:pic>
        <p:nvPicPr>
          <p:cNvPr id="19" name="Picture 18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0" name="Picture 19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Fechamento do Encontro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O que deve estar pronto para CD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4069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Checklist do professor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Cada grupo consegue subir o projeto a partir de clone limpo.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Dockerfile e compose.yaml estão versionados.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README tem comandos objetivos.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Pelo menos uma falha de container foi diagnosticada e registrada.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64008" cy="4069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Tarefa da turma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Integrar build de imagem ao pipeline, se possível.</a:t>
            </a:r>
          </a:p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Preparar uma versão candidata para release.</a:t>
            </a:r>
          </a:p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Levar para o Encontro 5: critérios de promoção e rollback.</a:t>
            </a:r>
          </a:p>
        </p:txBody>
      </p:sp>
      <p:pic>
        <p:nvPicPr>
          <p:cNvPr id="18" name="Picture 17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19" name="Picture 18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A31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011680"/>
            <a:ext cx="103327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3100" b="1">
                <a:solidFill>
                  <a:srgbClr val="12263F"/>
                </a:solidFill>
                <a:latin typeface="Aptos"/>
              </a:rPr>
              <a:t>Encontro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79192"/>
            <a:ext cx="93268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800" b="0">
                <a:solidFill>
                  <a:srgbClr val="475569"/>
                </a:solidFill>
                <a:latin typeface="Aptos"/>
              </a:rPr>
              <a:t>CD, configuração, segurança e governança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3291840"/>
            <a:ext cx="4480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700" b="1">
                <a:solidFill>
                  <a:srgbClr val="1A31B0"/>
                </a:solidFill>
                <a:latin typeface="Aptos"/>
              </a:rPr>
              <a:t>25/09/2026 | 4h presenciais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4160520"/>
            <a:ext cx="84582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500" b="0">
                <a:solidFill>
                  <a:srgbClr val="0F172A"/>
                </a:solidFill>
                <a:latin typeface="Aptos"/>
              </a:rPr>
              <a:t>Objetivo: saber exatamente o que explicar, demonstrar, praticar e cobrar ao final do encontro.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38</a:t>
            </a:r>
          </a:p>
        </p:txBody>
      </p:sp>
      <p:pic>
        <p:nvPicPr>
          <p:cNvPr id="10" name="Picture 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3609" y="128016"/>
            <a:ext cx="789272" cy="274320"/>
          </a:xfrm>
          <a:prstGeom prst="rect">
            <a:avLst/>
          </a:prstGeom>
        </p:spPr>
      </p:pic>
      <p:pic>
        <p:nvPicPr>
          <p:cNvPr id="11" name="Picture 1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Encontro 5 - condução de 4h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Objetivo: plano de release com controle e rollback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572768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572768"/>
            <a:ext cx="73152" cy="6217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682495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0D9488"/>
                </a:solidFill>
                <a:latin typeface="Aptos"/>
              </a:rPr>
              <a:t>0-20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664208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Retomada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664208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Reforce que ambiente reproduzível vira candidato a entrega.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295144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295144"/>
            <a:ext cx="73152" cy="6217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2404872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2563EB"/>
                </a:solidFill>
                <a:latin typeface="Aptos"/>
              </a:rPr>
              <a:t>20-55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2386584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CD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2386584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Explique promoção de artefatos, ambiente, aprovação e rollback.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017520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017520"/>
            <a:ext cx="73152" cy="6217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127248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16A34A"/>
                </a:solidFill>
                <a:latin typeface="Aptos"/>
              </a:rPr>
              <a:t>55-85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3108960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Configuração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108960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Diferencie código, configuração, segredo e infraestrutura.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739896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739896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849624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EA580C"/>
                </a:solidFill>
                <a:latin typeface="Aptos"/>
              </a:rPr>
              <a:t>85-120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831335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Segurança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3831335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Mostre gates simples: dependências, imagem, segredo e permissão.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462272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462272"/>
            <a:ext cx="73152" cy="6217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572000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7C3AED"/>
                </a:solidFill>
                <a:latin typeface="Aptos"/>
              </a:rPr>
              <a:t>120-205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4553712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Laboratório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553712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Grupos montam release, rollback/plano e checklist de segurança.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184648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5184648"/>
            <a:ext cx="73152" cy="6217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5294376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D97706"/>
                </a:solidFill>
                <a:latin typeface="Aptos"/>
              </a:rPr>
              <a:t>205-240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5276088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Governança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276088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Feche com regras de uso de IA em entrega, segurança e evidências.</a:t>
            </a:r>
          </a:p>
        </p:txBody>
      </p:sp>
      <p:pic>
        <p:nvPicPr>
          <p:cNvPr id="40" name="Picture 3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41" name="Picture 4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CD na prática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O foco é controlar mudança, não “deployar de qualquer jeito”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Entrega contínua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Artefato gerado no CI é promovido.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Ambiente recebe versão rastreável.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Release notes explicam mudança e risco.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Controle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Aprovação quando houver risco.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Variáveis e segredos fora do repositório.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Permissões mínimas no pipeline.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Rollback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Voltar para versão anterior.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Reverter feature flag.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Restaurar configuração conhecida.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Ter plano documentado antes do problema.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Configuração, segredos e IaC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Conceitos para explicar antes da prática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Configuração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Valores que mudam por ambiente.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Exemplos: URL, porta, modo debug, timeout.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Não deve exigir alteração de código para trocar ambiente.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Segredos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Senha, token, chave privada, connection string sensível.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Nunca versionar ou colar em prompt.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Usar secrets do provedor de CI/CD.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IaC/GitOps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Infra declarada em arquivo e revisada por PR.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GitOps: estado desejado versionado.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Na disciplina entra como noção e evolução, não laboratório obrigatório.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DevSecOps mínimo para a disciplina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Gates simples que cabem no projeto integrador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Código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Lint/análise estática.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Testes mínimos em PR.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Revisão de entrada de usuário e tratamento de erro.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Dependências/imagem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Checar pacotes vulneráveis.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Evitar imagem desatualizada ou grande demais.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Não rodar container com privilégio desnecessário.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Segredos mascarados.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Permissão mínima do token.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Logs sem dados sensíveis.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Falha de segurança deve bloquear ou justificar exceção.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Governança de IA em DevOps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Regras que entram na avaliação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406908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Riscos a tratar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Vazamento de segredos em prompts.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Alucinação de comandos, APIs ou flags.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Código inseguro gerado com confiança excessiva.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Prompt injection em contexto de logs, issues ou documentação.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Dependência intelectual: aluno não sabe defender o que entregou.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64008" cy="40690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Controles esperados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Mascarar dados sensíveis antes de usar IA.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Pedir hipóteses e validações, não só resposta final.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Rodar testes, build e revisão humana.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Manter diff pequeno e rastreável.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Registrar prompt, saída útil, decisão e validação.</a:t>
            </a:r>
          </a:p>
        </p:txBody>
      </p:sp>
      <p:pic>
        <p:nvPicPr>
          <p:cNvPr id="18" name="Picture 17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19" name="Picture 18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64592" y="128016"/>
            <a:ext cx="-329184" cy="-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50" b="0">
                <a:solidFill>
                  <a:srgbClr val="E2E8F0"/>
                </a:solidFill>
                <a:latin typeface="Aptos Mono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Release notes e rollback - modelo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Use como artefato simples do Encontro 5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44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508760"/>
            <a:ext cx="5257800" cy="4297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636776"/>
            <a:ext cx="4928616" cy="40416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90" b="0">
                <a:solidFill>
                  <a:srgbClr val="E2E8F0"/>
                </a:solidFill>
                <a:latin typeface="Aptos Mono"/>
              </a:rPr>
              <a:t>## Release v0.2.0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Objetivo: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- &lt;qual problema esta versao resolve&gt;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Mudancas: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- &lt;mudanca 1&gt;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- &lt;mudanca 2&gt;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Evidencias: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- CI: &lt;link/print&gt;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- Testes: &lt;resumo&gt;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- Container: &lt;comando/print&gt;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Riscos: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- &lt;risco e mitigacao&gt;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508760"/>
            <a:ext cx="5166360" cy="4297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1" y="1636776"/>
            <a:ext cx="4837176" cy="40416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90" b="0">
                <a:solidFill>
                  <a:srgbClr val="E2E8F0"/>
                </a:solidFill>
                <a:latin typeface="Aptos Mono"/>
              </a:rPr>
              <a:t>## Plano de rollback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Quando acionar: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- &lt;sinal de falha&gt;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Como voltar: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1. Identificar versao anterior estavel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2. Reverter tag/imagem/configuracao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3. Validar endpoint /health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4. Comunicar impacto e decisao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Comandos/evidencias: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- &lt;comando&gt;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- &lt;log/print&gt;</a:t>
            </a:r>
          </a:p>
        </p:txBody>
      </p:sp>
      <p:pic>
        <p:nvPicPr>
          <p:cNvPr id="16" name="Picture 15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17" name="Picture 16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Fechamento do Encontro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O que deve estar pronto para a apresentação final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406908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Checklist do professor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Cada grupo tem release ou plano de release.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Rollback está descrito de forma acionável.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Segredos e variáveis foram revisados.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Uso de IA em segurança/entrega foi registrado quando ocorreu.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64008" cy="4069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Tarefa da turma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Preparar observabilidade mínima.</a:t>
            </a:r>
          </a:p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Simular uma falha ou incidente simples.</a:t>
            </a:r>
          </a:p>
          <a:p>
            <a:pPr>
              <a:spcAft>
                <a:spcPts val="200"/>
              </a:spcAft>
              <a:defRPr sz="1150">
                <a:solidFill>
                  <a:srgbClr val="475569"/>
                </a:solidFill>
                <a:latin typeface="Aptos"/>
              </a:defRPr>
            </a:pPr>
            <a:r>
              <a:t>• Organizar apresentação final com evidências e decisões.</a:t>
            </a:r>
          </a:p>
        </p:txBody>
      </p:sp>
      <p:pic>
        <p:nvPicPr>
          <p:cNvPr id="18" name="Picture 17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19" name="Picture 18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A31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011680"/>
            <a:ext cx="103327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3100" b="1">
                <a:solidFill>
                  <a:srgbClr val="12263F"/>
                </a:solidFill>
                <a:latin typeface="Aptos"/>
              </a:rPr>
              <a:t>Encontro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79192"/>
            <a:ext cx="93268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800" b="0">
                <a:solidFill>
                  <a:srgbClr val="475569"/>
                </a:solidFill>
                <a:latin typeface="Aptos"/>
              </a:rPr>
              <a:t>Observabilidade, IA aplicada e projeto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3291840"/>
            <a:ext cx="4480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700" b="1">
                <a:solidFill>
                  <a:srgbClr val="1A31B0"/>
                </a:solidFill>
                <a:latin typeface="Aptos"/>
              </a:rPr>
              <a:t>26/09/2026 | 4h presenciais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4160520"/>
            <a:ext cx="84582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500" b="0">
                <a:solidFill>
                  <a:srgbClr val="0F172A"/>
                </a:solidFill>
                <a:latin typeface="Aptos"/>
              </a:rPr>
              <a:t>Objetivo: saber exatamente o que explicar, demonstrar, praticar e cobrar ao final do encontro.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46</a:t>
            </a:r>
          </a:p>
        </p:txBody>
      </p:sp>
      <p:pic>
        <p:nvPicPr>
          <p:cNvPr id="10" name="Picture 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3609" y="128016"/>
            <a:ext cx="789272" cy="274320"/>
          </a:xfrm>
          <a:prstGeom prst="rect">
            <a:avLst/>
          </a:prstGeom>
        </p:spPr>
      </p:pic>
      <p:pic>
        <p:nvPicPr>
          <p:cNvPr id="11" name="Picture 1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Encontro 6 - condução de 4h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Objetivo: fechar o ciclo com dados e defesa técnica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572768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572768"/>
            <a:ext cx="73152" cy="6217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682495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0D9488"/>
                </a:solidFill>
                <a:latin typeface="Aptos"/>
              </a:rPr>
              <a:t>0-25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664208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Retomada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664208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Relembre fluxo completo: código, CI, container, release, operação.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295144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295144"/>
            <a:ext cx="73152" cy="6217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2404872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2563EB"/>
                </a:solidFill>
                <a:latin typeface="Aptos"/>
              </a:rPr>
              <a:t>25-60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2386584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Observabilidade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2386584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Explique logs, métricas, traces, dashboards, alertas, SLI/SLO.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017520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017520"/>
            <a:ext cx="73152" cy="6217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127248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16A34A"/>
                </a:solidFill>
                <a:latin typeface="Aptos"/>
              </a:rPr>
              <a:t>60-95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3108960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Incidente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108960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Demonstre falha simples e investigação com logs + hipótese de IA.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739896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739896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849624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EA580C"/>
                </a:solidFill>
                <a:latin typeface="Aptos"/>
              </a:rPr>
              <a:t>95-145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831335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Preparação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3831335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Grupos organizam evidências e narrativa da apresentação final.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462272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462272"/>
            <a:ext cx="73152" cy="6217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572000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7C3AED"/>
                </a:solidFill>
                <a:latin typeface="Aptos"/>
              </a:rPr>
              <a:t>145-225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4553712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Apresentações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553712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Cada grupo demonstra projeto, pipeline, operação e decisões.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184648"/>
            <a:ext cx="1065276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5184648"/>
            <a:ext cx="73152" cy="6217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5294376"/>
            <a:ext cx="107899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1">
                <a:solidFill>
                  <a:srgbClr val="D97706"/>
                </a:solidFill>
                <a:latin typeface="Aptos"/>
              </a:rPr>
              <a:t>225-240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5276088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1">
                <a:solidFill>
                  <a:srgbClr val="0F172A"/>
                </a:solidFill>
                <a:latin typeface="Aptos"/>
              </a:rPr>
              <a:t>Fechamento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276088"/>
            <a:ext cx="589788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70" b="0">
                <a:solidFill>
                  <a:srgbClr val="475569"/>
                </a:solidFill>
                <a:latin typeface="Aptos"/>
              </a:rPr>
              <a:t>Feedback final, aprendizados e evolução profissional.</a:t>
            </a:r>
          </a:p>
        </p:txBody>
      </p:sp>
      <p:pic>
        <p:nvPicPr>
          <p:cNvPr id="40" name="Picture 3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41" name="Picture 4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Observabilidade sem complicar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Use dados para explicar se a entrega funcionou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Eventos textuais: erro, início, fim, exceção.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Devem permitir entender o que aconteceu.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Evitar dados sensíveis em logs.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Métricas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Números ao longo do tempo: latência, taxa de erro, uso de CPU/memória.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Podem alimentar alertas e decisões.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No laboratório pode ser simples: tempo, status e contadores.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Traces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Caminho de uma requisição entre serviços.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Útil para sistemas distribuídos.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Na disciplina: conceitual ou demonstração curta, se houver tempo.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Incidente simulado com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Como fechar o ciclo operação -&gt; melhoria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49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572768"/>
            <a:ext cx="32461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572768"/>
            <a:ext cx="64008" cy="2880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09928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Preparar falha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03120"/>
            <a:ext cx="2926079" cy="222199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Quebrar variável de ambiente.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Subir dependência indisponível.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Provocar erro em endpoint ou teste de saúde.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572768"/>
            <a:ext cx="32461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572768"/>
            <a:ext cx="64008" cy="2880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09928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Investigar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03120"/>
            <a:ext cx="2926079" cy="222199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Coletar logs e status do container/pipeline.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Pedir à IA hipóteses e validações.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Não aceitar correção antes de confirmar causa.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572768"/>
            <a:ext cx="32461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572768"/>
            <a:ext cx="64008" cy="2880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09928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Resolver e aprender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03120"/>
            <a:ext cx="2926079" cy="222199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Aplicar correção pequena.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Rodar validação.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Atualizar README, runbook ou alerta.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Registrar causa, ação e prevenção.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681728"/>
            <a:ext cx="107899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681728"/>
            <a:ext cx="64008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" y="4818888"/>
            <a:ext cx="104698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Entrega/evidência ao final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" y="5212080"/>
            <a:ext cx="10469880" cy="21031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Mini relatório de incidente: sintoma, hipótese, evidência, causa, correção, prevenção e papel da IA, se usada.</a:t>
            </a:r>
          </a:p>
        </p:txBody>
      </p:sp>
      <p:pic>
        <p:nvPicPr>
          <p:cNvPr id="26" name="Picture 25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7" name="Picture 26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Prompts úteis -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IA como apoio à investigação, não como diagnóstico definitivo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08760"/>
            <a:ext cx="2103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>
                <a:solidFill>
                  <a:srgbClr val="7C3AED"/>
                </a:solidFill>
                <a:latin typeface="Aptos"/>
              </a:rPr>
              <a:t>Logs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490472"/>
            <a:ext cx="845820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2" y="1618488"/>
            <a:ext cx="8129016" cy="58521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E2E8F0"/>
                </a:solidFill>
                <a:latin typeface="Aptos Mono"/>
              </a:rPr>
              <a:t>Analise os logs abaixo e liste hipóteses de causa em ordem de probabilidade. Para cada hipótese, diga qual evidência confirma ou descarta.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Logs: &lt;trecho sem dados sensíveis&gt;.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532888"/>
            <a:ext cx="2103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>
                <a:solidFill>
                  <a:srgbClr val="16A34A"/>
                </a:solidFill>
                <a:latin typeface="Aptos"/>
              </a:rPr>
              <a:t>Runbook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514600"/>
            <a:ext cx="845820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2642616"/>
            <a:ext cx="8129016" cy="58521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E2E8F0"/>
                </a:solidFill>
                <a:latin typeface="Aptos Mono"/>
              </a:rPr>
              <a:t>Transforme esta solução de incidente em um runbook curto com sintomas, comandos de diagnóstico, ação corretiva e validação final.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Incidente: &lt;resumo&gt;.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557016"/>
            <a:ext cx="2103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>
                <a:solidFill>
                  <a:srgbClr val="2563EB"/>
                </a:solidFill>
                <a:latin typeface="Aptos"/>
              </a:rPr>
              <a:t>Apresentação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538728"/>
            <a:ext cx="845820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07792" y="3666744"/>
            <a:ext cx="8129016" cy="58521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E2E8F0"/>
                </a:solidFill>
                <a:latin typeface="Aptos Mono"/>
              </a:rPr>
              <a:t>Com base nas evidências abaixo, ajude a montar uma narrativa técnica de 5 minutos: problema, decisões, pipeline, operação, riscos e próximos passos.</a:t>
            </a:r>
          </a:p>
          <a:p>
            <a:r>
              <a:rPr sz="860" b="0">
                <a:solidFill>
                  <a:srgbClr val="E2E8F0"/>
                </a:solidFill>
                <a:latin typeface="Aptos Mono"/>
              </a:rPr>
              <a:t>Evidências: &lt;lista&gt;.</a:t>
            </a:r>
          </a:p>
        </p:txBody>
      </p:sp>
      <p:pic>
        <p:nvPicPr>
          <p:cNvPr id="19" name="Picture 18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0" name="Picture 19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Apresentação final - roteiro de 5 a 7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Use como ordem padrão para todos os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1. Contexto e diagnóstico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Qual problema o projeto representa.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Quais gargalos DevOps foram priorizados.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O que foi decidido fazer dentro do tempo disponível.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2. Demonstração técnica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Repositório e PRs.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Pipeline rodando.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Aplicação em container/Compose.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Release ou rollback/plano.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Logs/métricas/incidente simulado.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3. Defesa crítica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Tradeoffs e limitações.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Uso de IA: onde ajudou, onde falhou, como foi validada.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Próximos passos para evolução real.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Rubrica final - perguntas de avaliação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Faça perguntas curtas e peça evidências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3794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Como executo do zero?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Onde está o README?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Qual decisão técnica foi mais importante?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O que ficou fora do escopo?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00200"/>
            <a:ext cx="64008" cy="3794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Pipeline/entrega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O que faz o pipeline falhar?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Que teste prova comportamento relevante?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Qual artefato é promovido?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Como voltar para versão anterior?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2461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00200"/>
            <a:ext cx="64008" cy="3794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37360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Operação/IA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30552"/>
            <a:ext cx="2926079" cy="31363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Que logs/métricas indicam saúde?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Qual incidente foi simulado?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Que sugestão de IA foi aceita ou rejeitada?</a:t>
            </a:r>
          </a:p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Como vocês validaram?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Fechamento da disciplina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Encerrar conectando prática, maturidade e evolução profissional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4069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Síntese para falar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DevOps é fluxo de entrega com responsabilidade compartilhada.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Automação sem feedback e evidência vira ritual vazio.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IA aumenta velocidade, mas também exige validação e governança.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O valor está em entregar software reproduzível, seguro, observável e evolutivo.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64008" cy="4069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Feedback que vale coletar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Qual conceito ficou mais claro na prática?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Qual parte do pipeline gerou mais dificuldade?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Onde IA realmente ajudou?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Que laboratório deveria ser aprofundado em uma próxima turma?</a:t>
            </a:r>
          </a:p>
        </p:txBody>
      </p:sp>
      <p:pic>
        <p:nvPicPr>
          <p:cNvPr id="18" name="Picture 17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19" name="Picture 18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A31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011680"/>
            <a:ext cx="103327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3100" b="1">
                <a:solidFill>
                  <a:srgbClr val="12263F"/>
                </a:solidFill>
                <a:latin typeface="Aptos"/>
              </a:rPr>
              <a:t>Apêndice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79192"/>
            <a:ext cx="93268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800" b="0">
                <a:solidFill>
                  <a:srgbClr val="475569"/>
                </a:solidFill>
                <a:latin typeface="Aptos"/>
              </a:rPr>
              <a:t>Modelos rápidos para condução e 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3291840"/>
            <a:ext cx="4480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700" b="1">
                <a:solidFill>
                  <a:srgbClr val="1A31B0"/>
                </a:solidFill>
                <a:latin typeface="Aptos"/>
              </a:rPr>
              <a:t>Use quando precisar orientar grupos em sala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4160520"/>
            <a:ext cx="84582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500" b="0">
                <a:solidFill>
                  <a:srgbClr val="0F172A"/>
                </a:solidFill>
                <a:latin typeface="Aptos"/>
              </a:rPr>
              <a:t>Objetivo: saber exatamente o que explicar, demonstrar, praticar e cobrar ao final do encontro.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54</a:t>
            </a:r>
          </a:p>
        </p:txBody>
      </p:sp>
      <p:pic>
        <p:nvPicPr>
          <p:cNvPr id="10" name="Picture 9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3609" y="128016"/>
            <a:ext cx="789272" cy="274320"/>
          </a:xfrm>
          <a:prstGeom prst="rect">
            <a:avLst/>
          </a:prstGeom>
        </p:spPr>
      </p:pic>
      <p:pic>
        <p:nvPicPr>
          <p:cNvPr id="11" name="Picture 10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Template - registro de uso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Peça um registro simples, não burocrático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55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572768"/>
            <a:ext cx="32461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572768"/>
            <a:ext cx="64008" cy="2880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09928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03120"/>
            <a:ext cx="2926079" cy="222199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Ferramenta usada.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Objetivo do uso.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Trecho/contexto fornecido, sem dados sensíveis.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572768"/>
            <a:ext cx="32461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572768"/>
            <a:ext cx="64008" cy="2880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09928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Resultado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03120"/>
            <a:ext cx="2926079" cy="222199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Saída útil recebida.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O que foi aceito.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O que foi rejeitado ou corrigido.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572768"/>
            <a:ext cx="32461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572768"/>
            <a:ext cx="64008" cy="2880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709928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Validação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103120"/>
            <a:ext cx="2926079" cy="222199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Teste, build, revisão ou execução feita.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Risco identificado.</a:t>
            </a:r>
          </a:p>
          <a:p>
            <a:pPr>
              <a:spcAft>
                <a:spcPts val="200"/>
              </a:spcAft>
              <a:defRPr sz="1120">
                <a:solidFill>
                  <a:srgbClr val="475569"/>
                </a:solidFill>
                <a:latin typeface="Aptos"/>
              </a:defRPr>
            </a:pPr>
            <a:r>
              <a:t>• Decisão humana final.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681728"/>
            <a:ext cx="107899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681728"/>
            <a:ext cx="64008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" y="4818888"/>
            <a:ext cx="104698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Entrega/evidência ao final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" y="5212080"/>
            <a:ext cx="10469880" cy="21031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30">
                <a:solidFill>
                  <a:srgbClr val="475569"/>
                </a:solidFill>
                <a:latin typeface="Aptos"/>
              </a:defRPr>
            </a:pPr>
            <a:r>
              <a:t>• Um parágrafo ou tabela no README/relatório final basta, desde que permita defender a decisão.</a:t>
            </a:r>
          </a:p>
        </p:txBody>
      </p:sp>
      <p:pic>
        <p:nvPicPr>
          <p:cNvPr id="26" name="Picture 25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7" name="Picture 26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Template - diagnóstico DevOps em 1 página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Entregável do Encontro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481328"/>
            <a:ext cx="5212080" cy="4297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609344"/>
            <a:ext cx="4882896" cy="40416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90" b="0">
                <a:solidFill>
                  <a:srgbClr val="E2E8F0"/>
                </a:solidFill>
                <a:latin typeface="Aptos Mono"/>
              </a:rPr>
              <a:t># Diagnostico DevOps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Projeto/grupo: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Fluxo atual: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1. Pedido/demanda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2. Desenvolvimento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3. Teste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4. Entrega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5. Operacao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Gargalos: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- &lt;gargalo 1&gt;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- &lt;gargalo 2&gt;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- &lt;gargalo 3&gt;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481328"/>
            <a:ext cx="5212080" cy="4297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609344"/>
            <a:ext cx="4882896" cy="40416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90" b="0">
                <a:solidFill>
                  <a:srgbClr val="E2E8F0"/>
                </a:solidFill>
                <a:latin typeface="Aptos Mono"/>
              </a:rPr>
              <a:t># Priorizacao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Melhoria escolhida: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Impacto esperado: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Evidencia de sucesso: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Riscos: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IA pode ajudar em:</a:t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90" b="0">
                <a:solidFill>
                  <a:srgbClr val="E2E8F0"/>
                </a:solidFill>
                <a:latin typeface="Aptos Mono"/>
              </a:rPr>
              <a:t>Validacao humana necessaria:</a:t>
            </a:r>
          </a:p>
        </p:txBody>
      </p:sp>
      <p:pic>
        <p:nvPicPr>
          <p:cNvPr id="14" name="Picture 13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15" name="Picture 14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Checklist de evidências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Use como controle ao final de cada encontro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508760"/>
            <a:ext cx="32461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508760"/>
            <a:ext cx="64008" cy="4114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645919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Repositório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039112"/>
            <a:ext cx="2926079" cy="34564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README atualizado.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Commits pequenos e claros.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PR ou evidência de revisão.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Tag/release inicial.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Decisões técnicas registradas.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508760"/>
            <a:ext cx="32461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508760"/>
            <a:ext cx="64008" cy="4114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645919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Automação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039112"/>
            <a:ext cx="2926079" cy="34564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Pipeline CI executando.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Testes ou validações reais.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Logs de falha analisados.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Artefato ou imagem, se aplicável.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Correção registrada.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508760"/>
            <a:ext cx="32461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508760"/>
            <a:ext cx="64008" cy="41148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645919"/>
            <a:ext cx="2926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Operação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2039112"/>
            <a:ext cx="2926079" cy="34564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Dockerfile e compose.yaml.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Execução reproduzível.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Plano de release/rollback.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Logs/métricas ou incidente simulado.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Registro de IA, quando usado.</a:t>
            </a:r>
          </a:p>
        </p:txBody>
      </p:sp>
      <p:pic>
        <p:nvPicPr>
          <p:cNvPr id="22" name="Picture 21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3" name="Picture 22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Comandos rápidos para consulta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Não precisa explicar tudo; use para destravar laboratório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1A31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444752"/>
            <a:ext cx="3383280" cy="4526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572768"/>
            <a:ext cx="3054096" cy="42702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40" b="0">
                <a:solidFill>
                  <a:srgbClr val="E2E8F0"/>
                </a:solidFill>
                <a:latin typeface="Aptos Mono"/>
              </a:rPr>
              <a:t># Git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git status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git diff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git switch -c feature/x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git add .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git commit -m "tipo: mensagem"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git push -u origin feature/x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git pull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git tag v0.1.0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git log --oneline --graph --decorate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1444752"/>
            <a:ext cx="3383280" cy="4526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572768"/>
            <a:ext cx="3054096" cy="42702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40" b="0">
                <a:solidFill>
                  <a:srgbClr val="E2E8F0"/>
                </a:solidFill>
                <a:latin typeface="Aptos Mono"/>
              </a:rPr>
              <a:t># CI/CD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# Conferir comando local antes do pipeline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npm ci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npm test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npm run build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# Logs do pipeline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# Abrir Actions/Pipelines &gt; job &gt; step com falha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# Evidencia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# Link do run + print do resumo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444752"/>
            <a:ext cx="3246120" cy="4526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1572768"/>
            <a:ext cx="2916936" cy="42702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40" b="0">
                <a:solidFill>
                  <a:srgbClr val="E2E8F0"/>
                </a:solidFill>
                <a:latin typeface="Aptos Mono"/>
              </a:rPr>
              <a:t># Docker/Compose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docker build -t app:local .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docker run --rm -p 3000:3000 app:local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docker compose up --build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docker compose logs -f app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docker compose ps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docker compose down -v</a:t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/>
            </a:r>
          </a:p>
          <a:p>
            <a:r>
              <a:rPr sz="840" b="0">
                <a:solidFill>
                  <a:srgbClr val="E2E8F0"/>
                </a:solidFill>
                <a:latin typeface="Aptos Mono"/>
              </a:rPr>
              <a:t>curl http://localhost:3000/health</a:t>
            </a:r>
          </a:p>
        </p:txBody>
      </p:sp>
      <p:pic>
        <p:nvPicPr>
          <p:cNvPr id="16" name="Picture 15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17" name="Picture 16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Plano B para imprevistos em sala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Tenha alternativas para não travar a aula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59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64008" cy="406908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Quando a ferramenta falhar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Sem GitHub/GitLab: simular PR com diff local e checklist.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Sem Docker: explicar Dockerfile e analisar compose.yaml em grupo.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Sem IA disponível: professor demonstra com um exemplo único.</a:t>
            </a:r>
          </a:p>
          <a:p>
            <a:pPr>
              <a:spcAft>
                <a:spcPts val="200"/>
              </a:spcAft>
              <a:defRPr sz="1080">
                <a:solidFill>
                  <a:srgbClr val="475569"/>
                </a:solidFill>
                <a:latin typeface="Aptos"/>
              </a:defRPr>
            </a:pPr>
            <a:r>
              <a:t>• Sem internet: usar logs e arquivos preparados previamente.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00200"/>
            <a:ext cx="521208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64008" cy="4069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1737360"/>
            <a:ext cx="48920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Quando o projeto do grupo não roda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130552"/>
            <a:ext cx="4892040" cy="34107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Usar aplicação base mínima preparada pelo professor.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Reduzir objetivo para README + pipeline + teste simples.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Trocar integração real por endpoint /health.</a:t>
            </a:r>
          </a:p>
          <a:p>
            <a:pPr>
              <a:spcAft>
                <a:spcPts val="200"/>
              </a:spcAft>
              <a:defRPr sz="1140">
                <a:solidFill>
                  <a:srgbClr val="475569"/>
                </a:solidFill>
                <a:latin typeface="Aptos"/>
              </a:defRPr>
            </a:pPr>
            <a:r>
              <a:t>• Avaliar evidência proporcional ao que foi possível validar.</a:t>
            </a:r>
          </a:p>
        </p:txBody>
      </p:sp>
      <p:pic>
        <p:nvPicPr>
          <p:cNvPr id="18" name="Picture 17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19" name="Picture 18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594360" y="384048"/>
            <a:ext cx="90525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12263F"/>
                </a:solidFill>
                <a:latin typeface="Aptos"/>
              </a:rPr>
              <a:t>Referências para aprofundamento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95097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80" b="0">
                <a:solidFill>
                  <a:srgbClr val="475569"/>
                </a:solidFill>
                <a:latin typeface="Aptos"/>
              </a:rPr>
              <a:t>Não inclui os materiais internos de apoio como bibliografia formal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52728"/>
            <a:ext cx="1143000" cy="41148"/>
          </a:xfrm>
          <a:prstGeom prst="rect">
            <a:avLst/>
          </a:prstGeom>
          <a:solidFill>
            <a:srgbClr val="1A31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6162" y="6446520"/>
            <a:ext cx="752779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19" b="0">
                <a:solidFill>
                  <a:srgbClr val="475569"/>
                </a:solidFill>
                <a:latin typeface="Aptos"/>
              </a:rPr>
              <a:t>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554480"/>
            <a:ext cx="33832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554480"/>
            <a:ext cx="64008" cy="3566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691639"/>
            <a:ext cx="30632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DevOps e engenharia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084831"/>
            <a:ext cx="3063240" cy="290779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t>• KIM et al. The DevOps Handbook. 2. ed.</a:t>
            </a:r>
          </a:p>
          <a:p>
            <a:r>
              <a:t>• FORSGREN; HUMBLE; KIM. Accelerate.</a:t>
            </a:r>
          </a:p>
          <a:p>
            <a:r>
              <a:t>• HUMBLE; FARLEY. Continuous Delivery.</a:t>
            </a:r>
          </a:p>
          <a:p>
            <a:r>
              <a:t>• FARLEY. Modern Software Engineering.</a:t>
            </a:r>
          </a:p>
          <a:p>
            <a:r>
              <a:t>• DORA. State of DevOps / métricas DORA.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1554480"/>
            <a:ext cx="33832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1554480"/>
            <a:ext cx="64008" cy="3566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1" y="1691639"/>
            <a:ext cx="30632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Ferramentas e práticas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1" y="2084831"/>
            <a:ext cx="3063240" cy="290779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GitHub Actions Documentation.</a:t>
            </a:r>
          </a:p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Docker Documentation.</a:t>
            </a:r>
          </a:p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OpenTelemetry Documentation.</a:t>
            </a:r>
          </a:p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Terraform Documentation.</a:t>
            </a:r>
          </a:p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OWASP DevSecOps Guideline.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554480"/>
            <a:ext cx="31546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554480"/>
            <a:ext cx="64008" cy="3566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1691639"/>
            <a:ext cx="28346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20" b="1">
                <a:solidFill>
                  <a:srgbClr val="0F172A"/>
                </a:solidFill>
                <a:latin typeface="Aptos"/>
              </a:rPr>
              <a:t>IA e governança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1" y="2084831"/>
            <a:ext cx="2834640" cy="290779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GitHub Copilot Docs.</a:t>
            </a:r>
          </a:p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OpenAI Codex.</a:t>
            </a:r>
          </a:p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Gemini Code Assist.</a:t>
            </a:r>
          </a:p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Amazon Q Developer.</a:t>
            </a:r>
          </a:p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NIST AI RMF 1.0.</a:t>
            </a:r>
          </a:p>
          <a:p>
            <a:pPr>
              <a:spcAft>
                <a:spcPts val="200"/>
              </a:spcAft>
              <a:defRPr sz="1060">
                <a:solidFill>
                  <a:srgbClr val="475569"/>
                </a:solidFill>
                <a:latin typeface="Aptos"/>
              </a:defRPr>
            </a:pPr>
            <a:r>
              <a:t>• OWASP GenAI LLM Top 10 2026.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596128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Aptos"/>
              </a:rPr>
              <a:t>Uso em sala: trate essas referências como base para preparar exemplos e tirar dúvidas, não como lista obrigatória de leitura para os alunos.</a:t>
            </a:r>
          </a:p>
        </p:txBody>
      </p:sp>
      <p:pic>
        <p:nvPicPr>
          <p:cNvPr id="23" name="Picture 22" descr="Logo Unifor 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696" y="256032"/>
            <a:ext cx="999744" cy="347472"/>
          </a:xfrm>
          <a:prstGeom prst="rect">
            <a:avLst/>
          </a:prstGeom>
        </p:spPr>
      </p:pic>
      <p:pic>
        <p:nvPicPr>
          <p:cNvPr id="24" name="Picture 23" descr="Logo Unif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473952"/>
            <a:ext cx="564642" cy="1737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