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notesMasterIdLst>
    <p:notesMasterId r:id="rId15"/>
  </p:notesMasterIdLst>
  <p:sldIdLst>
    <p:sldId id="1109" r:id="rId207"/>
    <p:sldId id="1110" r:id="rId206"/>
    <p:sldId id="1111" r:id="rId205"/>
    <p:sldId id="1112" r:id="rId204"/>
    <p:sldId id="1113" r:id="rId203"/>
    <p:sldId id="1114" r:id="rId202"/>
    <p:sldId id="1115" r:id="rId201"/>
    <p:sldId id="1116" r:id="rId200"/>
    <p:sldId id="1117" r:id="rId199"/>
    <p:sldId id="1118" r:id="rId198"/>
    <p:sldId id="1119" r:id="rId197"/>
    <p:sldId id="1120" r:id="rId196"/>
    <p:sldId id="1121" r:id="rId195"/>
    <p:sldId id="1122" r:id="rId194"/>
    <p:sldId id="1123" r:id="rId193"/>
    <p:sldId id="1124" r:id="rId192"/>
    <p:sldId id="1125" r:id="rId191"/>
    <p:sldId id="1126" r:id="rId190"/>
    <p:sldId id="1127" r:id="rId189"/>
    <p:sldId id="1128" r:id="rId188"/>
    <p:sldId id="1129" r:id="rId187"/>
    <p:sldId id="1130" r:id="rId186"/>
    <p:sldId id="1131" r:id="rId185"/>
    <p:sldId id="1132" r:id="rId184"/>
    <p:sldId id="1133" r:id="rId183"/>
    <p:sldId id="1134" r:id="rId182"/>
    <p:sldId id="1135" r:id="rId181"/>
    <p:sldId id="1136" r:id="rId180"/>
    <p:sldId id="1137" r:id="rId267"/>
    <p:sldId id="1138" r:id="rId268"/>
    <p:sldId id="1139" r:id="rId269"/>
    <p:sldId id="1140" r:id="rId270"/>
    <p:sldId id="1141" r:id="rId271"/>
    <p:sldId id="1142" r:id="rId272"/>
    <p:sldId id="1143" r:id="rId273"/>
    <p:sldId id="1144" r:id="rId274"/>
    <p:sldId id="1145" r:id="rId275"/>
    <p:sldId id="1146" r:id="rId276"/>
    <p:sldId id="1147" r:id="rId277"/>
    <p:sldId id="1148" r:id="rId278"/>
    <p:sldId id="1149" r:id="rId279"/>
    <p:sldId id="1150" r:id="rId280"/>
    <p:sldId id="1151" r:id="rId281"/>
    <p:sldId id="1152" r:id="rId282"/>
    <p:sldId id="1153" r:id="rId283"/>
    <p:sldId id="1154" r:id="rId284"/>
    <p:sldId id="1155" r:id="rId285"/>
    <p:sldId id="1156" r:id="rId286"/>
    <p:sldId id="1157" r:id="rId287"/>
    <p:sldId id="1158" r:id="rId288"/>
    <p:sldId id="1159" r:id="rId289"/>
    <p:sldId id="1160" r:id="rId290"/>
    <p:sldId id="1161" r:id="rId291"/>
    <p:sldId id="1162" r:id="rId292"/>
    <p:sldId id="1163" r:id="rId293"/>
    <p:sldId id="1164" r:id="rId294"/>
    <p:sldId id="1165" r:id="rId295"/>
    <p:sldId id="1166" r:id="rId296"/>
    <p:sldId id="1167" r:id="rId297"/>
    <p:sldId id="1168" r:id="rId298"/>
    <p:sldId id="1169" r:id="rId299"/>
    <p:sldId id="1170" r:id="rId300"/>
    <p:sldId id="1171" r:id="rId179"/>
    <p:sldId id="1172" r:id="rId302"/>
    <p:sldId id="1173" r:id="rId303"/>
    <p:sldId id="1174" r:id="rId304"/>
    <p:sldId id="1175" r:id="rId305"/>
    <p:sldId id="1176" r:id="rId306"/>
    <p:sldId id="1177" r:id="rId307"/>
    <p:sldId id="1178" r:id="rId308"/>
    <p:sldId id="1179" r:id="rId309"/>
    <p:sldId id="1180" r:id="rId310"/>
    <p:sldId id="1181" r:id="rId178"/>
    <p:sldId id="1182" r:id="rId177"/>
    <p:sldId id="1183" r:id="rId176"/>
    <p:sldId id="1184" r:id="rId175"/>
    <p:sldId id="1185" r:id="rId174"/>
    <p:sldId id="1186" r:id="rId173"/>
    <p:sldId id="1187" r:id="rId17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notesMaster" Target="notesMasters/notesMaster1.xml"/><Relationship Id="rId171" Type="http://schemas.openxmlformats.org/officeDocument/2006/relationships/presProps" Target="presProps.xml"/><Relationship Id="rId172" Type="http://schemas.openxmlformats.org/officeDocument/2006/relationships/slide" Target="slides/slide185.xml"/><Relationship Id="rId173" Type="http://schemas.openxmlformats.org/officeDocument/2006/relationships/slide" Target="slides/slide184.xml"/><Relationship Id="rId174" Type="http://schemas.openxmlformats.org/officeDocument/2006/relationships/slide" Target="slides/slide183.xml"/><Relationship Id="rId175" Type="http://schemas.openxmlformats.org/officeDocument/2006/relationships/slide" Target="slides/slide182.xml"/><Relationship Id="rId176" Type="http://schemas.openxmlformats.org/officeDocument/2006/relationships/slide" Target="slides/slide181.xml"/><Relationship Id="rId177" Type="http://schemas.openxmlformats.org/officeDocument/2006/relationships/slide" Target="slides/slide180.xml"/><Relationship Id="rId178" Type="http://schemas.openxmlformats.org/officeDocument/2006/relationships/slide" Target="slides/slide179.xml"/><Relationship Id="rId179" Type="http://schemas.openxmlformats.org/officeDocument/2006/relationships/slide" Target="slides/slide169.xml"/><Relationship Id="rId180" Type="http://schemas.openxmlformats.org/officeDocument/2006/relationships/slide" Target="slides/slide134.xml"/><Relationship Id="rId181" Type="http://schemas.openxmlformats.org/officeDocument/2006/relationships/slide" Target="slides/slide133.xml"/><Relationship Id="rId182" Type="http://schemas.openxmlformats.org/officeDocument/2006/relationships/slide" Target="slides/slide132.xml"/><Relationship Id="rId183" Type="http://schemas.openxmlformats.org/officeDocument/2006/relationships/slide" Target="slides/slide131.xml"/><Relationship Id="rId184" Type="http://schemas.openxmlformats.org/officeDocument/2006/relationships/slide" Target="slides/slide130.xml"/><Relationship Id="rId185" Type="http://schemas.openxmlformats.org/officeDocument/2006/relationships/slide" Target="slides/slide129.xml"/><Relationship Id="rId186" Type="http://schemas.openxmlformats.org/officeDocument/2006/relationships/slide" Target="slides/slide128.xml"/><Relationship Id="rId187" Type="http://schemas.openxmlformats.org/officeDocument/2006/relationships/slide" Target="slides/slide127.xml"/><Relationship Id="rId188" Type="http://schemas.openxmlformats.org/officeDocument/2006/relationships/slide" Target="slides/slide126.xml"/><Relationship Id="rId189" Type="http://schemas.openxmlformats.org/officeDocument/2006/relationships/slide" Target="slides/slide125.xml"/><Relationship Id="rId190" Type="http://schemas.openxmlformats.org/officeDocument/2006/relationships/slide" Target="slides/slide124.xml"/><Relationship Id="rId191" Type="http://schemas.openxmlformats.org/officeDocument/2006/relationships/slide" Target="slides/slide123.xml"/><Relationship Id="rId192" Type="http://schemas.openxmlformats.org/officeDocument/2006/relationships/slide" Target="slides/slide122.xml"/><Relationship Id="rId193" Type="http://schemas.openxmlformats.org/officeDocument/2006/relationships/slide" Target="slides/slide121.xml"/><Relationship Id="rId194" Type="http://schemas.openxmlformats.org/officeDocument/2006/relationships/slide" Target="slides/slide120.xml"/><Relationship Id="rId195" Type="http://schemas.openxmlformats.org/officeDocument/2006/relationships/slide" Target="slides/slide119.xml"/><Relationship Id="rId196" Type="http://schemas.openxmlformats.org/officeDocument/2006/relationships/slide" Target="slides/slide118.xml"/><Relationship Id="rId197" Type="http://schemas.openxmlformats.org/officeDocument/2006/relationships/slide" Target="slides/slide117.xml"/><Relationship Id="rId198" Type="http://schemas.openxmlformats.org/officeDocument/2006/relationships/slide" Target="slides/slide116.xml"/><Relationship Id="rId199" Type="http://schemas.openxmlformats.org/officeDocument/2006/relationships/slide" Target="slides/slide115.xml"/><Relationship Id="rId200" Type="http://schemas.openxmlformats.org/officeDocument/2006/relationships/slide" Target="slides/slide114.xml"/><Relationship Id="rId201" Type="http://schemas.openxmlformats.org/officeDocument/2006/relationships/slide" Target="slides/slide113.xml"/><Relationship Id="rId202" Type="http://schemas.openxmlformats.org/officeDocument/2006/relationships/slide" Target="slides/slide112.xml"/><Relationship Id="rId203" Type="http://schemas.openxmlformats.org/officeDocument/2006/relationships/slide" Target="slides/slide111.xml"/><Relationship Id="rId204" Type="http://schemas.openxmlformats.org/officeDocument/2006/relationships/slide" Target="slides/slide110.xml"/><Relationship Id="rId205" Type="http://schemas.openxmlformats.org/officeDocument/2006/relationships/slide" Target="slides/slide109.xml"/><Relationship Id="rId206" Type="http://schemas.openxmlformats.org/officeDocument/2006/relationships/slide" Target="slides/slide108.xml"/><Relationship Id="rId207" Type="http://schemas.openxmlformats.org/officeDocument/2006/relationships/slide" Target="slides/slide107.xml"/><Relationship Id="rId267" Type="http://schemas.openxmlformats.org/officeDocument/2006/relationships/slide" Target="slides/slide135.xml"/><Relationship Id="rId268" Type="http://schemas.openxmlformats.org/officeDocument/2006/relationships/slide" Target="slides/slide136.xml"/><Relationship Id="rId269" Type="http://schemas.openxmlformats.org/officeDocument/2006/relationships/slide" Target="slides/slide137.xml"/><Relationship Id="rId270" Type="http://schemas.openxmlformats.org/officeDocument/2006/relationships/slide" Target="slides/slide138.xml"/><Relationship Id="rId271" Type="http://schemas.openxmlformats.org/officeDocument/2006/relationships/slide" Target="slides/slide139.xml"/><Relationship Id="rId272" Type="http://schemas.openxmlformats.org/officeDocument/2006/relationships/slide" Target="slides/slide140.xml"/><Relationship Id="rId273" Type="http://schemas.openxmlformats.org/officeDocument/2006/relationships/slide" Target="slides/slide141.xml"/><Relationship Id="rId274" Type="http://schemas.openxmlformats.org/officeDocument/2006/relationships/slide" Target="slides/slide142.xml"/><Relationship Id="rId275" Type="http://schemas.openxmlformats.org/officeDocument/2006/relationships/slide" Target="slides/slide143.xml"/><Relationship Id="rId276" Type="http://schemas.openxmlformats.org/officeDocument/2006/relationships/slide" Target="slides/slide144.xml"/><Relationship Id="rId277" Type="http://schemas.openxmlformats.org/officeDocument/2006/relationships/slide" Target="slides/slide145.xml"/><Relationship Id="rId278" Type="http://schemas.openxmlformats.org/officeDocument/2006/relationships/slide" Target="slides/slide146.xml"/><Relationship Id="rId279" Type="http://schemas.openxmlformats.org/officeDocument/2006/relationships/slide" Target="slides/slide147.xml"/><Relationship Id="rId280" Type="http://schemas.openxmlformats.org/officeDocument/2006/relationships/slide" Target="slides/slide148.xml"/><Relationship Id="rId281" Type="http://schemas.openxmlformats.org/officeDocument/2006/relationships/slide" Target="slides/slide149.xml"/><Relationship Id="rId282" Type="http://schemas.openxmlformats.org/officeDocument/2006/relationships/slide" Target="slides/slide150.xml"/><Relationship Id="rId283" Type="http://schemas.openxmlformats.org/officeDocument/2006/relationships/slide" Target="slides/slide151.xml"/><Relationship Id="rId284" Type="http://schemas.openxmlformats.org/officeDocument/2006/relationships/slide" Target="slides/slide152.xml"/><Relationship Id="rId285" Type="http://schemas.openxmlformats.org/officeDocument/2006/relationships/slide" Target="slides/slide153.xml"/><Relationship Id="rId286" Type="http://schemas.openxmlformats.org/officeDocument/2006/relationships/slide" Target="slides/slide154.xml"/><Relationship Id="rId287" Type="http://schemas.openxmlformats.org/officeDocument/2006/relationships/slide" Target="slides/slide155.xml"/><Relationship Id="rId288" Type="http://schemas.openxmlformats.org/officeDocument/2006/relationships/slide" Target="slides/slide156.xml"/><Relationship Id="rId289" Type="http://schemas.openxmlformats.org/officeDocument/2006/relationships/slide" Target="slides/slide157.xml"/><Relationship Id="rId290" Type="http://schemas.openxmlformats.org/officeDocument/2006/relationships/slide" Target="slides/slide158.xml"/><Relationship Id="rId291" Type="http://schemas.openxmlformats.org/officeDocument/2006/relationships/slide" Target="slides/slide159.xml"/><Relationship Id="rId292" Type="http://schemas.openxmlformats.org/officeDocument/2006/relationships/slide" Target="slides/slide160.xml"/><Relationship Id="rId293" Type="http://schemas.openxmlformats.org/officeDocument/2006/relationships/slide" Target="slides/slide161.xml"/><Relationship Id="rId294" Type="http://schemas.openxmlformats.org/officeDocument/2006/relationships/slide" Target="slides/slide162.xml"/><Relationship Id="rId295" Type="http://schemas.openxmlformats.org/officeDocument/2006/relationships/slide" Target="slides/slide163.xml"/><Relationship Id="rId296" Type="http://schemas.openxmlformats.org/officeDocument/2006/relationships/slide" Target="slides/slide164.xml"/><Relationship Id="rId297" Type="http://schemas.openxmlformats.org/officeDocument/2006/relationships/slide" Target="slides/slide165.xml"/><Relationship Id="rId298" Type="http://schemas.openxmlformats.org/officeDocument/2006/relationships/slide" Target="slides/slide166.xml"/><Relationship Id="rId299" Type="http://schemas.openxmlformats.org/officeDocument/2006/relationships/slide" Target="slides/slide167.xml"/><Relationship Id="rId300" Type="http://schemas.openxmlformats.org/officeDocument/2006/relationships/slide" Target="slides/slide168.xml"/><Relationship Id="rId302" Type="http://schemas.openxmlformats.org/officeDocument/2006/relationships/slide" Target="slides/slide170.xml"/><Relationship Id="rId303" Type="http://schemas.openxmlformats.org/officeDocument/2006/relationships/slide" Target="slides/slide171.xml"/><Relationship Id="rId304" Type="http://schemas.openxmlformats.org/officeDocument/2006/relationships/slide" Target="slides/slide172.xml"/><Relationship Id="rId305" Type="http://schemas.openxmlformats.org/officeDocument/2006/relationships/slide" Target="slides/slide173.xml"/><Relationship Id="rId306" Type="http://schemas.openxmlformats.org/officeDocument/2006/relationships/slide" Target="slides/slide174.xml"/><Relationship Id="rId307" Type="http://schemas.openxmlformats.org/officeDocument/2006/relationships/slide" Target="slides/slide175.xml"/><Relationship Id="rId308" Type="http://schemas.openxmlformats.org/officeDocument/2006/relationships/slide" Target="slides/slide176.xml"/><Relationship Id="rId309" Type="http://schemas.openxmlformats.org/officeDocument/2006/relationships/slide" Target="slides/slide177.xml"/><Relationship Id="rId310" Type="http://schemas.openxmlformats.org/officeDocument/2006/relationships/slide" Target="slides/slide1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pt-BR" sz="4400" spc="-1" strike="noStrike">
                <a:solidFill>
                  <a:srgbClr val="000000"/>
                </a:solidFill>
                <a:latin typeface="Arial"/>
              </a:rPr>
              <a:t>Clique para mover o slide</a:t>
            </a:r>
            <a:endParaRPr b="0" lang="pt-BR" sz="4400" spc="-1" strike="noStrike">
              <a:solidFill>
                <a:srgbClr val="000000"/>
              </a:solidFill>
              <a:latin typeface="Arial"/>
            </a:endParaRPr>
          </a:p>
        </p:txBody>
      </p:sp>
      <p:sp>
        <p:nvSpPr>
          <p:cNvPr id="5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pt-BR" sz="2000" spc="-1" strike="noStrike">
                <a:solidFill>
                  <a:srgbClr val="000000"/>
                </a:solidFill>
                <a:latin typeface="Arial"/>
              </a:rPr>
              <a:t>Clique para editar o formato de notas</a:t>
            </a:r>
            <a:endParaRPr b="0" lang="pt-BR" sz="2000" spc="-1" strike="noStrike">
              <a:solidFill>
                <a:srgbClr val="000000"/>
              </a:solidFill>
              <a:latin typeface="Arial"/>
            </a:endParaRPr>
          </a:p>
        </p:txBody>
      </p:sp>
      <p:sp>
        <p:nvSpPr>
          <p:cNvPr id="6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pt-BR" sz="1400" spc="-1" strike="noStrike">
                <a:solidFill>
                  <a:srgbClr val="000000"/>
                </a:solidFill>
                <a:latin typeface="Times New Roman"/>
              </a:rPr>
              <a:t>&lt;cabeçalho&gt;</a:t>
            </a:r>
            <a:endParaRPr b="0" lang="pt-BR" sz="1400" spc="-1" strike="noStrike">
              <a:solidFill>
                <a:srgbClr val="000000"/>
              </a:solidFill>
              <a:latin typeface="Times New Roman"/>
            </a:endParaRPr>
          </a:p>
        </p:txBody>
      </p:sp>
      <p:sp>
        <p:nvSpPr>
          <p:cNvPr id="61" name="PlaceHolder 4"/>
          <p:cNvSpPr>
            <a:spLocks noGrp="1"/>
          </p:cNvSpPr>
          <p:nvPr>
            <p:ph type="dt" idx="37"/>
          </p:nvPr>
        </p:nvSpPr>
        <p:spPr>
          <a:xfrm>
            <a:off x="4278960" y="0"/>
            <a:ext cx="3280680" cy="534240"/>
          </a:xfrm>
          <a:prstGeom prst="rect">
            <a:avLst/>
          </a:prstGeom>
          <a:noFill/>
          <a:ln w="0">
            <a:noFill/>
          </a:ln>
        </p:spPr>
        <p:txBody>
          <a:bodyPr lIns="0" rIns="0" tIns="0" bIns="0" anchor="t">
            <a:noAutofit/>
          </a:bodyPr>
          <a:lstStyle>
            <a:lvl1pPr indent="0" algn="r">
              <a:buNone/>
              <a:defRPr b="0" lang="pt-BR" sz="1400" spc="-1" strike="noStrike">
                <a:solidFill>
                  <a:srgbClr val="000000"/>
                </a:solidFill>
                <a:latin typeface="Times New Roman"/>
              </a:defRPr>
            </a:lvl1pPr>
          </a:lstStyle>
          <a:p>
            <a:pPr indent="0" algn="r">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62" name="PlaceHolder 5"/>
          <p:cNvSpPr>
            <a:spLocks noGrp="1"/>
          </p:cNvSpPr>
          <p:nvPr>
            <p:ph type="ftr" idx="38"/>
          </p:nvPr>
        </p:nvSpPr>
        <p:spPr>
          <a:xfrm>
            <a:off x="0" y="10157400"/>
            <a:ext cx="3280680" cy="534240"/>
          </a:xfrm>
          <a:prstGeom prst="rect">
            <a:avLst/>
          </a:prstGeom>
          <a:noFill/>
          <a:ln w="0">
            <a:noFill/>
          </a:ln>
        </p:spPr>
        <p:txBody>
          <a:bodyPr lIns="0" rIns="0" tIns="0" bIns="0" anchor="b">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63" name="PlaceHolder 6"/>
          <p:cNvSpPr>
            <a:spLocks noGrp="1"/>
          </p:cNvSpPr>
          <p:nvPr>
            <p:ph type="sldNum" idx="39"/>
          </p:nvPr>
        </p:nvSpPr>
        <p:spPr>
          <a:xfrm>
            <a:off x="4278960" y="10157400"/>
            <a:ext cx="3280680" cy="534240"/>
          </a:xfrm>
          <a:prstGeom prst="rect">
            <a:avLst/>
          </a:prstGeom>
          <a:noFill/>
          <a:ln w="0">
            <a:noFill/>
          </a:ln>
        </p:spPr>
        <p:txBody>
          <a:bodyPr lIns="0" rIns="0" tIns="0" bIns="0" anchor="b">
            <a:noAutofit/>
          </a:bodyPr>
          <a:lstStyle>
            <a:lvl1pPr indent="0" algn="r">
              <a:buNone/>
              <a:defRPr b="0" lang="pt-BR" sz="1400" spc="-1" strike="noStrike">
                <a:solidFill>
                  <a:srgbClr val="000000"/>
                </a:solidFill>
                <a:latin typeface="Times New Roman"/>
              </a:defRPr>
            </a:lvl1pPr>
          </a:lstStyle>
          <a:p>
            <a:pPr indent="0" algn="r">
              <a:buNone/>
            </a:pPr>
            <a:fld id="{8DDE86A1-DBFB-4A21-B860-240CC0AE56CD}"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E4.78 — Consulta | Outros recursos do ecossistema</a:t>
            </a:r>
          </a:p>
          <a:p/>
          <a:p>
            <a:r>
              <a:t>COMO EXPLICAR</a:t>
            </a:r>
          </a:p>
          <a:p>
            <a:r>
              <a:t>Faça uma passagem pelo mapa sem instalar componentes adicionais. Registry armazena imagens; não executa a aplicação. Context permite apontar comandos para outro Engine, portanto conhecer o destino importa. Uma análise de vulnerabilidades ajuda a priorizar correções, mas depende de dados atualizados e não comprova segurança total. Swarm introduz cluster e estado desejado de serviços, tema além da execução em um host. Algumas capacidades de produtos e planos mudam; consulte a documentação oficial antes de adotá-las.</a:t>
            </a:r>
          </a:p>
          <a:p/>
          <a:p>
            <a:r>
              <a:t>CONCLUSÃO</a:t>
            </a:r>
          </a:p>
          <a:p>
            <a:r>
              <a:t>A entrega desta aula usa os recursos necessários ao projeto; conhecer opções não cria novas exigências.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E4.77 — Consulta | BuildKit, Buildx e cache de construção</a:t>
            </a:r>
          </a:p>
          <a:p/>
          <a:p>
            <a:r>
              <a:t>COMO EXPLICAR</a:t>
            </a:r>
          </a:p>
          <a:p>
            <a:r>
              <a:t>O cache de camadas explicado na trilha principal é o primeiro passo. Cache mounts podem reaproveitar downloads sem colocar esse cache no artefato final. Build secrets evitam fornecer credenciais por ARG ou ENV persistentes, mas ainda exigem que o comando não copie o segredo para a saída. Buildx e BuildKit oferecem capacidades de construção; não devem ser confundidos com o runtime que inicia a aplicação. Uma imagem multiplataforma exige que código, base e dependências funcionem nas plataformas publicadas.</a:t>
            </a:r>
          </a:p>
          <a:p/>
          <a:p>
            <a:r>
              <a:t>CONCLUSÃO</a:t>
            </a:r>
          </a:p>
          <a:p>
            <a:r>
              <a:t>Otimizar a construção e controlar a plataforma complementam a reprodução; não substituem testes.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E4.76 — Consulta | Overrides e Watch no desenvolvimento</a:t>
            </a:r>
          </a:p>
          <a:p/>
          <a:p>
            <a:r>
              <a:t>COMO EXPLICAR</a:t>
            </a:r>
          </a:p>
          <a:p>
            <a:r>
              <a:t>Uma execução com arquivos explícitos pode usar docker compose -f compose.yaml -f compose.dev.yaml config para revisar a combinação antes de subir. As regras de merge variam por campo; não presuma que toda lista será substituída. Watch é recurso do plugin Compose e seu suporte depende da versão instalada. Uma mudança de dependência pode exigir rebuild, enquanto uma mudança de código pode usar sync se o processo recarrega. O objetivo é encurtar o ciclo de desenvolvimento sem tornar a configuração final um mistério.</a:t>
            </a:r>
          </a:p>
          <a:p/>
          <a:p>
            <a:r>
              <a:t>CONCLUSÃO</a:t>
            </a:r>
          </a:p>
          <a:p>
            <a:r>
              <a:t>Confira a versão do Compose e a configuração resultante; conveniência local não dispensa testar a imagem final.</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E4.75 — Consulta | Profiles: serviços opcionais no Compose</a:t>
            </a:r>
          </a:p>
          <a:p/>
          <a:p>
            <a:r>
              <a:t>COMO EXPLICAR</a:t>
            </a:r>
          </a:p>
          <a:p>
            <a:r>
              <a:t>O trecho ilustra um serviço adicional, não substitui o compose.yaml existente. App e db continuam sem profile para iniciar normalmente. A imagem e a porta são exemplos e precisam estar disponíveis se a equipe decidir experimentá-los; não há obrigação de baixar a ferramenta. Selecionar explicitamente um serviço na CLI também pode ativar esse serviço com profile. Profiles organizam combinações de serviços, mas não são autorização de acesso nem gestão de segredos.</a:t>
            </a:r>
          </a:p>
          <a:p/>
          <a:p>
            <a:r>
              <a:t>CONCLUSÃO</a:t>
            </a:r>
          </a:p>
          <a:p>
            <a:r>
              <a:t>Profiles permitem escolher ferramentas ou tarefas opcionais sem duplicar toda a aplicação.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E4.74 — Consulta | Diferentes modos de rede</a:t>
            </a:r>
          </a:p>
          <a:p/>
          <a:p>
            <a:r>
              <a:t>COMO EXPLICAR</a:t>
            </a:r>
          </a:p>
          <a:p>
            <a:r>
              <a:t>Não apresente drivers como uma progressão de qualidade. Bridge atende ao exemplo de dois serviços em um host. Host reduz o isolamento de rede e não exige publicação de portas da mesma forma. Overlay não é o resultado automático de executar Compose em dois notebooks. Macvlan e ipvlan atendem necessidades específicas de infraestrutura e podem ter restrições no ambiente local. No projeto, a primeira decisão é quais serviços precisam se alcançar; trocar de driver sem uma necessidade não corrige um hostname errado.</a:t>
            </a:r>
          </a:p>
          <a:p/>
          <a:p>
            <a:r>
              <a:t>CONCLUSÃO</a:t>
            </a:r>
          </a:p>
          <a:p>
            <a:r>
              <a:t>Escolha a topologia necessária antes do driver; uma rede compartilhada não publica sozinha portas no host.</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E4.73 — Consulta | Volume, bind mount e tmpfs</a:t>
            </a:r>
          </a:p>
          <a:p/>
          <a:p>
            <a:r>
              <a:t>COMO EXPLICAR</a:t>
            </a:r>
          </a:p>
          <a:p>
            <a:r>
              <a:t>Um exemplo de sintaxe Compose é tmpfs: /tmp dentro do serviço, útil se a aplicação precisa de temporários numa instância com filesystem somente leitura. Dados de negócio não devem depender dessa montagem. tmpfs usa memória, mas páginas podem ir para swap conforme o host; não prometa que segredos jamais tocarão disco só por estarem ali. O laboratório usa volume para dados e bind mount para inicialização, por isso tmpfs é apresentado como alternativa com propósito distinto.</a:t>
            </a:r>
          </a:p>
          <a:p/>
          <a:p>
            <a:r>
              <a:t>CONCLUSÃO</a:t>
            </a:r>
          </a:p>
          <a:p>
            <a:r>
              <a:t>Persistência, compartilhamento com o host e armazenamento temporário são requisitos diferentes.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E4.72 — Consulta | Verificar a imagem no CI</a:t>
            </a:r>
          </a:p>
          <a:p/>
          <a:p>
            <a:r>
              <a:t>COMO EXPLICAR</a:t>
            </a:r>
          </a:p>
          <a:p>
            <a:r>
              <a:t>Esta lâmina conecta o laboratório ao pipeline sem impor mais uma entrega no encontro. Um teste de integração em CI precisa de asserções e de tratamento da limpeza em falha; listar compose up seguido de down não garante por si só esse comportamento em qualquer executor. Dê preferência a um projeto Compose exclusivo por job para evitar colisões. Não use prune global ou remoção de volumes reais como rotina de limpeza. A publicação de artefato deve seguir as permissões e políticas do projeto.</a:t>
            </a:r>
          </a:p>
          <a:p/>
          <a:p>
            <a:r>
              <a:t>CONCLUSÃO</a:t>
            </a:r>
          </a:p>
          <a:p>
            <a:r>
              <a:t>CI verde só comprova o que foi testado; executar a imagem amplia a evidência sobre o artefato.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E4.62 — Plano técnico: decisões antes de executar</a:t>
            </a:r>
          </a:p>
          <a:p/>
          <a:p>
            <a:r>
              <a:t>COMO EXPLICAR</a:t>
            </a:r>
          </a:p>
          <a:p>
            <a:r>
              <a:t>Estas perguntas são uma atividade de aplicação, depois da explicação e da demonstração. Oriente a equipe a registrar respostas objetivas, não frases como “usar Docker para padronizar”. Um bom registro diz, por exemplo: API escuta 3000, cliente usa 8080, banco é acessado pelo nome db e dados vivem em um volume. A escolha de mecanismos de configuração e schema deve acompanhar a stack real. A próxima lâmina distribui o trabalho em checkpoints.</a:t>
            </a:r>
          </a:p>
          <a:p/>
          <a:p>
            <a:r>
              <a:t>CONCLUSÃO</a:t>
            </a:r>
          </a:p>
          <a:p>
            <a:r>
              <a:t>As decisões do README devem corresponder aos arquivos versionados e à execução que será demonstrada.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E4.27 — Dockerfile: a receita de construção da imagem</a:t>
            </a:r>
          </a:p>
          <a:p/>
          <a:p>
            <a:r>
              <a:t>COMO EXPLICAR</a:t>
            </a:r>
          </a:p>
          <a:p>
            <a:r>
              <a:t>Apresente o Dockerfile completo e explique que o builder lê instruções para produzir uma imagem. Ele não é um script que deve instalar tudo novamente em cada partida da API. FROM node:22-bookworm-slim fornece Node e bibliotecas do espaço de usuário; não inicia uma VM Debian. As próximas lâminas detalham os dois momentos para evitar a memorização sem entendimento. A escolha de slim é adequada ao exemplo; uma imagem menor não é automaticamente compatível ou segura.</a:t>
            </a:r>
          </a:p>
          <a:p/>
          <a:p>
            <a:r>
              <a:t>CONCLUSÃO</a:t>
            </a:r>
          </a:p>
          <a:p>
            <a:r>
              <a:t>Build produz a imagem. A API começa a atender somente quando um container executa o comando definido.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E4.26 — Arquivos do laboratório: uma responsabilidade por arquivo</a:t>
            </a:r>
          </a:p>
          <a:p/>
          <a:p>
            <a:r>
              <a:t>COMO EXPLICAR</a:t>
            </a:r>
          </a:p>
          <a:p>
            <a:r>
              <a:t>Abra a pasta e localize cada arquivo antes do build. O package-lock.json faz parte do exemplo; não solicite npm ci sem fornecer um lockfile. O Dockerfile e o Compose têm papéis diferentes, que ficarão claros nos passos seguintes. O init.sql inicializa o banco quando seu diretório de dados está vazio; ele não é um sistema de migrações. O README concentra os comandos completos, enquanto alguns slides dividem trechos longos para facilitar a leitura.</a:t>
            </a:r>
          </a:p>
          <a:p/>
          <a:p>
            <a:r>
              <a:t>CONCLUSÃO</a:t>
            </a:r>
          </a:p>
          <a:p>
            <a:r>
              <a:t>Para reproduzir a execução, o repositório precisa trazer todos os arquivos necessários, além das instruções.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E4.25 — Agora vamos empacotar uma aplicação real</a:t>
            </a:r>
          </a:p>
          <a:p/>
          <a:p>
            <a:r>
              <a:t>COMO EXPLICAR</a:t>
            </a:r>
          </a:p>
          <a:p>
            <a:r>
              <a:t>A demonstração anterior separou container de integração. Agora acrescente uma dependência de verdade. Mostre que o serviço do banco é outro processo, não uma biblioteca instalada dentro de Node. O comando POST executa uma atualização atômica no banco e GET lê o valor. A demonstração é fornecida para o professor; não obriga as equipes a abandonar seu projeto. As credenciais aula/aula são fictícias e servem apenas à stack local de laboratório.</a:t>
            </a:r>
          </a:p>
          <a:p/>
          <a:p>
            <a:r>
              <a:t>CONCLUSÃO</a:t>
            </a:r>
          </a:p>
          <a:p>
            <a:r>
              <a:t>A aplicação de exemplo ensina o padrão; a equipe deve adaptar esse padrão à aplicação que já escolheu.</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E4.24 — Respostas comentadas | Componentes e responsabilidades</a:t>
            </a:r>
          </a:p>
          <a:p/>
          <a:p>
            <a:r>
              <a:t>COMO EXPLICAR</a:t>
            </a:r>
          </a:p>
          <a:p>
            <a:r>
              <a:t>Questão 1: Em node server.js dentro de um container, qual é o papel de Node e qual é o papel do runtime de containers?</a:t>
            </a:r>
          </a:p>
          <a:p>
            <a:r>
              <a:t>Resposta e explicação: Node executa o JavaScript. O runtime de containers prepara o isolamento e inicia o processo nesse ambiente. São camadas diferentes.</a:t>
            </a:r>
          </a:p>
          <a:p/>
          <a:p>
            <a:r>
              <a:t>Questão 2: Duas instâncias criadas da mesma imagem são o mesmo container?</a:t>
            </a:r>
          </a:p>
          <a:p>
            <a:r>
              <a:t>Resposta e explicação: Não. Compartilham a origem, mas possuem identidade, configuração e estado de instância próprios.</a:t>
            </a:r>
          </a:p>
          <a:p/>
          <a:p>
            <a:r>
              <a:t>Questão 3: Compose instala um kernel e executa o JavaScript da aplicação?</a:t>
            </a:r>
          </a:p>
          <a:p>
            <a:r>
              <a:t>Resposta e explicação: Não. Compose declara e coordena serviços usando o Engine. O processo usa seu runtime de linguagem e o kernel do host Linux.</a:t>
            </a:r>
          </a:p>
          <a:p/>
          <a:p>
            <a:r>
              <a:t>CONCLUSÃO</a:t>
            </a:r>
          </a:p>
          <a:p>
            <a:r>
              <a:t>Uma resposta completa identifica o componente envolvido e explica a evidência.</a:t>
            </a:r>
          </a:p>
          <a:p/>
          <a:p>
            <a:r>
              <a:t>RESPOSTAS</a:t>
            </a:r>
          </a:p>
          <a:p>
            <a:r>
              <a:t>Node executa o JavaScript. O runtime de containers prepara o isolamento e inicia o processo nesse ambiente. São camadas diferentes.</a:t>
            </a:r>
          </a:p>
          <a:p>
            <a:r>
              <a:t>Não. Compartilham a origem, mas possuem identidade, configuração e estado de instância próprios.</a:t>
            </a:r>
          </a:p>
          <a:p>
            <a:r>
              <a:t>Não. Compose declara e coordena serviços usando o Engine. O processo usa seu runtime de linguagem e o kernel do host Linux.</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E4.23 — Verificação | Componentes e responsabilidades</a:t>
            </a:r>
          </a:p>
          <a:p/>
          <a:p>
            <a:r>
              <a:t>COMO EXPLICAR</a:t>
            </a:r>
          </a:p>
          <a:p>
            <a:r>
              <a:t>As perguntas aparecem depois das definições e demonstrações. Reserve um minuto para previsões e peça justificativas; em seguida revele o gabarito. Use as respostas para decidir se precisa retomar uma figura ou comando.</a:t>
            </a:r>
          </a:p>
          <a:p/>
          <a:p>
            <a:r>
              <a:t>CONCLUSÃO</a:t>
            </a:r>
          </a:p>
          <a:p>
            <a:r>
              <a:t>Discuta primeiro. O próximo slide traz as respostas comentadas.</a:t>
            </a:r>
          </a:p>
          <a:p/>
          <a:p>
            <a:r>
              <a:t>PERGUNTAS</a:t>
            </a:r>
          </a:p>
          <a:p>
            <a:r>
              <a:t>Em node server.js dentro de um container, qual é o papel de Node e qual é o papel do runtime de containers?</a:t>
            </a:r>
          </a:p>
          <a:p>
            <a:r>
              <a:t>Duas instâncias criadas da mesma imagem são o mesmo container?</a:t>
            </a:r>
          </a:p>
          <a:p>
            <a:r>
              <a:t>Compose instala um kernel e executa o JavaScript da aplicação?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E4.22 — Ciclo de vida: criar, observar, parar e remover</a:t>
            </a:r>
          </a:p>
          <a:p/>
          <a:p>
            <a:r>
              <a:t>COMO EXPLICAR</a:t>
            </a:r>
          </a:p>
          <a:p>
            <a:r>
              <a:t>Leia cada comando junto de seu efeito. ps lista containers em execução e ps -a inclui os parados. stop solicita encerramento e start retoma a mesma instância. rm remove a instância parada; os arquivos da imagem continuam disponíveis. docker top mostra os processos da instância. Não confunda start com run: start retoma uma instância existente, run cria uma nova. Ao terminar a demonstração, pare e remova apenas e4-primeiro. Isso não deve afetar a stack do laboratório nem outros serviços do host.</a:t>
            </a:r>
          </a:p>
          <a:p/>
          <a:p>
            <a:r>
              <a:t>CONCLUSÃO</a:t>
            </a:r>
          </a:p>
          <a:p>
            <a:r>
              <a:t>Imagem, instância e processo têm ciclos de vida relacionados, mas não são o mesmo objeto.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E4.21 — Observar e executar comandos em uma instância</a:t>
            </a:r>
          </a:p>
          <a:p/>
          <a:p>
            <a:r>
              <a:t>COMO EXPLICAR</a:t>
            </a:r>
          </a:p>
          <a:p>
            <a:r>
              <a:t>Execute antes da parada e remoção. exec não cria uma nova instância da imagem: inicia um comando dentro do container existente, que precisa estar ativo. inspect consulta o objeto gerenciado e funciona também para uma instância parada; selecione apenas o campo necessário. O servidor inicial não emite logs de requisições, portanto logs vazio não é falha do Docker. stats ajuda a observar consumo, mas não substitui histórico e alertas. Comandos de inspeção não corrigem o problema por si só.</a:t>
            </a:r>
          </a:p>
          <a:p/>
          <a:p>
            <a:r>
              <a:t>CONCLUSÃO</a:t>
            </a:r>
          </a:p>
          <a:p>
            <a:r>
              <a:t>logs mostra o que foi emitido; inspect mostra configuração/estado; exec executa; stats mede consumo.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E4.20 — Segunda demonstração: um servidor que permanece ativo</a:t>
            </a:r>
          </a:p>
          <a:p/>
          <a:p>
            <a:r>
              <a:t>COMO EXPLICAR</a:t>
            </a:r>
          </a:p>
          <a:p>
            <a:r>
              <a:t>Antes de executar, confirme que não existe uma instância e4-primeiro de uma demonstração anterior e que a porta 18080 está livre. Se já existir uma instância sua, use o roteiro de parada e remoção adiante; não interrompa serviços de outras tarefas. O código inline usa somente a biblioteca padrão de Node. O bind 0.0.0.0 aceita tráfego na interface do container; a publicação no host fica limitada ao endereço local. A sintaxe multilinha foi preparada para Bash/zsh. Mostre a resposta no terminal ou navegador.</a:t>
            </a:r>
          </a:p>
          <a:p/>
          <a:p>
            <a:r>
              <a:t>CONCLUSÃO</a:t>
            </a:r>
          </a:p>
          <a:p>
            <a:r>
              <a:t>A porta publicada é uma entrada para chegar ao processo; ela não cria um servidor por si só.</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E4.19 — Primeira demonstração: um comando que termina</a:t>
            </a:r>
          </a:p>
          <a:p/>
          <a:p>
            <a:r>
              <a:t>COMO EXPLICAR</a:t>
            </a:r>
          </a:p>
          <a:p>
            <a:r>
              <a:t>Execute este comando primeiro, sem banco nem Dockerfile. A saída deve ser uma versão 22.x, mas o patch depende da imagem obtida pela tag. A instalação de Node no host não é substituída por esse comando. O processo principal é curto: imprime e sai. O --rm remove o container depois da saída, não a imagem baixada. Se houver falha antes da execução, distinga daemon indisponível de falha de obtenção da imagem. Esta é uma observação guiada, não uma pergunta antes da definição.</a:t>
            </a:r>
          </a:p>
          <a:p/>
          <a:p>
            <a:r>
              <a:t>CONCLUSÃO</a:t>
            </a:r>
          </a:p>
          <a:p>
            <a:r>
              <a:t>O container não precisa permanecer ativo: sua duração acompanha o processo principal.</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E4.18 — Mapa dos recursos do Docker</a:t>
            </a:r>
          </a:p>
          <a:p/>
          <a:p>
            <a:r>
              <a:t>COMO EXPLICAR</a:t>
            </a:r>
          </a:p>
          <a:p>
            <a:r>
              <a:t>Apresente o mapa como orientação para o restante da aula. Os recursos serão retomados quando houver um problema concreto: dados ao integrar o banco, logs ao diagnosticar, limites ao discutir consumo. Docker também oferece recursos de construção avançada e integração com ferramentas de desenvolvimento; eles estão na consulta. Não é preciso memorizar todas as opções da CLI para entender as responsabilidades. A equipe deve justificar os recursos que realmente utiliza.</a:t>
            </a:r>
          </a:p>
          <a:p/>
          <a:p>
            <a:r>
              <a:t>CONCLUSÃO</a:t>
            </a:r>
          </a:p>
          <a:p>
            <a:r>
              <a:t>Escolha o recurso pelo problema: imagem não guarda o banco; volume não publica uma porta.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E4.17 — O que a containerização resolve — e seus limites</a:t>
            </a:r>
          </a:p>
          <a:p/>
          <a:p>
            <a:r>
              <a:t>COMO EXPLICAR</a:t>
            </a:r>
          </a:p>
          <a:p>
            <a:r>
              <a:t>Feche a base conceitual explicando o alcance real. A mesma imagem reduz variações de arquivos e dependências, mas uma senha errada continua errada. Um volume local não protege de perda de disco. Um container sem limites definidos pode consumir recursos em excesso. Compose atende bem ao escopo de um host e pode ser usado em cenários compatíveis com isso; não oferece sozinho um cluster distribuído com alta disponibilidade.</a:t>
            </a:r>
          </a:p>
          <a:p/>
          <a:p>
            <a:r>
              <a:t>CONCLUSÃO</a:t>
            </a:r>
          </a:p>
          <a:p>
            <a:r>
              <a:t>A execução confiável combina artefato conhecido, configuração correta, recursos adequados e verificação.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E4.16 — VM e container: diferenças que orientam a escolha</a:t>
            </a:r>
          </a:p>
          <a:p/>
          <a:p>
            <a:r>
              <a:t>COMO EXPLICAR</a:t>
            </a:r>
          </a:p>
          <a:p>
            <a:r>
              <a:t>Explore um exemplo de cada escolha. Uma aplicação que depende de outro sistema operacional ou de um kernel específico pode exigir VM. APIs com bibliotecas e versões de linguagem diferentes podem ser empacotadas em imagens separadas, executando no mesmo ambiente Linux compatível. Na nuvem é comum usar VMs como hosts de containers. Tempo de partida depende tanto da ferramenta quanto da aplicação, do download e dos dados inicializados; não use números fixos como propriedade garantida.</a:t>
            </a:r>
          </a:p>
          <a:p/>
          <a:p>
            <a:r>
              <a:t>CONCLUSÃO</a:t>
            </a:r>
          </a:p>
          <a:p>
            <a:r>
              <a:t>Containerizar um monólito não o transforma em microsserviços: arquitetura e empacotamento são decisões diferentes.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E4.15 — VM e container: compare a estrutura</a:t>
            </a:r>
          </a:p>
          <a:p/>
          <a:p>
            <a:r>
              <a:t>COMO EXPLICAR</a:t>
            </a:r>
          </a:p>
          <a:p>
            <a:r>
              <a:t>Na VM, o hypervisor apresenta hardware virtual e cada convidado tem seu sistema operacional e kernel. Nos containers Linux, processos e bibliotecas de várias aplicações compartilham o kernel do host Linux. Isso pode reduzir a necessidade de manter um sistema operacional convidado por aplicação, mas não autoriza prometer tempos fixos de startup ou superioridade universal. O desenho é simplificado; o host dos containers também pode ser uma VM, como já vimos no Desktop.</a:t>
            </a:r>
          </a:p>
          <a:p/>
          <a:p>
            <a:r>
              <a:t>CONCLUSÃO</a:t>
            </a:r>
          </a:p>
          <a:p>
            <a:r>
              <a:t>VM virtualiza uma máquina; container organiza processos sob isolamento do sistema operacional.</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E4.14 — Docker Compose: descrever a aplicação integrada</a:t>
            </a:r>
          </a:p>
          <a:p/>
          <a:p>
            <a:r>
              <a:t>COMO EXPLICAR</a:t>
            </a:r>
          </a:p>
          <a:p>
            <a:r>
              <a:t>Apresente Compose antes de abrir YAML. Ele organiza a configuração de uma aplicação com um ou mais serviços e usa o Docker Engine para criar e operar os recursos. No laboratório há um serviço app e um serviço db. Serviço é a definição; container é uma instância dessa definição. Compose não executa JavaScript nem instala o banco dentro da API. O arquivo também pode declarar redes, volumes, variáveis e condições de inicialização. Um comando como up aplica essa descrição; isso não substitui testes funcionais.</a:t>
            </a:r>
          </a:p>
          <a:p/>
          <a:p>
            <a:r>
              <a:t>CONCLUSÃO</a:t>
            </a:r>
          </a:p>
          <a:p>
            <a:r>
              <a:t>Dockerfile descreve como construir uma imagem; compose.yaml descreve como executar e integrar os serviços.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E4.13 — Engine e Desktop: onde o container roda</a:t>
            </a:r>
          </a:p>
          <a:p/>
          <a:p>
            <a:r>
              <a:t>COMO EXPLICAR</a:t>
            </a:r>
          </a:p>
          <a:p>
            <a:r>
              <a:t>Use o ambiente efetivo da turma como exemplo, sem prometer uma arquitetura única para todos os sistemas. Docker Desktop em macOS usa uma VM Linux; no Windows há opções de backend e esta aula assume o modo de containers Linux. Mesmo que o aluno esteja no macOS, uma imagem Debian não inicializa sozinha um kernel Debian. A VM fornece o ambiente Linux necessário. Containers Windows existem, mas suas regras de compatibilidade estão fora do laboratório.</a:t>
            </a:r>
          </a:p>
          <a:p/>
          <a:p>
            <a:r>
              <a:t>CONCLUSÃO</a:t>
            </a:r>
          </a:p>
          <a:p>
            <a:r>
              <a:t>VMs e containers podem coexistir: uma VM Linux pode hospedar vários containers.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E4.12 — O caminho de um docker run</a:t>
            </a:r>
          </a:p>
          <a:p/>
          <a:p>
            <a:r>
              <a:t>COMO EXPLICAR</a:t>
            </a:r>
          </a:p>
          <a:p>
            <a:r>
              <a:t>Percorra o desenho da esquerda para a direita. A CLI pede ao Engine para criar e iniciar uma instância. Se necessário e conforme a política de obtenção, uma imagem é baixada do registry. O Engine coordena preparação de filesystem, rede e execução usando os componentes de runtime. O processo principal começa com o comando escolhido. A aplicação não roda dentro do registry. Build é outro fluxo: transforma instruções e contexto em uma imagem, não inicia automaticamente um servidor permanente.</a:t>
            </a:r>
          </a:p>
          <a:p/>
          <a:p>
            <a:r>
              <a:t>CONCLUSÃO</a:t>
            </a:r>
          </a:p>
          <a:p>
            <a:r>
              <a:t>O terminal controla a execução; o registry distribui a imagem; os processos executam no host do Engine.</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E4.11 — Docker: ferramentas para trabalhar com containers</a:t>
            </a:r>
          </a:p>
          <a:p/>
          <a:p>
            <a:r>
              <a:t>COMO EXPLICAR</a:t>
            </a:r>
          </a:p>
          <a:p>
            <a:r>
              <a:t>Agora associe a tecnologia à ferramenta. Container é um conceito de execução e isolamento; Docker fornece uma experiência para construir e operar esses objetos. Digitar docker não significa que o processo da aplicação foi iniciado dentro do cliente do terminal: há uma API e um serviço atendendo às operações. O cliente pode inclusive controlar um Engine remoto. Docker Desktop reúne componentes e interface para desenvolvimento; não deve ser confundido com o formato da imagem nem com o runtime da linguagem.</a:t>
            </a:r>
          </a:p>
          <a:p/>
          <a:p>
            <a:r>
              <a:t>CONCLUSÃO</a:t>
            </a:r>
          </a:p>
          <a:p>
            <a:r>
              <a:t>Docker é a ferramenta de trabalho; imagem é o artefato; container é a instância executável.</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E4.10 — Runtime de containers: quem prepara o isolamento</a:t>
            </a:r>
          </a:p>
          <a:p/>
          <a:p>
            <a:r>
              <a:t>COMO EXPLICAR</a:t>
            </a:r>
          </a:p>
          <a:p>
            <a:r>
              <a:t>Este é o ponto que costuma gerar confusão. Node executa o código JavaScript; um runtime de containers prepara e inicia processos sob regras de isolamento. Em uma arquitetura Linux típica do Docker, containerd gerencia o ciclo de vida e um runtime de baixo nível, como runc, cria o processo conforme a configuração OCI. OCI é um conjunto de especificações de interoperabilidade, não outra aplicação que os alunos precisam instalar. O desenho simplifica detalhes como shims: o objetivo é distinguir responsabilidades, não decorar todos os processos internos.</a:t>
            </a:r>
          </a:p>
          <a:p/>
          <a:p>
            <a:r>
              <a:t>CONCLUSÃO</a:t>
            </a:r>
          </a:p>
          <a:p>
            <a:r>
              <a:t>Node.js e um runtime de containers não se substituem: atuam em camadas diferentes.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E4.09 — Imagem e container são objetos diferentes</a:t>
            </a:r>
          </a:p>
          <a:p/>
          <a:p>
            <a:r>
              <a:t>COMO EXPLICAR</a:t>
            </a:r>
          </a:p>
          <a:p>
            <a:r>
              <a:t>A imagem é um artefato de arquivos e metadados que serve de origem. Um container é a instância criada a partir dela, com um comando, variáveis, rede e estado gravável. A mesma imagem pode criar várias instâncias. Alterar um arquivo dentro de uma delas não altera a imagem original. O nome de uma imagem pode ser uma referência mutável, assunto para a consulta sobre tags e digest. A distinção principal é artefato versus execução, sem exigir ainda que o aluno conheça registry.</a:t>
            </a:r>
          </a:p>
          <a:p/>
          <a:p>
            <a:r>
              <a:t>CONCLUSÃO</a:t>
            </a:r>
          </a:p>
          <a:p>
            <a:r>
              <a:t>Um novo container recebe a imagem e a configuração escolhidas; não herda automaticamente edições de outra instância.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E4.08 — Isolamento: o que fica separado</a:t>
            </a:r>
          </a:p>
          <a:p/>
          <a:p>
            <a:r>
              <a:t>COMO EXPLICAR</a:t>
            </a:r>
          </a:p>
          <a:p>
            <a:r>
              <a:t>Relacione cada mecanismo a um efeito observável, sem transformar a aula em administração avançada do kernel. A separação de rede explica por que localhost da API não é o banco. Limites de recursos explicam por que um processo pode ter memória restrita. A visão de filesystem explica por que dependências de duas imagens não precisam ser instaladas no mesmo diretório do host. O isolamento é configurável; montagens e privilégios podem ampliar o acesso. Não apresente container como uma fronteira de segurança absoluta.</a:t>
            </a:r>
          </a:p>
          <a:p/>
          <a:p>
            <a:r>
              <a:t>CONCLUSÃO</a:t>
            </a:r>
          </a:p>
          <a:p>
            <a:r>
              <a:t>Isolamento, limites e persistência são escolhas configuradas; o nome “container” não define sozinho essas políticas.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E4.07 — Container: processo em um ambiente isolado</a:t>
            </a:r>
          </a:p>
          <a:p/>
          <a:p>
            <a:r>
              <a:t>COMO EXPLICAR</a:t>
            </a:r>
          </a:p>
          <a:p>
            <a:r>
              <a:t>Diga explicitamente: container não é só uma pasta compactada, nem uma máquina virtual pequena. Na execução, o runtime prepara um ambiente a partir de uma imagem e inicia processos com isolamento configurado. A imagem fornece arquivos; a instância acrescenta configuração e estado. O container pode estar parado e continuar existindo como objeto gerenciado. Ao falar que compartilha kernel, refira-se ao host Linux em que executa, que também pode ser uma VM.</a:t>
            </a:r>
          </a:p>
          <a:p/>
          <a:p>
            <a:r>
              <a:t>CONCLUSÃO</a:t>
            </a:r>
          </a:p>
          <a:p>
            <a:r>
              <a:t>Empacotar a aplicação e executá-la em um container reduz diferenças de ambiente; não elimina todas elas.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E4.06 — Runtime da aplicação: quem executa o programa</a:t>
            </a:r>
          </a:p>
          <a:p/>
          <a:p>
            <a:r>
              <a:t>COMO EXPLICAR</a:t>
            </a:r>
          </a:p>
          <a:p>
            <a:r>
              <a:t>Explique o termo antes de usá-lo em comandos. JavaScript no servidor pode usar Node.js, código Python depende do interpretador e de suas bibliotecas, e bytecode Java usa uma JVM. O runtime da linguagem normalmente é instalado dentro da imagem junto com a aplicação. Uma aplicação Go compilada pode distribuir um binário sem instalar uma VM de linguagem separada; isso não elimina suas necessidades de sistema. A versão do runtime influencia APIs e comportamento, por isso ela faz parte do contrato de execução.</a:t>
            </a:r>
          </a:p>
          <a:p/>
          <a:p>
            <a:r>
              <a:t>CONCLUSÃO</a:t>
            </a:r>
          </a:p>
          <a:p>
            <a:r>
              <a:t>No laboratório, Node.js é o runtime da API; pg é uma biblioteca; PostgreSQL é outro serviço.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E4.05 — Sistema operacional: recursos para os processos</a:t>
            </a:r>
          </a:p>
          <a:p/>
          <a:p>
            <a:r>
              <a:t>COMO EXPLICAR</a:t>
            </a:r>
          </a:p>
          <a:p>
            <a:r>
              <a:t>Separe kernel de distribuição Linux: uma distribuição também reúne bibliotecas, programas e configuração. Uma imagem Debian ou Alpine pode trazer arquivos de uma distribuição sem iniciar um kernel próprio. Isso prepara a comparação com VMs, que virá depois. Não é necessário detalhar chamadas de sistema; os alunos precisam compreender que aplicações usam recursos gerenciados por uma camada comum. O escopo da aula são containers Linux.</a:t>
            </a:r>
          </a:p>
          <a:p/>
          <a:p>
            <a:r>
              <a:t>CONCLUSÃO</a:t>
            </a:r>
          </a:p>
          <a:p>
            <a:r>
              <a:t>Compartilhar o kernel não significa compartilhar todos os arquivos, processos visíveis ou endereços de rede.</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E4.04 — Programa é arquivo; processo é execução</a:t>
            </a:r>
          </a:p>
          <a:p/>
          <a:p>
            <a:r>
              <a:t>COMO EXPLICAR</a:t>
            </a:r>
          </a:p>
          <a:p>
            <a:r>
              <a:t>Use uma analogia simples: a partitura guardada não produz som; alguém precisa executá-la. O arquivo de programa permanece no disco, enquanto o processo usa CPU, memória e descritores de arquivo. Iniciar o mesmo programa duas vezes pode criar dois processos. Quando o processo termina, o programa continua existindo como arquivo. No nosso exemplo, node server.js cria um processo Node que atende requisições. Um container não muda o fato de que, ao final, existem processos executando.</a:t>
            </a:r>
          </a:p>
          <a:p/>
          <a:p>
            <a:r>
              <a:t>CONCLUSÃO</a:t>
            </a:r>
          </a:p>
          <a:p>
            <a:r>
              <a:t>Um container em execução terá um processo principal; quando esse processo termina, o container para.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E4.03 — Uma aplicação precisa de mais que o código</a:t>
            </a:r>
          </a:p>
          <a:p/>
          <a:p>
            <a:r>
              <a:t>COMO EXPLICAR</a:t>
            </a:r>
          </a:p>
          <a:p>
            <a:r>
              <a:t>Comece pelo problema conhecido: ter o arquivo server.js não significa ter uma aplicação executável. Mostre no repositório o arquivo, o package.json e a variável de conexão. Explique biblioteca como código que a aplicação utiliza, runtime como o ambiente que executa seu programa e banco como outro serviço. Nesta etapa basta reconhecer essas partes; porta, volume e rede terão explicação própria. Evite apresentar container como uma solução que automaticamente corrige código ou credenciais.</a:t>
            </a:r>
          </a:p>
          <a:p/>
          <a:p>
            <a:r>
              <a:t>CONCLUSÃO</a:t>
            </a:r>
          </a:p>
          <a:p>
            <a:r>
              <a:t>A execução depende da combinação código + runtime + dependências + configuração + serviços.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E4.02 — Roteiro das quatro horas</a:t>
            </a:r>
          </a:p>
          <a:p/>
          <a:p>
            <a:r>
              <a:t>COMO EXPLICAR</a:t>
            </a:r>
          </a:p>
          <a:p>
            <a:r>
              <a:t>O cronograma soma 240 minutos, incluindo 15 minutos de intervalo e 70 minutos de prática no projeto. Os gabaritos pertencem ao tempo de cada bloco, não são uma segunda aula. Faça uma previsão breve antes de mostrar cada resposta. Há material de consulta após o fechamento para dúvidas sobre digest, multi-stage e verificação em CI. Preserve o laboratório; se a turma avançar devagar, explique as distinções essenciais e deixe exemplos de consulta para estudo posterior.</a:t>
            </a:r>
          </a:p>
          <a:p/>
          <a:p>
            <a:r>
              <a:t>CONCLUSÃO</a:t>
            </a:r>
          </a:p>
          <a:p>
            <a:r>
              <a:t>As verificações vêm depois da explicação; as equipes aplicam os conceitos ao próprio projeto.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E4.01 — Do programa ao ambiente integrado</a:t>
            </a:r>
          </a:p>
          <a:p/>
          <a:p>
            <a:r>
              <a:t>COMO EXPLICAR</a:t>
            </a:r>
          </a:p>
          <a:p>
            <a:r>
              <a:t>Apresente a aula como uma construção de conceitos. Primeiro os alunos precisam reconhecer o que está sendo executado e qual ferramenta assume cada responsabilidade. Só depois entram os comandos, a integração e as questões. O exemplo do professor será uma API de visitas; cada equipe continuará a aplicação escolhida nos encontros anteriores. Não comece pedindo que a turma explique Docker ou descubra uma configuração que ainda não foi ensinada.</a:t>
            </a:r>
          </a:p>
          <a:p/>
          <a:p>
            <a:r>
              <a:t>CONCLUSÃO</a:t>
            </a:r>
          </a:p>
          <a:p>
            <a:r>
              <a:t>Resultado: outra pessoa consegue subir o projeto, testar seu funcionamento e entender sua configuração.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Capa do Encontro 4 — 24/09/2026. Containers, integração e troubleshooting. Avance para o conteúdo E4·01; as referências E4·NN permanecem válidas.</a:t>
            </a:r>
          </a:p>
        </p:txBody>
      </p:sp>
      <p:sp>
        <p:nvSpPr>
          <p:cNvPr id="4" name="Slide Number Placeholder 3"/>
          <p:cNvSpPr>
            <a:spLocks noGrp="1"/>
          </p:cNvSpPr>
          <p:nvPr>
            <p:ph type="sldNum" idx="39"/>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E4.28 — Dockerfile: o que ocorre durante o build</a:t>
            </a:r>
          </a:p>
          <a:p/>
          <a:p>
            <a:r>
              <a:t>COMO EXPLICAR</a:t>
            </a:r>
          </a:p>
          <a:p>
            <a:r>
              <a:t>Percorra a tabela com o Dockerfile aberto ao lado. WORKDIR define o diretório das instruções seguintes. A primeira cópia coloca manifests no contexto da instalação. npm ci usa o lockfile e falha se estiver incoerente com package.json. A segunda cópia transfere somente server.js, evitando incluir arquivos locais desnecessários. O chown ajusta propriedade do arquivo copiado. Não diga que toda instrução adiciona uma camada de filesystem: instruções também podem definir metadados.</a:t>
            </a:r>
          </a:p>
          <a:p/>
          <a:p>
            <a:r>
              <a:t>CONCLUSÃO</a:t>
            </a:r>
          </a:p>
          <a:p>
            <a:r>
              <a:t>O código e as dependências precisam entrar na imagem pelo build, não por edição manual de uma instância.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E4.29 — Dockerfile: como a instância vai iniciar</a:t>
            </a:r>
          </a:p>
          <a:p/>
          <a:p>
            <a:r>
              <a:t>COMO EXPLICAR</a:t>
            </a:r>
          </a:p>
          <a:p>
            <a:r>
              <a:t>ENV define um padrão não secreto que pode ser sobrescrito na execução. USER escolhe a identidade do processo; é uma redução de privilégio, não uma garantia de segurança total. EXPOSE registra uma intenção sobre a porta, mas não publica acesso no host. CMD fornece o comando padrão, sujeito a substituição na criação do container. A forma JSON inicia o comando diretamente, sem depender de um shell para interpretar a linha. O servidor é de longa duração, por isso não deve ser iniciado com RUN durante o build.</a:t>
            </a:r>
          </a:p>
          <a:p/>
          <a:p>
            <a:r>
              <a:t>CONCLUSÃO</a:t>
            </a:r>
          </a:p>
          <a:p>
            <a:r>
              <a:t>RUN executa uma etapa de construção; CMD define o comando padrão para a execução do container.</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E4.30 — Lockfile e cache: reproduzir sem reinstalar à toa</a:t>
            </a:r>
          </a:p>
          <a:p/>
          <a:p>
            <a:r>
              <a:t>COMO EXPLICAR</a:t>
            </a:r>
          </a:p>
          <a:p>
            <a:r>
              <a:t>O lockfile registra a resolução das dependências; ele não congela sozinho a base, a plataforma ou todos os componentes externos. Compare as duas ordens do desenho. Quando server.js muda depois de npm ci, a instalação pode ser reutilizada. Se o lockfile muda, a etapa de instalação precisa ser reavaliada. O cache pode não estar disponível numa máquina nova. Demonstre com dois builds e procure CACHED, sem prometer uma duração fixa. Diferencie reutilização de cache de atualização da imagem-base.</a:t>
            </a:r>
          </a:p>
          <a:p/>
          <a:p>
            <a:r>
              <a:t>CONCLUSÃO</a:t>
            </a:r>
          </a:p>
          <a:p>
            <a:r>
              <a:t>Alteração de código não precisa reinstalar dependências quando suas entradas e o cache permanecem válidos.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E4.31 — Contexto de build e .dockerignore</a:t>
            </a:r>
          </a:p>
          <a:p/>
          <a:p>
            <a:r>
              <a:t>COMO EXPLICAR</a:t>
            </a:r>
          </a:p>
          <a:p>
            <a:r>
              <a:t>Use a pasta do laboratório como exemplo de contexto. Um arquivo ignorado pelo Git pode continuar presente no disco e ser enviado ao builder se não for excluído. A cópia seletiva de server.js ajuda a evitar inclusão acidental, mas o .dockerignore ainda expressa a intenção sobre o contexto. Não copie uma senha e depois tente apagá-la em outra etapa: camadas anteriores podem conservar informação. Valores fictícios do laboratório não devem ser confundidos com gestão de segredos em produção.</a:t>
            </a:r>
          </a:p>
          <a:p/>
          <a:p>
            <a:r>
              <a:t>CONCLUSÃO</a:t>
            </a:r>
          </a:p>
          <a:p>
            <a:r>
              <a:t>Reprodução e segurança começam no conjunto de arquivos que você permite entrar na construção.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E4.32 — Construir a API e observar sua execução isolada</a:t>
            </a:r>
          </a:p>
          <a:p/>
          <a:p>
            <a:r>
              <a:t>COMO EXPLICAR</a:t>
            </a:r>
          </a:p>
          <a:p>
            <a:r>
              <a:t>Use a porta 18081 livre para não conflitar com a stack Compose, que usa 8080. A aplicação do exemplo pode iniciar o processo sem conexão prévia com o banco; a consulta de prontidão falha sob demanda. Por isso live pode funcionar enquanto ready falha. A conexão da pool precisa de um PostgreSQL alcançável para as operações que o utilizam. A demonstração não prova o sistema inteiro: ela prova que a imagem inicia a API e deixa evidente a dependência ainda ausente.</a:t>
            </a:r>
          </a:p>
          <a:p/>
          <a:p>
            <a:r>
              <a:t>CONCLUSÃO</a:t>
            </a:r>
          </a:p>
          <a:p>
            <a:r>
              <a:t>Uma imagem construída com sucesso ainda precisa ser executada e testada no contexto de suas dependências.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E4.33 — Recursos de imagem: construir, obter e identificar</a:t>
            </a:r>
          </a:p>
          <a:p/>
          <a:p>
            <a:r>
              <a:t>COMO EXPLICAR</a:t>
            </a:r>
          </a:p>
          <a:p>
            <a:r>
              <a:t>Diferencie obter uma imagem pronta de construir a própria. Uma tag adicional não reconstrói o conteúdo nem inicia um container. O histórico ajuda a examinar etapas e metadados, mas não é um inventário completo de vulnerabilidades. A operação push publica em um registry autorizado e exige uma referência e permissão adequadas; fica explicada na consulta, sem publicação em contas reais nesta demonstração. A equipe deve saber identificar qual imagem originou a execução testada.</a:t>
            </a:r>
          </a:p>
          <a:p/>
          <a:p>
            <a:r>
              <a:t>CONCLUSÃO</a:t>
            </a:r>
          </a:p>
          <a:p>
            <a:r>
              <a:t>build produz; pull obtém; tag referencia; push distribui; run cria uma instância.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E4.34 — Verificação | Imagem e execução</a:t>
            </a:r>
          </a:p>
          <a:p/>
          <a:p>
            <a:r>
              <a:t>COMO EXPLICAR</a:t>
            </a:r>
          </a:p>
          <a:p>
            <a:r>
              <a:t>As perguntas aparecem depois das definições e demonstrações. Reserve um minuto para previsões e peça justificativas; em seguida revele o gabarito. Use as respostas para decidir se precisa retomar uma figura ou comando.</a:t>
            </a:r>
          </a:p>
          <a:p/>
          <a:p>
            <a:r>
              <a:t>CONCLUSÃO</a:t>
            </a:r>
          </a:p>
          <a:p>
            <a:r>
              <a:t>Discuta primeiro. O próximo slide traz as respostas comentadas.</a:t>
            </a:r>
          </a:p>
          <a:p/>
          <a:p>
            <a:r>
              <a:t>PERGUNTAS</a:t>
            </a:r>
          </a:p>
          <a:p>
            <a:r>
              <a:t>Trocar RUN npm ci por CMD npm ci mantém o mesmo comportamento?</a:t>
            </a:r>
          </a:p>
          <a:p>
            <a:r>
              <a:t>Alterar server.js depois da cópia dos manifests precisa invalidar npm ci em todo build?</a:t>
            </a:r>
          </a:p>
          <a:p>
            <a:r>
              <a:t>Se live retorna 200 e ready retorna 503 nesta execução isolada, o que já foi comprovado?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E4.35 — Respostas comentadas | Imagem e execução</a:t>
            </a:r>
          </a:p>
          <a:p/>
          <a:p>
            <a:r>
              <a:t>COMO EXPLICAR</a:t>
            </a:r>
          </a:p>
          <a:p>
            <a:r>
              <a:t>Questão 1: Trocar RUN npm ci por CMD npm ci mantém o mesmo comportamento?</a:t>
            </a:r>
          </a:p>
          <a:p>
            <a:r>
              <a:t>Resposta e explicação: Não. RUN instala durante o build; CMD executaria a instalação na partida, no lugar do comando principal esperado.</a:t>
            </a:r>
          </a:p>
          <a:p/>
          <a:p>
            <a:r>
              <a:t>Questão 2: Alterar server.js depois da cópia dos manifests precisa invalidar npm ci em todo build?</a:t>
            </a:r>
          </a:p>
          <a:p>
            <a:r>
              <a:t>Resposta e explicação: Não necessariamente. A instalação pode usar cache se suas entradas e a base continuam válidas. O código foi copiado depois.</a:t>
            </a:r>
          </a:p>
          <a:p/>
          <a:p>
            <a:r>
              <a:t>Questão 3: Se live retorna 200 e ready retorna 503 nesta execução isolada, o que já foi comprovado?</a:t>
            </a:r>
          </a:p>
          <a:p>
            <a:r>
              <a:t>Resposta e explicação: O processo HTTP responde. A consulta de prontidão não passou; sem o banco integrado, ainda não há prova da funcionalidade de visitas.</a:t>
            </a:r>
          </a:p>
          <a:p/>
          <a:p>
            <a:r>
              <a:t>CONCLUSÃO</a:t>
            </a:r>
          </a:p>
          <a:p>
            <a:r>
              <a:t>Uma resposta completa identifica o componente envolvido e explica a evidência.</a:t>
            </a:r>
          </a:p>
          <a:p/>
          <a:p>
            <a:r>
              <a:t>RESPOSTAS</a:t>
            </a:r>
          </a:p>
          <a:p>
            <a:r>
              <a:t>Não. RUN instala durante o build; CMD executaria a instalação na partida, no lugar do comando principal esperado.</a:t>
            </a:r>
          </a:p>
          <a:p>
            <a:r>
              <a:t>Não necessariamente. A instalação pode usar cache se suas entradas e a base continuam válidas. O código foi copiado depois.</a:t>
            </a:r>
          </a:p>
          <a:p>
            <a:r>
              <a:t>O processo HTTP responde. A consulta de prontidão não passou; sem o banco integrado, ainda não há prova da funcionalidade de visitas.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E4.36 — Compose: declarar o serviço da API</a:t>
            </a:r>
          </a:p>
          <a:p/>
          <a:p>
            <a:r>
              <a:t>COMO EXPLICAR</a:t>
            </a:r>
          </a:p>
          <a:p>
            <a:r>
              <a:t>Retome o conceito de Compose já apresentado na base. Agora leia um serviço de verdade. O arquivo completo do laboratório também contém depends_on e healthcheck; esta lâmina isola os campos de construção, acesso e configuração. build não significa que o banco será instalado dentro da API. DATABASE_URL precisa do hostname db porque a chamada sairá do container da API. Os nomes app e db são escolhas do projeto, usados como identificadores de serviços.</a:t>
            </a:r>
          </a:p>
          <a:p/>
          <a:p>
            <a:r>
              <a:t>CONCLUSÃO</a:t>
            </a:r>
          </a:p>
          <a:p>
            <a:r>
              <a:t>O arquivo permite revisar e compartilhar a configuração que antes ficaria em uma longa linha de docker run.</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E4.37 — Compose: banco de dados em outro serviço</a:t>
            </a:r>
          </a:p>
          <a:p/>
          <a:p>
            <a:r>
              <a:t>COMO EXPLICAR</a:t>
            </a:r>
          </a:p>
          <a:p>
            <a:r>
              <a:t>O banco usa uma imagem pronta, enquanto a API tem uma imagem construída no projeto. O volume nomeado dados é montado no diretório esperado por PostgreSQL 16. Versões maiores podem mudar requisitos e demandar migração; não generalize o caminho sem verificar a imagem. A conta aula da inicialização simplifica a aula e não representa privilégios mínimos de produção. O arquivo completo monta init.sql e declara healthcheck; os próximos slides mostram essas responsabilidades.</a:t>
            </a:r>
          </a:p>
          <a:p/>
          <a:p>
            <a:r>
              <a:t>CONCLUSÃO</a:t>
            </a:r>
          </a:p>
          <a:p>
            <a:r>
              <a:t>API e banco podem ser atualizados ou recriados separadamente; os dados não devem depender da camada gravável do banco.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E4.38 — Inicializar o contador não é migrar o banco</a:t>
            </a:r>
          </a:p>
          <a:p/>
          <a:p>
            <a:r>
              <a:t>COMO EXPLICAR</a:t>
            </a:r>
          </a:p>
          <a:p>
            <a:r>
              <a:t>O arquivo completo usa um bind mount somente leitura para levar init.sql a docker-entrypoint-initdb.d. A imagem oficial executa scripts dessa pasta ao inicializar um diretório de dados vazio. Se o volume já contém o banco, não há uma nova inicialização equivalente. O mesmo raciocínio vale para variáveis de senha: alterar o YAML não troca por si só a senha persistida. Não apague dados apenas para ocultar a falta de uma migração. No projeto, documente como o schema é criado e evolui.</a:t>
            </a:r>
          </a:p>
          <a:p/>
          <a:p>
            <a:r>
              <a:t>CONCLUSÃO</a:t>
            </a:r>
          </a:p>
          <a:p>
            <a:r>
              <a:t>Recriar um container e recriar o estado do banco são operações diferentes.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E4.39 — A requisição percorre duas conexões</a:t>
            </a:r>
          </a:p>
          <a:p/>
          <a:p>
            <a:r>
              <a:t>COMO EXPLICAR</a:t>
            </a:r>
          </a:p>
          <a:p>
            <a:r>
              <a:t>Trace a chamada com o dedo. O cliente no host chega a localhost:8080. O encaminhamento leva ao processo da API na porta 3000. A consulta SQL é uma nova conexão, feita pela API em direção a db:5432. db é resolvido pelo nome do serviço na rede compartilhada. Não é necessário publicar a porta do banco para que a API a alcance. Em configurações com redes distintas, a descoberta depende de ambos os serviços compartilharem uma rede apropriada.</a:t>
            </a:r>
          </a:p>
          <a:p/>
          <a:p>
            <a:r>
              <a:t>CONCLUSÃO</a:t>
            </a:r>
          </a:p>
          <a:p>
            <a:r>
              <a:t>localhost pertence ao ambiente de quem faz a chamada; dentro da API ele não significa “o container do banco”.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E4.40 — Porta documentada, publicada e interface de escuta</a:t>
            </a:r>
          </a:p>
          <a:p/>
          <a:p>
            <a:r>
              <a:t>COMO EXPLICAR</a:t>
            </a:r>
          </a:p>
          <a:p>
            <a:r>
              <a:t>Use o primeiro servidor da aula para tornar a distinção concreta. O host estava em 18080 e o processo na porta 3000; não era necessário que os números fossem iguais. No laboratório integrado usamos 8080 para o cliente. A publicação 127.0.0.1:8080:3000 restringe o acesso ao host local, enquanto HOST=0.0.0.0 permite ao processo receber pela interface do container. Essas duas configurações atuam em camadas diferentes e não se contradizem.</a:t>
            </a:r>
          </a:p>
          <a:p/>
          <a:p>
            <a:r>
              <a:t>CONCLUSÃO</a:t>
            </a:r>
          </a:p>
          <a:p>
            <a:r>
              <a:t>Trocar 8080 por 9090 muda o endereço do cliente; a comunicação da API com db:5432 continua igual.</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E4.41 — Configuração de execução fora da imagem</a:t>
            </a:r>
          </a:p>
          <a:p/>
          <a:p>
            <a:r>
              <a:t>COMO EXPLICAR</a:t>
            </a:r>
          </a:p>
          <a:p>
            <a:r>
              <a:t>Explique com um valor não secreto: no .env, PORTA_HOST=9090; no YAML, ports pode referenciar ${PORTA_HOST}:3000. Isso configura a publicação, mas não implica que process.env.PORTA_HOST exista na API. Para entregar uma variável ao processo, declare environment ou um mecanismo apropriado como env_file. O laboratório usa credenciais fictícias para ficar autocontido; os projetos devem documentar variáveis sem versionar segredos reais. Valores embutidos no build de certos frontends estáticos exigem reconstrução, mesmo quando parecem “configuração”.</a:t>
            </a:r>
          </a:p>
          <a:p/>
          <a:p>
            <a:r>
              <a:t>CONCLUSÃO</a:t>
            </a:r>
          </a:p>
          <a:p>
            <a:r>
              <a:t>Após mudar HOST no YAML: docker compose up -d --no-deps --force-recreate --wait app.</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E4.42 — Recursos para reduzir acesso desnecessário</a:t>
            </a:r>
          </a:p>
          <a:p/>
          <a:p>
            <a:r>
              <a:t>COMO EXPLICAR</a:t>
            </a:r>
          </a:p>
          <a:p>
            <a:r>
              <a:t>Use duas medidas já presentes como ponto de partida: usuário node na API e montagem somente leitura de init.sql. read_only não transforma automaticamente todos os volumes em somente leitura, e aplicações que gravam caches ou temporários precisam de destinos adequados. Secrets no Compose local não equivale a um cofre remoto nem implica criptografia automática do arquivo de origem; controle quem acessa o host e o arquivo. Essas escolhas diminuem acessos desnecessários, mas exigem teste funcional. Não prometa segurança absoluta com uma opção.</a:t>
            </a:r>
          </a:p>
          <a:p/>
          <a:p>
            <a:r>
              <a:t>CONCLUSÃO</a:t>
            </a:r>
          </a:p>
          <a:p>
            <a:r>
              <a:t>Permitir somente o necessário exige conhecer os arquivos, conexões e permissões da aplicação.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E4.43 — Arquivos da instância, volume e bind mount</a:t>
            </a:r>
          </a:p>
          <a:p/>
          <a:p>
            <a:r>
              <a:t>COMO EXPLICAR</a:t>
            </a:r>
          </a:p>
          <a:p>
            <a:r>
              <a:t>A camada gravável pertence à instância e desaparece quando ela é removida. Um volume nomeado é um recurso gerenciado pelo Docker, reutilizável por uma instância posterior. Um bind mount aponta para um caminho do host e depende de seu conteúdo e permissões. No laboratório, dados é volume nomeado e init.sql é um bind mount somente leitura. Stop/start conserva a mesma instância; down/up cria outra. Nenhuma dessas escolhas substitui backup e um teste de restauração.</a:t>
            </a:r>
          </a:p>
          <a:p/>
          <a:p>
            <a:r>
              <a:t>CONCLUSÃO</a:t>
            </a:r>
          </a:p>
          <a:p>
            <a:r>
              <a:t>Estado de negócio deve ter persistência planejada; uma imagem nova não deve apagar o banco.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E4.44 — Estado do processo, prontidão e funcionalidade</a:t>
            </a:r>
          </a:p>
          <a:p/>
          <a:p>
            <a:r>
              <a:t>COMO EXPLICAR</a:t>
            </a:r>
          </a:p>
          <a:p>
            <a:r>
              <a:t>Um processo em execução pode estar incapaz de atender porque o banco caiu. Um healthcheck pode ser limitado: nosso SELECT 1 confirma uma consulta básica, mas não prova que a tabela contador existe. A operação GET/POST /visitas testa outro contrato. Docker registra healthy ou unhealthy conforme o comando configurado; não reinicia automaticamente apenas porque o check falhou. Políticas de restart tratam a saída do processo conforme suas regras. O diagnóstico precisa diferenciar esses fatos.</a:t>
            </a:r>
          </a:p>
          <a:p/>
          <a:p>
            <a:r>
              <a:t>CONCLUSÃO</a:t>
            </a:r>
          </a:p>
          <a:p>
            <a:r>
              <a:t>Um estado verde vale somente o que a verificação executada cobre.</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E4.45 — Healthcheck: comando e parâmetros de observação</a:t>
            </a:r>
          </a:p>
          <a:p/>
          <a:p>
            <a:r>
              <a:t>COMO EXPLICAR</a:t>
            </a:r>
          </a:p>
          <a:p>
            <a:r>
              <a:t>Leia as unidades e o comando sem supor familiaridade prévia. pg_isready indica o estado de aceitação de conexões, mas não comprova a credencial e todas as operações da aplicação. A API tem um check próprio no arquivo completo, usando Node para chamar /health/ready. start_period tolera falhas iniciais; um sucesso nesse período já sinaliza a inicialização bem-sucedida. Evite prometer um instante exato para unhealthy, pois duração e agendamento das verificações influenciam. O comando de saúde observa; não corrige a causa.</a:t>
            </a:r>
          </a:p>
          <a:p/>
          <a:p>
            <a:r>
              <a:t>CONCLUSÃO</a:t>
            </a:r>
          </a:p>
          <a:p>
            <a:r>
              <a:t>O healthcheck da API consulta /health/ready; o teste funcional ainda precisa executar /visitas.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E4.46 — depends_on: coordenar a partida dos serviços</a:t>
            </a:r>
          </a:p>
          <a:p/>
          <a:p>
            <a:r>
              <a:t>COMO EXPLICAR</a:t>
            </a:r>
          </a:p>
          <a:p>
            <a:r>
              <a:t>Mostre a linha condition: service_healthy. Sem uma condição de saúde apropriada, ordenar a partida não garante que o banco esteja pronto para receber consultas. A espera inicial também não é um contrato de disponibilidade eterna. Na API fornecida, falhas de consulta geram 503 e novas requisições podem funcionar quando a dependência volta. Repetir automaticamente a mesma gravação é outro problema: é preciso avaliar se o efeito já ocorreu e se a operação é idempotente.</a:t>
            </a:r>
          </a:p>
          <a:p/>
          <a:p>
            <a:r>
              <a:t>CONCLUSÃO</a:t>
            </a:r>
          </a:p>
          <a:p>
            <a:r>
              <a:t>Inicialização coordenada ajuda a começar; tratamento de falhas ajuda a continuar operando.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E4.47 — Limites de CPU e memória: controlar o consumo</a:t>
            </a:r>
          </a:p>
          <a:p/>
          <a:p>
            <a:r>
              <a:t>COMO EXPLICAR</a:t>
            </a:r>
          </a:p>
          <a:p>
            <a:r>
              <a:t>Sem limites configurados, não presuma uma divisão automática justa por container. Os valores ilustram a sintaxe; devem ser medidos para a aplicação real. A CPU pode sofrer throttling ao atingir a quota. Para memória, swap depende de configuração adicional e do host, e não deve ser ignorada no dimensionamento. O laboratório básico não exige provocar falta de memória. Compare a configuração declarada com uma amostra de consumo e explique que uma única amostra não revela todos os picos.</a:t>
            </a:r>
          </a:p>
          <a:p/>
          <a:p>
            <a:r>
              <a:t>CONCLUSÃO</a:t>
            </a:r>
          </a:p>
          <a:p>
            <a:r>
              <a:t>Medir → definir limite → testar carga e comportamento; copiar números não é dimensionar.</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E4.48 — Políticas de reinício: reagir à saída do processo</a:t>
            </a:r>
          </a:p>
          <a:p/>
          <a:p>
            <a:r>
              <a:t>COMO EXPLICAR</a:t>
            </a:r>
          </a:p>
          <a:p>
            <a:r>
              <a:t>A política observa o encerramento do processo. Um container unhealthy com o processo vivo não é automaticamente reiniciado por essa configuração. on-failure não equivale a inicializar automaticamente após reinício do daemon. Distinguir uma aplicação de longa duração de um job que deve terminar evita reinícios indesejados. As políticas não corrigem senha, schema ou hostname incorretos, e reiniciar repetidamente pode esconder o sintoma. O exemplo é explicativo: a API de laboratório não precisa receber uma política nova para cumprir seu objetivo.</a:t>
            </a:r>
          </a:p>
          <a:p/>
          <a:p>
            <a:r>
              <a:t>CONCLUSÃO</a:t>
            </a:r>
          </a:p>
          <a:p>
            <a:r>
              <a:t>Restart não é healthcheck, não recupera dados perdidos e não oferece alta disponibilidade entre hosts.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E4.49 — Subir a aplicação integrada e verificar a resposta</a:t>
            </a:r>
          </a:p>
          <a:p/>
          <a:p>
            <a:r>
              <a:t>COMO EXPLICAR</a:t>
            </a:r>
          </a:p>
          <a:p>
            <a:r>
              <a:t>Reúna os trechos mostrando o arquivo completo, sem pedir aos alunos que montem manualmente um YAML a partir das lâminas. Execute config --quiet e depois up. Se --wait falhar, consulte ps -a e logs antes de seguir; esse resultado não é uma autorização para apagar dados. O primeiro build pode exigir downloads. O README inclui alternativas para investigar porta ocupada. Depois que a stack estiver saudável, execute as rotas e a experiência de persistência apresentada na sequência.</a:t>
            </a:r>
          </a:p>
          <a:p/>
          <a:p>
            <a:r>
              <a:t>CONCLUSÃO</a:t>
            </a:r>
          </a:p>
          <a:p>
            <a:r>
              <a:t>A API só está integrada quando a operação real consegue atravessar a conexão com o banco.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E4.50 — Interpretar as saídas da demonstração</a:t>
            </a:r>
          </a:p>
          <a:p/>
          <a:p>
            <a:r>
              <a:t>COMO EXPLICAR</a:t>
            </a:r>
          </a:p>
          <a:p>
            <a:r>
              <a:t>Use os valores da execução real, e não apenas a captura da aula. Leia o total antes da gravação e compare com o resultado do POST. Para demonstrar a persistência, use a sequência down/up sem -v e faça a nova leitura. A evidência deve descrever qual comportamento foi comprovado, não apenas que algo ficou verde. SELECT 1 bem-sucedido não prova schema, permissões de todas as tabelas nem toda a lógica de negócio. Essa distinção prepara o diagnóstico seguinte.</a:t>
            </a:r>
          </a:p>
          <a:p/>
          <a:p>
            <a:r>
              <a:t>CONCLUSÃO</a:t>
            </a:r>
          </a:p>
          <a:p>
            <a:r>
              <a:t>Comandos e resultados devem ser relacionados a uma afirmação verificável sobre o projeto.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E4.51 — Comprovar persistência com uma experiência</a:t>
            </a:r>
          </a:p>
          <a:p/>
          <a:p>
            <a:r>
              <a:t>COMO EXPLICAR</a:t>
            </a:r>
          </a:p>
          <a:p>
            <a:r>
              <a:t>Faça a demonstração com dados fictícios. Os números dependem do estado anterior do volume, então não exija total igual a 1. A propriedade testada é a igualdade da última leitura antes da parada com a leitura após a recriação. Um nome de projeto diferente pode criar outro volume; um contador zerado nesse caso não prova que o anterior foi perdido. down -v remove volumes declarados e não é o encerramento padrão do laboratório. Perda do disco do host exige uma estratégia de backup além deste teste.</a:t>
            </a:r>
          </a:p>
          <a:p/>
          <a:p>
            <a:r>
              <a:t>CONCLUSÃO</a:t>
            </a:r>
          </a:p>
          <a:p>
            <a:r>
              <a:t>Persistência além da instância não é recuperação de desastre; volume e backup resolvem problemas diferentes.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E4.52 — Verificação | Rede, dados e saúde</a:t>
            </a:r>
          </a:p>
          <a:p/>
          <a:p>
            <a:r>
              <a:t>COMO EXPLICAR</a:t>
            </a:r>
          </a:p>
          <a:p>
            <a:r>
              <a:t>As perguntas aparecem depois das definições e demonstrações. Reserve um minuto para previsões e peça justificativas; em seguida revele o gabarito. Use as respostas para decidir se precisa retomar uma figura ou comando.</a:t>
            </a:r>
          </a:p>
          <a:p/>
          <a:p>
            <a:r>
              <a:t>CONCLUSÃO</a:t>
            </a:r>
          </a:p>
          <a:p>
            <a:r>
              <a:t>Discuta primeiro. O próximo slide traz as respostas comentadas.</a:t>
            </a:r>
          </a:p>
          <a:p/>
          <a:p>
            <a:r>
              <a:t>PERGUNTAS</a:t>
            </a:r>
          </a:p>
          <a:p>
            <a:r>
              <a:t>A porta do host muda para 9090. A API deve passar a usar db:9090?</a:t>
            </a:r>
          </a:p>
          <a:p>
            <a:r>
              <a:t>Depois de down/up sem -v, o total permanece. Isso prova que há backup?</a:t>
            </a:r>
          </a:p>
          <a:p>
            <a:r>
              <a:t>O check SELECT 1 passa, mas a tabela contador não existe. /visitas está garantido?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E4.53 — Respostas comentadas | Rede, dados e saúde</a:t>
            </a:r>
          </a:p>
          <a:p/>
          <a:p>
            <a:r>
              <a:t>COMO EXPLICAR</a:t>
            </a:r>
          </a:p>
          <a:p>
            <a:r>
              <a:t>Questão 1: A porta do host muda para 9090. A API deve passar a usar db:9090?</a:t>
            </a:r>
          </a:p>
          <a:p>
            <a:r>
              <a:t>Resposta e explicação: Não. 9090 é a entrada do cliente na API. A conexão interna com o banco continua db:5432.</a:t>
            </a:r>
          </a:p>
          <a:p/>
          <a:p>
            <a:r>
              <a:t>Questão 2: Depois de down/up sem -v, o total permanece. Isso prova que há backup?</a:t>
            </a:r>
          </a:p>
          <a:p>
            <a:r>
              <a:t>Resposta e explicação: Não. Prova persistência no volume reutilizado. Backup requer uma cópia recuperável e restauração testada.</a:t>
            </a:r>
          </a:p>
          <a:p/>
          <a:p>
            <a:r>
              <a:t>Questão 3: O check SELECT 1 passa, mas a tabela contador não existe. /visitas está garantido?</a:t>
            </a:r>
          </a:p>
          <a:p>
            <a:r>
              <a:t>Resposta e explicação: Não. A consulta básica pode passar enquanto a operação falha por schema ausente. Teste GET/POST /visitas.</a:t>
            </a:r>
          </a:p>
          <a:p/>
          <a:p>
            <a:r>
              <a:t>CONCLUSÃO</a:t>
            </a:r>
          </a:p>
          <a:p>
            <a:r>
              <a:t>Uma resposta completa identifica o componente envolvido e explica a evidência.</a:t>
            </a:r>
          </a:p>
          <a:p/>
          <a:p>
            <a:r>
              <a:t>RESPOSTAS</a:t>
            </a:r>
          </a:p>
          <a:p>
            <a:r>
              <a:t>Não. 9090 é a entrada do cliente na API. A conexão interna com o banco continua db:5432.</a:t>
            </a:r>
          </a:p>
          <a:p>
            <a:r>
              <a:t>Não. Prova persistência no volume reutilizado. Backup requer uma cópia recuperável e restauração testada.</a:t>
            </a:r>
          </a:p>
          <a:p>
            <a:r>
              <a:t>Não. A consulta básica pode passar enquanto a operação falha por schema ausente. Teste GET/POST /visitas.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E4.54 — Diagnóstico: observar antes de alterar</a:t>
            </a:r>
          </a:p>
          <a:p/>
          <a:p>
            <a:r>
              <a:t>COMO EXPLICAR</a:t>
            </a:r>
          </a:p>
          <a:p>
            <a:r>
              <a:t>Comece identificando se o problema ocorreu no build ou na execução. No build, confira o contexto, os arquivos e a etapa que falhou. Na execução, inclua containers parados na inspeção, leia logs e só então relacione configuração, rede e dependências. Uma mensagem de conexão recusada sugere que não houve serviço aceitando naquele destino; não prova sozinha por que isso ocorreu. Mudar várias coisas simultaneamente impede saber qual hipótese estava correta.</a:t>
            </a:r>
          </a:p>
          <a:p/>
          <a:p>
            <a:r>
              <a:t>CONCLUSÃO</a:t>
            </a:r>
          </a:p>
          <a:p>
            <a:r>
              <a:t>Sintoma → hipótese → teste → correção mínima → nova validação → registro.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E4.55 — Comandos com uma pergunta técnica definida</a:t>
            </a:r>
          </a:p>
          <a:p/>
          <a:p>
            <a:r>
              <a:t>COMO EXPLICAR</a:t>
            </a:r>
          </a:p>
          <a:p>
            <a:r>
              <a:t>Explique por que exec não é o primeiro recurso se a instância encerrou: ele precisa de um container ativo. Primeiro veja ps -a e logs. O comando node que imprime HOST é um exemplo seguro porque inspeciona apenas um valor não secreto. Evite imprimir toda a configuração ou environment em um ambiente real. Em imagens mínimas, curl e shell podem não existir; no laboratório há Node, então é possível usar suas bibliotecas para verificações específicas.</a:t>
            </a:r>
          </a:p>
          <a:p/>
          <a:p>
            <a:r>
              <a:t>CONCLUSÃO</a:t>
            </a:r>
          </a:p>
          <a:p>
            <a:r>
              <a:t>Não memorize uma lista de comandos sem entender qual hipótese cada um testa.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E4.56 — Caso resolvido: banco saudável, API retorna 503</a:t>
            </a:r>
          </a:p>
          <a:p/>
          <a:p>
            <a:r>
              <a:t>COMO EXPLICAR</a:t>
            </a:r>
          </a:p>
          <a:p>
            <a:r>
              <a:t>Use apenas a cópia de laboratório para provocar a falha. Altere uma coisa: o hostname da URL. Recrie app sem --wait, pois estamos esperando uma falha de prontidão, e recolha logs e resposta HTTP. Confirme que db continua disponível. A correção é restaurar db na URL e recriar a instância, mantendo volume e banco. O README tem os comandos completos de provocação, inspeção e recuperação. Publicar 5432 no host não corrige o significado de localhost dentro da API.</a:t>
            </a:r>
          </a:p>
          <a:p/>
          <a:p>
            <a:r>
              <a:t>CONCLUSÃO</a:t>
            </a:r>
          </a:p>
          <a:p>
            <a:r>
              <a:t>A evidência antes/depois deve confirmar a causa; apagar o volume não testa esta hipótese.</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E4.57 — Caso resolvido: check verde, acesso externo falha</a:t>
            </a:r>
          </a:p>
          <a:p/>
          <a:p>
            <a:r>
              <a:t>COMO EXPLICAR</a:t>
            </a:r>
          </a:p>
          <a:p>
            <a:r>
              <a:t>Este caso mostra por que definir de onde o teste parte é essencial. O healthcheck da aplicação usa o loopback interno, que continua acessível com o bind errado para tráfego externo. Antes de corrigir, demonstre os dois pontos de observação. Em seguida mude apenas HOST, recrie e repita as chamadas. O arquivo da imagem EXPOSE não altera a interface real de escuta do processo. O mapeamento no Compose precisa continuar apontando para a porta correta.</a:t>
            </a:r>
          </a:p>
          <a:p/>
          <a:p>
            <a:r>
              <a:t>CONCLUSÃO</a:t>
            </a:r>
          </a:p>
          <a:p>
            <a:r>
              <a:t>Um teste interno bem-sucedido não garante o caminho percorrido pelo cliente externo.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E4.58 — Caso resolvido: dependência cai durante o uso</a:t>
            </a:r>
          </a:p>
          <a:p/>
          <a:p>
            <a:r>
              <a:t>COMO EXPLICAR</a:t>
            </a:r>
          </a:p>
          <a:p>
            <a:r>
              <a:t>Esta é a demonstração de falha mais rápida, sem edição do YAML. O código da API trata erros de consulta e da pool para permitir novas requisições após o banco voltar. Isso foi validado no laboratório anterior e deve ser ensaiado no ambiente da aula. Não generalize a recuperação para toda aplicação: algumas precisam de tratamento adicional. Discuta por que reiniciar tudo pode ser desnecessário e também esconder evidências úteis.</a:t>
            </a:r>
          </a:p>
          <a:p/>
          <a:p>
            <a:r>
              <a:t>CONCLUSÃO</a:t>
            </a:r>
          </a:p>
          <a:p>
            <a:r>
              <a:t>Recuperar a dependência e testar novas requisições pode bastar; a decisão deve seguir a evidência.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E4.59 — IA no diagnóstico: hipótese com teste verificável</a:t>
            </a:r>
          </a:p>
          <a:p/>
          <a:p>
            <a:r>
              <a:t>COMO EXPLICAR</a:t>
            </a:r>
          </a:p>
          <a:p>
            <a:r>
              <a:t>A IA entra após os alunos entenderem o sistema que estão diagnosticando. Ela pode organizar hipóteses e explicar mensagens, mas a hipótese só é útil se puder ser confrontada com uma evidência. Mostre uma recomendação sem relação causal, como apagar um volume para corrigir uma porta, e explique por que ela é rejeitada. Não exponha dumps de environment ou inspect contendo segredos. Um registro crítico inclui sugestões rejeitadas, não apenas as que funcionaram.</a:t>
            </a:r>
          </a:p>
          <a:p/>
          <a:p>
            <a:r>
              <a:t>CONCLUSÃO</a:t>
            </a:r>
          </a:p>
          <a:p>
            <a:r>
              <a:t>Toda saída de IA é hipótese até ser validada por teste, execução ou revisão humana.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E4.60 — Como este encontro entra no projeto integrador</a:t>
            </a:r>
          </a:p>
          <a:p/>
          <a:p>
            <a:r>
              <a:t>COMO EXPLICAR</a:t>
            </a:r>
          </a:p>
          <a:p>
            <a:r>
              <a:t>Agora faça a ligação com os encontros anteriores. A equipe já escolheu uma aplicação, organizou colaboração e criou CI. O incremento de hoje não substitui nada disso: acrescenta um contrato de execução da aplicação e suas dependências. No próximo encontro, a imagem verificável será candidata a uma entrega controlada, com configuração e rollback. No encontro final, logs e evidências vão sustentar a demonstração. Não há um segundo projeto separado nem obrigação de adotar a API de visitas.</a:t>
            </a:r>
          </a:p>
          <a:p/>
          <a:p>
            <a:r>
              <a:t>CONCLUSÃO</a:t>
            </a:r>
          </a:p>
          <a:p>
            <a:r>
              <a:t>E4 alimenta os 20% de Containers/Compose já previstos na rubrica; os demais pesos permanecem os oficiais.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E4.61 — Traduzir o exemplo para a aplicação da equipe</a:t>
            </a:r>
          </a:p>
          <a:p/>
          <a:p>
            <a:r>
              <a:t>COMO EXPLICAR</a:t>
            </a:r>
          </a:p>
          <a:p>
            <a:r>
              <a:t>Peça que a equipe identifique equivalentes no próprio repositório. Uma aplicação Java pode executar um jar, Python um módulo ou servidor WSGI/ASGI, e Node um arquivo ou script definido. Não copie npm ci para outra stack. Dependência pode ser PostgreSQL, outro banco ou um serviço auxiliar pertinente. Se uma aplicação não precisa de banco, não acrescente um sem justificativa só para imitar o exemplo; explique sua integração e os recursos de estado reais. A evidência deve avaliar a aplicação escolhida, não uma demonstração paralela.</a:t>
            </a:r>
          </a:p>
          <a:p/>
          <a:p>
            <a:r>
              <a:t>CONCLUSÃO</a:t>
            </a:r>
          </a:p>
          <a:p>
            <a:r>
              <a:t>Antes de escrever o Dockerfile, anote comando, runtime, dependências, configuração e estado do próprio projeto.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E4.63 — Laboratório: aplicar ao projeto da equipe</a:t>
            </a:r>
          </a:p>
          <a:p/>
          <a:p>
            <a:r>
              <a:t>COMO EXPLICAR</a:t>
            </a:r>
          </a:p>
          <a:p>
            <a:r>
              <a:t>Circule pela turma verificando comportamento em vez de apenas arquivos presentes. Uma pessoa pode operar, outra acompanhar logs, outra registrar a evidência e outras revisar o comando e o critério de sucesso; troquem funções. Mantenha o acompanhamento e a entrega de grupo conforme o regulamento existente. Se o tempo estiver curto, preserve o teste funcional e o registro de uma falha compreendida. O laboratório da API de visitas continua como referência, não como substituto do projeto.</a:t>
            </a:r>
          </a:p>
          <a:p/>
          <a:p>
            <a:r>
              <a:t>CONCLUSÃO</a:t>
            </a:r>
          </a:p>
          <a:p>
            <a:r>
              <a:t>A equipe deve conseguir explicar o que cada serviço faz e reproduzir sua própria execução.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E4.64 — Critérios de aceite: o que deve ficar demonstrado</a:t>
            </a:r>
          </a:p>
          <a:p/>
          <a:p>
            <a:r>
              <a:t>COMO EXPLICAR</a:t>
            </a:r>
          </a:p>
          <a:p>
            <a:r>
              <a:t>Não altere os pesos homologados nem introduza uma nota individual. Este conjunto de evidências contribui para o critério já estabelecido. Clone limpo significa que os arquivos necessários estão disponíveis pelo repositório e pelas instruções, não que dados reais devam ser apagados. Peça que alguém siga o README sem ajuda oral para revelar etapas implícitas. Um print do Docker aberto não prova integração funcional ou diagnóstico.</a:t>
            </a:r>
          </a:p>
          <a:p/>
          <a:p>
            <a:r>
              <a:t>CONCLUSÃO</a:t>
            </a:r>
          </a:p>
          <a:p>
            <a:r>
              <a:t>Arquivo presente é parte da evidência; resultado reproduzível e explicação da decisão completam a entrega.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E4.65 — Exemplo preenchido: evidência de uma falha corrigida</a:t>
            </a:r>
          </a:p>
          <a:p/>
          <a:p>
            <a:r>
              <a:t>COMO EXPLICAR</a:t>
            </a:r>
          </a:p>
          <a:p>
            <a:r>
              <a:t>Mostre um registro curto mas causal. O importante é que o aluno possa relacionar a hipótese à evidência e à mudança específica. Não apresente os dados desta tabela como execução da equipe; são um modelo didático. Se a equipe usou IA, registre qual hipótese ela sugeriu e como foi aceita ou descartada. A validação final deve testar tanto a prontidão quanto uma operação funcional, porque os contratos são diferentes.</a:t>
            </a:r>
          </a:p>
          <a:p/>
          <a:p>
            <a:r>
              <a:t>CONCLUSÃO</a:t>
            </a:r>
          </a:p>
          <a:p>
            <a:r>
              <a:t>Substitua os valores do exemplo pela execução real e mantenha toda evidência no repositório.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E4.66 — Verificação final | Explicar o próprio projeto</a:t>
            </a:r>
          </a:p>
          <a:p/>
          <a:p>
            <a:r>
              <a:t>COMO EXPLICAR</a:t>
            </a:r>
          </a:p>
          <a:p>
            <a:r>
              <a:t>As perguntas aparecem depois das definições e demonstrações. Reserve um minuto para previsões e peça justificativas; em seguida revele o gabarito. Use as respostas para decidir se precisa retomar uma figura ou comando.</a:t>
            </a:r>
          </a:p>
          <a:p/>
          <a:p>
            <a:r>
              <a:t>CONCLUSÃO</a:t>
            </a:r>
          </a:p>
          <a:p>
            <a:r>
              <a:t>Discuta primeiro. O próximo slide traz as respostas comentadas.</a:t>
            </a:r>
          </a:p>
          <a:p/>
          <a:p>
            <a:r>
              <a:t>PERGUNTAS</a:t>
            </a:r>
          </a:p>
          <a:p>
            <a:r>
              <a:t>Ao apresentar o projeto, como distinguir imagem, container e os dois sentidos de runtime?</a:t>
            </a:r>
          </a:p>
          <a:p>
            <a:r>
              <a:t>Como provar que sua aplicação está integrada à dependência, além de mostrar o container Up?</a:t>
            </a:r>
          </a:p>
          <a:p>
            <a:r>
              <a:t>Qual evidência liga uma alteração de configuração à correção de uma falha?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E4.67 — Respostas comentadas | Explicar o próprio projeto</a:t>
            </a:r>
          </a:p>
          <a:p/>
          <a:p>
            <a:r>
              <a:t>COMO EXPLICAR</a:t>
            </a:r>
          </a:p>
          <a:p>
            <a:r>
              <a:t>Questão 1: Ao apresentar o projeto, como distinguir imagem, container e os dois sentidos de runtime?</a:t>
            </a:r>
          </a:p>
          <a:p>
            <a:r>
              <a:t>Resposta e explicação: Imagem: artefato. Container: instância. Runtime da linguagem executa o código; runtime de containers prepara e inicia processos isolados.</a:t>
            </a:r>
          </a:p>
          <a:p/>
          <a:p>
            <a:r>
              <a:t>Questão 2: Como provar que sua aplicação está integrada à dependência, além de mostrar o container Up?</a:t>
            </a:r>
          </a:p>
          <a:p>
            <a:r>
              <a:t>Resposta e explicação: Executar uma operação funcional com resultado esperado; verificar saúde e persistência conforme o contrato do projeto.</a:t>
            </a:r>
          </a:p>
          <a:p/>
          <a:p>
            <a:r>
              <a:t>Questão 3: Qual evidência liga uma alteração de configuração à correção de uma falha?</a:t>
            </a:r>
          </a:p>
          <a:p>
            <a:r>
              <a:t>Resposta e explicação: Sintoma reproduzido, hipótese testada, mudança específica e repetição do mesmo teste com resultado corrigido.</a:t>
            </a:r>
          </a:p>
          <a:p/>
          <a:p>
            <a:r>
              <a:t>CONCLUSÃO</a:t>
            </a:r>
          </a:p>
          <a:p>
            <a:r>
              <a:t>Uma resposta completa identifica o componente envolvido e explica a evidência.</a:t>
            </a:r>
          </a:p>
          <a:p/>
          <a:p>
            <a:r>
              <a:t>RESPOSTAS</a:t>
            </a:r>
          </a:p>
          <a:p>
            <a:r>
              <a:t>Imagem: artefato. Container: instância. Runtime da linguagem executa o código; runtime de containers prepara e inicia processos isolados.</a:t>
            </a:r>
          </a:p>
          <a:p>
            <a:r>
              <a:t>Executar uma operação funcional com resultado esperado; verificar saúde e persistência conforme o contrato do projeto.</a:t>
            </a:r>
          </a:p>
          <a:p>
            <a:r>
              <a:t>Sintoma reproduzido, hipótese testada, mudança específica e repetição do mesmo teste com resultado corrigido.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E4.68 — Do ambiente executável à entrega controlada</a:t>
            </a:r>
          </a:p>
          <a:p/>
          <a:p>
            <a:r>
              <a:t>COMO EXPLICAR</a:t>
            </a:r>
          </a:p>
          <a:p>
            <a:r>
              <a:t>Feche o encontro retomando a sequência lógica, sem abrir um novo laboratório. A equipe agora tem uma forma de executar a aplicação e pode começar a discutir entregar um artefato conhecido. O build de imagem no CI é uma evolução útil, mas não substitui os testes anteriores. Um pipeline que apenas constrói a imagem não prova que ela consegue iniciar e atender no ambiente de destino. O encontro seguinte discutirá controlar essa passagem com critérios explícitos.</a:t>
            </a:r>
          </a:p>
          <a:p/>
          <a:p>
            <a:r>
              <a:t>CONCLUSÃO</a:t>
            </a:r>
          </a:p>
          <a:p>
            <a:r>
              <a:t>Containerização tem valor quando melhora a reprodução, a integração e a entrega do projeto.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E4.69 — Referências e consulta depois da aula</a:t>
            </a:r>
          </a:p>
          <a:p/>
          <a:p>
            <a:r>
              <a:t>COMO EXPLICAR</a:t>
            </a:r>
          </a:p>
          <a:p>
            <a:r>
              <a:t>As referências oficiais estão com links completos no guia e na apostila. Os diagramas são esquemas didáticos editáveis, não capturas de uma arquitetura obrigatória em todas as instalações. Consulte as versões efetivamente utilizadas quando houver diferença de comando ou implementação. As próximas lâminas são de consulta para aprofundamento, não uma extensão obrigatória da aula de quatro horas.</a:t>
            </a:r>
          </a:p>
          <a:p/>
          <a:p>
            <a:r>
              <a:t>CONCLUSÃO</a:t>
            </a:r>
          </a:p>
          <a:p>
            <a:r>
              <a:t>Fim da trilha principal. Os próximos slides são material de consulta, sem nova entrega obrigatória.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E4.70 — Consulta | Registry, tag e digest</a:t>
            </a:r>
          </a:p>
          <a:p/>
          <a:p>
            <a:r>
              <a:t>COMO EXPLICAR</a:t>
            </a:r>
          </a:p>
          <a:p>
            <a:r>
              <a:t>Use node:22-bookworm-slim como exemplo: uma atualização do publicador pode mudar o conteúdo por trás da tag. O lockfile npm não fixa a imagem-base. Fixar digest ajuda a controlar atualização, mas exige política para receber correções. Não faça push para contas reais nesta aula. A distinção é relevante quando o mesmo artefato testado deve ser promovido, assunto do próximo encontro.</a:t>
            </a:r>
          </a:p>
          <a:p/>
          <a:p>
            <a:r>
              <a:t>CONCLUSÃO</a:t>
            </a:r>
          </a:p>
          <a:p>
            <a:r>
              <a:t>Mesma tag não prova igualdade de conteúdo entre máquinas ou momentos diferentes.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E4.71 — Consulta | Multi-stage e separação de responsabilidades</a:t>
            </a:r>
          </a:p>
          <a:p/>
          <a:p>
            <a:r>
              <a:t>COMO EXPLICAR</a:t>
            </a:r>
          </a:p>
          <a:p>
            <a:r>
              <a:t>A API da aula é JavaScript sem compilação; um Dockerfile simples atende ao objetivo. Num projeto TypeScript, separar a construção permite excluir ferramentas usadas apenas para compilar. Em Java ou Go a forma do artefato será diferente. Isso não autoriza copiar um binário entre bases incompatíveis sem revisar suas bibliotecas. O aluno deve reconhecer quando o padrão é útil, sem ser obrigado a adicioná-lo ao projeto se ele não resolve um problema concreto.</a:t>
            </a:r>
          </a:p>
          <a:p/>
          <a:p>
            <a:r>
              <a:t>CONCLUSÃO</a:t>
            </a:r>
          </a:p>
          <a:p>
            <a:r>
              <a:t>Multi-stage é uma escolha de empacotamento; use quando houver uma separação útil entre construir e executar.</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39"/>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8B6D61C-F334-430F-B1C4-20A81F584C96}" type="slidenum">
              <a:t>&lt;#&gt;</a:t>
            </a:fld>
          </a:p>
        </p:txBody>
      </p:sp>
      <p:sp>
        <p:nvSpPr>
          <p:cNvPr id="6" name="PlaceHolder 5"/>
          <p:cNvSpPr>
            <a:spLocks noGrp="1"/>
          </p:cNvSpPr>
          <p:nvPr>
            <p:ph type="dt" idx="3"/>
          </p:nvPr>
        </p:nvSpPr>
        <p:spPr/>
        <p:txBody>
          <a:bodyPr/>
          <a:p>
            <a:r>
              <a:rPr lang="pt-B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drão">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39C78721-130B-4E3F-AB9B-05D7863E81DD}" type="slidenum">
              <a:t>&lt;#&gt;</a:t>
            </a:fld>
          </a:p>
        </p:txBody>
      </p:sp>
      <p:sp>
        <p:nvSpPr>
          <p:cNvPr id="4" name="PlaceHolder 3"/>
          <p:cNvSpPr>
            <a:spLocks noGrp="1"/>
          </p:cNvSpPr>
          <p:nvPr>
            <p:ph type="dt" idx="6"/>
          </p:nvPr>
        </p:nvSpPr>
        <p:spPr/>
        <p:txBody>
          <a:bodyPr/>
          <a:p>
            <a:r>
              <a:rPr lang="pt-B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80E1C589-ACF7-4809-8AA2-ABD331C4E68A}" type="slidenum">
              <a:t>&lt;#&gt;</a:t>
            </a:fld>
          </a:p>
        </p:txBody>
      </p:sp>
      <p:sp>
        <p:nvSpPr>
          <p:cNvPr id="4" name="PlaceHolder 3"/>
          <p:cNvSpPr>
            <a:spLocks noGrp="1"/>
          </p:cNvSpPr>
          <p:nvPr>
            <p:ph type="dt" idx="9"/>
          </p:nvPr>
        </p:nvSpPr>
        <p:spPr/>
        <p:txBody>
          <a:bodyPr/>
          <a:p>
            <a:r>
              <a:rPr lang="pt-B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455DF70E-B2B8-421F-9DC9-14AB2166B10E}" type="slidenum">
              <a:t>&lt;#&gt;</a:t>
            </a:fld>
          </a:p>
        </p:txBody>
      </p:sp>
      <p:sp>
        <p:nvSpPr>
          <p:cNvPr id="4" name="PlaceHolder 3"/>
          <p:cNvSpPr>
            <a:spLocks noGrp="1"/>
          </p:cNvSpPr>
          <p:nvPr>
            <p:ph type="dt" idx="12"/>
          </p:nvPr>
        </p:nvSpPr>
        <p:spPr/>
        <p:txBody>
          <a:bodyPr/>
          <a:p>
            <a:r>
              <a:rPr lang="pt-B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A527EEB4-1E48-43A0-8B7A-DED8A9F59607}" type="slidenum">
              <a:t>&lt;#&gt;</a:t>
            </a:fld>
          </a:p>
        </p:txBody>
      </p:sp>
      <p:sp>
        <p:nvSpPr>
          <p:cNvPr id="6" name="PlaceHolder 5"/>
          <p:cNvSpPr>
            <a:spLocks noGrp="1"/>
          </p:cNvSpPr>
          <p:nvPr>
            <p:ph type="dt" idx="15"/>
          </p:nvPr>
        </p:nvSpPr>
        <p:spPr/>
        <p:txBody>
          <a:bodyPr/>
          <a:p>
            <a:r>
              <a:rPr lang="pt-B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EE701D04-6ADB-4E33-B654-D2AF90127EA6}" type="slidenum">
              <a:t>&lt;#&gt;</a:t>
            </a:fld>
          </a:p>
        </p:txBody>
      </p:sp>
      <p:sp>
        <p:nvSpPr>
          <p:cNvPr id="4" name="PlaceHolder 3"/>
          <p:cNvSpPr>
            <a:spLocks noGrp="1"/>
          </p:cNvSpPr>
          <p:nvPr>
            <p:ph type="dt" idx="18"/>
          </p:nvPr>
        </p:nvSpPr>
        <p:spPr/>
        <p:txBody>
          <a:bodyPr/>
          <a:p>
            <a:r>
              <a:rPr lang="pt-B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DC9B359A-B76C-4D66-9E87-741D4F783018}" type="slidenum">
              <a:t>&lt;#&gt;</a:t>
            </a:fld>
          </a:p>
        </p:txBody>
      </p:sp>
      <p:sp>
        <p:nvSpPr>
          <p:cNvPr id="7" name="PlaceHolder 6"/>
          <p:cNvSpPr>
            <a:spLocks noGrp="1"/>
          </p:cNvSpPr>
          <p:nvPr>
            <p:ph type="dt" idx="21"/>
          </p:nvPr>
        </p:nvSpPr>
        <p:spPr/>
        <p:txBody>
          <a:bodyPr/>
          <a:p>
            <a:r>
              <a:rPr lang="pt-B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E769396B-F904-41B0-B258-E1986DB4824F}" type="slidenum">
              <a:t>&lt;#&gt;</a:t>
            </a:fld>
          </a:p>
        </p:txBody>
      </p:sp>
      <p:sp>
        <p:nvSpPr>
          <p:cNvPr id="4" name="PlaceHolder 3"/>
          <p:cNvSpPr>
            <a:spLocks noGrp="1"/>
          </p:cNvSpPr>
          <p:nvPr>
            <p:ph type="dt" idx="24"/>
          </p:nvPr>
        </p:nvSpPr>
        <p:spPr/>
        <p:txBody>
          <a:bodyPr/>
          <a:p>
            <a:r>
              <a:rPr lang="pt-B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C556A23F-912E-4FA9-A8A8-5499E58F9E78}" type="slidenum">
              <a:t>&lt;#&gt;</a:t>
            </a:fld>
          </a:p>
        </p:txBody>
      </p:sp>
      <p:sp>
        <p:nvSpPr>
          <p:cNvPr id="5" name="PlaceHolder 4"/>
          <p:cNvSpPr>
            <a:spLocks noGrp="1"/>
          </p:cNvSpPr>
          <p:nvPr>
            <p:ph type="dt" idx="27"/>
          </p:nvPr>
        </p:nvSpPr>
        <p:spPr/>
        <p:txBody>
          <a:bodyPr/>
          <a:p>
            <a:r>
              <a:rPr lang="pt-B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FBC50F77-3936-4439-AD96-57EEDDBCFBB8}" type="slidenum">
              <a:t>&lt;#&gt;</a:t>
            </a:fld>
          </a:p>
        </p:txBody>
      </p:sp>
      <p:sp>
        <p:nvSpPr>
          <p:cNvPr id="4" name="PlaceHolder 3"/>
          <p:cNvSpPr>
            <a:spLocks noGrp="1"/>
          </p:cNvSpPr>
          <p:nvPr>
            <p:ph type="dt" idx="30"/>
          </p:nvPr>
        </p:nvSpPr>
        <p:spPr/>
        <p:txBody>
          <a:bodyPr/>
          <a:p>
            <a:r>
              <a:rPr lang="pt-B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E08C87FC-6E87-46E3-9544-739F046624CD}" type="slidenum">
              <a:t>&lt;#&gt;</a:t>
            </a:fld>
          </a:p>
        </p:txBody>
      </p:sp>
      <p:sp>
        <p:nvSpPr>
          <p:cNvPr id="4" name="PlaceHolder 3"/>
          <p:cNvSpPr>
            <a:spLocks noGrp="1"/>
          </p:cNvSpPr>
          <p:nvPr>
            <p:ph type="dt" idx="33"/>
          </p:nvPr>
        </p:nvSpPr>
        <p:spPr/>
        <p:txBody>
          <a:bodyPr/>
          <a:p>
            <a:r>
              <a:rPr lang="pt-BR"/>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B6CE4B87-6019-4739-AD60-D23B8A3718BE}" type="slidenum">
              <a:t>&lt;#&gt;</a:t>
            </a:fld>
          </a:p>
        </p:txBody>
      </p:sp>
      <p:sp>
        <p:nvSpPr>
          <p:cNvPr id="4" name="PlaceHolder 3"/>
          <p:cNvSpPr>
            <a:spLocks noGrp="1"/>
          </p:cNvSpPr>
          <p:nvPr>
            <p:ph type="dt" idx="36"/>
          </p:nvPr>
        </p:nvSpPr>
        <p:spPr/>
        <p:txBody>
          <a:bodyPr/>
          <a:p>
            <a:r>
              <a:rPr lang="pt-BR"/>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a:t>
            </a:r>
            <a:r>
              <a:rPr b="0" lang="pt-BR" sz="1800" spc="-1" strike="noStrike">
                <a:solidFill>
                  <a:srgbClr val="000000"/>
                </a:solidFill>
                <a:latin typeface="Arial"/>
              </a:rPr>
              <a:t>do título</a:t>
            </a:r>
            <a:endParaRPr b="0" lang="pt-BR" sz="1800" spc="-1" strike="noStrike">
              <a:solidFill>
                <a:srgbClr val="000000"/>
              </a:solidFill>
              <a:latin typeface="Arial"/>
            </a:endParaRPr>
          </a:p>
        </p:txBody>
      </p:sp>
      <p:sp>
        <p:nvSpPr>
          <p:cNvPr id="1" name="PlaceHolder 2"/>
          <p:cNvSpPr>
            <a:spLocks noGrp="1"/>
          </p:cNvSpPr>
          <p:nvPr>
            <p:ph type="ftr" idx="1"/>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F9A5D23D-8D87-46EE-8A36-EEACD072525D}"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8" name="PlaceHolder 2"/>
          <p:cNvSpPr>
            <a:spLocks noGrp="1"/>
          </p:cNvSpPr>
          <p:nvPr>
            <p:ph type="sldNum" idx="5"/>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75DDB37-ED10-4BC3-9888-81F84EAECECC}"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9" name="PlaceHolder 3"/>
          <p:cNvSpPr>
            <a:spLocks noGrp="1"/>
          </p:cNvSpPr>
          <p:nvPr>
            <p:ph type="dt" idx="6"/>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10"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a:t>
            </a:r>
            <a:r>
              <a:rPr b="0" lang="pt-BR" sz="4400" spc="-1" strike="noStrike">
                <a:solidFill>
                  <a:srgbClr val="000000"/>
                </a:solidFill>
                <a:latin typeface="Arial"/>
              </a:rPr>
              <a:t>do texto do título</a:t>
            </a:r>
            <a:endParaRPr b="0" lang="pt-BR" sz="4400" spc="-1" strike="noStrike">
              <a:solidFill>
                <a:srgbClr val="000000"/>
              </a:solidFill>
              <a:latin typeface="Arial"/>
            </a:endParaRPr>
          </a:p>
        </p:txBody>
      </p:sp>
      <p:sp>
        <p:nvSpPr>
          <p:cNvPr id="1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ftr" idx="7"/>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13" name="PlaceHolder 2"/>
          <p:cNvSpPr>
            <a:spLocks noGrp="1"/>
          </p:cNvSpPr>
          <p:nvPr>
            <p:ph type="sldNum" idx="8"/>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975F997-E6E9-4800-85FB-02142D3B33B3}"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14" name="PlaceHolder 3"/>
          <p:cNvSpPr>
            <a:spLocks noGrp="1"/>
          </p:cNvSpPr>
          <p:nvPr>
            <p:ph type="dt" idx="9"/>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ftr" idx="10"/>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16" name="PlaceHolder 2"/>
          <p:cNvSpPr>
            <a:spLocks noGrp="1"/>
          </p:cNvSpPr>
          <p:nvPr>
            <p:ph type="sldNum" idx="11"/>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2065FE50-892C-46F4-B583-B8DE205D14D4}"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17" name="PlaceHolder 3"/>
          <p:cNvSpPr>
            <a:spLocks noGrp="1"/>
          </p:cNvSpPr>
          <p:nvPr>
            <p:ph type="dt" idx="12"/>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19"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20" name="PlaceHolder 3"/>
          <p:cNvSpPr>
            <a:spLocks noGrp="1"/>
          </p:cNvSpPr>
          <p:nvPr>
            <p:ph type="ftr" idx="13"/>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1" name="PlaceHolder 4"/>
          <p:cNvSpPr>
            <a:spLocks noGrp="1"/>
          </p:cNvSpPr>
          <p:nvPr>
            <p:ph type="sldNum" idx="14"/>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FDC449A-5B9D-4C4C-9152-D0B89E92B931}"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22" name="PlaceHolder 5"/>
          <p:cNvSpPr>
            <a:spLocks noGrp="1"/>
          </p:cNvSpPr>
          <p:nvPr>
            <p:ph type="dt" idx="15"/>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ftr" idx="16"/>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6" name="PlaceHolder 2"/>
          <p:cNvSpPr>
            <a:spLocks noGrp="1"/>
          </p:cNvSpPr>
          <p:nvPr>
            <p:ph type="sldNum" idx="17"/>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891D63C-C7AB-438F-94AD-C7711487A23C}"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27" name="PlaceHolder 3"/>
          <p:cNvSpPr>
            <a:spLocks noGrp="1"/>
          </p:cNvSpPr>
          <p:nvPr>
            <p:ph type="dt" idx="18"/>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29"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30"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31" name="PlaceHolder 4"/>
          <p:cNvSpPr>
            <a:spLocks noGrp="1"/>
          </p:cNvSpPr>
          <p:nvPr>
            <p:ph type="ftr" idx="19"/>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32" name="PlaceHolder 5"/>
          <p:cNvSpPr>
            <a:spLocks noGrp="1"/>
          </p:cNvSpPr>
          <p:nvPr>
            <p:ph type="sldNum" idx="20"/>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FF47F75-27C9-4FC9-B628-76AE5519BC16}"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33" name="PlaceHolder 6"/>
          <p:cNvSpPr>
            <a:spLocks noGrp="1"/>
          </p:cNvSpPr>
          <p:nvPr>
            <p:ph type="dt" idx="21"/>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ftr" idx="22"/>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38" name="PlaceHolder 2"/>
          <p:cNvSpPr>
            <a:spLocks noGrp="1"/>
          </p:cNvSpPr>
          <p:nvPr>
            <p:ph type="sldNum" idx="23"/>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14845F3-1799-4AF4-85F5-985D4C865934}"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39" name="PlaceHolder 3"/>
          <p:cNvSpPr>
            <a:spLocks noGrp="1"/>
          </p:cNvSpPr>
          <p:nvPr>
            <p:ph type="dt" idx="24"/>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41" name="PlaceHolder 2"/>
          <p:cNvSpPr>
            <a:spLocks noGrp="1"/>
          </p:cNvSpPr>
          <p:nvPr>
            <p:ph type="ftr" idx="25"/>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42" name="PlaceHolder 3"/>
          <p:cNvSpPr>
            <a:spLocks noGrp="1"/>
          </p:cNvSpPr>
          <p:nvPr>
            <p:ph type="sldNum" idx="26"/>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6B673C89-8F9E-4D43-BB1D-D45E488955B2}"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43" name="PlaceHolder 4"/>
          <p:cNvSpPr>
            <a:spLocks noGrp="1"/>
          </p:cNvSpPr>
          <p:nvPr>
            <p:ph type="dt" idx="27"/>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ftr" idx="28"/>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46" name="PlaceHolder 2"/>
          <p:cNvSpPr>
            <a:spLocks noGrp="1"/>
          </p:cNvSpPr>
          <p:nvPr>
            <p:ph type="sldNum" idx="29"/>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5DE24BE-5502-44F8-9AE6-452674B8141F}"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47" name="PlaceHolder 3"/>
          <p:cNvSpPr>
            <a:spLocks noGrp="1"/>
          </p:cNvSpPr>
          <p:nvPr>
            <p:ph type="dt" idx="30"/>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48"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do texto do título</a:t>
            </a:r>
            <a:endParaRPr b="0" lang="pt-BR" sz="4400" spc="-1" strike="noStrike">
              <a:solidFill>
                <a:srgbClr val="000000"/>
              </a:solidFill>
              <a:latin typeface="Arial"/>
            </a:endParaRPr>
          </a:p>
        </p:txBody>
      </p:sp>
      <p:sp>
        <p:nvSpPr>
          <p:cNvPr id="4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ftr" idx="31"/>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51" name="PlaceHolder 2"/>
          <p:cNvSpPr>
            <a:spLocks noGrp="1"/>
          </p:cNvSpPr>
          <p:nvPr>
            <p:ph type="sldNum" idx="32"/>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6BAAF24-8226-4B3F-A402-BFC5D22C96A1}"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52" name="PlaceHolder 3"/>
          <p:cNvSpPr>
            <a:spLocks noGrp="1"/>
          </p:cNvSpPr>
          <p:nvPr>
            <p:ph type="dt" idx="33"/>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ftr" idx="34"/>
          </p:nvPr>
        </p:nvSpPr>
        <p:spPr>
          <a:xfrm>
            <a:off x="3124080" y="6356520"/>
            <a:ext cx="2893320" cy="36288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pt-BR" sz="1400" spc="-1" strike="noStrike">
                <a:solidFill>
                  <a:srgbClr val="000000"/>
                </a:solidFill>
                <a:latin typeface="Times New Roman"/>
              </a:defRPr>
            </a:lvl1pPr>
          </a:lstStyle>
          <a:p>
            <a:pPr indent="0" algn="ctr">
              <a:lnSpc>
                <a:spcPct val="100000"/>
              </a:lnSpc>
              <a:buNone/>
              <a:tabLst>
                <a:tab algn="l" pos="0"/>
              </a:tabLst>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54" name="PlaceHolder 2"/>
          <p:cNvSpPr>
            <a:spLocks noGrp="1"/>
          </p:cNvSpPr>
          <p:nvPr>
            <p:ph type="sldNum" idx="35"/>
          </p:nvPr>
        </p:nvSpPr>
        <p:spPr>
          <a:xfrm>
            <a:off x="6553080" y="6356520"/>
            <a:ext cx="2131560" cy="3628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D53D980-79E1-408F-9635-90CA257EFE16}" type="slidenum">
              <a:rPr b="0" lang="en-US" sz="1200" spc="-1" strike="noStrike">
                <a:solidFill>
                  <a:schemeClr val="dk1">
                    <a:tint val="75000"/>
                  </a:schemeClr>
                </a:solidFill>
                <a:latin typeface="Calibri"/>
              </a:rPr>
              <a:t>&lt;número&gt;</a:t>
            </a:fld>
            <a:endParaRPr b="0" lang="pt-BR" sz="1200" spc="-1" strike="noStrike">
              <a:solidFill>
                <a:srgbClr val="000000"/>
              </a:solidFill>
              <a:latin typeface="Times New Roman"/>
            </a:endParaRPr>
          </a:p>
        </p:txBody>
      </p:sp>
      <p:sp>
        <p:nvSpPr>
          <p:cNvPr id="55" name="PlaceHolder 3"/>
          <p:cNvSpPr>
            <a:spLocks noGrp="1"/>
          </p:cNvSpPr>
          <p:nvPr>
            <p:ph type="dt" idx="36"/>
          </p:nvPr>
        </p:nvSpPr>
        <p:spPr>
          <a:xfrm>
            <a:off x="457200" y="6356520"/>
            <a:ext cx="2131560" cy="362880"/>
          </a:xfrm>
          <a:prstGeom prst="rect">
            <a:avLst/>
          </a:prstGeom>
          <a:noFill/>
          <a:ln w="0">
            <a:noFill/>
          </a:ln>
        </p:spPr>
        <p:txBody>
          <a:bodyPr lIns="91440" rIns="91440" tIns="45720" bIns="45720" anchor="ctr">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pt-BR" sz="1580" spc="-1" strike="noStrike">
                <a:solidFill>
                  <a:schemeClr val="dk1"/>
                </a:solidFill>
                <a:latin typeface="Aptos"/>
              </a:rPr>
              <a:t>Clique para editar o formato do texto do título</a:t>
            </a:r>
            <a:endParaRPr b="0" lang="pt-BR" sz="1580" spc="-1" strike="noStrike">
              <a:solidFill>
                <a:schemeClr val="dk1"/>
              </a:solidFill>
              <a:latin typeface="Aptos"/>
            </a:endParaRPr>
          </a:p>
        </p:txBody>
      </p:sp>
      <p:sp>
        <p:nvSpPr>
          <p:cNvPr id="57"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chemeClr val="dk1"/>
                </a:solidFill>
                <a:latin typeface="Aptos"/>
              </a:rPr>
              <a:t>Clique para editar o formato de texto dos tópicos</a:t>
            </a:r>
            <a:endParaRPr b="0" lang="pt-BR" sz="3200" spc="-1" strike="noStrike">
              <a:solidFill>
                <a:schemeClr val="dk1"/>
              </a:solidFill>
              <a:latin typeface="Aptos"/>
            </a:endParaRPr>
          </a:p>
          <a:p>
            <a:pPr lvl="1" marL="864000" indent="-324000">
              <a:spcBef>
                <a:spcPts val="1134"/>
              </a:spcBef>
              <a:buClr>
                <a:srgbClr val="000000"/>
              </a:buClr>
              <a:buSzPct val="75000"/>
              <a:buFont typeface="Symbol" charset="2"/>
              <a:buChar char=""/>
            </a:pPr>
            <a:r>
              <a:rPr b="0" lang="pt-BR" sz="2400" spc="-1" strike="noStrike">
                <a:solidFill>
                  <a:schemeClr val="dk1"/>
                </a:solidFill>
                <a:latin typeface="Aptos"/>
              </a:rPr>
              <a:t>2.º nível de tópicos</a:t>
            </a:r>
            <a:endParaRPr b="0" lang="pt-BR" sz="2400" spc="-1" strike="noStrike">
              <a:solidFill>
                <a:schemeClr val="dk1"/>
              </a:solidFill>
              <a:latin typeface="Aptos"/>
            </a:endParaRPr>
          </a:p>
          <a:p>
            <a:pPr lvl="2" marL="1296000" indent="-288000">
              <a:spcBef>
                <a:spcPts val="850"/>
              </a:spcBef>
              <a:buClr>
                <a:srgbClr val="000000"/>
              </a:buClr>
              <a:buSzPct val="45000"/>
              <a:buFont typeface="Wingdings" charset="2"/>
              <a:buChar char=""/>
            </a:pPr>
            <a:r>
              <a:rPr b="0" lang="pt-BR" sz="2000" spc="-1" strike="noStrike">
                <a:solidFill>
                  <a:schemeClr val="dk1"/>
                </a:solidFill>
                <a:latin typeface="Aptos"/>
              </a:rPr>
              <a:t>3.º nível de tópicos</a:t>
            </a:r>
            <a:endParaRPr b="0" lang="pt-BR" sz="2000" spc="-1" strike="noStrike">
              <a:solidFill>
                <a:schemeClr val="dk1"/>
              </a:solidFill>
              <a:latin typeface="Aptos"/>
            </a:endParaRPr>
          </a:p>
          <a:p>
            <a:pPr lvl="3" marL="1728000" indent="-216000">
              <a:spcBef>
                <a:spcPts val="567"/>
              </a:spcBef>
              <a:buClr>
                <a:srgbClr val="000000"/>
              </a:buClr>
              <a:buSzPct val="75000"/>
              <a:buFont typeface="Symbol" charset="2"/>
              <a:buChar char=""/>
            </a:pPr>
            <a:r>
              <a:rPr b="0" lang="pt-BR" sz="2000" spc="-1" strike="noStrike">
                <a:solidFill>
                  <a:schemeClr val="dk1"/>
                </a:solidFill>
                <a:latin typeface="Aptos"/>
              </a:rPr>
              <a:t>4.º nível de tópicos</a:t>
            </a:r>
            <a:endParaRPr b="0" lang="pt-BR" sz="2000" spc="-1" strike="noStrike">
              <a:solidFill>
                <a:schemeClr val="dk1"/>
              </a:solidFill>
              <a:latin typeface="Aptos"/>
            </a:endParaRPr>
          </a:p>
          <a:p>
            <a:pPr lvl="4" marL="2160000" indent="-216000">
              <a:spcBef>
                <a:spcPts val="283"/>
              </a:spcBef>
              <a:buClr>
                <a:srgbClr val="000000"/>
              </a:buClr>
              <a:buSzPct val="45000"/>
              <a:buFont typeface="Wingdings" charset="2"/>
              <a:buChar char=""/>
            </a:pPr>
            <a:r>
              <a:rPr b="0" lang="pt-BR" sz="2000" spc="-1" strike="noStrike">
                <a:solidFill>
                  <a:schemeClr val="dk1"/>
                </a:solidFill>
                <a:latin typeface="Aptos"/>
              </a:rPr>
              <a:t>5.º nível de tópicos</a:t>
            </a:r>
            <a:endParaRPr b="0" lang="pt-BR" sz="2000" spc="-1" strike="noStrike">
              <a:solidFill>
                <a:schemeClr val="dk1"/>
              </a:solidFill>
              <a:latin typeface="Aptos"/>
            </a:endParaRPr>
          </a:p>
          <a:p>
            <a:pPr lvl="5" marL="2592000" indent="-216000">
              <a:spcBef>
                <a:spcPts val="283"/>
              </a:spcBef>
              <a:buClr>
                <a:srgbClr val="000000"/>
              </a:buClr>
              <a:buSzPct val="45000"/>
              <a:buFont typeface="Wingdings" charset="2"/>
              <a:buChar char=""/>
            </a:pPr>
            <a:r>
              <a:rPr b="0" lang="pt-BR" sz="2000" spc="-1" strike="noStrike">
                <a:solidFill>
                  <a:schemeClr val="dk1"/>
                </a:solidFill>
                <a:latin typeface="Aptos"/>
              </a:rPr>
              <a:t>6.º nível de tópicos</a:t>
            </a:r>
            <a:endParaRPr b="0" lang="pt-BR" sz="2000" spc="-1" strike="noStrike">
              <a:solidFill>
                <a:schemeClr val="dk1"/>
              </a:solidFill>
              <a:latin typeface="Aptos"/>
            </a:endParaRPr>
          </a:p>
          <a:p>
            <a:pPr lvl="6" marL="3024000" indent="-216000">
              <a:spcBef>
                <a:spcPts val="283"/>
              </a:spcBef>
              <a:buClr>
                <a:srgbClr val="000000"/>
              </a:buClr>
              <a:buSzPct val="45000"/>
              <a:buFont typeface="Wingdings" charset="2"/>
              <a:buChar char=""/>
            </a:pPr>
            <a:r>
              <a:rPr b="0" lang="pt-BR" sz="2000" spc="-1" strike="noStrike">
                <a:solidFill>
                  <a:schemeClr val="dk1"/>
                </a:solidFill>
                <a:latin typeface="Aptos"/>
              </a:rPr>
              <a:t>7.º nível de tópicos</a:t>
            </a:r>
            <a:endParaRPr b="0" lang="pt-BR"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6.png"/><Relationship Id="rId3" Type="http://schemas.openxmlformats.org/officeDocument/2006/relationships/image" Target="../media/image1.png"/><Relationship Id="rId4" Type="http://schemas.openxmlformats.org/officeDocument/2006/relationships/notesSlide" Target="../notesSlides/notesSlide1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132b42"/>
        </a:solidFill>
      </p:bgPr>
    </p:bg>
    <p:spTree>
      <p:nvGrpSpPr>
        <p:cNvPr id="1" name=""/>
        <p:cNvGrpSpPr/>
        <p:nvPr/>
      </p:nvGrpSpPr>
      <p:grpSpPr/>
      <p:sp>
        <p:nvSpPr>
          <p:cNvPr id="2497" name="TextBox 1"/>
          <p:cNvSpPr/>
          <p:nvPr/>
        </p:nvSpPr>
        <p:spPr>
          <a:xfrm>
            <a:off x="777240" y="2286000"/>
            <a:ext cx="10604880" cy="729360"/>
          </a:xfrm>
          <a:prstGeom prst="rect">
            <a:avLst/>
          </a:prstGeom>
          <a:noFill/>
          <a:ln w="0">
            <a:noFill/>
          </a:ln>
        </p:spPr>
        <p:style>
          <a:lnRef idx="0"/>
          <a:fillRef idx="0"/>
          <a:effectRef idx="0"/>
          <a:fontRef idx="minor"/>
        </p:style>
        <p:txBody>
          <a:bodyPr lIns="45720" rIns="45720" tIns="27360" bIns="27360" anchor="t">
            <a:noAutofit/>
          </a:bodyPr>
          <a:p>
            <a:pPr algn="ctr" defTabSz="457200">
              <a:lnSpc>
                <a:spcPct val="100000"/>
              </a:lnSpc>
            </a:pPr>
            <a:r>
              <a:rPr b="1" lang="en-US" sz="3400" spc="-1" strike="noStrike">
                <a:solidFill>
                  <a:srgbClr val="ffffff"/>
                </a:solidFill>
                <a:latin typeface="Aptos"/>
              </a:rPr>
              <a:t>Encontro 4</a:t>
            </a:r>
            <a:endParaRPr b="0" lang="pt-BR" sz="3400" spc="-1" strike="noStrike">
              <a:solidFill>
                <a:srgbClr val="ffffff"/>
              </a:solidFill>
              <a:latin typeface="Arial"/>
            </a:endParaRPr>
          </a:p>
        </p:txBody>
      </p:sp>
      <p:sp>
        <p:nvSpPr>
          <p:cNvPr id="2498" name="TextBox 2"/>
          <p:cNvSpPr/>
          <p:nvPr/>
        </p:nvSpPr>
        <p:spPr>
          <a:xfrm>
            <a:off x="1936080" y="3090600"/>
            <a:ext cx="6883200" cy="500760"/>
          </a:xfrm>
          <a:prstGeom prst="rect">
            <a:avLst/>
          </a:prstGeom>
          <a:noFill/>
          <a:ln w="0">
            <a:noFill/>
          </a:ln>
        </p:spPr>
        <p:style>
          <a:lnRef idx="0"/>
          <a:fillRef idx="0"/>
          <a:effectRef idx="0"/>
          <a:fontRef idx="minor"/>
        </p:style>
        <p:txBody>
          <a:bodyPr lIns="45720" rIns="45720" tIns="27360" bIns="27360" anchor="t">
            <a:noAutofit/>
          </a:bodyPr>
          <a:p>
            <a:pPr>
              <a:lnSpc>
                <a:spcPct val="100000"/>
              </a:lnSpc>
            </a:pPr>
            <a:r>
              <a:rPr b="0" lang="en-US" sz="1800" spc="-1" strike="noStrike">
                <a:solidFill>
                  <a:srgbClr val="dde7f0"/>
                </a:solidFill>
                <a:latin typeface="Aptos"/>
              </a:rPr>
              <a:t>24/09/2026 | Containers, integração e troubleshooting</a:t>
            </a:r>
            <a:endParaRPr b="0" lang="pt-BR" sz="1800" spc="-1" strike="noStrike">
              <a:solidFill>
                <a:srgbClr val="ffffff"/>
              </a:solidFill>
              <a:latin typeface="Arial"/>
            </a:endParaRPr>
          </a:p>
        </p:txBody>
      </p:sp>
      <p:sp>
        <p:nvSpPr>
          <p:cNvPr id="2499" name="TextBox 3"/>
          <p:cNvSpPr/>
          <p:nvPr/>
        </p:nvSpPr>
        <p:spPr>
          <a:xfrm>
            <a:off x="5532120" y="6263640"/>
            <a:ext cx="1186560" cy="253800"/>
          </a:xfrm>
          <a:prstGeom prst="rect">
            <a:avLst/>
          </a:prstGeom>
          <a:noFill/>
          <a:ln w="0">
            <a:noFill/>
          </a:ln>
        </p:spPr>
        <p:style>
          <a:lnRef idx="0"/>
          <a:fillRef idx="0"/>
          <a:effectRef idx="0"/>
          <a:fontRef idx="minor"/>
        </p:style>
        <p:txBody>
          <a:bodyPr lIns="45720" rIns="45720" tIns="27360" bIns="27360" anchor="t">
            <a:noAutofit/>
          </a:bodyPr>
          <a:p>
            <a:pPr defTabSz="457200">
              <a:lnSpc>
                <a:spcPct val="100000"/>
              </a:lnSpc>
            </a:pPr>
            <a:r>
              <a:rPr b="0" lang="en-US" sz="1000" spc="-1" strike="noStrike">
                <a:solidFill>
                  <a:srgbClr val="dde7f0"/>
                </a:solidFill>
                <a:latin typeface="Aptos"/>
              </a:rPr>
              <a:t>E4</a:t>
            </a:r>
            <a:endParaRPr b="0" lang="pt-BR" sz="1000" spc="-1" strike="noStrike">
              <a:solidFill>
                <a:srgbClr val="ffffff"/>
              </a:solidFill>
              <a:latin typeface="Arial"/>
            </a:endParaRPr>
          </a:p>
        </p:txBody>
      </p:sp>
      <p:pic>
        <p:nvPicPr>
          <p:cNvPr id="2500" name="Picture 4" descr="e5_shield.png"/>
          <p:cNvPicPr/>
          <p:nvPr/>
        </p:nvPicPr>
        <p:blipFill>
          <a:blip r:embed="rId2"/>
          <a:stretch/>
        </p:blipFill>
        <p:spPr>
          <a:xfrm>
            <a:off x="5615640" y="914400"/>
            <a:ext cx="957960" cy="957960"/>
          </a:xfrm>
          <a:prstGeom prst="rect">
            <a:avLst/>
          </a:prstGeom>
          <a:ln w="0">
            <a:noFill/>
          </a:ln>
        </p:spPr>
      </p:pic>
      <p:pic>
        <p:nvPicPr>
          <p:cNvPr id="2501" name="Picture 5" descr="Logo Unifor Pos.png"/>
          <p:cNvPicPr/>
          <p:nvPr/>
        </p:nvPicPr>
        <p:blipFill>
          <a:blip r:embed="rId3"/>
          <a:stretch/>
        </p:blipFill>
        <p:spPr>
          <a:xfrm>
            <a:off x="10522080" y="255960"/>
            <a:ext cx="997560" cy="345240"/>
          </a:xfrm>
          <a:prstGeom prst="rect">
            <a:avLst/>
          </a:prstGeom>
          <a:ln w="0">
            <a:noFill/>
          </a:ln>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Do programa ao ambiente integrado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Encontro 4 • entender os componentes antes de executar comandos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Entender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Aplicação, processo e runtime.</a:t>
            </a:r>
          </a:p>
          <a:p>
            <a:pPr algn="l">
              <a:lnSpc>
                <a:spcPct val="105000"/>
              </a:lnSpc>
              <a:spcAft>
                <a:spcPts val="600"/>
              </a:spcAft>
              <a:defRPr sz="1800" b="0">
                <a:solidFill>
                  <a:srgbClr val="26364A"/>
                </a:solidFill>
                <a:latin typeface="Aptos"/>
              </a:defRPr>
            </a:pPr>
            <a:r>
              <a:t>Container, imagem e Docker.</a:t>
            </a:r>
          </a:p>
          <a:p>
            <a:pPr algn="l">
              <a:lnSpc>
                <a:spcPct val="105000"/>
              </a:lnSpc>
              <a:spcAft>
                <a:spcPts val="600"/>
              </a:spcAft>
              <a:defRPr sz="1800" b="0">
                <a:solidFill>
                  <a:srgbClr val="26364A"/>
                </a:solidFill>
                <a:latin typeface="Aptos"/>
              </a:defRPr>
            </a:pPr>
            <a:r>
              <a:t>Compose e comparação com VMs.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Observar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Executar um container simples.</a:t>
            </a:r>
          </a:p>
          <a:p>
            <a:pPr algn="l">
              <a:lnSpc>
                <a:spcPct val="105000"/>
              </a:lnSpc>
              <a:spcAft>
                <a:spcPts val="600"/>
              </a:spcAft>
              <a:defRPr sz="1800" b="0">
                <a:solidFill>
                  <a:srgbClr val="26364A"/>
                </a:solidFill>
                <a:latin typeface="Aptos"/>
              </a:defRPr>
            </a:pPr>
            <a:r>
              <a:t>Construir a imagem da API.</a:t>
            </a:r>
          </a:p>
          <a:p>
            <a:pPr algn="l">
              <a:lnSpc>
                <a:spcPct val="105000"/>
              </a:lnSpc>
              <a:spcAft>
                <a:spcPts val="600"/>
              </a:spcAft>
              <a:defRPr sz="1800" b="0">
                <a:solidFill>
                  <a:srgbClr val="26364A"/>
                </a:solidFill>
                <a:latin typeface="Aptos"/>
              </a:defRPr>
            </a:pPr>
            <a:r>
              <a:t>Integrar API e banco.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Aplicar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Diagnosticar uma falha.</a:t>
            </a:r>
          </a:p>
          <a:p>
            <a:pPr algn="l">
              <a:lnSpc>
                <a:spcPct val="105000"/>
              </a:lnSpc>
              <a:spcAft>
                <a:spcPts val="600"/>
              </a:spcAft>
              <a:defRPr sz="1800" b="0">
                <a:solidFill>
                  <a:srgbClr val="26364A"/>
                </a:solidFill>
                <a:latin typeface="Aptos"/>
              </a:defRPr>
            </a:pPr>
            <a:r>
              <a:t>Containerizar o projeto da equipe.</a:t>
            </a:r>
          </a:p>
          <a:p>
            <a:pPr algn="l">
              <a:lnSpc>
                <a:spcPct val="105000"/>
              </a:lnSpc>
              <a:spcAft>
                <a:spcPts val="600"/>
              </a:spcAft>
              <a:defRPr sz="1800" b="0">
                <a:solidFill>
                  <a:srgbClr val="26364A"/>
                </a:solidFill>
                <a:latin typeface="Aptos"/>
              </a:defRPr>
            </a:pPr>
            <a:r>
              <a:t>Guardar evidências para a entrega final.</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Resultado: outra pessoa consegue subir o projeto, testar seu funcionamento e entender sua configuração.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E4·01</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Roteiro das quatro horas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Exposição progressiva, demonstração e prática no projeto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0–65 min | Base</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0–10: objetivo e contexto.</a:t>
            </a:r>
          </a:p>
          <a:p>
            <a:pPr algn="l">
              <a:lnSpc>
                <a:spcPct val="105000"/>
              </a:lnSpc>
              <a:spcAft>
                <a:spcPts val="600"/>
              </a:spcAft>
              <a:defRPr sz="1800" b="0">
                <a:solidFill>
                  <a:srgbClr val="26364A"/>
                </a:solidFill>
                <a:latin typeface="Aptos"/>
              </a:defRPr>
            </a:pPr>
            <a:r>
              <a:t>10–50: conceitos e comparação.</a:t>
            </a:r>
          </a:p>
          <a:p>
            <a:pPr algn="l">
              <a:lnSpc>
                <a:spcPct val="105000"/>
              </a:lnSpc>
              <a:spcAft>
                <a:spcPts val="600"/>
              </a:spcAft>
              <a:defRPr sz="1800" b="0">
                <a:solidFill>
                  <a:srgbClr val="26364A"/>
                </a:solidFill>
                <a:latin typeface="Aptos"/>
              </a:defRPr>
            </a:pPr>
            <a:r>
              <a:t>50–65: primeira demonstração e verificação.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1785" b="1">
                <a:solidFill>
                  <a:srgbClr val="2A5C8A"/>
                </a:solidFill>
                <a:latin typeface="Aptos"/>
              </a:defRPr>
            </a:pPr>
            <a:r>
              <a:t>65–165 min | Integração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65–95: imagem da API.</a:t>
            </a:r>
          </a:p>
          <a:p>
            <a:pPr algn="l">
              <a:lnSpc>
                <a:spcPct val="105000"/>
              </a:lnSpc>
              <a:spcAft>
                <a:spcPts val="600"/>
              </a:spcAft>
              <a:defRPr sz="1800" b="0">
                <a:solidFill>
                  <a:srgbClr val="26364A"/>
                </a:solidFill>
                <a:latin typeface="Aptos"/>
              </a:defRPr>
            </a:pPr>
            <a:r>
              <a:t>95–110: intervalo.</a:t>
            </a:r>
          </a:p>
          <a:p>
            <a:pPr algn="l">
              <a:lnSpc>
                <a:spcPct val="105000"/>
              </a:lnSpc>
              <a:spcAft>
                <a:spcPts val="600"/>
              </a:spcAft>
              <a:defRPr sz="1800" b="0">
                <a:solidFill>
                  <a:srgbClr val="26364A"/>
                </a:solidFill>
                <a:latin typeface="Aptos"/>
              </a:defRPr>
            </a:pPr>
            <a:r>
              <a:t>110–145: Compose e integração.</a:t>
            </a:r>
          </a:p>
          <a:p>
            <a:pPr algn="l">
              <a:lnSpc>
                <a:spcPct val="105000"/>
              </a:lnSpc>
              <a:spcAft>
                <a:spcPts val="600"/>
              </a:spcAft>
              <a:defRPr sz="1800" b="0">
                <a:solidFill>
                  <a:srgbClr val="26364A"/>
                </a:solidFill>
                <a:latin typeface="Aptos"/>
              </a:defRPr>
            </a:pPr>
            <a:r>
              <a:t>145–165: diagnóstico guiado.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1971" b="1">
                <a:solidFill>
                  <a:srgbClr val="2A5C8A"/>
                </a:solidFill>
                <a:latin typeface="Aptos"/>
              </a:defRPr>
            </a:pPr>
            <a:r>
              <a:t>165–240 min | Projeto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165–235: laboratório das equipes.</a:t>
            </a:r>
          </a:p>
          <a:p>
            <a:pPr algn="l">
              <a:lnSpc>
                <a:spcPct val="105000"/>
              </a:lnSpc>
              <a:spcAft>
                <a:spcPts val="600"/>
              </a:spcAft>
              <a:defRPr sz="1800" b="0">
                <a:solidFill>
                  <a:srgbClr val="26364A"/>
                </a:solidFill>
                <a:latin typeface="Aptos"/>
              </a:defRPr>
            </a:pPr>
            <a:r>
              <a:t>235–240: fechamento e evidências.</a:t>
            </a:r>
          </a:p>
          <a:p>
            <a:pPr algn="l">
              <a:lnSpc>
                <a:spcPct val="105000"/>
              </a:lnSpc>
              <a:spcAft>
                <a:spcPts val="600"/>
              </a:spcAft>
              <a:defRPr sz="1800" b="0">
                <a:solidFill>
                  <a:srgbClr val="26364A"/>
                </a:solidFill>
                <a:latin typeface="Aptos"/>
              </a:defRPr>
            </a:pPr>
            <a:r>
              <a:t>Consultas ficam disponíveis após a trilha.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As verificações vêm depois da explicação; as equipes aplicam os conceitos ao próprio projeto.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E4·02</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Uma aplicação precisa de mais que o código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uma API de visitas escrita em JavaScript</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Código e bibliotecas</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server.js define as rotas.</a:t>
            </a:r>
          </a:p>
          <a:p>
            <a:pPr algn="l">
              <a:lnSpc>
                <a:spcPct val="105000"/>
              </a:lnSpc>
              <a:spcAft>
                <a:spcPts val="600"/>
              </a:spcAft>
              <a:defRPr sz="1800" b="0">
                <a:solidFill>
                  <a:srgbClr val="26364A"/>
                </a:solidFill>
                <a:latin typeface="Aptos"/>
              </a:defRPr>
            </a:pPr>
            <a:r>
              <a:t>O pacote pg permite consultar PostgreSQL.</a:t>
            </a:r>
          </a:p>
          <a:p>
            <a:pPr algn="l">
              <a:lnSpc>
                <a:spcPct val="105000"/>
              </a:lnSpc>
              <a:spcAft>
                <a:spcPts val="600"/>
              </a:spcAft>
              <a:defRPr sz="1800" b="0">
                <a:solidFill>
                  <a:srgbClr val="26364A"/>
                </a:solidFill>
                <a:latin typeface="Aptos"/>
              </a:defRPr>
            </a:pPr>
            <a:r>
              <a:t>Os arquivos precisam estar disponíveis.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1895" b="1">
                <a:solidFill>
                  <a:srgbClr val="2A5C8A"/>
                </a:solidFill>
                <a:latin typeface="Aptos"/>
              </a:defRPr>
            </a:pPr>
            <a:r>
              <a:t>Ambiente de execução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Node.js executa o JavaScript.</a:t>
            </a:r>
          </a:p>
          <a:p>
            <a:pPr algn="l">
              <a:lnSpc>
                <a:spcPct val="105000"/>
              </a:lnSpc>
              <a:spcAft>
                <a:spcPts val="600"/>
              </a:spcAft>
              <a:defRPr sz="1800" b="0">
                <a:solidFill>
                  <a:srgbClr val="26364A"/>
                </a:solidFill>
                <a:latin typeface="Aptos"/>
              </a:defRPr>
            </a:pPr>
            <a:r>
              <a:t>Bibliotecas do sistema dão suporte.</a:t>
            </a:r>
          </a:p>
          <a:p>
            <a:pPr algn="l">
              <a:lnSpc>
                <a:spcPct val="105000"/>
              </a:lnSpc>
              <a:spcAft>
                <a:spcPts val="600"/>
              </a:spcAft>
              <a:defRPr sz="1800" b="0">
                <a:solidFill>
                  <a:srgbClr val="26364A"/>
                </a:solidFill>
                <a:latin typeface="Aptos"/>
              </a:defRPr>
            </a:pPr>
            <a:r>
              <a:t>O sistema operacional oferece recursos.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1802" b="1">
                <a:solidFill>
                  <a:srgbClr val="2A5C8A"/>
                </a:solidFill>
                <a:latin typeface="Aptos"/>
              </a:defRPr>
            </a:pPr>
            <a:r>
              <a:t>Configuração e serviços</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HOST e DATABASE_URL orientam a execução.</a:t>
            </a:r>
          </a:p>
          <a:p>
            <a:pPr algn="l">
              <a:lnSpc>
                <a:spcPct val="105000"/>
              </a:lnSpc>
              <a:spcAft>
                <a:spcPts val="600"/>
              </a:spcAft>
              <a:defRPr sz="1800" b="0">
                <a:solidFill>
                  <a:srgbClr val="26364A"/>
                </a:solidFill>
                <a:latin typeface="Aptos"/>
              </a:defRPr>
            </a:pPr>
            <a:r>
              <a:t>A API precisa alcançar o banco.</a:t>
            </a:r>
          </a:p>
          <a:p>
            <a:pPr algn="l">
              <a:lnSpc>
                <a:spcPct val="105000"/>
              </a:lnSpc>
              <a:spcAft>
                <a:spcPts val="600"/>
              </a:spcAft>
              <a:defRPr sz="1800" b="0">
                <a:solidFill>
                  <a:srgbClr val="26364A"/>
                </a:solidFill>
                <a:latin typeface="Aptos"/>
              </a:defRPr>
            </a:pPr>
            <a:r>
              <a:t>Os dados precisam de armazenamento.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execução depende da combinação código + runtime + dependências + configuração + serviços.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E4·03</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Programa é arquivo; processo é execução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Ao iniciar o programa, o sistema operacional cria uma atividade em execução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65960"/>
            <a:ext cx="3108960" cy="22860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084831"/>
            <a:ext cx="279806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ARQUIVO</a:t>
            </a:r>
          </a:p>
        </p:txBody>
      </p:sp>
      <p:sp>
        <p:nvSpPr>
          <p:cNvPr id="7" name="TextBox 6"/>
          <p:cNvSpPr txBox="1"/>
          <p:nvPr/>
        </p:nvSpPr>
        <p:spPr>
          <a:xfrm>
            <a:off x="795528" y="2624328"/>
            <a:ext cx="2798064" cy="152704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server.js</a:t>
            </a:r>
          </a:p>
          <a:p>
            <a:pPr algn="l">
              <a:lnSpc>
                <a:spcPct val="105000"/>
              </a:lnSpc>
              <a:spcAft>
                <a:spcPts val="600"/>
              </a:spcAft>
              <a:defRPr sz="1800" b="0">
                <a:solidFill>
                  <a:srgbClr val="26364A"/>
                </a:solidFill>
                <a:latin typeface="Aptos"/>
              </a:defRPr>
            </a:pPr>
            <a:r>
              <a:t>Código guardado no disco.</a:t>
            </a:r>
          </a:p>
        </p:txBody>
      </p:sp>
      <p:sp>
        <p:nvSpPr>
          <p:cNvPr id="8" name="Right Arrow 7"/>
          <p:cNvSpPr/>
          <p:nvPr/>
        </p:nvSpPr>
        <p:spPr>
          <a:xfrm>
            <a:off x="3904487" y="2926080"/>
            <a:ext cx="59436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09160" y="1965960"/>
            <a:ext cx="2834640" cy="22860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64608" y="2084831"/>
            <a:ext cx="252374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COMANDO</a:t>
            </a:r>
          </a:p>
        </p:txBody>
      </p:sp>
      <p:sp>
        <p:nvSpPr>
          <p:cNvPr id="11" name="TextBox 10"/>
          <p:cNvSpPr txBox="1"/>
          <p:nvPr/>
        </p:nvSpPr>
        <p:spPr>
          <a:xfrm>
            <a:off x="4864608" y="2624328"/>
            <a:ext cx="2523744" cy="152704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node server.js</a:t>
            </a:r>
          </a:p>
          <a:p>
            <a:pPr algn="l">
              <a:lnSpc>
                <a:spcPct val="105000"/>
              </a:lnSpc>
              <a:spcAft>
                <a:spcPts val="600"/>
              </a:spcAft>
              <a:defRPr sz="1800" b="0">
                <a:solidFill>
                  <a:srgbClr val="26364A"/>
                </a:solidFill>
                <a:latin typeface="Aptos"/>
              </a:defRPr>
            </a:pPr>
            <a:r>
              <a:t>Node inicia a execução.</a:t>
            </a:r>
          </a:p>
        </p:txBody>
      </p:sp>
      <p:sp>
        <p:nvSpPr>
          <p:cNvPr id="12" name="Right Arrow 11"/>
          <p:cNvSpPr/>
          <p:nvPr/>
        </p:nvSpPr>
        <p:spPr>
          <a:xfrm>
            <a:off x="7699248" y="2926080"/>
            <a:ext cx="59436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503920" y="1965960"/>
            <a:ext cx="3063240" cy="22860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59368" y="2084831"/>
            <a:ext cx="275234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PROCESSO</a:t>
            </a:r>
          </a:p>
        </p:txBody>
      </p:sp>
      <p:sp>
        <p:nvSpPr>
          <p:cNvPr id="15" name="TextBox 14"/>
          <p:cNvSpPr txBox="1"/>
          <p:nvPr/>
        </p:nvSpPr>
        <p:spPr>
          <a:xfrm>
            <a:off x="8659368" y="2624328"/>
            <a:ext cx="2752344" cy="152704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Usa CPU e memória.</a:t>
            </a:r>
          </a:p>
          <a:p>
            <a:pPr algn="l">
              <a:lnSpc>
                <a:spcPct val="105000"/>
              </a:lnSpc>
              <a:spcAft>
                <a:spcPts val="600"/>
              </a:spcAft>
              <a:defRPr sz="1800" b="0">
                <a:solidFill>
                  <a:srgbClr val="26364A"/>
                </a:solidFill>
                <a:latin typeface="Aptos"/>
              </a:defRPr>
            </a:pPr>
            <a:r>
              <a:t>Abre a porta HTTP.</a:t>
            </a:r>
          </a:p>
        </p:txBody>
      </p:sp>
      <p:sp>
        <p:nvSpPr>
          <p:cNvPr id="16" name="TextBox 15"/>
          <p:cNvSpPr txBox="1"/>
          <p:nvPr/>
        </p:nvSpPr>
        <p:spPr>
          <a:xfrm>
            <a:off x="777240" y="4617720"/>
            <a:ext cx="10789920" cy="54864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007F86"/>
                </a:solidFill>
                <a:latin typeface="Aptos"/>
              </a:defRPr>
            </a:pPr>
            <a:r>
              <a:t>O arquivo permanece; o processo pode iniciar e terminar.</a:t>
            </a:r>
          </a:p>
        </p:txBody>
      </p:sp>
      <p:sp>
        <p:nvSpPr>
          <p:cNvPr id="17" name="Rounded Rectangle 16"/>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container em execução terá um processo principal; quando esse processo termina, o container para.</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E4·04</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Sistema operacional: recursos para os processos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Vocabulário mínimo para entender o isolamento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Kernel</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Núcleo do sistema operacional.</a:t>
            </a:r>
          </a:p>
          <a:p>
            <a:pPr algn="l">
              <a:lnSpc>
                <a:spcPct val="105000"/>
              </a:lnSpc>
              <a:spcAft>
                <a:spcPts val="600"/>
              </a:spcAft>
              <a:defRPr sz="1800" b="0">
                <a:solidFill>
                  <a:srgbClr val="26364A"/>
                </a:solidFill>
                <a:latin typeface="Aptos"/>
              </a:defRPr>
            </a:pPr>
            <a:r>
              <a:t>Gerencia CPU, memória, arquivos e rede.</a:t>
            </a:r>
          </a:p>
          <a:p>
            <a:pPr algn="l">
              <a:lnSpc>
                <a:spcPct val="105000"/>
              </a:lnSpc>
              <a:spcAft>
                <a:spcPts val="600"/>
              </a:spcAft>
              <a:defRPr sz="1800" b="0">
                <a:solidFill>
                  <a:srgbClr val="26364A"/>
                </a:solidFill>
                <a:latin typeface="Aptos"/>
              </a:defRPr>
            </a:pPr>
            <a:r>
              <a:t>Atende solicitações dos processos.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Espaço de usuário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Aplicações, comandos e bibliotecas.</a:t>
            </a:r>
          </a:p>
          <a:p>
            <a:pPr algn="l">
              <a:lnSpc>
                <a:spcPct val="105000"/>
              </a:lnSpc>
              <a:spcAft>
                <a:spcPts val="600"/>
              </a:spcAft>
              <a:defRPr sz="1800" b="0">
                <a:solidFill>
                  <a:srgbClr val="26364A"/>
                </a:solidFill>
                <a:latin typeface="Aptos"/>
              </a:defRPr>
            </a:pPr>
            <a:r>
              <a:t>Node.js e a API executam aqui.</a:t>
            </a:r>
          </a:p>
          <a:p>
            <a:pPr algn="l">
              <a:lnSpc>
                <a:spcPct val="105000"/>
              </a:lnSpc>
              <a:spcAft>
                <a:spcPts val="600"/>
              </a:spcAft>
              <a:defRPr sz="1800" b="0">
                <a:solidFill>
                  <a:srgbClr val="26364A"/>
                </a:solidFill>
                <a:latin typeface="Aptos"/>
              </a:defRPr>
            </a:pPr>
            <a:r>
              <a:t>Usam serviços oferecidos pelo kernel.</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Exemplo concreto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API lê um arquivo e abre uma conexão.</a:t>
            </a:r>
          </a:p>
          <a:p>
            <a:pPr algn="l">
              <a:lnSpc>
                <a:spcPct val="105000"/>
              </a:lnSpc>
              <a:spcAft>
                <a:spcPts val="600"/>
              </a:spcAft>
              <a:defRPr sz="1800" b="0">
                <a:solidFill>
                  <a:srgbClr val="26364A"/>
                </a:solidFill>
                <a:latin typeface="Aptos"/>
              </a:defRPr>
            </a:pPr>
            <a:r>
              <a:t>O processo solicita essas operações.</a:t>
            </a:r>
          </a:p>
          <a:p>
            <a:pPr algn="l">
              <a:lnSpc>
                <a:spcPct val="105000"/>
              </a:lnSpc>
              <a:spcAft>
                <a:spcPts val="600"/>
              </a:spcAft>
              <a:defRPr sz="1800" b="0">
                <a:solidFill>
                  <a:srgbClr val="26364A"/>
                </a:solidFill>
                <a:latin typeface="Aptos"/>
              </a:defRPr>
            </a:pPr>
            <a:r>
              <a:t>O kernel controla os recursos envolvidos.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Compartilhar o kernel não significa compartilhar todos os arquivos, processos visíveis ou endereços de rede.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E4·05</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Runtime da aplicação: quem executa o programa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Runtime é o ambiente necessário para executar o código da aplicação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03580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79806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Aplicação</a:t>
            </a:r>
          </a:p>
        </p:txBody>
      </p:sp>
      <p:sp>
        <p:nvSpPr>
          <p:cNvPr id="7" name="Rounded Rectangle 6"/>
          <p:cNvSpPr/>
          <p:nvPr/>
        </p:nvSpPr>
        <p:spPr>
          <a:xfrm>
            <a:off x="640080" y="2386584"/>
            <a:ext cx="303580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798064"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JavaScript no servidor</a:t>
            </a:r>
          </a:p>
        </p:txBody>
      </p:sp>
      <p:sp>
        <p:nvSpPr>
          <p:cNvPr id="9" name="Rounded Rectangle 8"/>
          <p:cNvSpPr/>
          <p:nvPr/>
        </p:nvSpPr>
        <p:spPr>
          <a:xfrm>
            <a:off x="640080" y="3282696"/>
            <a:ext cx="3035808"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2798064"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Python</a:t>
            </a:r>
          </a:p>
        </p:txBody>
      </p:sp>
      <p:sp>
        <p:nvSpPr>
          <p:cNvPr id="11" name="Rounded Rectangle 10"/>
          <p:cNvSpPr/>
          <p:nvPr/>
        </p:nvSpPr>
        <p:spPr>
          <a:xfrm>
            <a:off x="640080" y="4178808"/>
            <a:ext cx="303580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2798064"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Java</a:t>
            </a:r>
          </a:p>
        </p:txBody>
      </p:sp>
      <p:sp>
        <p:nvSpPr>
          <p:cNvPr id="13" name="Rounded Rectangle 12"/>
          <p:cNvSpPr/>
          <p:nvPr/>
        </p:nvSpPr>
        <p:spPr>
          <a:xfrm>
            <a:off x="3712464" y="1764792"/>
            <a:ext cx="380390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31336" y="1874519"/>
            <a:ext cx="356615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Runtime / execução</a:t>
            </a:r>
          </a:p>
        </p:txBody>
      </p:sp>
      <p:sp>
        <p:nvSpPr>
          <p:cNvPr id="15" name="Rounded Rectangle 14"/>
          <p:cNvSpPr/>
          <p:nvPr/>
        </p:nvSpPr>
        <p:spPr>
          <a:xfrm>
            <a:off x="3712464" y="2386584"/>
            <a:ext cx="3803903"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31336" y="2436876"/>
            <a:ext cx="3566159"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Node.js</a:t>
            </a:r>
          </a:p>
        </p:txBody>
      </p:sp>
      <p:sp>
        <p:nvSpPr>
          <p:cNvPr id="17" name="Rounded Rectangle 16"/>
          <p:cNvSpPr/>
          <p:nvPr/>
        </p:nvSpPr>
        <p:spPr>
          <a:xfrm>
            <a:off x="3712464" y="3282696"/>
            <a:ext cx="3803903"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31336" y="3332988"/>
            <a:ext cx="3566159"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Interpretador Python</a:t>
            </a:r>
          </a:p>
        </p:txBody>
      </p:sp>
      <p:sp>
        <p:nvSpPr>
          <p:cNvPr id="19" name="Rounded Rectangle 18"/>
          <p:cNvSpPr/>
          <p:nvPr/>
        </p:nvSpPr>
        <p:spPr>
          <a:xfrm>
            <a:off x="3712464" y="4178808"/>
            <a:ext cx="3803903"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1336" y="4229100"/>
            <a:ext cx="3566159"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JVM</a:t>
            </a:r>
          </a:p>
        </p:txBody>
      </p:sp>
      <p:sp>
        <p:nvSpPr>
          <p:cNvPr id="21" name="Rounded Rectangle 20"/>
          <p:cNvSpPr/>
          <p:nvPr/>
        </p:nvSpPr>
        <p:spPr>
          <a:xfrm>
            <a:off x="7552944" y="1764792"/>
            <a:ext cx="4023359"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71816" y="1874519"/>
            <a:ext cx="3785615"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23" name="Rounded Rectangle 22"/>
          <p:cNvSpPr/>
          <p:nvPr/>
        </p:nvSpPr>
        <p:spPr>
          <a:xfrm>
            <a:off x="7552944" y="2386584"/>
            <a:ext cx="4023359"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71816" y="2436876"/>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node server.js</a:t>
            </a:r>
          </a:p>
        </p:txBody>
      </p:sp>
      <p:sp>
        <p:nvSpPr>
          <p:cNvPr id="25" name="Rounded Rectangle 24"/>
          <p:cNvSpPr/>
          <p:nvPr/>
        </p:nvSpPr>
        <p:spPr>
          <a:xfrm>
            <a:off x="7552944" y="3282696"/>
            <a:ext cx="4023359"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71816" y="3332988"/>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python app.py</a:t>
            </a:r>
          </a:p>
        </p:txBody>
      </p:sp>
      <p:sp>
        <p:nvSpPr>
          <p:cNvPr id="27" name="Rounded Rectangle 26"/>
          <p:cNvSpPr/>
          <p:nvPr/>
        </p:nvSpPr>
        <p:spPr>
          <a:xfrm>
            <a:off x="7552944" y="4178808"/>
            <a:ext cx="4023359"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71816" y="4229100"/>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java -jar app.jar</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No laboratório, Node.js é o runtime da API; pg é uma biblioteca; PostgreSQL é outro serviço.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Container: processo em um ambiente isolado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Definição operacional para os exemplos desta aula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 que é</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Uma instância com processos, arquivos e configuração próprios, criada a partir de uma imagem.</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 que faz</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Permite executar aplicações com dependências separadas e uma configuração de execução definida.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Como funciona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Usa recursos do kernel para separar visibilidade e controlar acesso a recursos.</a:t>
            </a:r>
          </a:p>
          <a:p>
            <a:pPr algn="l">
              <a:lnSpc>
                <a:spcPct val="105000"/>
              </a:lnSpc>
              <a:spcAft>
                <a:spcPts val="600"/>
              </a:spcAft>
              <a:defRPr sz="1800" b="0">
                <a:solidFill>
                  <a:srgbClr val="26364A"/>
                </a:solidFill>
                <a:latin typeface="Aptos"/>
              </a:defRPr>
            </a:pPr>
            <a:r>
              <a:t>O processo continua executando no sistema.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Empacotar a aplicação e executá-la em um container reduz diferenças de ambiente; não elimina todas elas.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E4·07</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Isolamento: o que fica separado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Mecanismos do Linux usados na execução de containers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Visibilidade</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Namespaces podem separar a visão de processos, rede e pontos de montagem.</a:t>
            </a:r>
          </a:p>
          <a:p>
            <a:pPr algn="l">
              <a:lnSpc>
                <a:spcPct val="105000"/>
              </a:lnSpc>
              <a:spcAft>
                <a:spcPts val="600"/>
              </a:spcAft>
              <a:defRPr sz="1800" b="0">
                <a:solidFill>
                  <a:srgbClr val="26364A"/>
                </a:solidFill>
                <a:latin typeface="Aptos"/>
              </a:defRPr>
            </a:pPr>
            <a:r>
              <a:t>A API tem sua própria perspectiva de localhost.</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Recursos</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Cgroups permitem contabilizar e limitar CPU e memória.</a:t>
            </a:r>
          </a:p>
          <a:p>
            <a:pPr algn="l">
              <a:lnSpc>
                <a:spcPct val="105000"/>
              </a:lnSpc>
              <a:spcAft>
                <a:spcPts val="600"/>
              </a:spcAft>
              <a:defRPr sz="1800" b="0">
                <a:solidFill>
                  <a:srgbClr val="26364A"/>
                </a:solidFill>
                <a:latin typeface="Aptos"/>
              </a:defRPr>
            </a:pPr>
            <a:r>
              <a:t>Um limite precisa ser configurado; não presuma um valor automático.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1896" b="1">
                <a:solidFill>
                  <a:srgbClr val="2A5C8A"/>
                </a:solidFill>
                <a:latin typeface="Aptos"/>
              </a:defRPr>
            </a:pPr>
            <a:r>
              <a:t>Arquivos e permissões</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imagem fornece arquivos-base.</a:t>
            </a:r>
          </a:p>
          <a:p>
            <a:pPr algn="l">
              <a:lnSpc>
                <a:spcPct val="105000"/>
              </a:lnSpc>
              <a:spcAft>
                <a:spcPts val="600"/>
              </a:spcAft>
              <a:defRPr sz="1800" b="0">
                <a:solidFill>
                  <a:srgbClr val="26364A"/>
                </a:solidFill>
                <a:latin typeface="Aptos"/>
              </a:defRPr>
            </a:pPr>
            <a:r>
              <a:t>A instância recebe uma camada gravável.</a:t>
            </a:r>
          </a:p>
          <a:p>
            <a:pPr algn="l">
              <a:lnSpc>
                <a:spcPct val="105000"/>
              </a:lnSpc>
              <a:spcAft>
                <a:spcPts val="600"/>
              </a:spcAft>
              <a:defRPr sz="1800" b="0">
                <a:solidFill>
                  <a:srgbClr val="26364A"/>
                </a:solidFill>
                <a:latin typeface="Aptos"/>
              </a:defRPr>
            </a:pPr>
            <a:r>
              <a:t>Usuário e permissões também importam.</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Isolamento, limites e persistência são escolhas configuradas; o nome “container” não define sozinho essas políticas.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E4·08</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Imagem e container são objetos diferentes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Artefato de origem versus instância com estado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2468880"/>
            <a:ext cx="2834640" cy="20574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587752"/>
            <a:ext cx="25237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IMAGEM</a:t>
            </a:r>
          </a:p>
        </p:txBody>
      </p:sp>
      <p:sp>
        <p:nvSpPr>
          <p:cNvPr id="7" name="TextBox 6"/>
          <p:cNvSpPr txBox="1"/>
          <p:nvPr/>
        </p:nvSpPr>
        <p:spPr>
          <a:xfrm>
            <a:off x="841248" y="3026664"/>
            <a:ext cx="2523744" cy="141732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Node + bibliotecas</a:t>
            </a:r>
          </a:p>
          <a:p>
            <a:pPr algn="l">
              <a:lnSpc>
                <a:spcPct val="100000"/>
              </a:lnSpc>
              <a:spcAft>
                <a:spcPts val="300"/>
              </a:spcAft>
              <a:defRPr sz="1500" b="0">
                <a:solidFill>
                  <a:srgbClr val="26364A"/>
                </a:solidFill>
                <a:latin typeface="Aptos"/>
              </a:defRPr>
            </a:pPr>
            <a:r>
              <a:t>Código + comando padrão</a:t>
            </a:r>
          </a:p>
        </p:txBody>
      </p:sp>
      <p:sp>
        <p:nvSpPr>
          <p:cNvPr id="8" name="Right Arrow 7"/>
          <p:cNvSpPr/>
          <p:nvPr/>
        </p:nvSpPr>
        <p:spPr>
          <a:xfrm>
            <a:off x="3703320" y="3291840"/>
            <a:ext cx="59436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83080"/>
            <a:ext cx="6949440" cy="1463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27448" y="1901952"/>
            <a:ext cx="66385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CONTAINER A</a:t>
            </a:r>
          </a:p>
        </p:txBody>
      </p:sp>
      <p:sp>
        <p:nvSpPr>
          <p:cNvPr id="11" name="TextBox 10"/>
          <p:cNvSpPr txBox="1"/>
          <p:nvPr/>
        </p:nvSpPr>
        <p:spPr>
          <a:xfrm>
            <a:off x="4727448" y="2340864"/>
            <a:ext cx="6638544" cy="82296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Mesma origem • configuração A • camada gravável A</a:t>
            </a:r>
          </a:p>
        </p:txBody>
      </p:sp>
      <p:sp>
        <p:nvSpPr>
          <p:cNvPr id="12" name="Rounded Rectangle 11"/>
          <p:cNvSpPr/>
          <p:nvPr/>
        </p:nvSpPr>
        <p:spPr>
          <a:xfrm>
            <a:off x="4572000" y="3520440"/>
            <a:ext cx="6949440" cy="1463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27448" y="3639312"/>
            <a:ext cx="66385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CONTAINER B</a:t>
            </a:r>
          </a:p>
        </p:txBody>
      </p:sp>
      <p:sp>
        <p:nvSpPr>
          <p:cNvPr id="14" name="TextBox 13"/>
          <p:cNvSpPr txBox="1"/>
          <p:nvPr/>
        </p:nvSpPr>
        <p:spPr>
          <a:xfrm>
            <a:off x="4727448" y="4078224"/>
            <a:ext cx="6638544" cy="82296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Mesma origem • configuração B • camada gravável B</a:t>
            </a:r>
          </a:p>
        </p:txBody>
      </p:sp>
      <p:sp>
        <p:nvSpPr>
          <p:cNvPr id="15" name="Rounded Rectangle 14"/>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novo container recebe a imagem e a configuração escolhidas; não herda automaticamente edições de outra instância.</a:t>
            </a:r>
          </a:p>
        </p:txBody>
      </p:sp>
      <p:sp>
        <p:nvSpPr>
          <p:cNvPr id="17" name="TextBox 1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8" name="TextBox 1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E4·09</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69" b="1">
                <a:solidFill>
                  <a:srgbClr val="1B2A4A"/>
                </a:solidFill>
                <a:latin typeface="Aptos"/>
              </a:defRPr>
            </a:pPr>
            <a:r>
              <a:t>Runtime de containers: quem prepara o isolamento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palavra runtime também aparece em outra camada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828800"/>
            <a:ext cx="5074920" cy="32004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947672"/>
            <a:ext cx="47640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RUNTIME DE CONTAINERS</a:t>
            </a:r>
          </a:p>
        </p:txBody>
      </p:sp>
      <p:sp>
        <p:nvSpPr>
          <p:cNvPr id="7" name="TextBox 6"/>
          <p:cNvSpPr txBox="1"/>
          <p:nvPr/>
        </p:nvSpPr>
        <p:spPr>
          <a:xfrm>
            <a:off x="841248" y="2487168"/>
            <a:ext cx="4764024" cy="244144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containerd gerencia o ciclo de vida.</a:t>
            </a:r>
          </a:p>
          <a:p>
            <a:pPr algn="l">
              <a:lnSpc>
                <a:spcPct val="105000"/>
              </a:lnSpc>
              <a:spcAft>
                <a:spcPts val="600"/>
              </a:spcAft>
              <a:defRPr sz="1800" b="0">
                <a:solidFill>
                  <a:srgbClr val="26364A"/>
                </a:solidFill>
                <a:latin typeface="Aptos"/>
              </a:defRPr>
            </a:pPr>
            <a:r>
              <a:t>runc prepara e inicia o processo isolado.</a:t>
            </a:r>
          </a:p>
          <a:p>
            <a:pPr algn="l">
              <a:lnSpc>
                <a:spcPct val="105000"/>
              </a:lnSpc>
              <a:spcAft>
                <a:spcPts val="600"/>
              </a:spcAft>
              <a:defRPr sz="1800" b="0">
                <a:solidFill>
                  <a:srgbClr val="26364A"/>
                </a:solidFill>
                <a:latin typeface="Aptos"/>
              </a:defRPr>
            </a:pPr>
            <a:r>
              <a:t>Atuam na execução do container.</a:t>
            </a:r>
          </a:p>
        </p:txBody>
      </p:sp>
      <p:sp>
        <p:nvSpPr>
          <p:cNvPr id="8" name="Rounded Rectangle 7"/>
          <p:cNvSpPr/>
          <p:nvPr/>
        </p:nvSpPr>
        <p:spPr>
          <a:xfrm>
            <a:off x="6080760" y="1828800"/>
            <a:ext cx="5440680" cy="32004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36208" y="1947672"/>
            <a:ext cx="51297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RUNTIME DA APLICAÇÃO</a:t>
            </a:r>
          </a:p>
        </p:txBody>
      </p:sp>
      <p:sp>
        <p:nvSpPr>
          <p:cNvPr id="10" name="TextBox 9"/>
          <p:cNvSpPr txBox="1"/>
          <p:nvPr/>
        </p:nvSpPr>
        <p:spPr>
          <a:xfrm>
            <a:off x="6236208" y="2487168"/>
            <a:ext cx="5129784" cy="244144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Node.js executa server.js.</a:t>
            </a:r>
          </a:p>
          <a:p>
            <a:pPr algn="l">
              <a:lnSpc>
                <a:spcPct val="105000"/>
              </a:lnSpc>
              <a:spcAft>
                <a:spcPts val="600"/>
              </a:spcAft>
              <a:defRPr sz="1800" b="0">
                <a:solidFill>
                  <a:srgbClr val="26364A"/>
                </a:solidFill>
                <a:latin typeface="Aptos"/>
              </a:defRPr>
            </a:pPr>
            <a:r>
              <a:t>A API usa Node dentro da instância.</a:t>
            </a:r>
          </a:p>
          <a:p>
            <a:pPr algn="l">
              <a:lnSpc>
                <a:spcPct val="105000"/>
              </a:lnSpc>
              <a:spcAft>
                <a:spcPts val="600"/>
              </a:spcAft>
              <a:defRPr sz="1800" b="0">
                <a:solidFill>
                  <a:srgbClr val="26364A"/>
                </a:solidFill>
                <a:latin typeface="Aptos"/>
              </a:defRPr>
            </a:pPr>
            <a:r>
              <a:t>Atua na execução do código.</a:t>
            </a:r>
          </a:p>
        </p:txBody>
      </p:sp>
      <p:sp>
        <p:nvSpPr>
          <p:cNvPr id="11" name="Rounded Rectangle 1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Node.js e um runtime de containers não se substituem: atuam em camadas diferentes.</a:t>
            </a:r>
          </a:p>
        </p:txBody>
      </p:sp>
      <p:sp>
        <p:nvSpPr>
          <p:cNvPr id="13" name="TextBox 1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4" name="TextBox 1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67" b="1">
                <a:solidFill>
                  <a:srgbClr val="1B2A4A"/>
                </a:solidFill>
                <a:latin typeface="Aptos"/>
              </a:defRPr>
            </a:pPr>
            <a:r>
              <a:t>Docker: ferramentas para trabalhar com containers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Construir imagens, distribuir artefatos e gerenciar a execução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Docker CLI</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comando docker é o cliente.</a:t>
            </a:r>
          </a:p>
          <a:p>
            <a:pPr algn="l">
              <a:lnSpc>
                <a:spcPct val="105000"/>
              </a:lnSpc>
              <a:spcAft>
                <a:spcPts val="600"/>
              </a:spcAft>
              <a:defRPr sz="1800" b="0">
                <a:solidFill>
                  <a:srgbClr val="26364A"/>
                </a:solidFill>
                <a:latin typeface="Aptos"/>
              </a:defRPr>
            </a:pPr>
            <a:r>
              <a:t>Recebe sua solicitação no terminal.</a:t>
            </a:r>
          </a:p>
          <a:p>
            <a:pPr algn="l">
              <a:lnSpc>
                <a:spcPct val="105000"/>
              </a:lnSpc>
              <a:spcAft>
                <a:spcPts val="600"/>
              </a:spcAft>
              <a:defRPr sz="1800" b="0">
                <a:solidFill>
                  <a:srgbClr val="26364A"/>
                </a:solidFill>
                <a:latin typeface="Aptos"/>
              </a:defRPr>
            </a:pPr>
            <a:r>
              <a:t>Envia operações à API do Engine.</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Docker Engine</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Serviço que gerencia imagens, containers, redes e volumes.</a:t>
            </a:r>
          </a:p>
          <a:p>
            <a:pPr algn="l">
              <a:lnSpc>
                <a:spcPct val="105000"/>
              </a:lnSpc>
              <a:spcAft>
                <a:spcPts val="600"/>
              </a:spcAft>
              <a:defRPr sz="1800" b="0">
                <a:solidFill>
                  <a:srgbClr val="26364A"/>
                </a:solidFill>
                <a:latin typeface="Aptos"/>
              </a:defRPr>
            </a:pPr>
            <a:r>
              <a:t>No Linux, o daemon é o dockerd.</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Ecossistema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BuildKit participa da construção.</a:t>
            </a:r>
          </a:p>
          <a:p>
            <a:pPr algn="l">
              <a:lnSpc>
                <a:spcPct val="105000"/>
              </a:lnSpc>
              <a:spcAft>
                <a:spcPts val="600"/>
              </a:spcAft>
              <a:defRPr sz="1800" b="0">
                <a:solidFill>
                  <a:srgbClr val="26364A"/>
                </a:solidFill>
                <a:latin typeface="Aptos"/>
              </a:defRPr>
            </a:pPr>
            <a:r>
              <a:t>Registries armazenam imagens.</a:t>
            </a:r>
          </a:p>
          <a:p>
            <a:pPr algn="l">
              <a:lnSpc>
                <a:spcPct val="105000"/>
              </a:lnSpc>
              <a:spcAft>
                <a:spcPts val="600"/>
              </a:spcAft>
              <a:defRPr sz="1800" b="0">
                <a:solidFill>
                  <a:srgbClr val="26364A"/>
                </a:solidFill>
                <a:latin typeface="Aptos"/>
              </a:defRPr>
            </a:pPr>
            <a:r>
              <a:t>Docker Desktop facilita o ambiente local.</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Docker é a ferramenta de trabalho; imagem é o artefato; container é a instância executável.</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E4·11</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O caminho de um docker run</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Visão simplificada do pedido até a execução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20240"/>
            <a:ext cx="246888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039112"/>
            <a:ext cx="21579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CLI</a:t>
            </a:r>
          </a:p>
        </p:txBody>
      </p:sp>
      <p:sp>
        <p:nvSpPr>
          <p:cNvPr id="7" name="TextBox 6"/>
          <p:cNvSpPr txBox="1"/>
          <p:nvPr/>
        </p:nvSpPr>
        <p:spPr>
          <a:xfrm>
            <a:off x="795528" y="2578608"/>
            <a:ext cx="215798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 run</a:t>
            </a:r>
          </a:p>
          <a:p>
            <a:pPr algn="l">
              <a:lnSpc>
                <a:spcPct val="105000"/>
              </a:lnSpc>
              <a:spcAft>
                <a:spcPts val="600"/>
              </a:spcAft>
              <a:defRPr sz="1800" b="0">
                <a:solidFill>
                  <a:srgbClr val="26364A"/>
                </a:solidFill>
                <a:latin typeface="Aptos"/>
              </a:defRPr>
            </a:pPr>
            <a:r>
              <a:t>Pedido do usuário</a:t>
            </a:r>
          </a:p>
        </p:txBody>
      </p:sp>
      <p:sp>
        <p:nvSpPr>
          <p:cNvPr id="8" name="Right Arrow 7"/>
          <p:cNvSpPr/>
          <p:nvPr/>
        </p:nvSpPr>
        <p:spPr>
          <a:xfrm>
            <a:off x="3163824" y="301752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4720" y="1920240"/>
            <a:ext cx="246888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0168" y="2039112"/>
            <a:ext cx="21579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ENGINE</a:t>
            </a:r>
          </a:p>
        </p:txBody>
      </p:sp>
      <p:sp>
        <p:nvSpPr>
          <p:cNvPr id="11" name="TextBox 10"/>
          <p:cNvSpPr txBox="1"/>
          <p:nvPr/>
        </p:nvSpPr>
        <p:spPr>
          <a:xfrm>
            <a:off x="3630168" y="2578608"/>
            <a:ext cx="215798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Gerencia objetos</a:t>
            </a:r>
          </a:p>
          <a:p>
            <a:pPr algn="l">
              <a:lnSpc>
                <a:spcPct val="105000"/>
              </a:lnSpc>
              <a:spcAft>
                <a:spcPts val="600"/>
              </a:spcAft>
              <a:defRPr sz="1800" b="0">
                <a:solidFill>
                  <a:srgbClr val="26364A"/>
                </a:solidFill>
                <a:latin typeface="Aptos"/>
              </a:defRPr>
            </a:pPr>
            <a:r>
              <a:t>e coordena a execução</a:t>
            </a:r>
          </a:p>
        </p:txBody>
      </p:sp>
      <p:sp>
        <p:nvSpPr>
          <p:cNvPr id="12" name="Right Arrow 11"/>
          <p:cNvSpPr/>
          <p:nvPr/>
        </p:nvSpPr>
        <p:spPr>
          <a:xfrm>
            <a:off x="5998464" y="301752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9360" y="1920240"/>
            <a:ext cx="246888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2039112"/>
            <a:ext cx="21579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RUNTIME</a:t>
            </a:r>
          </a:p>
        </p:txBody>
      </p:sp>
      <p:sp>
        <p:nvSpPr>
          <p:cNvPr id="15" name="TextBox 14"/>
          <p:cNvSpPr txBox="1"/>
          <p:nvPr/>
        </p:nvSpPr>
        <p:spPr>
          <a:xfrm>
            <a:off x="6464808" y="2578608"/>
            <a:ext cx="215798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containerd / runc</a:t>
            </a:r>
          </a:p>
          <a:p>
            <a:pPr algn="l">
              <a:lnSpc>
                <a:spcPct val="105000"/>
              </a:lnSpc>
              <a:spcAft>
                <a:spcPts val="600"/>
              </a:spcAft>
              <a:defRPr sz="1800" b="0">
                <a:solidFill>
                  <a:srgbClr val="26364A"/>
                </a:solidFill>
                <a:latin typeface="Aptos"/>
              </a:defRPr>
            </a:pPr>
            <a:r>
              <a:t>Prepara e inicia</a:t>
            </a:r>
          </a:p>
        </p:txBody>
      </p:sp>
      <p:sp>
        <p:nvSpPr>
          <p:cNvPr id="16" name="Right Arrow 15"/>
          <p:cNvSpPr/>
          <p:nvPr/>
        </p:nvSpPr>
        <p:spPr>
          <a:xfrm>
            <a:off x="8833104" y="301752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0" y="1920240"/>
            <a:ext cx="246888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39112"/>
            <a:ext cx="21579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PROCESSO</a:t>
            </a:r>
          </a:p>
        </p:txBody>
      </p:sp>
      <p:sp>
        <p:nvSpPr>
          <p:cNvPr id="19" name="TextBox 18"/>
          <p:cNvSpPr txBox="1"/>
          <p:nvPr/>
        </p:nvSpPr>
        <p:spPr>
          <a:xfrm>
            <a:off x="9299448" y="2578608"/>
            <a:ext cx="215798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Node + API</a:t>
            </a:r>
          </a:p>
          <a:p>
            <a:pPr algn="l">
              <a:lnSpc>
                <a:spcPct val="105000"/>
              </a:lnSpc>
              <a:spcAft>
                <a:spcPts val="600"/>
              </a:spcAft>
              <a:defRPr sz="1800" b="0">
                <a:solidFill>
                  <a:srgbClr val="26364A"/>
                </a:solidFill>
                <a:latin typeface="Aptos"/>
              </a:defRPr>
            </a:pPr>
            <a:r>
              <a:t>Atende requisições</a:t>
            </a:r>
          </a:p>
        </p:txBody>
      </p:sp>
      <p:sp>
        <p:nvSpPr>
          <p:cNvPr id="20" name="Rounded Rectangle 19"/>
          <p:cNvSpPr/>
          <p:nvPr/>
        </p:nvSpPr>
        <p:spPr>
          <a:xfrm>
            <a:off x="3474720" y="4617720"/>
            <a:ext cx="5303520" cy="566928"/>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2736" y="4718304"/>
            <a:ext cx="5029200" cy="365760"/>
          </a:xfrm>
          <a:prstGeom prst="rect">
            <a:avLst/>
          </a:prstGeom>
          <a:noFill/>
        </p:spPr>
        <p:txBody>
          <a:bodyPr wrap="square" anchor="t" anchorCtr="0" lIns="27432" rIns="27432" tIns="18288" bIns="0">
            <a:noAutofit/>
          </a:bodyPr>
          <a:lstStyle/>
          <a:p>
            <a:pPr algn="l">
              <a:lnSpc>
                <a:spcPct val="105000"/>
              </a:lnSpc>
              <a:spcAft>
                <a:spcPts val="500"/>
              </a:spcAft>
              <a:defRPr sz="1600" b="1">
                <a:solidFill>
                  <a:srgbClr val="007F86"/>
                </a:solidFill>
                <a:latin typeface="Aptos"/>
              </a:defRPr>
            </a:pPr>
            <a:r>
              <a:t>Registry → Engine: imagem, se necessária</a:t>
            </a:r>
          </a:p>
        </p:txBody>
      </p:sp>
      <p:sp>
        <p:nvSpPr>
          <p:cNvPr id="22" name="Rounded Rectangle 21"/>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terminal controla a execução; o registry distribui a imagem; os processos executam no host do Engine.</a:t>
            </a:r>
          </a:p>
        </p:txBody>
      </p:sp>
      <p:sp>
        <p:nvSpPr>
          <p:cNvPr id="24" name="TextBox 23"/>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25" name="TextBox 24"/>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E4·12</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Engine e Desktop: onde o container roda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Nesta aula trabalhamos com containers Linux</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Linux com Engine</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Engine pode executar sobre o Linux do host.</a:t>
            </a:r>
          </a:p>
          <a:p>
            <a:pPr algn="l">
              <a:lnSpc>
                <a:spcPct val="105000"/>
              </a:lnSpc>
              <a:spcAft>
                <a:spcPts val="600"/>
              </a:spcAft>
              <a:defRPr sz="1800" b="0">
                <a:solidFill>
                  <a:srgbClr val="26364A"/>
                </a:solidFill>
                <a:latin typeface="Aptos"/>
              </a:defRPr>
            </a:pPr>
            <a:r>
              <a:t>Os containers compartilham esse kernel.</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Docker Desktop</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Oferece uma instalação integrada.</a:t>
            </a:r>
          </a:p>
          <a:p>
            <a:pPr algn="l">
              <a:lnSpc>
                <a:spcPct val="105000"/>
              </a:lnSpc>
              <a:spcAft>
                <a:spcPts val="600"/>
              </a:spcAft>
              <a:defRPr sz="1800" b="0">
                <a:solidFill>
                  <a:srgbClr val="26364A"/>
                </a:solidFill>
                <a:latin typeface="Aptos"/>
              </a:defRPr>
            </a:pPr>
            <a:r>
              <a:t>Containers Linux usam um ambiente Linux virtualizado.</a:t>
            </a:r>
          </a:p>
          <a:p>
            <a:pPr algn="l">
              <a:lnSpc>
                <a:spcPct val="105000"/>
              </a:lnSpc>
              <a:spcAft>
                <a:spcPts val="600"/>
              </a:spcAft>
              <a:defRPr sz="1800" b="0">
                <a:solidFill>
                  <a:srgbClr val="26364A"/>
                </a:solidFill>
                <a:latin typeface="Aptos"/>
              </a:defRPr>
            </a:pPr>
            <a:r>
              <a:t>No Windows, pode usar WSL 2.</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Consequência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há um kernel exclusivo em cada imagem.</a:t>
            </a:r>
          </a:p>
          <a:p>
            <a:pPr algn="l">
              <a:lnSpc>
                <a:spcPct val="105000"/>
              </a:lnSpc>
              <a:spcAft>
                <a:spcPts val="600"/>
              </a:spcAft>
              <a:defRPr sz="1800" b="0">
                <a:solidFill>
                  <a:srgbClr val="26364A"/>
                </a:solidFill>
                <a:latin typeface="Aptos"/>
              </a:defRPr>
            </a:pPr>
            <a:r>
              <a:t>Arquitetura de CPU e compatibilidade da imagem ainda precisam ser consideradas.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VMs e containers podem coexistir: uma VM Linux pode hospedar vários containers.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E4·13</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57" b="1">
                <a:solidFill>
                  <a:srgbClr val="1B2A4A"/>
                </a:solidFill>
                <a:latin typeface="Aptos"/>
              </a:defRPr>
            </a:pPr>
            <a:r>
              <a:t>Docker Compose: descrever a aplicação integrada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Um arquivo declara serviços e os recursos usados em conjunto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28800"/>
            <a:ext cx="3383280" cy="2011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47672"/>
            <a:ext cx="30723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compose.yaml</a:t>
            </a:r>
          </a:p>
        </p:txBody>
      </p:sp>
      <p:sp>
        <p:nvSpPr>
          <p:cNvPr id="7" name="TextBox 6"/>
          <p:cNvSpPr txBox="1"/>
          <p:nvPr/>
        </p:nvSpPr>
        <p:spPr>
          <a:xfrm>
            <a:off x="795528" y="2386584"/>
            <a:ext cx="3072384" cy="137160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Declara serviços,</a:t>
            </a:r>
          </a:p>
          <a:p>
            <a:pPr algn="l">
              <a:lnSpc>
                <a:spcPct val="100000"/>
              </a:lnSpc>
              <a:spcAft>
                <a:spcPts val="300"/>
              </a:spcAft>
              <a:defRPr sz="1500" b="0">
                <a:solidFill>
                  <a:srgbClr val="26364A"/>
                </a:solidFill>
                <a:latin typeface="Aptos"/>
              </a:defRPr>
            </a:pPr>
            <a:r>
              <a:t>redes e volumes.</a:t>
            </a:r>
          </a:p>
        </p:txBody>
      </p:sp>
      <p:sp>
        <p:nvSpPr>
          <p:cNvPr id="8" name="Right Arrow 7"/>
          <p:cNvSpPr/>
          <p:nvPr/>
        </p:nvSpPr>
        <p:spPr>
          <a:xfrm>
            <a:off x="4078224" y="265176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828800"/>
            <a:ext cx="3383280" cy="2011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947672"/>
            <a:ext cx="30723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COMPOSE</a:t>
            </a:r>
          </a:p>
        </p:txBody>
      </p:sp>
      <p:sp>
        <p:nvSpPr>
          <p:cNvPr id="11" name="TextBox 10"/>
          <p:cNvSpPr txBox="1"/>
          <p:nvPr/>
        </p:nvSpPr>
        <p:spPr>
          <a:xfrm>
            <a:off x="4544568" y="2386584"/>
            <a:ext cx="3072384" cy="137160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Lê a configuração</a:t>
            </a:r>
          </a:p>
          <a:p>
            <a:pPr algn="l">
              <a:lnSpc>
                <a:spcPct val="100000"/>
              </a:lnSpc>
              <a:spcAft>
                <a:spcPts val="300"/>
              </a:spcAft>
              <a:defRPr sz="1500" b="0">
                <a:solidFill>
                  <a:srgbClr val="26364A"/>
                </a:solidFill>
                <a:latin typeface="Aptos"/>
              </a:defRPr>
            </a:pPr>
            <a:r>
              <a:t>e solicita operações.</a:t>
            </a:r>
          </a:p>
        </p:txBody>
      </p:sp>
      <p:sp>
        <p:nvSpPr>
          <p:cNvPr id="12" name="Right Arrow 11"/>
          <p:cNvSpPr/>
          <p:nvPr/>
        </p:nvSpPr>
        <p:spPr>
          <a:xfrm>
            <a:off x="7827263" y="265176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59" y="1828800"/>
            <a:ext cx="3383280" cy="2011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3607" y="1947672"/>
            <a:ext cx="30723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ENGINE</a:t>
            </a:r>
          </a:p>
        </p:txBody>
      </p:sp>
      <p:sp>
        <p:nvSpPr>
          <p:cNvPr id="15" name="TextBox 14"/>
          <p:cNvSpPr txBox="1"/>
          <p:nvPr/>
        </p:nvSpPr>
        <p:spPr>
          <a:xfrm>
            <a:off x="8293607" y="2386584"/>
            <a:ext cx="3072384" cy="137160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Cria e gerencia</a:t>
            </a:r>
          </a:p>
          <a:p>
            <a:pPr algn="l">
              <a:lnSpc>
                <a:spcPct val="100000"/>
              </a:lnSpc>
              <a:spcAft>
                <a:spcPts val="300"/>
              </a:spcAft>
              <a:defRPr sz="1500" b="0">
                <a:solidFill>
                  <a:srgbClr val="26364A"/>
                </a:solidFill>
                <a:latin typeface="Aptos"/>
              </a:defRPr>
            </a:pPr>
            <a:r>
              <a:t>os recursos.</a:t>
            </a:r>
          </a:p>
        </p:txBody>
      </p:sp>
      <p:sp>
        <p:nvSpPr>
          <p:cNvPr id="16" name="Rounded Rectangle 15"/>
          <p:cNvSpPr/>
          <p:nvPr/>
        </p:nvSpPr>
        <p:spPr>
          <a:xfrm>
            <a:off x="914400" y="4343400"/>
            <a:ext cx="10332720" cy="7315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517136"/>
            <a:ext cx="9966960" cy="457200"/>
          </a:xfrm>
          <a:prstGeom prst="rect">
            <a:avLst/>
          </a:prstGeom>
          <a:noFill/>
        </p:spPr>
        <p:txBody>
          <a:bodyPr wrap="square" anchor="t" anchorCtr="0" lIns="27432" rIns="27432" tIns="18288" bIns="0">
            <a:noAutofit/>
          </a:bodyPr>
          <a:lstStyle/>
          <a:p>
            <a:pPr algn="l">
              <a:lnSpc>
                <a:spcPct val="105000"/>
              </a:lnSpc>
              <a:spcAft>
                <a:spcPts val="500"/>
              </a:spcAft>
              <a:defRPr sz="2100" b="1">
                <a:solidFill>
                  <a:srgbClr val="FFFFFF"/>
                </a:solidFill>
                <a:latin typeface="Aptos"/>
              </a:defRPr>
            </a:pPr>
            <a:r>
              <a:t>Resultado do exemplo: app + db + rede compartilhada + volume dados</a:t>
            </a:r>
          </a:p>
        </p:txBody>
      </p:sp>
      <p:sp>
        <p:nvSpPr>
          <p:cNvPr id="18" name="Rounded Rectangle 17"/>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Dockerfile descreve como construir uma imagem; compose.yaml descreve como executar e integrar os serviços.</a:t>
            </a:r>
          </a:p>
        </p:txBody>
      </p:sp>
      <p:sp>
        <p:nvSpPr>
          <p:cNvPr id="20" name="TextBox 19"/>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21" name="TextBox 20"/>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E4·14</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VM e container: compare a estrutura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Agora que os componentes estão definidos, observe onde cada kernel fica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09928"/>
            <a:ext cx="5212080" cy="36576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2A5C8A"/>
                </a:solidFill>
                <a:latin typeface="Aptos"/>
              </a:defRPr>
            </a:pPr>
            <a:r>
              <a:t>MÁQUINAS VIRTUAIS</a:t>
            </a:r>
          </a:p>
        </p:txBody>
      </p:sp>
      <p:sp>
        <p:nvSpPr>
          <p:cNvPr id="6" name="Rounded Rectangle 5"/>
          <p:cNvSpPr/>
          <p:nvPr/>
        </p:nvSpPr>
        <p:spPr>
          <a:xfrm>
            <a:off x="640080" y="2240280"/>
            <a:ext cx="2468880" cy="15087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395728"/>
            <a:ext cx="2194560" cy="1188720"/>
          </a:xfrm>
          <a:prstGeom prst="rect">
            <a:avLst/>
          </a:prstGeom>
          <a:noFill/>
        </p:spPr>
        <p:txBody>
          <a:bodyPr wrap="square" anchor="t" anchorCtr="0" lIns="27432" rIns="27432" tIns="18288" bIns="0">
            <a:noAutofit/>
          </a:bodyPr>
          <a:lstStyle/>
          <a:p>
            <a:pPr algn="l">
              <a:lnSpc>
                <a:spcPct val="105000"/>
              </a:lnSpc>
              <a:spcAft>
                <a:spcPts val="500"/>
              </a:spcAft>
              <a:defRPr sz="1900" b="0">
                <a:solidFill>
                  <a:srgbClr val="26364A"/>
                </a:solidFill>
                <a:latin typeface="Aptos"/>
              </a:defRPr>
            </a:pPr>
            <a:r>
              <a:t>Aplicação + libs</a:t>
            </a:r>
          </a:p>
          <a:p>
            <a:pPr algn="l">
              <a:lnSpc>
                <a:spcPct val="105000"/>
              </a:lnSpc>
              <a:spcAft>
                <a:spcPts val="500"/>
              </a:spcAft>
              <a:defRPr sz="1900" b="0">
                <a:solidFill>
                  <a:srgbClr val="26364A"/>
                </a:solidFill>
                <a:latin typeface="Aptos"/>
              </a:defRPr>
            </a:pPr>
            <a:r>
              <a:t>SO + kernel convidado</a:t>
            </a:r>
          </a:p>
        </p:txBody>
      </p:sp>
      <p:sp>
        <p:nvSpPr>
          <p:cNvPr id="8" name="Rounded Rectangle 7"/>
          <p:cNvSpPr/>
          <p:nvPr/>
        </p:nvSpPr>
        <p:spPr>
          <a:xfrm>
            <a:off x="3291839" y="2240280"/>
            <a:ext cx="2468880" cy="15087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19856" y="2395728"/>
            <a:ext cx="2194560" cy="1188720"/>
          </a:xfrm>
          <a:prstGeom prst="rect">
            <a:avLst/>
          </a:prstGeom>
          <a:noFill/>
        </p:spPr>
        <p:txBody>
          <a:bodyPr wrap="square" anchor="t" anchorCtr="0" lIns="27432" rIns="27432" tIns="18288" bIns="0">
            <a:noAutofit/>
          </a:bodyPr>
          <a:lstStyle/>
          <a:p>
            <a:pPr algn="l">
              <a:lnSpc>
                <a:spcPct val="105000"/>
              </a:lnSpc>
              <a:spcAft>
                <a:spcPts val="500"/>
              </a:spcAft>
              <a:defRPr sz="1900" b="0">
                <a:solidFill>
                  <a:srgbClr val="26364A"/>
                </a:solidFill>
                <a:latin typeface="Aptos"/>
              </a:defRPr>
            </a:pPr>
            <a:r>
              <a:t>Aplicação + libs</a:t>
            </a:r>
          </a:p>
          <a:p>
            <a:pPr algn="l">
              <a:lnSpc>
                <a:spcPct val="105000"/>
              </a:lnSpc>
              <a:spcAft>
                <a:spcPts val="500"/>
              </a:spcAft>
              <a:defRPr sz="1900" b="0">
                <a:solidFill>
                  <a:srgbClr val="26364A"/>
                </a:solidFill>
                <a:latin typeface="Aptos"/>
              </a:defRPr>
            </a:pPr>
            <a:r>
              <a:t>SO + kernel convidado</a:t>
            </a:r>
          </a:p>
        </p:txBody>
      </p:sp>
      <p:sp>
        <p:nvSpPr>
          <p:cNvPr id="10" name="Rounded Rectangle 9"/>
          <p:cNvSpPr/>
          <p:nvPr/>
        </p:nvSpPr>
        <p:spPr>
          <a:xfrm>
            <a:off x="640080" y="3950208"/>
            <a:ext cx="5120640" cy="576072"/>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4050792"/>
            <a:ext cx="4754880" cy="411480"/>
          </a:xfrm>
          <a:prstGeom prst="rect">
            <a:avLst/>
          </a:prstGeom>
          <a:noFill/>
        </p:spPr>
        <p:txBody>
          <a:bodyPr wrap="square" anchor="t" anchorCtr="0" lIns="27432" rIns="27432" tIns="18288" bIns="0">
            <a:noAutofit/>
          </a:bodyPr>
          <a:lstStyle/>
          <a:p>
            <a:pPr algn="l">
              <a:lnSpc>
                <a:spcPct val="105000"/>
              </a:lnSpc>
              <a:spcAft>
                <a:spcPts val="500"/>
              </a:spcAft>
              <a:defRPr sz="2100" b="0">
                <a:solidFill>
                  <a:srgbClr val="FFFFFF"/>
                </a:solidFill>
                <a:latin typeface="Aptos"/>
              </a:defRPr>
            </a:pPr>
            <a:r>
              <a:t>Hypervisor</a:t>
            </a:r>
          </a:p>
        </p:txBody>
      </p:sp>
      <p:sp>
        <p:nvSpPr>
          <p:cNvPr id="12" name="Rounded Rectangle 11"/>
          <p:cNvSpPr/>
          <p:nvPr/>
        </p:nvSpPr>
        <p:spPr>
          <a:xfrm>
            <a:off x="640080" y="4681728"/>
            <a:ext cx="5120640" cy="576072"/>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782312"/>
            <a:ext cx="4754880" cy="411480"/>
          </a:xfrm>
          <a:prstGeom prst="rect">
            <a:avLst/>
          </a:prstGeom>
          <a:noFill/>
        </p:spPr>
        <p:txBody>
          <a:bodyPr wrap="square" anchor="t" anchorCtr="0" lIns="27432" rIns="27432" tIns="18288" bIns="0">
            <a:noAutofit/>
          </a:bodyPr>
          <a:lstStyle/>
          <a:p>
            <a:pPr algn="l">
              <a:lnSpc>
                <a:spcPct val="105000"/>
              </a:lnSpc>
              <a:spcAft>
                <a:spcPts val="500"/>
              </a:spcAft>
              <a:defRPr sz="2100" b="0">
                <a:solidFill>
                  <a:srgbClr val="FFFFFF"/>
                </a:solidFill>
                <a:latin typeface="Aptos"/>
              </a:defRPr>
            </a:pPr>
            <a:r>
              <a:t>Host / hardware</a:t>
            </a:r>
          </a:p>
        </p:txBody>
      </p:sp>
      <p:sp>
        <p:nvSpPr>
          <p:cNvPr id="14" name="TextBox 13"/>
          <p:cNvSpPr txBox="1"/>
          <p:nvPr/>
        </p:nvSpPr>
        <p:spPr>
          <a:xfrm>
            <a:off x="6309360" y="1709928"/>
            <a:ext cx="5212080" cy="36576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2A5C8A"/>
                </a:solidFill>
                <a:latin typeface="Aptos"/>
              </a:defRPr>
            </a:pPr>
            <a:r>
              <a:t>CONTAINERS LINUX</a:t>
            </a:r>
          </a:p>
        </p:txBody>
      </p:sp>
      <p:sp>
        <p:nvSpPr>
          <p:cNvPr id="15" name="Rounded Rectangle 14"/>
          <p:cNvSpPr/>
          <p:nvPr/>
        </p:nvSpPr>
        <p:spPr>
          <a:xfrm>
            <a:off x="6309360" y="2240280"/>
            <a:ext cx="2468880" cy="15087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2395728"/>
            <a:ext cx="2194560" cy="1188720"/>
          </a:xfrm>
          <a:prstGeom prst="rect">
            <a:avLst/>
          </a:prstGeom>
          <a:noFill/>
        </p:spPr>
        <p:txBody>
          <a:bodyPr wrap="square" anchor="t" anchorCtr="0" lIns="27432" rIns="27432" tIns="18288" bIns="0">
            <a:noAutofit/>
          </a:bodyPr>
          <a:lstStyle/>
          <a:p>
            <a:pPr algn="l">
              <a:lnSpc>
                <a:spcPct val="105000"/>
              </a:lnSpc>
              <a:spcAft>
                <a:spcPts val="500"/>
              </a:spcAft>
              <a:defRPr sz="1900" b="0">
                <a:solidFill>
                  <a:srgbClr val="26364A"/>
                </a:solidFill>
                <a:latin typeface="Aptos"/>
              </a:defRPr>
            </a:pPr>
            <a:r>
              <a:t>Aplicação + libs</a:t>
            </a:r>
          </a:p>
          <a:p>
            <a:pPr algn="l">
              <a:lnSpc>
                <a:spcPct val="105000"/>
              </a:lnSpc>
              <a:spcAft>
                <a:spcPts val="500"/>
              </a:spcAft>
              <a:defRPr sz="1900" b="0">
                <a:solidFill>
                  <a:srgbClr val="26364A"/>
                </a:solidFill>
                <a:latin typeface="Aptos"/>
              </a:defRPr>
            </a:pPr>
            <a:r>
              <a:t>Processo isolado</a:t>
            </a:r>
          </a:p>
        </p:txBody>
      </p:sp>
      <p:sp>
        <p:nvSpPr>
          <p:cNvPr id="17" name="Rounded Rectangle 16"/>
          <p:cNvSpPr/>
          <p:nvPr/>
        </p:nvSpPr>
        <p:spPr>
          <a:xfrm>
            <a:off x="8961120" y="2240280"/>
            <a:ext cx="2468880" cy="15087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89136" y="2395728"/>
            <a:ext cx="2194560" cy="1188720"/>
          </a:xfrm>
          <a:prstGeom prst="rect">
            <a:avLst/>
          </a:prstGeom>
          <a:noFill/>
        </p:spPr>
        <p:txBody>
          <a:bodyPr wrap="square" anchor="t" anchorCtr="0" lIns="27432" rIns="27432" tIns="18288" bIns="0">
            <a:noAutofit/>
          </a:bodyPr>
          <a:lstStyle/>
          <a:p>
            <a:pPr algn="l">
              <a:lnSpc>
                <a:spcPct val="105000"/>
              </a:lnSpc>
              <a:spcAft>
                <a:spcPts val="500"/>
              </a:spcAft>
              <a:defRPr sz="1900" b="0">
                <a:solidFill>
                  <a:srgbClr val="26364A"/>
                </a:solidFill>
                <a:latin typeface="Aptos"/>
              </a:defRPr>
            </a:pPr>
            <a:r>
              <a:t>Aplicação + libs</a:t>
            </a:r>
          </a:p>
          <a:p>
            <a:pPr algn="l">
              <a:lnSpc>
                <a:spcPct val="105000"/>
              </a:lnSpc>
              <a:spcAft>
                <a:spcPts val="500"/>
              </a:spcAft>
              <a:defRPr sz="1900" b="0">
                <a:solidFill>
                  <a:srgbClr val="26364A"/>
                </a:solidFill>
                <a:latin typeface="Aptos"/>
              </a:defRPr>
            </a:pPr>
            <a:r>
              <a:t>Processo isolado</a:t>
            </a:r>
          </a:p>
        </p:txBody>
      </p:sp>
      <p:sp>
        <p:nvSpPr>
          <p:cNvPr id="19" name="Rounded Rectangle 18"/>
          <p:cNvSpPr/>
          <p:nvPr/>
        </p:nvSpPr>
        <p:spPr>
          <a:xfrm>
            <a:off x="6309360" y="3950208"/>
            <a:ext cx="5120640" cy="576072"/>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4050792"/>
            <a:ext cx="4754880" cy="411480"/>
          </a:xfrm>
          <a:prstGeom prst="rect">
            <a:avLst/>
          </a:prstGeom>
          <a:noFill/>
        </p:spPr>
        <p:txBody>
          <a:bodyPr wrap="square" anchor="t" anchorCtr="0" lIns="27432" rIns="27432" tIns="18288" bIns="0">
            <a:noAutofit/>
          </a:bodyPr>
          <a:lstStyle/>
          <a:p>
            <a:pPr algn="l">
              <a:lnSpc>
                <a:spcPct val="105000"/>
              </a:lnSpc>
              <a:spcAft>
                <a:spcPts val="500"/>
              </a:spcAft>
              <a:defRPr sz="2100" b="0">
                <a:solidFill>
                  <a:srgbClr val="FFFFFF"/>
                </a:solidFill>
                <a:latin typeface="Aptos"/>
              </a:defRPr>
            </a:pPr>
            <a:r>
              <a:t>Runtime de containers</a:t>
            </a:r>
          </a:p>
        </p:txBody>
      </p:sp>
      <p:sp>
        <p:nvSpPr>
          <p:cNvPr id="21" name="Rounded Rectangle 20"/>
          <p:cNvSpPr/>
          <p:nvPr/>
        </p:nvSpPr>
        <p:spPr>
          <a:xfrm>
            <a:off x="6309360" y="4681728"/>
            <a:ext cx="5120640" cy="576072"/>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4782312"/>
            <a:ext cx="4754880" cy="411480"/>
          </a:xfrm>
          <a:prstGeom prst="rect">
            <a:avLst/>
          </a:prstGeom>
          <a:noFill/>
        </p:spPr>
        <p:txBody>
          <a:bodyPr wrap="square" anchor="t" anchorCtr="0" lIns="27432" rIns="27432" tIns="18288" bIns="0">
            <a:noAutofit/>
          </a:bodyPr>
          <a:lstStyle/>
          <a:p>
            <a:pPr algn="l">
              <a:lnSpc>
                <a:spcPct val="105000"/>
              </a:lnSpc>
              <a:spcAft>
                <a:spcPts val="500"/>
              </a:spcAft>
              <a:defRPr sz="2100" b="0">
                <a:solidFill>
                  <a:srgbClr val="FFFFFF"/>
                </a:solidFill>
                <a:latin typeface="Aptos"/>
              </a:defRPr>
            </a:pPr>
            <a:r>
              <a:t>Kernel do host Linux</a:t>
            </a:r>
          </a:p>
        </p:txBody>
      </p:sp>
      <p:sp>
        <p:nvSpPr>
          <p:cNvPr id="23" name="Rounded Rectangle 2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VM virtualiza uma máquina; container organiza processos sob isolamento do sistema operacional.</a:t>
            </a:r>
          </a:p>
        </p:txBody>
      </p:sp>
      <p:sp>
        <p:nvSpPr>
          <p:cNvPr id="25" name="TextBox 2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26" name="TextBox 2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E4·15</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04" b="1">
                <a:solidFill>
                  <a:srgbClr val="1B2A4A"/>
                </a:solidFill>
                <a:latin typeface="Aptos"/>
              </a:defRPr>
            </a:pPr>
            <a:r>
              <a:t>VM e container: diferenças que orientam a escolha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Compare requisitos; evite a regra “um sempre substitui o outro”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59689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35915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Critério</a:t>
            </a:r>
          </a:p>
        </p:txBody>
      </p:sp>
      <p:sp>
        <p:nvSpPr>
          <p:cNvPr id="7" name="Rounded Rectangle 6"/>
          <p:cNvSpPr/>
          <p:nvPr/>
        </p:nvSpPr>
        <p:spPr>
          <a:xfrm>
            <a:off x="640080" y="2386584"/>
            <a:ext cx="259689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359152"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Kernel</a:t>
            </a:r>
          </a:p>
        </p:txBody>
      </p:sp>
      <p:sp>
        <p:nvSpPr>
          <p:cNvPr id="9" name="Rounded Rectangle 8"/>
          <p:cNvSpPr/>
          <p:nvPr/>
        </p:nvSpPr>
        <p:spPr>
          <a:xfrm>
            <a:off x="640080" y="3163824"/>
            <a:ext cx="2596896"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2359152"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Conteúdo</a:t>
            </a:r>
          </a:p>
        </p:txBody>
      </p:sp>
      <p:sp>
        <p:nvSpPr>
          <p:cNvPr id="11" name="Rounded Rectangle 10"/>
          <p:cNvSpPr/>
          <p:nvPr/>
        </p:nvSpPr>
        <p:spPr>
          <a:xfrm>
            <a:off x="640080" y="3941063"/>
            <a:ext cx="259689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2359152"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Uso típico</a:t>
            </a:r>
          </a:p>
        </p:txBody>
      </p:sp>
      <p:sp>
        <p:nvSpPr>
          <p:cNvPr id="13" name="Rounded Rectangle 12"/>
          <p:cNvSpPr/>
          <p:nvPr/>
        </p:nvSpPr>
        <p:spPr>
          <a:xfrm>
            <a:off x="640080" y="4718304"/>
            <a:ext cx="2596896"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2359152"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Combinação</a:t>
            </a:r>
          </a:p>
        </p:txBody>
      </p:sp>
      <p:sp>
        <p:nvSpPr>
          <p:cNvPr id="15" name="Rounded Rectangle 14"/>
          <p:cNvSpPr/>
          <p:nvPr/>
        </p:nvSpPr>
        <p:spPr>
          <a:xfrm>
            <a:off x="3273552" y="1764792"/>
            <a:ext cx="413308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92424" y="1874519"/>
            <a:ext cx="389534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Máquina virtual</a:t>
            </a:r>
          </a:p>
        </p:txBody>
      </p:sp>
      <p:sp>
        <p:nvSpPr>
          <p:cNvPr id="17" name="Rounded Rectangle 16"/>
          <p:cNvSpPr/>
          <p:nvPr/>
        </p:nvSpPr>
        <p:spPr>
          <a:xfrm>
            <a:off x="3273552" y="2386584"/>
            <a:ext cx="413308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92424" y="2436876"/>
            <a:ext cx="389534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Cada VM possui seu kernel convidado.</a:t>
            </a:r>
          </a:p>
        </p:txBody>
      </p:sp>
      <p:sp>
        <p:nvSpPr>
          <p:cNvPr id="19" name="Rounded Rectangle 18"/>
          <p:cNvSpPr/>
          <p:nvPr/>
        </p:nvSpPr>
        <p:spPr>
          <a:xfrm>
            <a:off x="3273552" y="3163824"/>
            <a:ext cx="4133088"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92424" y="3214116"/>
            <a:ext cx="389534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Inclui um SO convidado a administrar.</a:t>
            </a:r>
          </a:p>
        </p:txBody>
      </p:sp>
      <p:sp>
        <p:nvSpPr>
          <p:cNvPr id="21" name="Rounded Rectangle 20"/>
          <p:cNvSpPr/>
          <p:nvPr/>
        </p:nvSpPr>
        <p:spPr>
          <a:xfrm>
            <a:off x="3273552" y="3941063"/>
            <a:ext cx="413308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92424" y="3991355"/>
            <a:ext cx="389534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Outro SO/kernel; separação no nível da VM.</a:t>
            </a:r>
          </a:p>
        </p:txBody>
      </p:sp>
      <p:sp>
        <p:nvSpPr>
          <p:cNvPr id="23" name="Rounded Rectangle 22"/>
          <p:cNvSpPr/>
          <p:nvPr/>
        </p:nvSpPr>
        <p:spPr>
          <a:xfrm>
            <a:off x="3273552" y="4718304"/>
            <a:ext cx="4133088"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92424" y="4768596"/>
            <a:ext cx="389534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hospedar vários containers.</a:t>
            </a:r>
          </a:p>
        </p:txBody>
      </p:sp>
      <p:sp>
        <p:nvSpPr>
          <p:cNvPr id="25" name="Rounded Rectangle 24"/>
          <p:cNvSpPr/>
          <p:nvPr/>
        </p:nvSpPr>
        <p:spPr>
          <a:xfrm>
            <a:off x="7443216" y="1764792"/>
            <a:ext cx="413308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62088" y="1874519"/>
            <a:ext cx="389534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Container Linux</a:t>
            </a:r>
          </a:p>
        </p:txBody>
      </p:sp>
      <p:sp>
        <p:nvSpPr>
          <p:cNvPr id="27" name="Rounded Rectangle 26"/>
          <p:cNvSpPr/>
          <p:nvPr/>
        </p:nvSpPr>
        <p:spPr>
          <a:xfrm>
            <a:off x="7443216" y="2386584"/>
            <a:ext cx="413308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62088" y="2436876"/>
            <a:ext cx="389534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Compartilha o kernel do host Linux.</a:t>
            </a:r>
          </a:p>
        </p:txBody>
      </p:sp>
      <p:sp>
        <p:nvSpPr>
          <p:cNvPr id="29" name="Rounded Rectangle 28"/>
          <p:cNvSpPr/>
          <p:nvPr/>
        </p:nvSpPr>
        <p:spPr>
          <a:xfrm>
            <a:off x="7443216" y="3163824"/>
            <a:ext cx="4133088"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62088" y="3214116"/>
            <a:ext cx="389534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Imagem reúne os arquivos de usuário necessários.</a:t>
            </a:r>
          </a:p>
        </p:txBody>
      </p:sp>
      <p:sp>
        <p:nvSpPr>
          <p:cNvPr id="31" name="Rounded Rectangle 30"/>
          <p:cNvSpPr/>
          <p:nvPr/>
        </p:nvSpPr>
        <p:spPr>
          <a:xfrm>
            <a:off x="7443216" y="3941063"/>
            <a:ext cx="413308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62088" y="3991355"/>
            <a:ext cx="389534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Empacotar e executar componentes de aplicação.</a:t>
            </a:r>
          </a:p>
        </p:txBody>
      </p:sp>
      <p:sp>
        <p:nvSpPr>
          <p:cNvPr id="33" name="Rounded Rectangle 32"/>
          <p:cNvSpPr/>
          <p:nvPr/>
        </p:nvSpPr>
        <p:spPr>
          <a:xfrm>
            <a:off x="7443216" y="4718304"/>
            <a:ext cx="4133088"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62088" y="4768596"/>
            <a:ext cx="389534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rodar em um host físico ou virtual.</a:t>
            </a:r>
          </a:p>
        </p:txBody>
      </p:sp>
      <p:sp>
        <p:nvSpPr>
          <p:cNvPr id="35" name="Rounded Rectangle 34"/>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Containerizar um monólito não o transforma em microsserviços: arquitetura e empacotamento são decisões diferentes.</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O que a containerização resolve — e seus limites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Redução de diferenças de ambiente com responsabilidades explícitas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Padroniza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Runtime e bibliotecas escolhidos.</a:t>
            </a:r>
          </a:p>
          <a:p>
            <a:pPr algn="l">
              <a:lnSpc>
                <a:spcPct val="105000"/>
              </a:lnSpc>
              <a:spcAft>
                <a:spcPts val="600"/>
              </a:spcAft>
              <a:defRPr sz="1800" b="0">
                <a:solidFill>
                  <a:srgbClr val="26364A"/>
                </a:solidFill>
                <a:latin typeface="Aptos"/>
              </a:defRPr>
            </a:pPr>
            <a:r>
              <a:t>Arquivos presentes na imagem.</a:t>
            </a:r>
          </a:p>
          <a:p>
            <a:pPr algn="l">
              <a:lnSpc>
                <a:spcPct val="105000"/>
              </a:lnSpc>
              <a:spcAft>
                <a:spcPts val="600"/>
              </a:spcAft>
              <a:defRPr sz="1800" b="0">
                <a:solidFill>
                  <a:srgbClr val="26364A"/>
                </a:solidFill>
                <a:latin typeface="Aptos"/>
              </a:defRPr>
            </a:pPr>
            <a:r>
              <a:t>Comando e configuração declarados.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Ainda depende</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Kernel e plataforma compatíveis.</a:t>
            </a:r>
          </a:p>
          <a:p>
            <a:pPr algn="l">
              <a:lnSpc>
                <a:spcPct val="105000"/>
              </a:lnSpc>
              <a:spcAft>
                <a:spcPts val="600"/>
              </a:spcAft>
              <a:defRPr sz="1800" b="0">
                <a:solidFill>
                  <a:srgbClr val="26364A"/>
                </a:solidFill>
                <a:latin typeface="Aptos"/>
              </a:defRPr>
            </a:pPr>
            <a:r>
              <a:t>Recursos disponíveis e rede.</a:t>
            </a:r>
          </a:p>
          <a:p>
            <a:pPr algn="l">
              <a:lnSpc>
                <a:spcPct val="105000"/>
              </a:lnSpc>
              <a:spcAft>
                <a:spcPts val="600"/>
              </a:spcAft>
              <a:defRPr sz="1800" b="0">
                <a:solidFill>
                  <a:srgbClr val="26364A"/>
                </a:solidFill>
                <a:latin typeface="Aptos"/>
              </a:defRPr>
            </a:pPr>
            <a:r>
              <a:t>Credenciais, serviços externos e dados.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Não fornece sozinha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Correção de bugs.</a:t>
            </a:r>
          </a:p>
          <a:p>
            <a:pPr algn="l">
              <a:lnSpc>
                <a:spcPct val="105000"/>
              </a:lnSpc>
              <a:spcAft>
                <a:spcPts val="600"/>
              </a:spcAft>
              <a:defRPr sz="1800" b="0">
                <a:solidFill>
                  <a:srgbClr val="26364A"/>
                </a:solidFill>
                <a:latin typeface="Aptos"/>
              </a:defRPr>
            </a:pPr>
            <a:r>
              <a:t>Backup e alta disponibilidade.</a:t>
            </a:r>
          </a:p>
          <a:p>
            <a:pPr algn="l">
              <a:lnSpc>
                <a:spcPct val="105000"/>
              </a:lnSpc>
              <a:spcAft>
                <a:spcPts val="600"/>
              </a:spcAft>
              <a:defRPr sz="1800" b="0">
                <a:solidFill>
                  <a:srgbClr val="26364A"/>
                </a:solidFill>
                <a:latin typeface="Aptos"/>
              </a:defRPr>
            </a:pPr>
            <a:r>
              <a:t>Segurança absoluta ou arquitetura de microsserviços.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execução confiável combina artefato conhecido, configuração correta, recursos adequados e verificação.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E4·17</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Mapa dos recursos do Docker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Cada recurso resolve uma necessidade diferente da aplicação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03580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79806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Necessidade</a:t>
            </a:r>
          </a:p>
        </p:txBody>
      </p:sp>
      <p:sp>
        <p:nvSpPr>
          <p:cNvPr id="7" name="Rounded Rectangle 6"/>
          <p:cNvSpPr/>
          <p:nvPr/>
        </p:nvSpPr>
        <p:spPr>
          <a:xfrm>
            <a:off x="640080" y="2386584"/>
            <a:ext cx="303580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Empacotar e distribuir</a:t>
            </a:r>
          </a:p>
        </p:txBody>
      </p:sp>
      <p:sp>
        <p:nvSpPr>
          <p:cNvPr id="9" name="Rounded Rectangle 8"/>
          <p:cNvSpPr/>
          <p:nvPr/>
        </p:nvSpPr>
        <p:spPr>
          <a:xfrm>
            <a:off x="640080" y="3008376"/>
            <a:ext cx="303580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Executar e controlar</a:t>
            </a:r>
          </a:p>
        </p:txBody>
      </p:sp>
      <p:sp>
        <p:nvSpPr>
          <p:cNvPr id="11" name="Rounded Rectangle 10"/>
          <p:cNvSpPr/>
          <p:nvPr/>
        </p:nvSpPr>
        <p:spPr>
          <a:xfrm>
            <a:off x="640080" y="3630168"/>
            <a:ext cx="303580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Conectar e guardar</a:t>
            </a:r>
          </a:p>
        </p:txBody>
      </p:sp>
      <p:sp>
        <p:nvSpPr>
          <p:cNvPr id="13" name="Rounded Rectangle 12"/>
          <p:cNvSpPr/>
          <p:nvPr/>
        </p:nvSpPr>
        <p:spPr>
          <a:xfrm>
            <a:off x="640080" y="4251960"/>
            <a:ext cx="303580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Observar e restringir</a:t>
            </a:r>
          </a:p>
        </p:txBody>
      </p:sp>
      <p:sp>
        <p:nvSpPr>
          <p:cNvPr id="15" name="Rounded Rectangle 14"/>
          <p:cNvSpPr/>
          <p:nvPr/>
        </p:nvSpPr>
        <p:spPr>
          <a:xfrm>
            <a:off x="640080" y="4873752"/>
            <a:ext cx="303580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Integrar componentes</a:t>
            </a:r>
          </a:p>
        </p:txBody>
      </p:sp>
      <p:sp>
        <p:nvSpPr>
          <p:cNvPr id="17" name="Rounded Rectangle 16"/>
          <p:cNvSpPr/>
          <p:nvPr/>
        </p:nvSpPr>
        <p:spPr>
          <a:xfrm>
            <a:off x="3712464" y="1764792"/>
            <a:ext cx="347472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31336" y="1874519"/>
            <a:ext cx="323697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Recurso</a:t>
            </a:r>
          </a:p>
        </p:txBody>
      </p:sp>
      <p:sp>
        <p:nvSpPr>
          <p:cNvPr id="19" name="Rounded Rectangle 18"/>
          <p:cNvSpPr/>
          <p:nvPr/>
        </p:nvSpPr>
        <p:spPr>
          <a:xfrm>
            <a:off x="3712464" y="2386584"/>
            <a:ext cx="347472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1336" y="2436876"/>
            <a:ext cx="32369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Imagens, build e registry</a:t>
            </a:r>
          </a:p>
        </p:txBody>
      </p:sp>
      <p:sp>
        <p:nvSpPr>
          <p:cNvPr id="21" name="Rounded Rectangle 20"/>
          <p:cNvSpPr/>
          <p:nvPr/>
        </p:nvSpPr>
        <p:spPr>
          <a:xfrm>
            <a:off x="3712464" y="3008376"/>
            <a:ext cx="347472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31336" y="3058668"/>
            <a:ext cx="32369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Containers e ciclo de vida</a:t>
            </a:r>
          </a:p>
        </p:txBody>
      </p:sp>
      <p:sp>
        <p:nvSpPr>
          <p:cNvPr id="23" name="Rounded Rectangle 22"/>
          <p:cNvSpPr/>
          <p:nvPr/>
        </p:nvSpPr>
        <p:spPr>
          <a:xfrm>
            <a:off x="3712464" y="3630168"/>
            <a:ext cx="347472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31336" y="3680459"/>
            <a:ext cx="32369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Redes, portas e volumes</a:t>
            </a:r>
          </a:p>
        </p:txBody>
      </p:sp>
      <p:sp>
        <p:nvSpPr>
          <p:cNvPr id="25" name="Rounded Rectangle 24"/>
          <p:cNvSpPr/>
          <p:nvPr/>
        </p:nvSpPr>
        <p:spPr>
          <a:xfrm>
            <a:off x="3712464" y="4251960"/>
            <a:ext cx="347472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31336" y="4302252"/>
            <a:ext cx="32369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Logs, inspect, stats e limites</a:t>
            </a:r>
          </a:p>
        </p:txBody>
      </p:sp>
      <p:sp>
        <p:nvSpPr>
          <p:cNvPr id="27" name="Rounded Rectangle 26"/>
          <p:cNvSpPr/>
          <p:nvPr/>
        </p:nvSpPr>
        <p:spPr>
          <a:xfrm>
            <a:off x="3712464" y="4873752"/>
            <a:ext cx="347472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31336" y="4924044"/>
            <a:ext cx="32369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Compose e healthchecks</a:t>
            </a:r>
          </a:p>
        </p:txBody>
      </p:sp>
      <p:sp>
        <p:nvSpPr>
          <p:cNvPr id="29" name="Rounded Rectangle 28"/>
          <p:cNvSpPr/>
          <p:nvPr/>
        </p:nvSpPr>
        <p:spPr>
          <a:xfrm>
            <a:off x="7223760"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42632"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 na aula</a:t>
            </a:r>
          </a:p>
        </p:txBody>
      </p:sp>
      <p:sp>
        <p:nvSpPr>
          <p:cNvPr id="31" name="Rounded Rectangle 30"/>
          <p:cNvSpPr/>
          <p:nvPr/>
        </p:nvSpPr>
        <p:spPr>
          <a:xfrm>
            <a:off x="7223760" y="2386584"/>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42632" y="2436876"/>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API com Node e dependências.</a:t>
            </a:r>
          </a:p>
        </p:txBody>
      </p:sp>
      <p:sp>
        <p:nvSpPr>
          <p:cNvPr id="33" name="Rounded Rectangle 32"/>
          <p:cNvSpPr/>
          <p:nvPr/>
        </p:nvSpPr>
        <p:spPr>
          <a:xfrm>
            <a:off x="7223760" y="3008376"/>
            <a:ext cx="435254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42632" y="3058668"/>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Criar, iniciar, parar e remover.</a:t>
            </a:r>
          </a:p>
        </p:txBody>
      </p:sp>
      <p:sp>
        <p:nvSpPr>
          <p:cNvPr id="35" name="Rounded Rectangle 34"/>
          <p:cNvSpPr/>
          <p:nvPr/>
        </p:nvSpPr>
        <p:spPr>
          <a:xfrm>
            <a:off x="7223760" y="3630168"/>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42632" y="3680459"/>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API acessa db; contador persiste.</a:t>
            </a:r>
          </a:p>
        </p:txBody>
      </p:sp>
      <p:sp>
        <p:nvSpPr>
          <p:cNvPr id="37" name="Rounded Rectangle 36"/>
          <p:cNvSpPr/>
          <p:nvPr/>
        </p:nvSpPr>
        <p:spPr>
          <a:xfrm>
            <a:off x="7223760" y="4251960"/>
            <a:ext cx="435254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42632" y="4302252"/>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Investigar falhas e consumo.</a:t>
            </a:r>
          </a:p>
        </p:txBody>
      </p:sp>
      <p:sp>
        <p:nvSpPr>
          <p:cNvPr id="39" name="Rounded Rectangle 38"/>
          <p:cNvSpPr/>
          <p:nvPr/>
        </p:nvSpPr>
        <p:spPr>
          <a:xfrm>
            <a:off x="7223760" y="4873752"/>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42632" y="4924044"/>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Declarar e verificar a aplicação.</a:t>
            </a:r>
          </a:p>
        </p:txBody>
      </p:sp>
      <p:sp>
        <p:nvSpPr>
          <p:cNvPr id="41" name="Rounded Rectangle 4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Escolha o recurso pelo problema: imagem não guarda o banco; volume não publica uma porta.</a:t>
            </a:r>
          </a:p>
        </p:txBody>
      </p:sp>
      <p:sp>
        <p:nvSpPr>
          <p:cNvPr id="43" name="TextBox 4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44" name="TextBox 4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E4·18</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43" b="1">
                <a:solidFill>
                  <a:srgbClr val="1B2A4A"/>
                </a:solidFill>
                <a:latin typeface="Aptos"/>
              </a:defRPr>
            </a:pPr>
            <a:r>
              <a:t>Primeira demonstração: um comando que termina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Observar o runtime da linguagem dentro de uma imagem pronta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50" b="0">
                <a:solidFill>
                  <a:srgbClr val="FFFFFF"/>
                </a:solidFill>
                <a:latin typeface="DejaVu Sans Mono"/>
              </a:defRPr>
            </a:pPr>
            <a:r>
              <a:t>docker version</a:t>
            </a:r>
          </a:p>
          <a:p>
            <a:pPr algn="l">
              <a:lnSpc>
                <a:spcPct val="105000"/>
              </a:lnSpc>
              <a:spcAft>
                <a:spcPts val="100"/>
              </a:spcAft>
              <a:defRPr sz="1550" b="0">
                <a:solidFill>
                  <a:srgbClr val="FFFFFF"/>
                </a:solidFill>
                <a:latin typeface="DejaVu Sans Mono"/>
              </a:defRPr>
            </a:pPr>
            <a:r>
              <a:t>docker run --rm node:22-bookworm-slim node --version</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Antes de executar</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Engine/Desktop ativo.</a:t>
            </a:r>
          </a:p>
          <a:p>
            <a:pPr algn="l">
              <a:lnSpc>
                <a:spcPct val="100000"/>
              </a:lnSpc>
              <a:spcAft>
                <a:spcPts val="300"/>
              </a:spcAft>
              <a:defRPr sz="1500" b="0">
                <a:solidFill>
                  <a:srgbClr val="26364A"/>
                </a:solidFill>
                <a:latin typeface="Aptos"/>
              </a:defRPr>
            </a:pPr>
            <a:r>
              <a:t>Acesso ao registry se a imagem não estiver local.</a:t>
            </a:r>
          </a:p>
          <a:p>
            <a:pPr algn="l">
              <a:lnSpc>
                <a:spcPct val="100000"/>
              </a:lnSpc>
              <a:spcAft>
                <a:spcPts val="300"/>
              </a:spcAft>
              <a:defRPr sz="1500" b="0">
                <a:solidFill>
                  <a:srgbClr val="26364A"/>
                </a:solidFill>
                <a:latin typeface="Aptos"/>
              </a:defRPr>
            </a:pPr>
            <a:r>
              <a:t>Node no host não é obrigatório.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O que acontece</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Docker cria a instância.</a:t>
            </a:r>
          </a:p>
          <a:p>
            <a:pPr algn="l">
              <a:lnSpc>
                <a:spcPct val="100000"/>
              </a:lnSpc>
              <a:spcAft>
                <a:spcPts val="300"/>
              </a:spcAft>
              <a:defRPr sz="1500" b="0">
                <a:solidFill>
                  <a:srgbClr val="26364A"/>
                </a:solidFill>
                <a:latin typeface="Aptos"/>
              </a:defRPr>
            </a:pPr>
            <a:r>
              <a:t>Node imprime uma versão 22.x.</a:t>
            </a:r>
          </a:p>
          <a:p>
            <a:pPr algn="l">
              <a:lnSpc>
                <a:spcPct val="100000"/>
              </a:lnSpc>
              <a:spcAft>
                <a:spcPts val="300"/>
              </a:spcAft>
              <a:defRPr sz="1500" b="0">
                <a:solidFill>
                  <a:srgbClr val="26364A"/>
                </a:solidFill>
                <a:latin typeface="Aptos"/>
              </a:defRPr>
            </a:pPr>
            <a:r>
              <a:t>O processo termina; --rm remove a instância.</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container não precisa permanecer ativo: sua duração acompanha o processo principal.</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Primeira execução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E4·19</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25" b="1">
                <a:solidFill>
                  <a:srgbClr val="1B2A4A"/>
                </a:solidFill>
                <a:latin typeface="Aptos"/>
              </a:defRPr>
            </a:pPr>
            <a:r>
              <a:t>Segunda demonstração: um servidor que permanece ativo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isolado • terminal Bash/zsh • porta local 18080 livre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21" b="0">
                <a:solidFill>
                  <a:srgbClr val="FFFFFF"/>
                </a:solidFill>
                <a:latin typeface="DejaVu Sans Mono"/>
              </a:defRPr>
            </a:pPr>
            <a:r>
              <a:t>docker run -d --name e4-primeiro \</a:t>
            </a:r>
          </a:p>
          <a:p>
            <a:pPr algn="l">
              <a:lnSpc>
                <a:spcPct val="105000"/>
              </a:lnSpc>
              <a:spcAft>
                <a:spcPts val="100"/>
              </a:spcAft>
              <a:defRPr sz="1521" b="0">
                <a:solidFill>
                  <a:srgbClr val="FFFFFF"/>
                </a:solidFill>
                <a:latin typeface="DejaVu Sans Mono"/>
              </a:defRPr>
            </a:pPr>
            <a:r>
              <a:t>  -p 127.0.0.1:18080:3000 \</a:t>
            </a:r>
          </a:p>
          <a:p>
            <a:pPr algn="l">
              <a:lnSpc>
                <a:spcPct val="105000"/>
              </a:lnSpc>
              <a:spcAft>
                <a:spcPts val="100"/>
              </a:spcAft>
              <a:defRPr sz="1521" b="0">
                <a:solidFill>
                  <a:srgbClr val="FFFFFF"/>
                </a:solidFill>
                <a:latin typeface="DejaVu Sans Mono"/>
              </a:defRPr>
            </a:pPr>
            <a:r>
              <a:t>  node:22-bookworm-slim node -e '</a:t>
            </a:r>
          </a:p>
          <a:p>
            <a:pPr algn="l">
              <a:lnSpc>
                <a:spcPct val="105000"/>
              </a:lnSpc>
              <a:spcAft>
                <a:spcPts val="100"/>
              </a:spcAft>
              <a:defRPr sz="1521" b="0">
                <a:solidFill>
                  <a:srgbClr val="FFFFFF"/>
                </a:solidFill>
                <a:latin typeface="DejaVu Sans Mono"/>
              </a:defRPr>
            </a:pPr>
            <a:r>
              <a:t>    require("node:http").createServer((req, res) =&gt; {</a:t>
            </a:r>
          </a:p>
          <a:p>
            <a:pPr algn="l">
              <a:lnSpc>
                <a:spcPct val="105000"/>
              </a:lnSpc>
              <a:spcAft>
                <a:spcPts val="100"/>
              </a:spcAft>
              <a:defRPr sz="1521" b="0">
                <a:solidFill>
                  <a:srgbClr val="FFFFFF"/>
                </a:solidFill>
                <a:latin typeface="DejaVu Sans Mono"/>
              </a:defRPr>
            </a:pPr>
            <a:r>
              <a:t>      res.end("Olá, turma!\n");</a:t>
            </a:r>
          </a:p>
          <a:p>
            <a:pPr algn="l">
              <a:lnSpc>
                <a:spcPct val="105000"/>
              </a:lnSpc>
              <a:spcAft>
                <a:spcPts val="100"/>
              </a:spcAft>
              <a:defRPr sz="1521" b="0">
                <a:solidFill>
                  <a:srgbClr val="FFFFFF"/>
                </a:solidFill>
                <a:latin typeface="DejaVu Sans Mono"/>
              </a:defRPr>
            </a:pPr>
            <a:r>
              <a:t>    }).listen(3000, "0.0.0.0");</a:t>
            </a:r>
          </a:p>
          <a:p>
            <a:pPr algn="l">
              <a:lnSpc>
                <a:spcPct val="105000"/>
              </a:lnSpc>
              <a:spcAft>
                <a:spcPts val="100"/>
              </a:spcAft>
              <a:defRPr sz="1521" b="0">
                <a:solidFill>
                  <a:srgbClr val="FFFFFF"/>
                </a:solidFill>
                <a:latin typeface="DejaVu Sans Mono"/>
              </a:defRPr>
            </a:pPr>
            <a:r>
              <a:t>  '</a:t>
            </a:r>
          </a:p>
          <a:p>
            <a:pPr algn="l">
              <a:lnSpc>
                <a:spcPct val="105000"/>
              </a:lnSpc>
              <a:spcAft>
                <a:spcPts val="100"/>
              </a:spcAft>
              <a:defRPr sz="1521" b="0">
                <a:solidFill>
                  <a:srgbClr val="FFFFFF"/>
                </a:solidFill>
                <a:latin typeface="DejaVu Sans Mono"/>
              </a:defRPr>
            </a:pPr>
            <a:r>
              <a:t>curl --retry 5 --retry-connrefused --retry-delay 1 \</a:t>
            </a:r>
          </a:p>
          <a:p>
            <a:pPr algn="l">
              <a:lnSpc>
                <a:spcPct val="105000"/>
              </a:lnSpc>
              <a:spcAft>
                <a:spcPts val="100"/>
              </a:spcAft>
              <a:defRPr sz="1521" b="0">
                <a:solidFill>
                  <a:srgbClr val="FFFFFF"/>
                </a:solidFill>
                <a:latin typeface="DejaVu Sans Mono"/>
              </a:defRPr>
            </a:pPr>
            <a:r>
              <a:t>  -fsS http://localhost:18080</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Entenda o comando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 executa em segundo plano.</a:t>
            </a:r>
          </a:p>
          <a:p>
            <a:pPr algn="l">
              <a:lnSpc>
                <a:spcPct val="100000"/>
              </a:lnSpc>
              <a:spcAft>
                <a:spcPts val="300"/>
              </a:spcAft>
              <a:defRPr sz="1500" b="0">
                <a:solidFill>
                  <a:srgbClr val="26364A"/>
                </a:solidFill>
                <a:latin typeface="Aptos"/>
              </a:defRPr>
            </a:pPr>
            <a:r>
              <a:t>--name: nome da instância.</a:t>
            </a:r>
          </a:p>
          <a:p>
            <a:pPr algn="l">
              <a:lnSpc>
                <a:spcPct val="100000"/>
              </a:lnSpc>
              <a:spcAft>
                <a:spcPts val="300"/>
              </a:spcAft>
              <a:defRPr sz="1500" b="0">
                <a:solidFill>
                  <a:srgbClr val="26364A"/>
                </a:solidFill>
                <a:latin typeface="Aptos"/>
              </a:defRPr>
            </a:pPr>
            <a:r>
              <a:t>-p: host 18080 → container 3000.</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Resultado esperado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A chamada HTTP retorna “Olá, turma!”.</a:t>
            </a:r>
          </a:p>
          <a:p>
            <a:pPr algn="l">
              <a:lnSpc>
                <a:spcPct val="100000"/>
              </a:lnSpc>
              <a:spcAft>
                <a:spcPts val="300"/>
              </a:spcAft>
              <a:defRPr sz="1500" b="0">
                <a:solidFill>
                  <a:srgbClr val="26364A"/>
                </a:solidFill>
                <a:latin typeface="Aptos"/>
              </a:defRPr>
            </a:pPr>
            <a:r>
              <a:t>O processo Node continua esperando novas requisições.</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porta publicada é uma entrada para chegar ao processo; ela não cria um servidor por si só.</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Primeira execução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97" b="1">
                <a:solidFill>
                  <a:srgbClr val="1B2A4A"/>
                </a:solidFill>
                <a:latin typeface="Aptos"/>
              </a:defRPr>
            </a:pPr>
            <a:r>
              <a:t>Observar e executar comandos em uma instância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Aplicar enquanto e4-primeiro está em execução, antes de removê-lo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599846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576072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Comando</a:t>
            </a:r>
          </a:p>
        </p:txBody>
      </p:sp>
      <p:sp>
        <p:nvSpPr>
          <p:cNvPr id="7" name="Rounded Rectangle 6"/>
          <p:cNvSpPr/>
          <p:nvPr/>
        </p:nvSpPr>
        <p:spPr>
          <a:xfrm>
            <a:off x="640080" y="2386584"/>
            <a:ext cx="599846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57607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logs --tail=20 e4-primeiro</a:t>
            </a:r>
          </a:p>
        </p:txBody>
      </p:sp>
      <p:sp>
        <p:nvSpPr>
          <p:cNvPr id="9" name="Rounded Rectangle 8"/>
          <p:cNvSpPr/>
          <p:nvPr/>
        </p:nvSpPr>
        <p:spPr>
          <a:xfrm>
            <a:off x="640080" y="3163824"/>
            <a:ext cx="599846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57607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exec e4-primeiro node --version</a:t>
            </a:r>
          </a:p>
        </p:txBody>
      </p:sp>
      <p:sp>
        <p:nvSpPr>
          <p:cNvPr id="11" name="Rounded Rectangle 10"/>
          <p:cNvSpPr/>
          <p:nvPr/>
        </p:nvSpPr>
        <p:spPr>
          <a:xfrm>
            <a:off x="640080" y="3941063"/>
            <a:ext cx="599846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57607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inspect --format '{{.State.Status}}' e4-primeiro</a:t>
            </a:r>
          </a:p>
        </p:txBody>
      </p:sp>
      <p:sp>
        <p:nvSpPr>
          <p:cNvPr id="13" name="Rounded Rectangle 12"/>
          <p:cNvSpPr/>
          <p:nvPr/>
        </p:nvSpPr>
        <p:spPr>
          <a:xfrm>
            <a:off x="640080" y="4718304"/>
            <a:ext cx="599846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57607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stats --no-stream e4-primeiro</a:t>
            </a:r>
          </a:p>
        </p:txBody>
      </p:sp>
      <p:sp>
        <p:nvSpPr>
          <p:cNvPr id="15" name="Rounded Rectangle 14"/>
          <p:cNvSpPr/>
          <p:nvPr/>
        </p:nvSpPr>
        <p:spPr>
          <a:xfrm>
            <a:off x="6675120" y="1764792"/>
            <a:ext cx="490118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93992" y="1874519"/>
            <a:ext cx="466344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faz / resultado esperado</a:t>
            </a:r>
          </a:p>
        </p:txBody>
      </p:sp>
      <p:sp>
        <p:nvSpPr>
          <p:cNvPr id="17" name="Rounded Rectangle 16"/>
          <p:cNvSpPr/>
          <p:nvPr/>
        </p:nvSpPr>
        <p:spPr>
          <a:xfrm>
            <a:off x="6675120" y="2386584"/>
            <a:ext cx="490118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93992" y="2436876"/>
            <a:ext cx="466344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Mostra stdout/stderr; sem log no código, pode ficar vazio.</a:t>
            </a:r>
          </a:p>
        </p:txBody>
      </p:sp>
      <p:sp>
        <p:nvSpPr>
          <p:cNvPr id="19" name="Rounded Rectangle 18"/>
          <p:cNvSpPr/>
          <p:nvPr/>
        </p:nvSpPr>
        <p:spPr>
          <a:xfrm>
            <a:off x="6675120" y="3163824"/>
            <a:ext cx="490118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93992" y="3214116"/>
            <a:ext cx="466344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Inicia outro processo na mesma instância; imprime 22.x.</a:t>
            </a:r>
          </a:p>
        </p:txBody>
      </p:sp>
      <p:sp>
        <p:nvSpPr>
          <p:cNvPr id="21" name="Rounded Rectangle 20"/>
          <p:cNvSpPr/>
          <p:nvPr/>
        </p:nvSpPr>
        <p:spPr>
          <a:xfrm>
            <a:off x="6675120" y="3941063"/>
            <a:ext cx="490118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93992" y="3991355"/>
            <a:ext cx="466344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Consulta metadados; neste momento: running.</a:t>
            </a:r>
          </a:p>
        </p:txBody>
      </p:sp>
      <p:sp>
        <p:nvSpPr>
          <p:cNvPr id="23" name="Rounded Rectangle 22"/>
          <p:cNvSpPr/>
          <p:nvPr/>
        </p:nvSpPr>
        <p:spPr>
          <a:xfrm>
            <a:off x="6675120" y="4718304"/>
            <a:ext cx="490118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93992" y="4768596"/>
            <a:ext cx="466344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Mostra uma amostra de CPU, memória e I/O.</a:t>
            </a:r>
          </a:p>
        </p:txBody>
      </p:sp>
      <p:sp>
        <p:nvSpPr>
          <p:cNvPr id="25" name="Rounded Rectangle 24"/>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logs mostra o que foi emitido; inspect mostra configuração/estado; exec executa; stats mede consumo.</a:t>
            </a:r>
          </a:p>
        </p:txBody>
      </p:sp>
      <p:sp>
        <p:nvSpPr>
          <p:cNvPr id="27" name="TextBox 2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Primeira execução</a:t>
            </a:r>
          </a:p>
        </p:txBody>
      </p:sp>
      <p:sp>
        <p:nvSpPr>
          <p:cNvPr id="28" name="TextBox 2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E4·21</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Ciclo de vida: criar, observar, parar e remover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Comandos aplicados somente ao container e4-primeiro da demonstração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501091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477316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Comando</a:t>
            </a:r>
          </a:p>
        </p:txBody>
      </p:sp>
      <p:sp>
        <p:nvSpPr>
          <p:cNvPr id="7" name="Rounded Rectangle 6"/>
          <p:cNvSpPr/>
          <p:nvPr/>
        </p:nvSpPr>
        <p:spPr>
          <a:xfrm>
            <a:off x="640080" y="2386584"/>
            <a:ext cx="501091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477316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ps / docker ps -a</a:t>
            </a:r>
          </a:p>
        </p:txBody>
      </p:sp>
      <p:sp>
        <p:nvSpPr>
          <p:cNvPr id="9" name="Rounded Rectangle 8"/>
          <p:cNvSpPr/>
          <p:nvPr/>
        </p:nvSpPr>
        <p:spPr>
          <a:xfrm>
            <a:off x="640080" y="3008376"/>
            <a:ext cx="5010912"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477316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top e4-primeiro</a:t>
            </a:r>
          </a:p>
        </p:txBody>
      </p:sp>
      <p:sp>
        <p:nvSpPr>
          <p:cNvPr id="11" name="Rounded Rectangle 10"/>
          <p:cNvSpPr/>
          <p:nvPr/>
        </p:nvSpPr>
        <p:spPr>
          <a:xfrm>
            <a:off x="640080" y="3630168"/>
            <a:ext cx="501091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477316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stop e4-primeiro</a:t>
            </a:r>
          </a:p>
        </p:txBody>
      </p:sp>
      <p:sp>
        <p:nvSpPr>
          <p:cNvPr id="13" name="Rounded Rectangle 12"/>
          <p:cNvSpPr/>
          <p:nvPr/>
        </p:nvSpPr>
        <p:spPr>
          <a:xfrm>
            <a:off x="640080" y="4251960"/>
            <a:ext cx="5010912"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477316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start e4-primeiro</a:t>
            </a:r>
          </a:p>
        </p:txBody>
      </p:sp>
      <p:sp>
        <p:nvSpPr>
          <p:cNvPr id="15" name="Rounded Rectangle 14"/>
          <p:cNvSpPr/>
          <p:nvPr/>
        </p:nvSpPr>
        <p:spPr>
          <a:xfrm>
            <a:off x="640080" y="4873752"/>
            <a:ext cx="501091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477316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stop e4-primeiro</a:t>
            </a:r>
          </a:p>
          <a:p>
            <a:pPr algn="l">
              <a:lnSpc>
                <a:spcPct val="100000"/>
              </a:lnSpc>
              <a:spcAft>
                <a:spcPts val="0"/>
              </a:spcAft>
              <a:defRPr sz="1700" b="0">
                <a:solidFill>
                  <a:srgbClr val="26364A"/>
                </a:solidFill>
                <a:latin typeface="Aptos"/>
              </a:defRPr>
            </a:pPr>
            <a:r>
              <a:t>docker rm e4-primeiro</a:t>
            </a:r>
          </a:p>
        </p:txBody>
      </p:sp>
      <p:sp>
        <p:nvSpPr>
          <p:cNvPr id="17" name="Rounded Rectangle 16"/>
          <p:cNvSpPr/>
          <p:nvPr/>
        </p:nvSpPr>
        <p:spPr>
          <a:xfrm>
            <a:off x="5687568" y="1764792"/>
            <a:ext cx="588873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06440" y="1874519"/>
            <a:ext cx="565099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observar</a:t>
            </a:r>
          </a:p>
        </p:txBody>
      </p:sp>
      <p:sp>
        <p:nvSpPr>
          <p:cNvPr id="19" name="Rounded Rectangle 18"/>
          <p:cNvSpPr/>
          <p:nvPr/>
        </p:nvSpPr>
        <p:spPr>
          <a:xfrm>
            <a:off x="5687568" y="2386584"/>
            <a:ext cx="588873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06440" y="2436876"/>
            <a:ext cx="565099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Instâncias ativas / todas as instâncias.</a:t>
            </a:r>
          </a:p>
        </p:txBody>
      </p:sp>
      <p:sp>
        <p:nvSpPr>
          <p:cNvPr id="21" name="Rounded Rectangle 20"/>
          <p:cNvSpPr/>
          <p:nvPr/>
        </p:nvSpPr>
        <p:spPr>
          <a:xfrm>
            <a:off x="5687568" y="3008376"/>
            <a:ext cx="588873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06440" y="3058668"/>
            <a:ext cx="565099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O processo Node executando na instância.</a:t>
            </a:r>
          </a:p>
        </p:txBody>
      </p:sp>
      <p:sp>
        <p:nvSpPr>
          <p:cNvPr id="23" name="Rounded Rectangle 22"/>
          <p:cNvSpPr/>
          <p:nvPr/>
        </p:nvSpPr>
        <p:spPr>
          <a:xfrm>
            <a:off x="5687568" y="3630168"/>
            <a:ext cx="588873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06440" y="3680459"/>
            <a:ext cx="565099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Servidor para; a instância continua existindo.</a:t>
            </a:r>
          </a:p>
        </p:txBody>
      </p:sp>
      <p:sp>
        <p:nvSpPr>
          <p:cNvPr id="25" name="Rounded Rectangle 24"/>
          <p:cNvSpPr/>
          <p:nvPr/>
        </p:nvSpPr>
        <p:spPr>
          <a:xfrm>
            <a:off x="5687568" y="4251960"/>
            <a:ext cx="588873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06440" y="4302252"/>
            <a:ext cx="565099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mesma instância volta a executar.</a:t>
            </a:r>
          </a:p>
        </p:txBody>
      </p:sp>
      <p:sp>
        <p:nvSpPr>
          <p:cNvPr id="27" name="Rounded Rectangle 26"/>
          <p:cNvSpPr/>
          <p:nvPr/>
        </p:nvSpPr>
        <p:spPr>
          <a:xfrm>
            <a:off x="5687568" y="4873752"/>
            <a:ext cx="588873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06440" y="4924044"/>
            <a:ext cx="565099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Encerra e remove somente a instância de demonstração.</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Imagem, instância e processo têm ciclos de vida relacionados, mas não são o mesmo objeto.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Primeira execução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E4·22</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Componentes e responsabilidades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Verificação do bloco • responda com os conceitos e exemplos que acabamos de estudar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Em node server.js dentro de um container, qual é o papel de Node e qual é o papel do runtime de containers?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Duas instâncias criadas da mesma imagem são o mesmo container?</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Compose instala um kernel e executa o JavaScript da aplicação?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Discuta primeiro. O próximo slide traz as respostas comentadas.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Primeira execução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E4·23</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498" b="1">
                <a:solidFill>
                  <a:srgbClr val="1B2A4A"/>
                </a:solidFill>
                <a:latin typeface="Aptos"/>
              </a:defRPr>
            </a:pPr>
            <a:r>
              <a:t>Respostas comentadas | Componentes e responsabilidades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explicado • relacione cada resposta ao exemplo observado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Node executa o JavaScript. O runtime de containers prepara o isolamento e inicia o processo nesse ambiente. São camadas diferentes.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Compartilham a origem, mas possuem identidade, configuração e estado de instância próprios.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Compose declara e coordena serviços usando o Engine. O processo usa seu runtime de linguagem e o kernel do host Linux.</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resposta completa identifica o componente envolvido e explica a evidência.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Primeira execução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E4·24</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Agora vamos empacotar uma aplicação real</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mesma API de visitas vai ligar os conceitos de imagem, rede e dados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Aplicação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server.js em Node.js.</a:t>
            </a:r>
          </a:p>
          <a:p>
            <a:pPr algn="l">
              <a:lnSpc>
                <a:spcPct val="105000"/>
              </a:lnSpc>
              <a:spcAft>
                <a:spcPts val="600"/>
              </a:spcAft>
              <a:defRPr sz="1800" b="0">
                <a:solidFill>
                  <a:srgbClr val="26364A"/>
                </a:solidFill>
                <a:latin typeface="Aptos"/>
              </a:defRPr>
            </a:pPr>
            <a:r>
              <a:t>GET /visitas lê o total.</a:t>
            </a:r>
          </a:p>
          <a:p>
            <a:pPr algn="l">
              <a:lnSpc>
                <a:spcPct val="105000"/>
              </a:lnSpc>
              <a:spcAft>
                <a:spcPts val="600"/>
              </a:spcAft>
              <a:defRPr sz="1800" b="0">
                <a:solidFill>
                  <a:srgbClr val="26364A"/>
                </a:solidFill>
                <a:latin typeface="Aptos"/>
              </a:defRPr>
            </a:pPr>
            <a:r>
              <a:t>POST /visitas incrementa o total.</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Dependência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PostgreSQL guarda o contador.</a:t>
            </a:r>
          </a:p>
          <a:p>
            <a:pPr algn="l">
              <a:lnSpc>
                <a:spcPct val="105000"/>
              </a:lnSpc>
              <a:spcAft>
                <a:spcPts val="600"/>
              </a:spcAft>
              <a:defRPr sz="1800" b="0">
                <a:solidFill>
                  <a:srgbClr val="26364A"/>
                </a:solidFill>
                <a:latin typeface="Aptos"/>
              </a:defRPr>
            </a:pPr>
            <a:r>
              <a:t>A biblioteca pg envia consultas.</a:t>
            </a:r>
          </a:p>
          <a:p>
            <a:pPr algn="l">
              <a:lnSpc>
                <a:spcPct val="105000"/>
              </a:lnSpc>
              <a:spcAft>
                <a:spcPts val="600"/>
              </a:spcAft>
              <a:defRPr sz="1800" b="0">
                <a:solidFill>
                  <a:srgbClr val="26364A"/>
                </a:solidFill>
                <a:latin typeface="Aptos"/>
              </a:defRPr>
            </a:pPr>
            <a:r>
              <a:t>DATABASE_URL informa o destino.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Contrato de saúde</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/health/live: processo responde.</a:t>
            </a:r>
          </a:p>
          <a:p>
            <a:pPr algn="l">
              <a:lnSpc>
                <a:spcPct val="105000"/>
              </a:lnSpc>
              <a:spcAft>
                <a:spcPts val="600"/>
              </a:spcAft>
              <a:defRPr sz="1800" b="0">
                <a:solidFill>
                  <a:srgbClr val="26364A"/>
                </a:solidFill>
                <a:latin typeface="Aptos"/>
              </a:defRPr>
            </a:pPr>
            <a:r>
              <a:t>/health/ready: SELECT 1 no banco.</a:t>
            </a:r>
          </a:p>
          <a:p>
            <a:pPr algn="l">
              <a:lnSpc>
                <a:spcPct val="105000"/>
              </a:lnSpc>
              <a:spcAft>
                <a:spcPts val="600"/>
              </a:spcAft>
              <a:defRPr sz="1800" b="0">
                <a:solidFill>
                  <a:srgbClr val="26364A"/>
                </a:solidFill>
                <a:latin typeface="Aptos"/>
              </a:defRPr>
            </a:pPr>
            <a:r>
              <a:t>A operação de visitas será testada à parte.</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aplicação de exemplo ensina o padrão; a equipe deve adaptar esse padrão à aplicação que já escolheu.</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E4·25</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498" b="1">
                <a:solidFill>
                  <a:srgbClr val="1B2A4A"/>
                </a:solidFill>
                <a:latin typeface="Aptos"/>
              </a:defRPr>
            </a:pPr>
            <a:r>
              <a:t>Arquivos do laboratório: uma responsabilidade por arquivo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Local: Práticas/encontro-4-containers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80390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356615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Arquivo</a:t>
            </a:r>
          </a:p>
        </p:txBody>
      </p:sp>
      <p:sp>
        <p:nvSpPr>
          <p:cNvPr id="7" name="Rounded Rectangle 6"/>
          <p:cNvSpPr/>
          <p:nvPr/>
        </p:nvSpPr>
        <p:spPr>
          <a:xfrm>
            <a:off x="640080" y="2386584"/>
            <a:ext cx="380390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server.js</a:t>
            </a:r>
          </a:p>
        </p:txBody>
      </p:sp>
      <p:sp>
        <p:nvSpPr>
          <p:cNvPr id="9" name="Rounded Rectangle 8"/>
          <p:cNvSpPr/>
          <p:nvPr/>
        </p:nvSpPr>
        <p:spPr>
          <a:xfrm>
            <a:off x="640080" y="3008376"/>
            <a:ext cx="3803903"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package.json + lockfile</a:t>
            </a:r>
          </a:p>
        </p:txBody>
      </p:sp>
      <p:sp>
        <p:nvSpPr>
          <p:cNvPr id="11" name="Rounded Rectangle 10"/>
          <p:cNvSpPr/>
          <p:nvPr/>
        </p:nvSpPr>
        <p:spPr>
          <a:xfrm>
            <a:off x="640080" y="3630168"/>
            <a:ext cx="380390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Dockerfile + .dockerignore</a:t>
            </a:r>
          </a:p>
        </p:txBody>
      </p:sp>
      <p:sp>
        <p:nvSpPr>
          <p:cNvPr id="13" name="Rounded Rectangle 12"/>
          <p:cNvSpPr/>
          <p:nvPr/>
        </p:nvSpPr>
        <p:spPr>
          <a:xfrm>
            <a:off x="640080" y="4251960"/>
            <a:ext cx="3803903"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compose.yaml</a:t>
            </a:r>
          </a:p>
        </p:txBody>
      </p:sp>
      <p:sp>
        <p:nvSpPr>
          <p:cNvPr id="15" name="Rounded Rectangle 14"/>
          <p:cNvSpPr/>
          <p:nvPr/>
        </p:nvSpPr>
        <p:spPr>
          <a:xfrm>
            <a:off x="640080" y="4873752"/>
            <a:ext cx="380390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init.sql + README.md</a:t>
            </a:r>
          </a:p>
        </p:txBody>
      </p:sp>
      <p:sp>
        <p:nvSpPr>
          <p:cNvPr id="17" name="Rounded Rectangle 16"/>
          <p:cNvSpPr/>
          <p:nvPr/>
        </p:nvSpPr>
        <p:spPr>
          <a:xfrm>
            <a:off x="4480559" y="1764792"/>
            <a:ext cx="70957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9431" y="1874519"/>
            <a:ext cx="68580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Responsabilidade</a:t>
            </a:r>
          </a:p>
        </p:txBody>
      </p:sp>
      <p:sp>
        <p:nvSpPr>
          <p:cNvPr id="19" name="Rounded Rectangle 18"/>
          <p:cNvSpPr/>
          <p:nvPr/>
        </p:nvSpPr>
        <p:spPr>
          <a:xfrm>
            <a:off x="4480559" y="2386584"/>
            <a:ext cx="70957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1" y="2436876"/>
            <a:ext cx="68580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Comportamento HTTP e acesso ao banco.</a:t>
            </a:r>
          </a:p>
        </p:txBody>
      </p:sp>
      <p:sp>
        <p:nvSpPr>
          <p:cNvPr id="21" name="Rounded Rectangle 20"/>
          <p:cNvSpPr/>
          <p:nvPr/>
        </p:nvSpPr>
        <p:spPr>
          <a:xfrm>
            <a:off x="4480559" y="3008376"/>
            <a:ext cx="709574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9431" y="3058668"/>
            <a:ext cx="68580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Dependências e versões resolvidas.</a:t>
            </a:r>
          </a:p>
        </p:txBody>
      </p:sp>
      <p:sp>
        <p:nvSpPr>
          <p:cNvPr id="23" name="Rounded Rectangle 22"/>
          <p:cNvSpPr/>
          <p:nvPr/>
        </p:nvSpPr>
        <p:spPr>
          <a:xfrm>
            <a:off x="4480559" y="3630168"/>
            <a:ext cx="70957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3680459"/>
            <a:ext cx="68580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Construção da imagem e controle do contexto.</a:t>
            </a:r>
          </a:p>
        </p:txBody>
      </p:sp>
      <p:sp>
        <p:nvSpPr>
          <p:cNvPr id="25" name="Rounded Rectangle 24"/>
          <p:cNvSpPr/>
          <p:nvPr/>
        </p:nvSpPr>
        <p:spPr>
          <a:xfrm>
            <a:off x="4480559" y="4251960"/>
            <a:ext cx="709574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1" y="4302252"/>
            <a:ext cx="68580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Execução dos serviços e recursos compartilhados.</a:t>
            </a:r>
          </a:p>
        </p:txBody>
      </p:sp>
      <p:sp>
        <p:nvSpPr>
          <p:cNvPr id="27" name="Rounded Rectangle 26"/>
          <p:cNvSpPr/>
          <p:nvPr/>
        </p:nvSpPr>
        <p:spPr>
          <a:xfrm>
            <a:off x="4480559" y="4873752"/>
            <a:ext cx="70957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9431" y="4924044"/>
            <a:ext cx="68580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Inicialização didática do banco e instruções verificáveis.</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Para reproduzir a execução, o repositório precisa trazer todos os arquivos necessários, além das instruções.</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E4·26</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Dockerfile: a receita de construção da imagem</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Arquivo completo da API • o código é JavaScript, sem etapa de compilação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FROM node:22-bookworm-slim</a:t>
            </a:r>
          </a:p>
          <a:p>
            <a:pPr algn="l">
              <a:lnSpc>
                <a:spcPct val="105000"/>
              </a:lnSpc>
              <a:spcAft>
                <a:spcPts val="100"/>
              </a:spcAft>
              <a:defRPr sz="1800" b="0">
                <a:solidFill>
                  <a:srgbClr val="FFFFFF"/>
                </a:solidFill>
                <a:latin typeface="DejaVu Sans Mono"/>
              </a:defRPr>
            </a:pPr>
            <a:r>
              <a:t>WORKDIR /app</a:t>
            </a:r>
          </a:p>
          <a:p>
            <a:pPr algn="l">
              <a:lnSpc>
                <a:spcPct val="105000"/>
              </a:lnSpc>
              <a:spcAft>
                <a:spcPts val="100"/>
              </a:spcAft>
              <a:defRPr sz="1800" b="0">
                <a:solidFill>
                  <a:srgbClr val="FFFFFF"/>
                </a:solidFill>
                <a:latin typeface="DejaVu Sans Mono"/>
              </a:defRPr>
            </a:pPr>
            <a:r>
              <a:t>COPY package.json package-lock.json ./</a:t>
            </a:r>
          </a:p>
          <a:p>
            <a:pPr algn="l">
              <a:lnSpc>
                <a:spcPct val="105000"/>
              </a:lnSpc>
              <a:spcAft>
                <a:spcPts val="100"/>
              </a:spcAft>
              <a:defRPr sz="1800" b="0">
                <a:solidFill>
                  <a:srgbClr val="FFFFFF"/>
                </a:solidFill>
                <a:latin typeface="DejaVu Sans Mono"/>
              </a:defRPr>
            </a:pPr>
            <a:r>
              <a:t>RUN npm ci --omit=dev</a:t>
            </a:r>
          </a:p>
          <a:p>
            <a:pPr algn="l">
              <a:lnSpc>
                <a:spcPct val="105000"/>
              </a:lnSpc>
              <a:spcAft>
                <a:spcPts val="100"/>
              </a:spcAft>
              <a:defRPr sz="1800" b="0">
                <a:solidFill>
                  <a:srgbClr val="FFFFFF"/>
                </a:solidFill>
                <a:latin typeface="DejaVu Sans Mono"/>
              </a:defRPr>
            </a:pPr>
            <a:r>
              <a:t>COPY --chown=node:node server.js ./</a:t>
            </a:r>
          </a:p>
          <a:p>
            <a:pPr algn="l">
              <a:lnSpc>
                <a:spcPct val="105000"/>
              </a:lnSpc>
              <a:spcAft>
                <a:spcPts val="100"/>
              </a:spcAft>
              <a:defRPr sz="1800" b="0">
                <a:solidFill>
                  <a:srgbClr val="FFFFFF"/>
                </a:solidFill>
                <a:latin typeface="DejaVu Sans Mono"/>
              </a:defRPr>
            </a:pPr>
            <a:r>
              <a:t>ENV NODE_ENV=production</a:t>
            </a:r>
          </a:p>
          <a:p>
            <a:pPr algn="l">
              <a:lnSpc>
                <a:spcPct val="105000"/>
              </a:lnSpc>
              <a:spcAft>
                <a:spcPts val="100"/>
              </a:spcAft>
              <a:defRPr sz="1800" b="0">
                <a:solidFill>
                  <a:srgbClr val="FFFFFF"/>
                </a:solidFill>
                <a:latin typeface="DejaVu Sans Mono"/>
              </a:defRPr>
            </a:pPr>
            <a:r>
              <a:t>USER node</a:t>
            </a:r>
          </a:p>
          <a:p>
            <a:pPr algn="l">
              <a:lnSpc>
                <a:spcPct val="105000"/>
              </a:lnSpc>
              <a:spcAft>
                <a:spcPts val="100"/>
              </a:spcAft>
              <a:defRPr sz="1800" b="0">
                <a:solidFill>
                  <a:srgbClr val="FFFFFF"/>
                </a:solidFill>
                <a:latin typeface="DejaVu Sans Mono"/>
              </a:defRPr>
            </a:pPr>
            <a:r>
              <a:t>EXPOSE 3000</a:t>
            </a:r>
          </a:p>
          <a:p>
            <a:pPr algn="l">
              <a:lnSpc>
                <a:spcPct val="105000"/>
              </a:lnSpc>
              <a:spcAft>
                <a:spcPts val="100"/>
              </a:spcAft>
              <a:defRPr sz="1800" b="0">
                <a:solidFill>
                  <a:srgbClr val="FFFFFF"/>
                </a:solidFill>
                <a:latin typeface="DejaVu Sans Mono"/>
              </a:defRPr>
            </a:pPr>
            <a:r>
              <a:t>CMD ["node", "server.js"]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Durante o build</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Selecionar a base.</a:t>
            </a:r>
          </a:p>
          <a:p>
            <a:pPr algn="l">
              <a:lnSpc>
                <a:spcPct val="100000"/>
              </a:lnSpc>
              <a:spcAft>
                <a:spcPts val="300"/>
              </a:spcAft>
              <a:defRPr sz="1500" b="0">
                <a:solidFill>
                  <a:srgbClr val="26364A"/>
                </a:solidFill>
                <a:latin typeface="Aptos"/>
              </a:defRPr>
            </a:pPr>
            <a:r>
              <a:t>Instalar pacotes pelo lockfile.</a:t>
            </a:r>
          </a:p>
          <a:p>
            <a:pPr algn="l">
              <a:lnSpc>
                <a:spcPct val="100000"/>
              </a:lnSpc>
              <a:spcAft>
                <a:spcPts val="300"/>
              </a:spcAft>
              <a:defRPr sz="1500" b="0">
                <a:solidFill>
                  <a:srgbClr val="26364A"/>
                </a:solidFill>
                <a:latin typeface="Aptos"/>
              </a:defRPr>
            </a:pPr>
            <a:r>
              <a:t>Copiar os arquivos da aplicação.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Na execução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Definir ambiente e usuário.</a:t>
            </a:r>
          </a:p>
          <a:p>
            <a:pPr algn="l">
              <a:lnSpc>
                <a:spcPct val="100000"/>
              </a:lnSpc>
              <a:spcAft>
                <a:spcPts val="300"/>
              </a:spcAft>
              <a:defRPr sz="1500" b="0">
                <a:solidFill>
                  <a:srgbClr val="26364A"/>
                </a:solidFill>
                <a:latin typeface="Aptos"/>
              </a:defRPr>
            </a:pPr>
            <a:r>
              <a:t>Documentar a porta.</a:t>
            </a:r>
          </a:p>
          <a:p>
            <a:pPr algn="l">
              <a:lnSpc>
                <a:spcPct val="100000"/>
              </a:lnSpc>
              <a:spcAft>
                <a:spcPts val="300"/>
              </a:spcAft>
              <a:defRPr sz="1500" b="0">
                <a:solidFill>
                  <a:srgbClr val="26364A"/>
                </a:solidFill>
                <a:latin typeface="Aptos"/>
              </a:defRPr>
            </a:pPr>
            <a:r>
              <a:t>Indicar o comando principal.</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Build produz a imagem. A API começa a atender somente quando um container executa o comando definido.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E4·27</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Dockerfile: o que ocorre durante o build</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ordem cria os arquivos que farão parte da imagem</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534009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510235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Instrução</a:t>
            </a:r>
          </a:p>
        </p:txBody>
      </p:sp>
      <p:sp>
        <p:nvSpPr>
          <p:cNvPr id="7" name="Rounded Rectangle 6"/>
          <p:cNvSpPr/>
          <p:nvPr/>
        </p:nvSpPr>
        <p:spPr>
          <a:xfrm>
            <a:off x="640080" y="2386584"/>
            <a:ext cx="53400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FROM node:22-bookworm-slim</a:t>
            </a:r>
          </a:p>
        </p:txBody>
      </p:sp>
      <p:sp>
        <p:nvSpPr>
          <p:cNvPr id="9" name="Rounded Rectangle 8"/>
          <p:cNvSpPr/>
          <p:nvPr/>
        </p:nvSpPr>
        <p:spPr>
          <a:xfrm>
            <a:off x="640080" y="3008376"/>
            <a:ext cx="534009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WORKDIR /app</a:t>
            </a:r>
          </a:p>
        </p:txBody>
      </p:sp>
      <p:sp>
        <p:nvSpPr>
          <p:cNvPr id="11" name="Rounded Rectangle 10"/>
          <p:cNvSpPr/>
          <p:nvPr/>
        </p:nvSpPr>
        <p:spPr>
          <a:xfrm>
            <a:off x="640080" y="3630168"/>
            <a:ext cx="53400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COPY package.json package-lock.json ./</a:t>
            </a:r>
          </a:p>
        </p:txBody>
      </p:sp>
      <p:sp>
        <p:nvSpPr>
          <p:cNvPr id="13" name="Rounded Rectangle 12"/>
          <p:cNvSpPr/>
          <p:nvPr/>
        </p:nvSpPr>
        <p:spPr>
          <a:xfrm>
            <a:off x="640080" y="4251960"/>
            <a:ext cx="534009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RUN npm ci --omit=dev</a:t>
            </a:r>
          </a:p>
        </p:txBody>
      </p:sp>
      <p:sp>
        <p:nvSpPr>
          <p:cNvPr id="15" name="Rounded Rectangle 14"/>
          <p:cNvSpPr/>
          <p:nvPr/>
        </p:nvSpPr>
        <p:spPr>
          <a:xfrm>
            <a:off x="640080" y="4873752"/>
            <a:ext cx="53400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COPY --chown=node:node server.js ./</a:t>
            </a:r>
          </a:p>
        </p:txBody>
      </p:sp>
      <p:sp>
        <p:nvSpPr>
          <p:cNvPr id="17" name="Rounded Rectangle 16"/>
          <p:cNvSpPr/>
          <p:nvPr/>
        </p:nvSpPr>
        <p:spPr>
          <a:xfrm>
            <a:off x="6016752" y="1764792"/>
            <a:ext cx="555955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35624" y="1874519"/>
            <a:ext cx="532180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Efeito no exemplo</a:t>
            </a:r>
          </a:p>
        </p:txBody>
      </p:sp>
      <p:sp>
        <p:nvSpPr>
          <p:cNvPr id="19" name="Rounded Rectangle 18"/>
          <p:cNvSpPr/>
          <p:nvPr/>
        </p:nvSpPr>
        <p:spPr>
          <a:xfrm>
            <a:off x="6016752" y="2386584"/>
            <a:ext cx="555955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5624" y="2436876"/>
            <a:ext cx="532180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Escolhe o runtime e os arquivos-base.</a:t>
            </a:r>
          </a:p>
        </p:txBody>
      </p:sp>
      <p:sp>
        <p:nvSpPr>
          <p:cNvPr id="21" name="Rounded Rectangle 20"/>
          <p:cNvSpPr/>
          <p:nvPr/>
        </p:nvSpPr>
        <p:spPr>
          <a:xfrm>
            <a:off x="6016752" y="3008376"/>
            <a:ext cx="5559552"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35624" y="3058668"/>
            <a:ext cx="532180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Define /app como diretório de trabalho.</a:t>
            </a:r>
          </a:p>
        </p:txBody>
      </p:sp>
      <p:sp>
        <p:nvSpPr>
          <p:cNvPr id="23" name="Rounded Rectangle 22"/>
          <p:cNvSpPr/>
          <p:nvPr/>
        </p:nvSpPr>
        <p:spPr>
          <a:xfrm>
            <a:off x="6016752" y="3630168"/>
            <a:ext cx="555955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35624" y="3680459"/>
            <a:ext cx="532180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Coloca os manifests antes da instalação.</a:t>
            </a:r>
          </a:p>
        </p:txBody>
      </p:sp>
      <p:sp>
        <p:nvSpPr>
          <p:cNvPr id="25" name="Rounded Rectangle 24"/>
          <p:cNvSpPr/>
          <p:nvPr/>
        </p:nvSpPr>
        <p:spPr>
          <a:xfrm>
            <a:off x="6016752" y="4251960"/>
            <a:ext cx="5559552"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35624" y="4302252"/>
            <a:ext cx="532180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Instala as dependências de execução.</a:t>
            </a:r>
          </a:p>
        </p:txBody>
      </p:sp>
      <p:sp>
        <p:nvSpPr>
          <p:cNvPr id="27" name="Rounded Rectangle 26"/>
          <p:cNvSpPr/>
          <p:nvPr/>
        </p:nvSpPr>
        <p:spPr>
          <a:xfrm>
            <a:off x="6016752" y="4873752"/>
            <a:ext cx="555955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35624" y="4924044"/>
            <a:ext cx="532180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Inclui o código com propriedade definida.</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código e as dependências precisam entrar na imagem pelo build, não por edição manual de uma instância.</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E4·28</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Dockerfile: como a instância vai iniciar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Metadados que orientam a execução do processo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501091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477316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Instrução</a:t>
            </a:r>
          </a:p>
        </p:txBody>
      </p:sp>
      <p:sp>
        <p:nvSpPr>
          <p:cNvPr id="7" name="Rounded Rectangle 6"/>
          <p:cNvSpPr/>
          <p:nvPr/>
        </p:nvSpPr>
        <p:spPr>
          <a:xfrm>
            <a:off x="640080" y="2386584"/>
            <a:ext cx="501091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477316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ENV NODE_ENV=production</a:t>
            </a:r>
          </a:p>
        </p:txBody>
      </p:sp>
      <p:sp>
        <p:nvSpPr>
          <p:cNvPr id="9" name="Rounded Rectangle 8"/>
          <p:cNvSpPr/>
          <p:nvPr/>
        </p:nvSpPr>
        <p:spPr>
          <a:xfrm>
            <a:off x="640080" y="3163824"/>
            <a:ext cx="5010912"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477316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USER node</a:t>
            </a:r>
          </a:p>
        </p:txBody>
      </p:sp>
      <p:sp>
        <p:nvSpPr>
          <p:cNvPr id="11" name="Rounded Rectangle 10"/>
          <p:cNvSpPr/>
          <p:nvPr/>
        </p:nvSpPr>
        <p:spPr>
          <a:xfrm>
            <a:off x="640080" y="3941063"/>
            <a:ext cx="501091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477316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EXPOSE 3000</a:t>
            </a:r>
          </a:p>
        </p:txBody>
      </p:sp>
      <p:sp>
        <p:nvSpPr>
          <p:cNvPr id="13" name="Rounded Rectangle 12"/>
          <p:cNvSpPr/>
          <p:nvPr/>
        </p:nvSpPr>
        <p:spPr>
          <a:xfrm>
            <a:off x="640080" y="4718304"/>
            <a:ext cx="5010912"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477316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CMD ["node", "server.js"]</a:t>
            </a:r>
          </a:p>
        </p:txBody>
      </p:sp>
      <p:sp>
        <p:nvSpPr>
          <p:cNvPr id="15" name="Rounded Rectangle 14"/>
          <p:cNvSpPr/>
          <p:nvPr/>
        </p:nvSpPr>
        <p:spPr>
          <a:xfrm>
            <a:off x="5687568" y="1764792"/>
            <a:ext cx="588873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06440" y="1874519"/>
            <a:ext cx="565099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Efeito na execução</a:t>
            </a:r>
          </a:p>
        </p:txBody>
      </p:sp>
      <p:sp>
        <p:nvSpPr>
          <p:cNvPr id="17" name="Rounded Rectangle 16"/>
          <p:cNvSpPr/>
          <p:nvPr/>
        </p:nvSpPr>
        <p:spPr>
          <a:xfrm>
            <a:off x="5687568" y="2386584"/>
            <a:ext cx="588873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06440" y="2436876"/>
            <a:ext cx="565099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Define um valor padrão de configuração.</a:t>
            </a:r>
          </a:p>
        </p:txBody>
      </p:sp>
      <p:sp>
        <p:nvSpPr>
          <p:cNvPr id="19" name="Rounded Rectangle 18"/>
          <p:cNvSpPr/>
          <p:nvPr/>
        </p:nvSpPr>
        <p:spPr>
          <a:xfrm>
            <a:off x="5687568" y="3163824"/>
            <a:ext cx="5888736"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06440" y="3214116"/>
            <a:ext cx="565099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Executa como o usuário node da imagem.</a:t>
            </a:r>
          </a:p>
        </p:txBody>
      </p:sp>
      <p:sp>
        <p:nvSpPr>
          <p:cNvPr id="21" name="Rounded Rectangle 20"/>
          <p:cNvSpPr/>
          <p:nvPr/>
        </p:nvSpPr>
        <p:spPr>
          <a:xfrm>
            <a:off x="5687568" y="3941063"/>
            <a:ext cx="588873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06440" y="3991355"/>
            <a:ext cx="565099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Documenta a porta; não publica no host.</a:t>
            </a:r>
          </a:p>
        </p:txBody>
      </p:sp>
      <p:sp>
        <p:nvSpPr>
          <p:cNvPr id="23" name="Rounded Rectangle 22"/>
          <p:cNvSpPr/>
          <p:nvPr/>
        </p:nvSpPr>
        <p:spPr>
          <a:xfrm>
            <a:off x="5687568" y="4718304"/>
            <a:ext cx="5888736"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06440" y="4768596"/>
            <a:ext cx="565099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Inicia o processo principal da API.</a:t>
            </a:r>
          </a:p>
        </p:txBody>
      </p:sp>
      <p:sp>
        <p:nvSpPr>
          <p:cNvPr id="25" name="Rounded Rectangle 24"/>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RUN executa uma etapa de construção; CMD define o comando padrão para a execução do container.</a:t>
            </a:r>
          </a:p>
        </p:txBody>
      </p:sp>
      <p:sp>
        <p:nvSpPr>
          <p:cNvPr id="27" name="TextBox 2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28" name="TextBox 2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E4·29</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Lockfile e cache: reproduzir sem reinstalar à toa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Instalar dependências antes de copiar o código favorece a reutilização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5120640" cy="45720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2A5C8A"/>
                </a:solidFill>
                <a:latin typeface="Aptos"/>
              </a:defRPr>
            </a:pPr>
            <a:r>
              <a:t>Ordem que desperdiça cache</a:t>
            </a:r>
          </a:p>
        </p:txBody>
      </p:sp>
      <p:sp>
        <p:nvSpPr>
          <p:cNvPr id="6" name="Rounded Rectangle 5"/>
          <p:cNvSpPr/>
          <p:nvPr/>
        </p:nvSpPr>
        <p:spPr>
          <a:xfrm>
            <a:off x="640080" y="2377440"/>
            <a:ext cx="5120640" cy="69494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23744"/>
            <a:ext cx="4846320" cy="438912"/>
          </a:xfrm>
          <a:prstGeom prst="rect">
            <a:avLst/>
          </a:prstGeom>
          <a:noFill/>
        </p:spPr>
        <p:txBody>
          <a:bodyPr wrap="square" anchor="t" anchorCtr="0" lIns="27432" rIns="27432" tIns="18288" bIns="0">
            <a:noAutofit/>
          </a:bodyPr>
          <a:lstStyle/>
          <a:p>
            <a:pPr algn="l">
              <a:lnSpc>
                <a:spcPct val="105000"/>
              </a:lnSpc>
              <a:spcAft>
                <a:spcPts val="500"/>
              </a:spcAft>
              <a:defRPr sz="1800" b="0">
                <a:solidFill>
                  <a:srgbClr val="26364A"/>
                </a:solidFill>
                <a:latin typeface="DejaVu Sans Mono"/>
              </a:defRPr>
            </a:pPr>
            <a:r>
              <a:t>COPY . .</a:t>
            </a:r>
          </a:p>
        </p:txBody>
      </p:sp>
      <p:sp>
        <p:nvSpPr>
          <p:cNvPr id="8" name="Rounded Rectangle 7"/>
          <p:cNvSpPr/>
          <p:nvPr/>
        </p:nvSpPr>
        <p:spPr>
          <a:xfrm>
            <a:off x="640080" y="3273552"/>
            <a:ext cx="5120640" cy="69494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19856"/>
            <a:ext cx="4846320" cy="438912"/>
          </a:xfrm>
          <a:prstGeom prst="rect">
            <a:avLst/>
          </a:prstGeom>
          <a:noFill/>
        </p:spPr>
        <p:txBody>
          <a:bodyPr wrap="square" anchor="t" anchorCtr="0" lIns="27432" rIns="27432" tIns="18288" bIns="0">
            <a:noAutofit/>
          </a:bodyPr>
          <a:lstStyle/>
          <a:p>
            <a:pPr algn="l">
              <a:lnSpc>
                <a:spcPct val="105000"/>
              </a:lnSpc>
              <a:spcAft>
                <a:spcPts val="500"/>
              </a:spcAft>
              <a:defRPr sz="1800" b="0">
                <a:solidFill>
                  <a:srgbClr val="26364A"/>
                </a:solidFill>
                <a:latin typeface="DejaVu Sans Mono"/>
              </a:defRPr>
            </a:pPr>
            <a:r>
              <a:t>RUN npm ci</a:t>
            </a:r>
          </a:p>
        </p:txBody>
      </p:sp>
      <p:sp>
        <p:nvSpPr>
          <p:cNvPr id="10" name="Rounded Rectangle 9"/>
          <p:cNvSpPr/>
          <p:nvPr/>
        </p:nvSpPr>
        <p:spPr>
          <a:xfrm>
            <a:off x="640080" y="4169664"/>
            <a:ext cx="5120640" cy="69494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315968"/>
            <a:ext cx="4846320" cy="438912"/>
          </a:xfrm>
          <a:prstGeom prst="rect">
            <a:avLst/>
          </a:prstGeom>
          <a:noFill/>
        </p:spPr>
        <p:txBody>
          <a:bodyPr wrap="square" anchor="t" anchorCtr="0" lIns="27432" rIns="27432" tIns="18288" bIns="0">
            <a:noAutofit/>
          </a:bodyPr>
          <a:lstStyle/>
          <a:p>
            <a:pPr algn="l">
              <a:lnSpc>
                <a:spcPct val="105000"/>
              </a:lnSpc>
              <a:spcAft>
                <a:spcPts val="500"/>
              </a:spcAft>
              <a:defRPr sz="1800" b="0">
                <a:solidFill>
                  <a:srgbClr val="26364A"/>
                </a:solidFill>
                <a:latin typeface="DejaVu Sans Mono"/>
              </a:defRPr>
            </a:pPr>
            <a:r>
              <a:t>Código mudou → reinstala</a:t>
            </a:r>
          </a:p>
        </p:txBody>
      </p:sp>
      <p:sp>
        <p:nvSpPr>
          <p:cNvPr id="12" name="TextBox 11"/>
          <p:cNvSpPr txBox="1"/>
          <p:nvPr/>
        </p:nvSpPr>
        <p:spPr>
          <a:xfrm>
            <a:off x="6309360" y="1737360"/>
            <a:ext cx="5120640" cy="45720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2A5C8A"/>
                </a:solidFill>
                <a:latin typeface="Aptos"/>
              </a:defRPr>
            </a:pPr>
            <a:r>
              <a:t>Ordem do laboratório</a:t>
            </a:r>
          </a:p>
        </p:txBody>
      </p:sp>
      <p:sp>
        <p:nvSpPr>
          <p:cNvPr id="13" name="Rounded Rectangle 12"/>
          <p:cNvSpPr/>
          <p:nvPr/>
        </p:nvSpPr>
        <p:spPr>
          <a:xfrm>
            <a:off x="6309360" y="2377440"/>
            <a:ext cx="5120640" cy="69494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523744"/>
            <a:ext cx="4846320" cy="438912"/>
          </a:xfrm>
          <a:prstGeom prst="rect">
            <a:avLst/>
          </a:prstGeom>
          <a:noFill/>
        </p:spPr>
        <p:txBody>
          <a:bodyPr wrap="square" anchor="t" anchorCtr="0" lIns="27432" rIns="27432" tIns="18288" bIns="0">
            <a:noAutofit/>
          </a:bodyPr>
          <a:lstStyle/>
          <a:p>
            <a:pPr algn="l">
              <a:lnSpc>
                <a:spcPct val="105000"/>
              </a:lnSpc>
              <a:spcAft>
                <a:spcPts val="500"/>
              </a:spcAft>
              <a:defRPr sz="1800" b="0">
                <a:solidFill>
                  <a:srgbClr val="26364A"/>
                </a:solidFill>
                <a:latin typeface="DejaVu Sans Mono"/>
              </a:defRPr>
            </a:pPr>
            <a:r>
              <a:t>COPY package*.json ./</a:t>
            </a:r>
          </a:p>
        </p:txBody>
      </p:sp>
      <p:sp>
        <p:nvSpPr>
          <p:cNvPr id="15" name="Rounded Rectangle 14"/>
          <p:cNvSpPr/>
          <p:nvPr/>
        </p:nvSpPr>
        <p:spPr>
          <a:xfrm>
            <a:off x="6309360" y="3273552"/>
            <a:ext cx="5120640" cy="69494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419856"/>
            <a:ext cx="4846320" cy="438912"/>
          </a:xfrm>
          <a:prstGeom prst="rect">
            <a:avLst/>
          </a:prstGeom>
          <a:noFill/>
        </p:spPr>
        <p:txBody>
          <a:bodyPr wrap="square" anchor="t" anchorCtr="0" lIns="27432" rIns="27432" tIns="18288" bIns="0">
            <a:noAutofit/>
          </a:bodyPr>
          <a:lstStyle/>
          <a:p>
            <a:pPr algn="l">
              <a:lnSpc>
                <a:spcPct val="105000"/>
              </a:lnSpc>
              <a:spcAft>
                <a:spcPts val="500"/>
              </a:spcAft>
              <a:defRPr sz="1800" b="0">
                <a:solidFill>
                  <a:srgbClr val="26364A"/>
                </a:solidFill>
                <a:latin typeface="DejaVu Sans Mono"/>
              </a:defRPr>
            </a:pPr>
            <a:r>
              <a:t>RUN npm ci</a:t>
            </a:r>
          </a:p>
        </p:txBody>
      </p:sp>
      <p:sp>
        <p:nvSpPr>
          <p:cNvPr id="17" name="Rounded Rectangle 16"/>
          <p:cNvSpPr/>
          <p:nvPr/>
        </p:nvSpPr>
        <p:spPr>
          <a:xfrm>
            <a:off x="6309360" y="4169664"/>
            <a:ext cx="5120640" cy="69494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4315968"/>
            <a:ext cx="4846320" cy="438912"/>
          </a:xfrm>
          <a:prstGeom prst="rect">
            <a:avLst/>
          </a:prstGeom>
          <a:noFill/>
        </p:spPr>
        <p:txBody>
          <a:bodyPr wrap="square" anchor="t" anchorCtr="0" lIns="27432" rIns="27432" tIns="18288" bIns="0">
            <a:noAutofit/>
          </a:bodyPr>
          <a:lstStyle/>
          <a:p>
            <a:pPr algn="l">
              <a:lnSpc>
                <a:spcPct val="105000"/>
              </a:lnSpc>
              <a:spcAft>
                <a:spcPts val="500"/>
              </a:spcAft>
              <a:defRPr sz="1800" b="0">
                <a:solidFill>
                  <a:srgbClr val="26364A"/>
                </a:solidFill>
                <a:latin typeface="DejaVu Sans Mono"/>
              </a:defRPr>
            </a:pPr>
            <a:r>
              <a:t>COPY server.js ./</a:t>
            </a:r>
          </a:p>
        </p:txBody>
      </p:sp>
      <p:sp>
        <p:nvSpPr>
          <p:cNvPr id="19" name="Rounded Rectangle 1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Alteração de código não precisa reinstalar dependências quando suas entradas e o cache permanecem válidos.</a:t>
            </a:r>
          </a:p>
        </p:txBody>
      </p:sp>
      <p:sp>
        <p:nvSpPr>
          <p:cNvPr id="21" name="TextBox 2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22" name="TextBox 2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Contexto de build e .dockerignore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ponto em docker build indica o diretório usado como contexto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node_modules</a:t>
            </a:r>
          </a:p>
          <a:p>
            <a:pPr algn="l">
              <a:lnSpc>
                <a:spcPct val="105000"/>
              </a:lnSpc>
              <a:spcAft>
                <a:spcPts val="100"/>
              </a:spcAft>
              <a:defRPr sz="1800" b="0">
                <a:solidFill>
                  <a:srgbClr val="FFFFFF"/>
                </a:solidFill>
                <a:latin typeface="DejaVu Sans Mono"/>
              </a:defRPr>
            </a:pPr>
            <a:r>
              <a:t>.git</a:t>
            </a:r>
          </a:p>
          <a:p>
            <a:pPr algn="l">
              <a:lnSpc>
                <a:spcPct val="105000"/>
              </a:lnSpc>
              <a:spcAft>
                <a:spcPts val="100"/>
              </a:spcAft>
              <a:defRPr sz="1800" b="0">
                <a:solidFill>
                  <a:srgbClr val="FFFFFF"/>
                </a:solidFill>
                <a:latin typeface="DejaVu Sans Mono"/>
              </a:defRPr>
            </a:pPr>
            <a:r>
              <a:t>.env</a:t>
            </a:r>
          </a:p>
          <a:p>
            <a:pPr algn="l">
              <a:lnSpc>
                <a:spcPct val="105000"/>
              </a:lnSpc>
              <a:spcAft>
                <a:spcPts val="100"/>
              </a:spcAft>
              <a:defRPr sz="1800" b="0">
                <a:solidFill>
                  <a:srgbClr val="FFFFFF"/>
                </a:solidFill>
                <a:latin typeface="DejaVu Sans Mono"/>
              </a:defRPr>
            </a:pPr>
            <a:r>
              <a:t>.env.*</a:t>
            </a:r>
          </a:p>
          <a:p>
            <a:pPr algn="l">
              <a:lnSpc>
                <a:spcPct val="105000"/>
              </a:lnSpc>
              <a:spcAft>
                <a:spcPts val="100"/>
              </a:spcAft>
              <a:defRPr sz="1800" b="0">
                <a:solidFill>
                  <a:srgbClr val="FFFFFF"/>
                </a:solidFill>
                <a:latin typeface="DejaVu Sans Mono"/>
              </a:defRPr>
            </a:pPr>
            <a:r>
              <a:t>*.log</a:t>
            </a:r>
          </a:p>
          <a:p>
            <a:pPr algn="l">
              <a:lnSpc>
                <a:spcPct val="105000"/>
              </a:lnSpc>
              <a:spcAft>
                <a:spcPts val="100"/>
              </a:spcAft>
              <a:defRPr sz="1800" b="0">
                <a:solidFill>
                  <a:srgbClr val="FFFFFF"/>
                </a:solidFill>
                <a:latin typeface="DejaVu Sans Mono"/>
              </a:defRPr>
            </a:pPr>
            <a:r>
              <a:t>README.md</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Duas fronteiras</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Git filtra o versionamento.</a:t>
            </a:r>
          </a:p>
          <a:p>
            <a:pPr algn="l">
              <a:lnSpc>
                <a:spcPct val="100000"/>
              </a:lnSpc>
              <a:spcAft>
                <a:spcPts val="300"/>
              </a:spcAft>
              <a:defRPr sz="1500" b="0">
                <a:solidFill>
                  <a:srgbClr val="26364A"/>
                </a:solidFill>
                <a:latin typeface="Aptos"/>
              </a:defRPr>
            </a:pPr>
            <a:r>
              <a:t>Docker filtra o contexto.</a:t>
            </a:r>
          </a:p>
          <a:p>
            <a:pPr algn="l">
              <a:lnSpc>
                <a:spcPct val="100000"/>
              </a:lnSpc>
              <a:spcAft>
                <a:spcPts val="300"/>
              </a:spcAft>
              <a:defRPr sz="1500" b="0">
                <a:solidFill>
                  <a:srgbClr val="26364A"/>
                </a:solidFill>
                <a:latin typeface="Aptos"/>
              </a:defRPr>
            </a:pPr>
            <a:r>
              <a:t>.gitignore ≠ .dockerignore.</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No laboratório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node_modules local não entra.</a:t>
            </a:r>
          </a:p>
          <a:p>
            <a:pPr algn="l">
              <a:lnSpc>
                <a:spcPct val="100000"/>
              </a:lnSpc>
              <a:spcAft>
                <a:spcPts val="300"/>
              </a:spcAft>
              <a:defRPr sz="1500" b="0">
                <a:solidFill>
                  <a:srgbClr val="26364A"/>
                </a:solidFill>
                <a:latin typeface="Aptos"/>
              </a:defRPr>
            </a:pPr>
            <a:r>
              <a:t>Arquivos .env ficam fora.</a:t>
            </a:r>
          </a:p>
          <a:p>
            <a:pPr algn="l">
              <a:lnSpc>
                <a:spcPct val="100000"/>
              </a:lnSpc>
              <a:spcAft>
                <a:spcPts val="300"/>
              </a:spcAft>
              <a:defRPr sz="1500" b="0">
                <a:solidFill>
                  <a:srgbClr val="26364A"/>
                </a:solidFill>
                <a:latin typeface="Aptos"/>
              </a:defRPr>
            </a:pPr>
            <a:r>
              <a:t>O lockfile precisa continuar disponível.</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Reprodução e segurança começam no conjunto de arquivos que você permite entrar na construção.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E4·31</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Construir a API e observar sua execução isolada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Executar dentro da pasta do laboratório • usar dois terminais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50" b="0">
                <a:solidFill>
                  <a:srgbClr val="FFFFFF"/>
                </a:solidFill>
                <a:latin typeface="DejaVu Sans Mono"/>
              </a:defRPr>
            </a:pPr>
            <a:r>
              <a:t>docker build -t e4-api:local .</a:t>
            </a:r>
          </a:p>
          <a:p>
            <a:pPr algn="l">
              <a:lnSpc>
                <a:spcPct val="105000"/>
              </a:lnSpc>
              <a:spcAft>
                <a:spcPts val="100"/>
              </a:spcAft>
              <a:defRPr sz="1550" b="0">
                <a:solidFill>
                  <a:srgbClr val="FFFFFF"/>
                </a:solidFill>
                <a:latin typeface="DejaVu Sans Mono"/>
              </a:defRPr>
            </a:pPr>
            <a:r>
              <a:t>docker run --rm -p 127.0.0.1:18081:3000 e4-api:local</a:t>
            </a:r>
          </a:p>
          <a:p>
            <a:pPr algn="l">
              <a:lnSpc>
                <a:spcPct val="105000"/>
              </a:lnSpc>
              <a:spcAft>
                <a:spcPts val="100"/>
              </a:spcAft>
              <a:defRPr sz="1550" b="0">
                <a:solidFill>
                  <a:srgbClr val="FFFFFF"/>
                </a:solidFill>
                <a:latin typeface="DejaVu Sans Mono"/>
              </a:defRPr>
            </a:pPr>
          </a:p>
          <a:p>
            <a:pPr algn="l">
              <a:lnSpc>
                <a:spcPct val="105000"/>
              </a:lnSpc>
              <a:spcAft>
                <a:spcPts val="100"/>
              </a:spcAft>
              <a:defRPr sz="1550" b="0">
                <a:solidFill>
                  <a:srgbClr val="FFFFFF"/>
                </a:solidFill>
                <a:latin typeface="DejaVu Sans Mono"/>
              </a:defRPr>
            </a:pPr>
            <a:r>
              <a:t># Em outro terminal:</a:t>
            </a:r>
          </a:p>
          <a:p>
            <a:pPr algn="l">
              <a:lnSpc>
                <a:spcPct val="105000"/>
              </a:lnSpc>
              <a:spcAft>
                <a:spcPts val="100"/>
              </a:spcAft>
              <a:defRPr sz="1550" b="0">
                <a:solidFill>
                  <a:srgbClr val="FFFFFF"/>
                </a:solidFill>
                <a:latin typeface="DejaVu Sans Mono"/>
              </a:defRPr>
            </a:pPr>
            <a:r>
              <a:t>curl -i http://localhost:18081/health/live</a:t>
            </a:r>
          </a:p>
          <a:p>
            <a:pPr algn="l">
              <a:lnSpc>
                <a:spcPct val="105000"/>
              </a:lnSpc>
              <a:spcAft>
                <a:spcPts val="100"/>
              </a:spcAft>
              <a:defRPr sz="1550" b="0">
                <a:solidFill>
                  <a:srgbClr val="FFFFFF"/>
                </a:solidFill>
                <a:latin typeface="DejaVu Sans Mono"/>
              </a:defRPr>
            </a:pPr>
            <a:r>
              <a:t>curl -i http://localhost:18081/health/ready</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Terminal 1</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Build cria e4-api:local.</a:t>
            </a:r>
          </a:p>
          <a:p>
            <a:pPr algn="l">
              <a:lnSpc>
                <a:spcPct val="100000"/>
              </a:lnSpc>
              <a:spcAft>
                <a:spcPts val="300"/>
              </a:spcAft>
              <a:defRPr sz="1500" b="0">
                <a:solidFill>
                  <a:srgbClr val="26364A"/>
                </a:solidFill>
                <a:latin typeface="Aptos"/>
              </a:defRPr>
            </a:pPr>
            <a:r>
              <a:t>run inicia a API em primeiro plano.</a:t>
            </a:r>
          </a:p>
          <a:p>
            <a:pPr algn="l">
              <a:lnSpc>
                <a:spcPct val="100000"/>
              </a:lnSpc>
              <a:spcAft>
                <a:spcPts val="300"/>
              </a:spcAft>
              <a:defRPr sz="1500" b="0">
                <a:solidFill>
                  <a:srgbClr val="26364A"/>
                </a:solidFill>
                <a:latin typeface="Aptos"/>
              </a:defRPr>
            </a:pPr>
            <a:r>
              <a:t>Ctrl+C encerra a demonstração.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Terminal 2</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live responde 200.</a:t>
            </a:r>
          </a:p>
          <a:p>
            <a:pPr algn="l">
              <a:lnSpc>
                <a:spcPct val="100000"/>
              </a:lnSpc>
              <a:spcAft>
                <a:spcPts val="300"/>
              </a:spcAft>
              <a:defRPr sz="1500" b="0">
                <a:solidFill>
                  <a:srgbClr val="26364A"/>
                </a:solidFill>
                <a:latin typeface="Aptos"/>
              </a:defRPr>
            </a:pPr>
            <a:r>
              <a:t>ready responde 503 sem o banco.</a:t>
            </a:r>
          </a:p>
          <a:p>
            <a:pPr algn="l">
              <a:lnSpc>
                <a:spcPct val="100000"/>
              </a:lnSpc>
              <a:spcAft>
                <a:spcPts val="300"/>
              </a:spcAft>
              <a:defRPr sz="1500" b="0">
                <a:solidFill>
                  <a:srgbClr val="26364A"/>
                </a:solidFill>
                <a:latin typeface="Aptos"/>
              </a:defRPr>
            </a:pPr>
            <a:r>
              <a:t>Isso separa empacotamento de integração.</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imagem construída com sucesso ainda precisa ser executada e testada no contexto de suas dependências.</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E4·32</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46" b="1">
                <a:solidFill>
                  <a:srgbClr val="1B2A4A"/>
                </a:solidFill>
                <a:latin typeface="Aptos"/>
              </a:defRPr>
            </a:pPr>
            <a:r>
              <a:t>Recursos de imagem: construir, obter e identificar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Comandos de consulta depois do build de e4-api:local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70662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46888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Operação</a:t>
            </a:r>
          </a:p>
        </p:txBody>
      </p:sp>
      <p:sp>
        <p:nvSpPr>
          <p:cNvPr id="7" name="Rounded Rectangle 6"/>
          <p:cNvSpPr/>
          <p:nvPr/>
        </p:nvSpPr>
        <p:spPr>
          <a:xfrm>
            <a:off x="640080" y="2386584"/>
            <a:ext cx="270662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46888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Construir</a:t>
            </a:r>
          </a:p>
        </p:txBody>
      </p:sp>
      <p:sp>
        <p:nvSpPr>
          <p:cNvPr id="9" name="Rounded Rectangle 8"/>
          <p:cNvSpPr/>
          <p:nvPr/>
        </p:nvSpPr>
        <p:spPr>
          <a:xfrm>
            <a:off x="640080" y="3008376"/>
            <a:ext cx="270662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46888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Obter</a:t>
            </a:r>
          </a:p>
        </p:txBody>
      </p:sp>
      <p:sp>
        <p:nvSpPr>
          <p:cNvPr id="11" name="Rounded Rectangle 10"/>
          <p:cNvSpPr/>
          <p:nvPr/>
        </p:nvSpPr>
        <p:spPr>
          <a:xfrm>
            <a:off x="640080" y="3630168"/>
            <a:ext cx="270662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46888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Listar</a:t>
            </a:r>
          </a:p>
        </p:txBody>
      </p:sp>
      <p:sp>
        <p:nvSpPr>
          <p:cNvPr id="13" name="Rounded Rectangle 12"/>
          <p:cNvSpPr/>
          <p:nvPr/>
        </p:nvSpPr>
        <p:spPr>
          <a:xfrm>
            <a:off x="640080" y="4251960"/>
            <a:ext cx="270662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46888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Examinar</a:t>
            </a:r>
          </a:p>
        </p:txBody>
      </p:sp>
      <p:sp>
        <p:nvSpPr>
          <p:cNvPr id="15" name="Rounded Rectangle 14"/>
          <p:cNvSpPr/>
          <p:nvPr/>
        </p:nvSpPr>
        <p:spPr>
          <a:xfrm>
            <a:off x="640080" y="4873752"/>
            <a:ext cx="270662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46888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Dar outra tag</a:t>
            </a:r>
          </a:p>
        </p:txBody>
      </p:sp>
      <p:sp>
        <p:nvSpPr>
          <p:cNvPr id="17" name="Rounded Rectangle 16"/>
          <p:cNvSpPr/>
          <p:nvPr/>
        </p:nvSpPr>
        <p:spPr>
          <a:xfrm>
            <a:off x="3383280" y="1764792"/>
            <a:ext cx="819302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02152" y="1874519"/>
            <a:ext cx="795527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Comando / efeito</a:t>
            </a:r>
          </a:p>
        </p:txBody>
      </p:sp>
      <p:sp>
        <p:nvSpPr>
          <p:cNvPr id="19" name="Rounded Rectangle 18"/>
          <p:cNvSpPr/>
          <p:nvPr/>
        </p:nvSpPr>
        <p:spPr>
          <a:xfrm>
            <a:off x="3383280" y="2386584"/>
            <a:ext cx="819302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436876"/>
            <a:ext cx="795527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build -t e4-api:local . → produz a imagem do projeto.</a:t>
            </a:r>
          </a:p>
        </p:txBody>
      </p:sp>
      <p:sp>
        <p:nvSpPr>
          <p:cNvPr id="21" name="Rounded Rectangle 20"/>
          <p:cNvSpPr/>
          <p:nvPr/>
        </p:nvSpPr>
        <p:spPr>
          <a:xfrm>
            <a:off x="3383280" y="3008376"/>
            <a:ext cx="819302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02152" y="3058668"/>
            <a:ext cx="795527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pull node:22-bookworm-slim → obtém a imagem-base.</a:t>
            </a:r>
          </a:p>
        </p:txBody>
      </p:sp>
      <p:sp>
        <p:nvSpPr>
          <p:cNvPr id="23" name="Rounded Rectangle 22"/>
          <p:cNvSpPr/>
          <p:nvPr/>
        </p:nvSpPr>
        <p:spPr>
          <a:xfrm>
            <a:off x="3383280" y="3630168"/>
            <a:ext cx="819302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02152" y="3680459"/>
            <a:ext cx="795527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image ls → mostra referências locais.</a:t>
            </a:r>
          </a:p>
        </p:txBody>
      </p:sp>
      <p:sp>
        <p:nvSpPr>
          <p:cNvPr id="25" name="Rounded Rectangle 24"/>
          <p:cNvSpPr/>
          <p:nvPr/>
        </p:nvSpPr>
        <p:spPr>
          <a:xfrm>
            <a:off x="3383280" y="4251960"/>
            <a:ext cx="819302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02152" y="4302252"/>
            <a:ext cx="795527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image history e4-api:local → histórico de construção.</a:t>
            </a:r>
          </a:p>
        </p:txBody>
      </p:sp>
      <p:sp>
        <p:nvSpPr>
          <p:cNvPr id="27" name="Rounded Rectangle 26"/>
          <p:cNvSpPr/>
          <p:nvPr/>
        </p:nvSpPr>
        <p:spPr>
          <a:xfrm>
            <a:off x="3383280" y="4873752"/>
            <a:ext cx="819302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02152" y="4924044"/>
            <a:ext cx="795527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tag e4-api:local e4-api:revisao → outra referência local.</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build produz; pull obtém; tag referencia; push distribui; run cria uma instância.</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E4·33</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Imagem e execução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Verificação do bloco • responda com os conceitos e exemplos que acabamos de estudar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Trocar RUN npm ci por CMD npm ci mantém o mesmo comportamento?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Alterar server.js depois da cópia dos manifests precisa invalidar npm ci em todo build?</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Se live retorna 200 e ready retorna 503 nesta execução isolada, o que já foi comprovado?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Discuta primeiro. O próximo slide traz as respostas comentadas.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E4·34</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Imagem e execução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explicado • relacione cada resposta ao exemplo observado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RUN instala durante o build; CMD executaria a instalação na partida, no lugar do comando principal esperado.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necessariamente. A instalação pode usar cache se suas entradas e a base continuam válidas. O código foi copiado depois.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processo HTTP responde. A consulta de prontidão não passou; sem o banco integrado, ainda não há prova da funcionalidade de visitas.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resposta completa identifica o componente envolvido e explica a evidência.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E4·35</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Compose: declarar o serviço da API</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Serviço = definição • container = instância criada dessa definição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21" b="0">
                <a:solidFill>
                  <a:srgbClr val="FFFFFF"/>
                </a:solidFill>
                <a:latin typeface="DejaVu Sans Mono"/>
              </a:defRPr>
            </a:pPr>
            <a:r>
              <a:t>services:</a:t>
            </a:r>
          </a:p>
          <a:p>
            <a:pPr algn="l">
              <a:lnSpc>
                <a:spcPct val="105000"/>
              </a:lnSpc>
              <a:spcAft>
                <a:spcPts val="100"/>
              </a:spcAft>
              <a:defRPr sz="1521" b="0">
                <a:solidFill>
                  <a:srgbClr val="FFFFFF"/>
                </a:solidFill>
                <a:latin typeface="DejaVu Sans Mono"/>
              </a:defRPr>
            </a:pPr>
            <a:r>
              <a:t>  app:</a:t>
            </a:r>
          </a:p>
          <a:p>
            <a:pPr algn="l">
              <a:lnSpc>
                <a:spcPct val="105000"/>
              </a:lnSpc>
              <a:spcAft>
                <a:spcPts val="100"/>
              </a:spcAft>
              <a:defRPr sz="1521" b="0">
                <a:solidFill>
                  <a:srgbClr val="FFFFFF"/>
                </a:solidFill>
                <a:latin typeface="DejaVu Sans Mono"/>
              </a:defRPr>
            </a:pPr>
            <a:r>
              <a:t>    build: .</a:t>
            </a:r>
          </a:p>
          <a:p>
            <a:pPr algn="l">
              <a:lnSpc>
                <a:spcPct val="105000"/>
              </a:lnSpc>
              <a:spcAft>
                <a:spcPts val="100"/>
              </a:spcAft>
              <a:defRPr sz="1521" b="0">
                <a:solidFill>
                  <a:srgbClr val="FFFFFF"/>
                </a:solidFill>
                <a:latin typeface="DejaVu Sans Mono"/>
              </a:defRPr>
            </a:pPr>
            <a:r>
              <a:t>    ports:</a:t>
            </a:r>
          </a:p>
          <a:p>
            <a:pPr algn="l">
              <a:lnSpc>
                <a:spcPct val="105000"/>
              </a:lnSpc>
              <a:spcAft>
                <a:spcPts val="100"/>
              </a:spcAft>
              <a:defRPr sz="1521" b="0">
                <a:solidFill>
                  <a:srgbClr val="FFFFFF"/>
                </a:solidFill>
                <a:latin typeface="DejaVu Sans Mono"/>
              </a:defRPr>
            </a:pPr>
            <a:r>
              <a:t>      - "127.0.0.1:8080:3000"</a:t>
            </a:r>
          </a:p>
          <a:p>
            <a:pPr algn="l">
              <a:lnSpc>
                <a:spcPct val="105000"/>
              </a:lnSpc>
              <a:spcAft>
                <a:spcPts val="100"/>
              </a:spcAft>
              <a:defRPr sz="1521" b="0">
                <a:solidFill>
                  <a:srgbClr val="FFFFFF"/>
                </a:solidFill>
                <a:latin typeface="DejaVu Sans Mono"/>
              </a:defRPr>
            </a:pPr>
            <a:r>
              <a:t>    environment:</a:t>
            </a:r>
          </a:p>
          <a:p>
            <a:pPr algn="l">
              <a:lnSpc>
                <a:spcPct val="105000"/>
              </a:lnSpc>
              <a:spcAft>
                <a:spcPts val="100"/>
              </a:spcAft>
              <a:defRPr sz="1521" b="0">
                <a:solidFill>
                  <a:srgbClr val="FFFFFF"/>
                </a:solidFill>
                <a:latin typeface="DejaVu Sans Mono"/>
              </a:defRPr>
            </a:pPr>
            <a:r>
              <a:t>      DATABASE_URL: postgres://aula:aula@db:5432/aula</a:t>
            </a:r>
          </a:p>
          <a:p>
            <a:pPr algn="l">
              <a:lnSpc>
                <a:spcPct val="105000"/>
              </a:lnSpc>
              <a:spcAft>
                <a:spcPts val="100"/>
              </a:spcAft>
              <a:defRPr sz="1521" b="0">
                <a:solidFill>
                  <a:srgbClr val="FFFFFF"/>
                </a:solidFill>
                <a:latin typeface="DejaVu Sans Mono"/>
              </a:defRPr>
            </a:pPr>
            <a:r>
              <a:t>      HOST: 0.0.0.0</a:t>
            </a:r>
          </a:p>
          <a:p>
            <a:pPr algn="l">
              <a:lnSpc>
                <a:spcPct val="105000"/>
              </a:lnSpc>
              <a:spcAft>
                <a:spcPts val="100"/>
              </a:spcAft>
              <a:defRPr sz="1521" b="0">
                <a:solidFill>
                  <a:srgbClr val="FFFFFF"/>
                </a:solidFill>
                <a:latin typeface="DejaVu Sans Mono"/>
              </a:defRPr>
            </a:pPr>
            <a:r>
              <a:t># Trecho: dependência e saúde aparecem adiante.</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Construção e acesso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build: . aponta para o contexto.</a:t>
            </a:r>
          </a:p>
          <a:p>
            <a:pPr algn="l">
              <a:lnSpc>
                <a:spcPct val="100000"/>
              </a:lnSpc>
              <a:spcAft>
                <a:spcPts val="300"/>
              </a:spcAft>
              <a:defRPr sz="1500" b="0">
                <a:solidFill>
                  <a:srgbClr val="26364A"/>
                </a:solidFill>
                <a:latin typeface="Aptos"/>
              </a:defRPr>
            </a:pPr>
            <a:r>
              <a:t>ports publica 8080 → 3000.</a:t>
            </a:r>
          </a:p>
          <a:p>
            <a:pPr algn="l">
              <a:lnSpc>
                <a:spcPct val="100000"/>
              </a:lnSpc>
              <a:spcAft>
                <a:spcPts val="300"/>
              </a:spcAft>
              <a:defRPr sz="1500" b="0">
                <a:solidFill>
                  <a:srgbClr val="26364A"/>
                </a:solidFill>
                <a:latin typeface="Aptos"/>
              </a:defRPr>
            </a:pPr>
            <a:r>
              <a:t>O acesso do host fica local.</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Configuração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DATABASE_URL aponta para db.</a:t>
            </a:r>
          </a:p>
          <a:p>
            <a:pPr algn="l">
              <a:lnSpc>
                <a:spcPct val="100000"/>
              </a:lnSpc>
              <a:spcAft>
                <a:spcPts val="300"/>
              </a:spcAft>
              <a:defRPr sz="1500" b="0">
                <a:solidFill>
                  <a:srgbClr val="26364A"/>
                </a:solidFill>
                <a:latin typeface="Aptos"/>
              </a:defRPr>
            </a:pPr>
            <a:r>
              <a:t>HOST orienta a interface de escuta.</a:t>
            </a:r>
          </a:p>
          <a:p>
            <a:pPr algn="l">
              <a:lnSpc>
                <a:spcPct val="100000"/>
              </a:lnSpc>
              <a:spcAft>
                <a:spcPts val="300"/>
              </a:spcAft>
              <a:defRPr sz="1500" b="0">
                <a:solidFill>
                  <a:srgbClr val="26364A"/>
                </a:solidFill>
                <a:latin typeface="Aptos"/>
              </a:defRPr>
            </a:pPr>
            <a:r>
              <a:t>Credenciais aqui são fictícias.</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arquivo permite revisar e compartilhar a configuração que antes ficaria em uma longa linha de docker run.</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E4·36</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Compose: banco de dados em outro serviço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Imagem pronta do PostgreSQL + estado em volume nomeado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db:</a:t>
            </a:r>
          </a:p>
          <a:p>
            <a:pPr algn="l">
              <a:lnSpc>
                <a:spcPct val="105000"/>
              </a:lnSpc>
              <a:spcAft>
                <a:spcPts val="100"/>
              </a:spcAft>
              <a:defRPr sz="1800" b="0">
                <a:solidFill>
                  <a:srgbClr val="FFFFFF"/>
                </a:solidFill>
                <a:latin typeface="DejaVu Sans Mono"/>
              </a:defRPr>
            </a:pPr>
            <a:r>
              <a:t>    image: postgres:16-alpine</a:t>
            </a:r>
          </a:p>
          <a:p>
            <a:pPr algn="l">
              <a:lnSpc>
                <a:spcPct val="105000"/>
              </a:lnSpc>
              <a:spcAft>
                <a:spcPts val="100"/>
              </a:spcAft>
              <a:defRPr sz="1800" b="0">
                <a:solidFill>
                  <a:srgbClr val="FFFFFF"/>
                </a:solidFill>
                <a:latin typeface="DejaVu Sans Mono"/>
              </a:defRPr>
            </a:pPr>
            <a:r>
              <a:t>    environment:</a:t>
            </a:r>
          </a:p>
          <a:p>
            <a:pPr algn="l">
              <a:lnSpc>
                <a:spcPct val="105000"/>
              </a:lnSpc>
              <a:spcAft>
                <a:spcPts val="100"/>
              </a:spcAft>
              <a:defRPr sz="1800" b="0">
                <a:solidFill>
                  <a:srgbClr val="FFFFFF"/>
                </a:solidFill>
                <a:latin typeface="DejaVu Sans Mono"/>
              </a:defRPr>
            </a:pPr>
            <a:r>
              <a:t>      POSTGRES_USER: aula</a:t>
            </a:r>
          </a:p>
          <a:p>
            <a:pPr algn="l">
              <a:lnSpc>
                <a:spcPct val="105000"/>
              </a:lnSpc>
              <a:spcAft>
                <a:spcPts val="100"/>
              </a:spcAft>
              <a:defRPr sz="1800" b="0">
                <a:solidFill>
                  <a:srgbClr val="FFFFFF"/>
                </a:solidFill>
                <a:latin typeface="DejaVu Sans Mono"/>
              </a:defRPr>
            </a:pPr>
            <a:r>
              <a:t>      POSTGRES_PASSWORD: aula</a:t>
            </a:r>
          </a:p>
          <a:p>
            <a:pPr algn="l">
              <a:lnSpc>
                <a:spcPct val="105000"/>
              </a:lnSpc>
              <a:spcAft>
                <a:spcPts val="100"/>
              </a:spcAft>
              <a:defRPr sz="1800" b="0">
                <a:solidFill>
                  <a:srgbClr val="FFFFFF"/>
                </a:solidFill>
                <a:latin typeface="DejaVu Sans Mono"/>
              </a:defRPr>
            </a:pPr>
            <a:r>
              <a:t>      POSTGRES_DB: aula</a:t>
            </a:r>
          </a:p>
          <a:p>
            <a:pPr algn="l">
              <a:lnSpc>
                <a:spcPct val="105000"/>
              </a:lnSpc>
              <a:spcAft>
                <a:spcPts val="100"/>
              </a:spcAft>
              <a:defRPr sz="1800" b="0">
                <a:solidFill>
                  <a:srgbClr val="FFFFFF"/>
                </a:solidFill>
                <a:latin typeface="DejaVu Sans Mono"/>
              </a:defRPr>
            </a:pPr>
            <a:r>
              <a:t>    volumes:</a:t>
            </a:r>
          </a:p>
          <a:p>
            <a:pPr algn="l">
              <a:lnSpc>
                <a:spcPct val="105000"/>
              </a:lnSpc>
              <a:spcAft>
                <a:spcPts val="100"/>
              </a:spcAft>
              <a:defRPr sz="1800" b="0">
                <a:solidFill>
                  <a:srgbClr val="FFFFFF"/>
                </a:solidFill>
                <a:latin typeface="DejaVu Sans Mono"/>
              </a:defRPr>
            </a:pPr>
            <a:r>
              <a:t>      - dados:/var/lib/postgresql/data</a:t>
            </a:r>
          </a:p>
          <a:p>
            <a:pPr algn="l">
              <a:lnSpc>
                <a:spcPct val="105000"/>
              </a:lnSpc>
              <a:spcAft>
                <a:spcPts val="100"/>
              </a:spcAft>
              <a:defRPr sz="1800" b="0">
                <a:solidFill>
                  <a:srgbClr val="FFFFFF"/>
                </a:solidFill>
                <a:latin typeface="DejaVu Sans Mono"/>
              </a:defRPr>
            </a:pPr>
            <a:r>
              <a:t>volumes:</a:t>
            </a:r>
          </a:p>
          <a:p>
            <a:pPr algn="l">
              <a:lnSpc>
                <a:spcPct val="105000"/>
              </a:lnSpc>
              <a:spcAft>
                <a:spcPts val="100"/>
              </a:spcAft>
              <a:defRPr sz="1800" b="0">
                <a:solidFill>
                  <a:srgbClr val="FFFFFF"/>
                </a:solidFill>
                <a:latin typeface="DejaVu Sans Mono"/>
              </a:defRPr>
            </a:pPr>
            <a:r>
              <a:t>  dados: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Configuração inicial</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A imagem cria usuário e banco na primeira inicialização de dados vazios.</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Persistência</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dados é um recurso separado.</a:t>
            </a:r>
          </a:p>
          <a:p>
            <a:pPr algn="l">
              <a:lnSpc>
                <a:spcPct val="100000"/>
              </a:lnSpc>
              <a:spcAft>
                <a:spcPts val="300"/>
              </a:spcAft>
              <a:defRPr sz="1500" b="0">
                <a:solidFill>
                  <a:srgbClr val="26364A"/>
                </a:solidFill>
                <a:latin typeface="Aptos"/>
              </a:defRPr>
            </a:pPr>
            <a:r>
              <a:t>O caminho pertence ao PostgreSQL 16 deste exemplo.</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API e banco podem ser atualizados ou recriados separadamente; os dados não devem depender da camada gravável do banco.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E4·37</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Inicializar o contador não é migrar o banco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init.sql prepara o estado inicial somente em um diretório de dados vazio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CREATE TABLE IF NOT EXISTS contador (</a:t>
            </a:r>
          </a:p>
          <a:p>
            <a:pPr algn="l">
              <a:lnSpc>
                <a:spcPct val="105000"/>
              </a:lnSpc>
              <a:spcAft>
                <a:spcPts val="100"/>
              </a:spcAft>
              <a:defRPr sz="1800" b="0">
                <a:solidFill>
                  <a:srgbClr val="FFFFFF"/>
                </a:solidFill>
                <a:latin typeface="DejaVu Sans Mono"/>
              </a:defRPr>
            </a:pPr>
            <a:r>
              <a:t>  id integer PRIMARY KEY,</a:t>
            </a:r>
          </a:p>
          <a:p>
            <a:pPr algn="l">
              <a:lnSpc>
                <a:spcPct val="105000"/>
              </a:lnSpc>
              <a:spcAft>
                <a:spcPts val="100"/>
              </a:spcAft>
              <a:defRPr sz="1800" b="0">
                <a:solidFill>
                  <a:srgbClr val="FFFFFF"/>
                </a:solidFill>
                <a:latin typeface="DejaVu Sans Mono"/>
              </a:defRPr>
            </a:pPr>
            <a:r>
              <a:t>  total integer NOT NULL</a:t>
            </a:r>
          </a:p>
          <a:p>
            <a:pPr algn="l">
              <a:lnSpc>
                <a:spcPct val="105000"/>
              </a:lnSpc>
              <a:spcAft>
                <a:spcPts val="100"/>
              </a:spcAft>
              <a:defRPr sz="1800" b="0">
                <a:solidFill>
                  <a:srgbClr val="FFFFFF"/>
                </a:solidFill>
                <a:latin typeface="DejaVu Sans Mono"/>
              </a:defRPr>
            </a:pPr>
            <a:r>
              <a:t>);</a:t>
            </a:r>
          </a:p>
          <a:p>
            <a:pPr algn="l">
              <a:lnSpc>
                <a:spcPct val="105000"/>
              </a:lnSpc>
              <a:spcAft>
                <a:spcPts val="100"/>
              </a:spcAft>
              <a:defRPr sz="1800" b="0">
                <a:solidFill>
                  <a:srgbClr val="FFFFFF"/>
                </a:solidFill>
                <a:latin typeface="DejaVu Sans Mono"/>
              </a:defRPr>
            </a:pPr>
            <a:r>
              <a:t>INSERT INTO contador (id, total)</a:t>
            </a:r>
          </a:p>
          <a:p>
            <a:pPr algn="l">
              <a:lnSpc>
                <a:spcPct val="105000"/>
              </a:lnSpc>
              <a:spcAft>
                <a:spcPts val="100"/>
              </a:spcAft>
              <a:defRPr sz="1800" b="0">
                <a:solidFill>
                  <a:srgbClr val="FFFFFF"/>
                </a:solidFill>
                <a:latin typeface="DejaVu Sans Mono"/>
              </a:defRPr>
            </a:pPr>
            <a:r>
              <a:t>VALUES (1, 0) ON CONFLICT (id) DO NOTHING;</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Estado inicial</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Tabela contador e linha id=1.</a:t>
            </a:r>
          </a:p>
          <a:p>
            <a:pPr algn="l">
              <a:lnSpc>
                <a:spcPct val="100000"/>
              </a:lnSpc>
              <a:spcAft>
                <a:spcPts val="300"/>
              </a:spcAft>
              <a:defRPr sz="1500" b="0">
                <a:solidFill>
                  <a:srgbClr val="26364A"/>
                </a:solidFill>
                <a:latin typeface="Aptos"/>
              </a:defRPr>
            </a:pPr>
            <a:r>
              <a:t>O total começa em zero num volume novo.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Depois da primeira vez</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Editar init.sql não altera automaticamente o banco existente.</a:t>
            </a:r>
          </a:p>
          <a:p>
            <a:pPr algn="l">
              <a:lnSpc>
                <a:spcPct val="100000"/>
              </a:lnSpc>
              <a:spcAft>
                <a:spcPts val="300"/>
              </a:spcAft>
              <a:defRPr sz="1500" b="0">
                <a:solidFill>
                  <a:srgbClr val="26364A"/>
                </a:solidFill>
                <a:latin typeface="Aptos"/>
              </a:defRPr>
            </a:pPr>
            <a:r>
              <a:t>Mudanças posteriores exigem migração.</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Recriar um container e recriar o estado do banco são operações diferentes.</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E4·38</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A requisição percorre duas conexões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HTTP do cliente para a API; SQL da API para o PostgreSQL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377440"/>
            <a:ext cx="2743200" cy="1920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496312"/>
            <a:ext cx="243230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CLIENTE NO HOST</a:t>
            </a:r>
          </a:p>
        </p:txBody>
      </p:sp>
      <p:sp>
        <p:nvSpPr>
          <p:cNvPr id="7" name="TextBox 6"/>
          <p:cNvSpPr txBox="1"/>
          <p:nvPr/>
        </p:nvSpPr>
        <p:spPr>
          <a:xfrm>
            <a:off x="795528" y="2935224"/>
            <a:ext cx="2432304" cy="128016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localhost:8080</a:t>
            </a:r>
          </a:p>
          <a:p>
            <a:pPr algn="l">
              <a:lnSpc>
                <a:spcPct val="100000"/>
              </a:lnSpc>
              <a:spcAft>
                <a:spcPts val="300"/>
              </a:spcAft>
              <a:defRPr sz="1500" b="0">
                <a:solidFill>
                  <a:srgbClr val="26364A"/>
                </a:solidFill>
                <a:latin typeface="Aptos"/>
              </a:defRPr>
            </a:pPr>
            <a:r>
              <a:t>Conexão HTTP</a:t>
            </a:r>
          </a:p>
        </p:txBody>
      </p:sp>
      <p:sp>
        <p:nvSpPr>
          <p:cNvPr id="8" name="Right Arrow 7"/>
          <p:cNvSpPr/>
          <p:nvPr/>
        </p:nvSpPr>
        <p:spPr>
          <a:xfrm>
            <a:off x="3520440" y="3108960"/>
            <a:ext cx="54864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51960" y="1783080"/>
            <a:ext cx="7269480" cy="3383280"/>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920240"/>
            <a:ext cx="6766560" cy="365760"/>
          </a:xfrm>
          <a:prstGeom prst="rect">
            <a:avLst/>
          </a:prstGeom>
          <a:noFill/>
        </p:spPr>
        <p:txBody>
          <a:bodyPr wrap="square" anchor="t" anchorCtr="0" lIns="27432" rIns="27432" tIns="18288" bIns="0">
            <a:noAutofit/>
          </a:bodyPr>
          <a:lstStyle/>
          <a:p>
            <a:pPr algn="l">
              <a:lnSpc>
                <a:spcPct val="105000"/>
              </a:lnSpc>
              <a:spcAft>
                <a:spcPts val="500"/>
              </a:spcAft>
              <a:defRPr sz="1900" b="1">
                <a:solidFill>
                  <a:srgbClr val="007F86"/>
                </a:solidFill>
                <a:latin typeface="Aptos"/>
              </a:defRPr>
            </a:pPr>
            <a:r>
              <a:t>REDE DO COMPOSE</a:t>
            </a:r>
          </a:p>
        </p:txBody>
      </p:sp>
      <p:sp>
        <p:nvSpPr>
          <p:cNvPr id="11" name="Rounded Rectangle 10"/>
          <p:cNvSpPr/>
          <p:nvPr/>
        </p:nvSpPr>
        <p:spPr>
          <a:xfrm>
            <a:off x="4526280" y="2514600"/>
            <a:ext cx="2743200" cy="1828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1728" y="2633472"/>
            <a:ext cx="243230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app</a:t>
            </a:r>
          </a:p>
        </p:txBody>
      </p:sp>
      <p:sp>
        <p:nvSpPr>
          <p:cNvPr id="13" name="TextBox 12"/>
          <p:cNvSpPr txBox="1"/>
          <p:nvPr/>
        </p:nvSpPr>
        <p:spPr>
          <a:xfrm>
            <a:off x="4681728" y="3072384"/>
            <a:ext cx="2432304" cy="118872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0.0.0.0:3000</a:t>
            </a:r>
          </a:p>
        </p:txBody>
      </p:sp>
      <p:sp>
        <p:nvSpPr>
          <p:cNvPr id="14" name="Right Arrow 13"/>
          <p:cNvSpPr/>
          <p:nvPr/>
        </p:nvSpPr>
        <p:spPr>
          <a:xfrm>
            <a:off x="7388352" y="3200400"/>
            <a:ext cx="45720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01000" y="2514600"/>
            <a:ext cx="3200400" cy="1828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2633472"/>
            <a:ext cx="288950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db</a:t>
            </a:r>
          </a:p>
        </p:txBody>
      </p:sp>
      <p:sp>
        <p:nvSpPr>
          <p:cNvPr id="17" name="TextBox 16"/>
          <p:cNvSpPr txBox="1"/>
          <p:nvPr/>
        </p:nvSpPr>
        <p:spPr>
          <a:xfrm>
            <a:off x="8156448" y="3072384"/>
            <a:ext cx="2889504" cy="118872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PostgreSQL :5432</a:t>
            </a:r>
          </a:p>
        </p:txBody>
      </p:sp>
      <p:sp>
        <p:nvSpPr>
          <p:cNvPr id="18" name="TextBox 17"/>
          <p:cNvSpPr txBox="1"/>
          <p:nvPr/>
        </p:nvSpPr>
        <p:spPr>
          <a:xfrm>
            <a:off x="8092440" y="4535424"/>
            <a:ext cx="3200400" cy="365760"/>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SQL • volume: dados</a:t>
            </a:r>
          </a:p>
        </p:txBody>
      </p:sp>
      <p:sp>
        <p:nvSpPr>
          <p:cNvPr id="19" name="Rounded Rectangle 1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localhost pertence ao ambiente de quem faz a chamada; dentro da API ele não significa “o container do banco”.</a:t>
            </a:r>
          </a:p>
        </p:txBody>
      </p:sp>
      <p:sp>
        <p:nvSpPr>
          <p:cNvPr id="21" name="TextBox 2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22" name="TextBox 2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E4·39</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21" b="1">
                <a:solidFill>
                  <a:srgbClr val="1B2A4A"/>
                </a:solidFill>
                <a:latin typeface="Aptos"/>
              </a:defRPr>
            </a:pPr>
            <a:r>
              <a:t>Porta documentada, publicada e interface de escuta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Três decisões distintas precisam ser coerentes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EXPOSE 3000</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Metadado da imagem.</a:t>
            </a:r>
          </a:p>
          <a:p>
            <a:pPr algn="l">
              <a:lnSpc>
                <a:spcPct val="105000"/>
              </a:lnSpc>
              <a:spcAft>
                <a:spcPts val="600"/>
              </a:spcAft>
              <a:defRPr sz="1800" b="0">
                <a:solidFill>
                  <a:srgbClr val="26364A"/>
                </a:solidFill>
                <a:latin typeface="Aptos"/>
              </a:defRPr>
            </a:pPr>
            <a:r>
              <a:t>Documenta uma porta pretendida.</a:t>
            </a:r>
          </a:p>
          <a:p>
            <a:pPr algn="l">
              <a:lnSpc>
                <a:spcPct val="105000"/>
              </a:lnSpc>
              <a:spcAft>
                <a:spcPts val="600"/>
              </a:spcAft>
              <a:defRPr sz="1800" b="0">
                <a:solidFill>
                  <a:srgbClr val="26364A"/>
                </a:solidFill>
                <a:latin typeface="Aptos"/>
              </a:defRPr>
            </a:pPr>
            <a:r>
              <a:t>Não cria acesso pelo host.</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8080:3000</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Publicação no host.</a:t>
            </a:r>
          </a:p>
          <a:p>
            <a:pPr algn="l">
              <a:lnSpc>
                <a:spcPct val="105000"/>
              </a:lnSpc>
              <a:spcAft>
                <a:spcPts val="600"/>
              </a:spcAft>
              <a:defRPr sz="1800" b="0">
                <a:solidFill>
                  <a:srgbClr val="26364A"/>
                </a:solidFill>
                <a:latin typeface="Aptos"/>
              </a:defRPr>
            </a:pPr>
            <a:r>
              <a:t>8080 recebe o cliente.</a:t>
            </a:r>
          </a:p>
          <a:p>
            <a:pPr algn="l">
              <a:lnSpc>
                <a:spcPct val="105000"/>
              </a:lnSpc>
              <a:spcAft>
                <a:spcPts val="600"/>
              </a:spcAft>
              <a:defRPr sz="1800" b="0">
                <a:solidFill>
                  <a:srgbClr val="26364A"/>
                </a:solidFill>
                <a:latin typeface="Aptos"/>
              </a:defRPr>
            </a:pPr>
            <a:r>
              <a:t>3000 deve coincidir com a porta real do processo.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HOST=0.0.0.0</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API escuta nas interfaces do container.</a:t>
            </a:r>
          </a:p>
          <a:p>
            <a:pPr algn="l">
              <a:lnSpc>
                <a:spcPct val="105000"/>
              </a:lnSpc>
              <a:spcAft>
                <a:spcPts val="600"/>
              </a:spcAft>
              <a:defRPr sz="1800" b="0">
                <a:solidFill>
                  <a:srgbClr val="26364A"/>
                </a:solidFill>
                <a:latin typeface="Aptos"/>
              </a:defRPr>
            </a:pPr>
            <a:r>
              <a:t>127.0.0.1 restringiria a escuta ao loopback dessa instância.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Trocar 8080 por 9090 muda o endereço do cliente; a comunicação da API com db:5432 continua igual.</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Configuração de execução fora da imagem</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mesma imagem pode receber valores distintos em cada ambiente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environment</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Entrega variáveis ao processo.</a:t>
            </a:r>
          </a:p>
          <a:p>
            <a:pPr algn="l">
              <a:lnSpc>
                <a:spcPct val="105000"/>
              </a:lnSpc>
              <a:spcAft>
                <a:spcPts val="600"/>
              </a:spcAft>
              <a:defRPr sz="1800" b="0">
                <a:solidFill>
                  <a:srgbClr val="26364A"/>
                </a:solidFill>
                <a:latin typeface="Aptos"/>
              </a:defRPr>
            </a:pPr>
            <a:r>
              <a:t>Ex.: HOST: 0.0.0.0.</a:t>
            </a:r>
          </a:p>
          <a:p>
            <a:pPr algn="l">
              <a:lnSpc>
                <a:spcPct val="105000"/>
              </a:lnSpc>
              <a:spcAft>
                <a:spcPts val="600"/>
              </a:spcAft>
              <a:defRPr sz="1800" b="0">
                <a:solidFill>
                  <a:srgbClr val="26364A"/>
                </a:solidFill>
                <a:latin typeface="Aptos"/>
              </a:defRPr>
            </a:pPr>
            <a:r>
              <a:t>A API lê process.env.HOST.</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.env no Compose</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Pode fornecer valores para interpolar ${VAR} no YAML.</a:t>
            </a:r>
          </a:p>
          <a:p>
            <a:pPr algn="l">
              <a:lnSpc>
                <a:spcPct val="105000"/>
              </a:lnSpc>
              <a:spcAft>
                <a:spcPts val="600"/>
              </a:spcAft>
              <a:defRPr sz="1800" b="0">
                <a:solidFill>
                  <a:srgbClr val="26364A"/>
                </a:solidFill>
                <a:latin typeface="Aptos"/>
              </a:defRPr>
            </a:pPr>
            <a:r>
              <a:t>Não injeta sozinho todo o arquivo no container.</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Aplicar mudanças</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Variável de execução: recriar a instância.</a:t>
            </a:r>
          </a:p>
          <a:p>
            <a:pPr algn="l">
              <a:lnSpc>
                <a:spcPct val="105000"/>
              </a:lnSpc>
              <a:spcAft>
                <a:spcPts val="600"/>
              </a:spcAft>
              <a:defRPr sz="1800" b="0">
                <a:solidFill>
                  <a:srgbClr val="26364A"/>
                </a:solidFill>
                <a:latin typeface="Aptos"/>
              </a:defRPr>
            </a:pPr>
            <a:r>
              <a:t>Código/dependência: reconstruir imagem.</a:t>
            </a:r>
          </a:p>
          <a:p>
            <a:pPr algn="l">
              <a:lnSpc>
                <a:spcPct val="105000"/>
              </a:lnSpc>
              <a:spcAft>
                <a:spcPts val="600"/>
              </a:spcAft>
              <a:defRPr sz="1800" b="0">
                <a:solidFill>
                  <a:srgbClr val="26364A"/>
                </a:solidFill>
                <a:latin typeface="Aptos"/>
              </a:defRPr>
            </a:pPr>
            <a:r>
              <a:t>restart não aplica todo YAML alterado.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Após mudar HOST no YAML: docker compose up -d --no-deps --force-recreate --wait app.</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E4·41</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Recursos para reduzir acesso desnecessário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Configurar de acordo com o que o processo realmente precisa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Usuário e escrita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USER node no Dockerfile.</a:t>
            </a:r>
          </a:p>
          <a:p>
            <a:pPr algn="l">
              <a:lnSpc>
                <a:spcPct val="105000"/>
              </a:lnSpc>
              <a:spcAft>
                <a:spcPts val="600"/>
              </a:spcAft>
              <a:defRPr sz="1800" b="0">
                <a:solidFill>
                  <a:srgbClr val="26364A"/>
                </a:solidFill>
                <a:latin typeface="Aptos"/>
              </a:defRPr>
            </a:pPr>
            <a:r>
              <a:t>Bind mount :ro para init.sql.</a:t>
            </a:r>
          </a:p>
          <a:p>
            <a:pPr algn="l">
              <a:lnSpc>
                <a:spcPct val="105000"/>
              </a:lnSpc>
              <a:spcAft>
                <a:spcPts val="600"/>
              </a:spcAft>
              <a:defRPr sz="1800" b="0">
                <a:solidFill>
                  <a:srgbClr val="26364A"/>
                </a:solidFill>
                <a:latin typeface="Aptos"/>
              </a:defRPr>
            </a:pPr>
            <a:r>
              <a:t>read_only pode restringir o filesystem da instância.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1927" b="1">
                <a:solidFill>
                  <a:srgbClr val="2A5C8A"/>
                </a:solidFill>
                <a:latin typeface="Aptos"/>
              </a:defRPr>
            </a:pPr>
            <a:r>
              <a:t>Segredos e privilégios</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colocar senhas reais na imagem.</a:t>
            </a:r>
          </a:p>
          <a:p>
            <a:pPr algn="l">
              <a:lnSpc>
                <a:spcPct val="105000"/>
              </a:lnSpc>
              <a:spcAft>
                <a:spcPts val="600"/>
              </a:spcAft>
              <a:defRPr sz="1800" b="0">
                <a:solidFill>
                  <a:srgbClr val="26364A"/>
                </a:solidFill>
                <a:latin typeface="Aptos"/>
              </a:defRPr>
            </a:pPr>
            <a:r>
              <a:t>Compose secrets entrega arquivos aos serviços autorizados.</a:t>
            </a:r>
          </a:p>
          <a:p>
            <a:pPr algn="l">
              <a:lnSpc>
                <a:spcPct val="105000"/>
              </a:lnSpc>
              <a:spcAft>
                <a:spcPts val="600"/>
              </a:spcAft>
              <a:defRPr sz="1800" b="0">
                <a:solidFill>
                  <a:srgbClr val="26364A"/>
                </a:solidFill>
                <a:latin typeface="Aptos"/>
              </a:defRPr>
            </a:pPr>
            <a:r>
              <a:t>A aplicação precisa lê-los.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098" b="1">
                <a:solidFill>
                  <a:srgbClr val="2A5C8A"/>
                </a:solidFill>
                <a:latin typeface="Aptos"/>
              </a:defRPr>
            </a:pPr>
            <a:r>
              <a:t>Aplicação ao projeto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Declarar diretórios graváveis.</a:t>
            </a:r>
          </a:p>
          <a:p>
            <a:pPr algn="l">
              <a:lnSpc>
                <a:spcPct val="105000"/>
              </a:lnSpc>
              <a:spcAft>
                <a:spcPts val="600"/>
              </a:spcAft>
              <a:defRPr sz="1800" b="0">
                <a:solidFill>
                  <a:srgbClr val="26364A"/>
                </a:solidFill>
                <a:latin typeface="Aptos"/>
              </a:defRPr>
            </a:pPr>
            <a:r>
              <a:t>Evitar privileged sem necessidade.</a:t>
            </a:r>
          </a:p>
          <a:p>
            <a:pPr algn="l">
              <a:lnSpc>
                <a:spcPct val="105000"/>
              </a:lnSpc>
              <a:spcAft>
                <a:spcPts val="600"/>
              </a:spcAft>
              <a:defRPr sz="1800" b="0">
                <a:solidFill>
                  <a:srgbClr val="26364A"/>
                </a:solidFill>
                <a:latin typeface="Aptos"/>
              </a:defRPr>
            </a:pPr>
            <a:r>
              <a:t>Limitar portas e redes expostas.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Permitir somente o necessário exige conhecer os arquivos, conexões e permissões da aplicação.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E4·42</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Arquivos da instância, volume e bind mount</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Escolha onde cada tipo de dado deve viver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74519"/>
            <a:ext cx="3474720" cy="3063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93391"/>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Camada gravável</a:t>
            </a:r>
          </a:p>
        </p:txBody>
      </p:sp>
      <p:sp>
        <p:nvSpPr>
          <p:cNvPr id="7" name="TextBox 6"/>
          <p:cNvSpPr txBox="1"/>
          <p:nvPr/>
        </p:nvSpPr>
        <p:spPr>
          <a:xfrm>
            <a:off x="795528" y="2532887"/>
            <a:ext cx="3163824" cy="23042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Arquivos da instância.</a:t>
            </a:r>
          </a:p>
          <a:p>
            <a:pPr algn="l">
              <a:lnSpc>
                <a:spcPct val="105000"/>
              </a:lnSpc>
              <a:spcAft>
                <a:spcPts val="600"/>
              </a:spcAft>
              <a:defRPr sz="1800" b="0">
                <a:solidFill>
                  <a:srgbClr val="26364A"/>
                </a:solidFill>
                <a:latin typeface="Aptos"/>
              </a:defRPr>
            </a:pPr>
            <a:r>
              <a:t>Remover o container elimina essa camada.</a:t>
            </a:r>
          </a:p>
        </p:txBody>
      </p:sp>
      <p:sp>
        <p:nvSpPr>
          <p:cNvPr id="8" name="Rounded Rectangle 7"/>
          <p:cNvSpPr/>
          <p:nvPr/>
        </p:nvSpPr>
        <p:spPr>
          <a:xfrm>
            <a:off x="4389120" y="1874519"/>
            <a:ext cx="3474720" cy="3063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993391"/>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Volume nomeado</a:t>
            </a:r>
          </a:p>
        </p:txBody>
      </p:sp>
      <p:sp>
        <p:nvSpPr>
          <p:cNvPr id="10" name="TextBox 9"/>
          <p:cNvSpPr txBox="1"/>
          <p:nvPr/>
        </p:nvSpPr>
        <p:spPr>
          <a:xfrm>
            <a:off x="4544568" y="2532887"/>
            <a:ext cx="3163824" cy="23042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Gerenciado pelo Docker.</a:t>
            </a:r>
          </a:p>
          <a:p>
            <a:pPr algn="l">
              <a:lnSpc>
                <a:spcPct val="105000"/>
              </a:lnSpc>
              <a:spcAft>
                <a:spcPts val="600"/>
              </a:spcAft>
              <a:defRPr sz="1800" b="0">
                <a:solidFill>
                  <a:srgbClr val="26364A"/>
                </a:solidFill>
                <a:latin typeface="Aptos"/>
              </a:defRPr>
            </a:pPr>
            <a:r>
              <a:t>O recurso pode persistir após a recriação.</a:t>
            </a:r>
          </a:p>
        </p:txBody>
      </p:sp>
      <p:sp>
        <p:nvSpPr>
          <p:cNvPr id="11" name="Rounded Rectangle 10"/>
          <p:cNvSpPr/>
          <p:nvPr/>
        </p:nvSpPr>
        <p:spPr>
          <a:xfrm>
            <a:off x="8138159" y="1874519"/>
            <a:ext cx="3474720" cy="3063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93607" y="1993391"/>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Bind mount</a:t>
            </a:r>
          </a:p>
        </p:txBody>
      </p:sp>
      <p:sp>
        <p:nvSpPr>
          <p:cNvPr id="13" name="TextBox 12"/>
          <p:cNvSpPr txBox="1"/>
          <p:nvPr/>
        </p:nvSpPr>
        <p:spPr>
          <a:xfrm>
            <a:off x="8293607" y="2532887"/>
            <a:ext cx="3163824" cy="23042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Caminho do host.</a:t>
            </a:r>
          </a:p>
          <a:p>
            <a:pPr algn="l">
              <a:lnSpc>
                <a:spcPct val="105000"/>
              </a:lnSpc>
              <a:spcAft>
                <a:spcPts val="600"/>
              </a:spcAft>
              <a:defRPr sz="1800" b="0">
                <a:solidFill>
                  <a:srgbClr val="26364A"/>
                </a:solidFill>
                <a:latin typeface="Aptos"/>
              </a:defRPr>
            </a:pPr>
            <a:r>
              <a:t>No exemplo: init.sql, montado somente leitura.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Estado de negócio deve ter persistência planejada; uma imagem nova não deve apagar o banco.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E4·43</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Estado do processo, prontidão e funcionalidade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Defina o que cada evidência realmente mede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65960"/>
            <a:ext cx="3474720" cy="3063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084831"/>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RUNNING</a:t>
            </a:r>
          </a:p>
        </p:txBody>
      </p:sp>
      <p:sp>
        <p:nvSpPr>
          <p:cNvPr id="7" name="TextBox 6"/>
          <p:cNvSpPr txBox="1"/>
          <p:nvPr/>
        </p:nvSpPr>
        <p:spPr>
          <a:xfrm>
            <a:off x="795528" y="2624328"/>
            <a:ext cx="3163824" cy="23042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Processo em execução.</a:t>
            </a:r>
          </a:p>
          <a:p>
            <a:pPr algn="l">
              <a:lnSpc>
                <a:spcPct val="105000"/>
              </a:lnSpc>
              <a:spcAft>
                <a:spcPts val="600"/>
              </a:spcAft>
              <a:defRPr sz="1800" b="0">
                <a:solidFill>
                  <a:srgbClr val="26364A"/>
                </a:solidFill>
                <a:latin typeface="Aptos"/>
              </a:defRPr>
            </a:pPr>
            <a:r>
              <a:t>Não prova acesso ao banco.</a:t>
            </a:r>
          </a:p>
        </p:txBody>
      </p:sp>
      <p:sp>
        <p:nvSpPr>
          <p:cNvPr id="8" name="Rounded Rectangle 7"/>
          <p:cNvSpPr/>
          <p:nvPr/>
        </p:nvSpPr>
        <p:spPr>
          <a:xfrm>
            <a:off x="4389120" y="1965960"/>
            <a:ext cx="3474720" cy="3063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2084831"/>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HEALTHY</a:t>
            </a:r>
          </a:p>
        </p:txBody>
      </p:sp>
      <p:sp>
        <p:nvSpPr>
          <p:cNvPr id="10" name="TextBox 9"/>
          <p:cNvSpPr txBox="1"/>
          <p:nvPr/>
        </p:nvSpPr>
        <p:spPr>
          <a:xfrm>
            <a:off x="4544568" y="2624328"/>
            <a:ext cx="3163824" cy="23042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check configurado passou.</a:t>
            </a:r>
          </a:p>
          <a:p>
            <a:pPr algn="l">
              <a:lnSpc>
                <a:spcPct val="105000"/>
              </a:lnSpc>
              <a:spcAft>
                <a:spcPts val="600"/>
              </a:spcAft>
              <a:defRPr sz="1800" b="0">
                <a:solidFill>
                  <a:srgbClr val="26364A"/>
                </a:solidFill>
                <a:latin typeface="Aptos"/>
              </a:defRPr>
            </a:pPr>
            <a:r>
              <a:t>Seu alcance depende do teste.</a:t>
            </a:r>
          </a:p>
        </p:txBody>
      </p:sp>
      <p:sp>
        <p:nvSpPr>
          <p:cNvPr id="11" name="Rounded Rectangle 10"/>
          <p:cNvSpPr/>
          <p:nvPr/>
        </p:nvSpPr>
        <p:spPr>
          <a:xfrm>
            <a:off x="8138159" y="1965960"/>
            <a:ext cx="3474720" cy="3063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93607" y="2084831"/>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FUNCIONAL</a:t>
            </a:r>
          </a:p>
        </p:txBody>
      </p:sp>
      <p:sp>
        <p:nvSpPr>
          <p:cNvPr id="13" name="TextBox 12"/>
          <p:cNvSpPr txBox="1"/>
          <p:nvPr/>
        </p:nvSpPr>
        <p:spPr>
          <a:xfrm>
            <a:off x="8293607" y="2624328"/>
            <a:ext cx="3163824" cy="23042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operação do usuário funciona.</a:t>
            </a:r>
          </a:p>
          <a:p>
            <a:pPr algn="l">
              <a:lnSpc>
                <a:spcPct val="105000"/>
              </a:lnSpc>
              <a:spcAft>
                <a:spcPts val="600"/>
              </a:spcAft>
              <a:defRPr sz="1800" b="0">
                <a:solidFill>
                  <a:srgbClr val="26364A"/>
                </a:solidFill>
                <a:latin typeface="Aptos"/>
              </a:defRPr>
            </a:pPr>
            <a:r>
              <a:t>Ex.: gravar e ler /visitas.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estado verde vale somente o que a verificação executada cobre.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E4·44</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52" b="1">
                <a:solidFill>
                  <a:srgbClr val="1B2A4A"/>
                </a:solidFill>
                <a:latin typeface="Aptos"/>
              </a:defRPr>
            </a:pPr>
            <a:r>
              <a:t>Healthcheck: comando e parâmetros de observação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Trecho real do banco no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healthcheck:</a:t>
            </a:r>
          </a:p>
          <a:p>
            <a:pPr algn="l">
              <a:lnSpc>
                <a:spcPct val="105000"/>
              </a:lnSpc>
              <a:spcAft>
                <a:spcPts val="100"/>
              </a:spcAft>
              <a:defRPr sz="1800" b="0">
                <a:solidFill>
                  <a:srgbClr val="FFFFFF"/>
                </a:solidFill>
                <a:latin typeface="DejaVu Sans Mono"/>
              </a:defRPr>
            </a:pPr>
            <a:r>
              <a:t>  test: ["CMD-SHELL",</a:t>
            </a:r>
          </a:p>
          <a:p>
            <a:pPr algn="l">
              <a:lnSpc>
                <a:spcPct val="105000"/>
              </a:lnSpc>
              <a:spcAft>
                <a:spcPts val="100"/>
              </a:spcAft>
              <a:defRPr sz="1800" b="0">
                <a:solidFill>
                  <a:srgbClr val="FFFFFF"/>
                </a:solidFill>
                <a:latin typeface="DejaVu Sans Mono"/>
              </a:defRPr>
            </a:pPr>
            <a:r>
              <a:t>         "pg_isready -U aula -d aula"]</a:t>
            </a:r>
          </a:p>
          <a:p>
            <a:pPr algn="l">
              <a:lnSpc>
                <a:spcPct val="105000"/>
              </a:lnSpc>
              <a:spcAft>
                <a:spcPts val="100"/>
              </a:spcAft>
              <a:defRPr sz="1800" b="0">
                <a:solidFill>
                  <a:srgbClr val="FFFFFF"/>
                </a:solidFill>
                <a:latin typeface="DejaVu Sans Mono"/>
              </a:defRPr>
            </a:pPr>
            <a:r>
              <a:t>  interval: 5s</a:t>
            </a:r>
          </a:p>
          <a:p>
            <a:pPr algn="l">
              <a:lnSpc>
                <a:spcPct val="105000"/>
              </a:lnSpc>
              <a:spcAft>
                <a:spcPts val="100"/>
              </a:spcAft>
              <a:defRPr sz="1800" b="0">
                <a:solidFill>
                  <a:srgbClr val="FFFFFF"/>
                </a:solidFill>
                <a:latin typeface="DejaVu Sans Mono"/>
              </a:defRPr>
            </a:pPr>
            <a:r>
              <a:t>  timeout: 3s</a:t>
            </a:r>
          </a:p>
          <a:p>
            <a:pPr algn="l">
              <a:lnSpc>
                <a:spcPct val="105000"/>
              </a:lnSpc>
              <a:spcAft>
                <a:spcPts val="100"/>
              </a:spcAft>
              <a:defRPr sz="1800" b="0">
                <a:solidFill>
                  <a:srgbClr val="FFFFFF"/>
                </a:solidFill>
                <a:latin typeface="DejaVu Sans Mono"/>
              </a:defRPr>
            </a:pPr>
            <a:r>
              <a:t>  retries: 10</a:t>
            </a:r>
          </a:p>
          <a:p>
            <a:pPr algn="l">
              <a:lnSpc>
                <a:spcPct val="105000"/>
              </a:lnSpc>
              <a:spcAft>
                <a:spcPts val="100"/>
              </a:spcAft>
              <a:defRPr sz="1800" b="0">
                <a:solidFill>
                  <a:srgbClr val="FFFFFF"/>
                </a:solidFill>
                <a:latin typeface="DejaVu Sans Mono"/>
              </a:defRPr>
            </a:pPr>
            <a:r>
              <a:t>  start_period: 10s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Quando observar</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interval: entre verificações.</a:t>
            </a:r>
          </a:p>
          <a:p>
            <a:pPr algn="l">
              <a:lnSpc>
                <a:spcPct val="100000"/>
              </a:lnSpc>
              <a:spcAft>
                <a:spcPts val="300"/>
              </a:spcAft>
              <a:defRPr sz="1500" b="0">
                <a:solidFill>
                  <a:srgbClr val="26364A"/>
                </a:solidFill>
                <a:latin typeface="Aptos"/>
              </a:defRPr>
            </a:pPr>
            <a:r>
              <a:t>timeout: limite por execução.</a:t>
            </a:r>
          </a:p>
          <a:p>
            <a:pPr algn="l">
              <a:lnSpc>
                <a:spcPct val="100000"/>
              </a:lnSpc>
              <a:spcAft>
                <a:spcPts val="300"/>
              </a:spcAft>
              <a:defRPr sz="1500" b="0">
                <a:solidFill>
                  <a:srgbClr val="26364A"/>
                </a:solidFill>
                <a:latin typeface="Aptos"/>
              </a:defRPr>
            </a:pPr>
            <a:r>
              <a:t>start_period: tolerância inicial.</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Como interpretar</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retries: falhas consecutivas.</a:t>
            </a:r>
          </a:p>
          <a:p>
            <a:pPr algn="l">
              <a:lnSpc>
                <a:spcPct val="100000"/>
              </a:lnSpc>
              <a:spcAft>
                <a:spcPts val="300"/>
              </a:spcAft>
              <a:defRPr sz="1500" b="0">
                <a:solidFill>
                  <a:srgbClr val="26364A"/>
                </a:solidFill>
                <a:latin typeface="Aptos"/>
              </a:defRPr>
            </a:pPr>
            <a:r>
              <a:t>Saída 0: sucesso do check.</a:t>
            </a:r>
          </a:p>
          <a:p>
            <a:pPr algn="l">
              <a:lnSpc>
                <a:spcPct val="100000"/>
              </a:lnSpc>
              <a:spcAft>
                <a:spcPts val="300"/>
              </a:spcAft>
              <a:defRPr sz="1500" b="0">
                <a:solidFill>
                  <a:srgbClr val="26364A"/>
                </a:solidFill>
                <a:latin typeface="Aptos"/>
              </a:defRPr>
            </a:pPr>
            <a:r>
              <a:t>pg_isready não testa a regra de negócio.</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healthcheck da API consulta /health/ready; o teste funcional ainda precisa executar /visitas.</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E4·45</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depends_on: coordenar a partida dos serviços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Esperar um check inicial reduz a corrida de inicialização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services:</a:t>
            </a:r>
          </a:p>
          <a:p>
            <a:pPr algn="l">
              <a:lnSpc>
                <a:spcPct val="105000"/>
              </a:lnSpc>
              <a:spcAft>
                <a:spcPts val="100"/>
              </a:spcAft>
              <a:defRPr sz="1800" b="0">
                <a:solidFill>
                  <a:srgbClr val="FFFFFF"/>
                </a:solidFill>
                <a:latin typeface="DejaVu Sans Mono"/>
              </a:defRPr>
            </a:pPr>
            <a:r>
              <a:t>  app:</a:t>
            </a:r>
          </a:p>
          <a:p>
            <a:pPr algn="l">
              <a:lnSpc>
                <a:spcPct val="105000"/>
              </a:lnSpc>
              <a:spcAft>
                <a:spcPts val="100"/>
              </a:spcAft>
              <a:defRPr sz="1800" b="0">
                <a:solidFill>
                  <a:srgbClr val="FFFFFF"/>
                </a:solidFill>
                <a:latin typeface="DejaVu Sans Mono"/>
              </a:defRPr>
            </a:pPr>
            <a:r>
              <a:t>    # Demais campos definidos anteriormente</a:t>
            </a:r>
          </a:p>
          <a:p>
            <a:pPr algn="l">
              <a:lnSpc>
                <a:spcPct val="105000"/>
              </a:lnSpc>
              <a:spcAft>
                <a:spcPts val="100"/>
              </a:spcAft>
              <a:defRPr sz="1800" b="0">
                <a:solidFill>
                  <a:srgbClr val="FFFFFF"/>
                </a:solidFill>
                <a:latin typeface="DejaVu Sans Mono"/>
              </a:defRPr>
            </a:pPr>
            <a:r>
              <a:t>    depends_on:</a:t>
            </a:r>
          </a:p>
          <a:p>
            <a:pPr algn="l">
              <a:lnSpc>
                <a:spcPct val="105000"/>
              </a:lnSpc>
              <a:spcAft>
                <a:spcPts val="100"/>
              </a:spcAft>
              <a:defRPr sz="1800" b="0">
                <a:solidFill>
                  <a:srgbClr val="FFFFFF"/>
                </a:solidFill>
                <a:latin typeface="DejaVu Sans Mono"/>
              </a:defRPr>
            </a:pPr>
            <a:r>
              <a:t>      db:</a:t>
            </a:r>
          </a:p>
          <a:p>
            <a:pPr algn="l">
              <a:lnSpc>
                <a:spcPct val="105000"/>
              </a:lnSpc>
              <a:spcAft>
                <a:spcPts val="100"/>
              </a:spcAft>
              <a:defRPr sz="1800" b="0">
                <a:solidFill>
                  <a:srgbClr val="FFFFFF"/>
                </a:solidFill>
                <a:latin typeface="DejaVu Sans Mono"/>
              </a:defRPr>
            </a:pPr>
            <a:r>
              <a:t>        condition: service_healthy</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Partida</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Compose espera o check de db passar antes de iniciar app.</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Operação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O banco ainda pode cair depois.</a:t>
            </a:r>
          </a:p>
          <a:p>
            <a:pPr algn="l">
              <a:lnSpc>
                <a:spcPct val="100000"/>
              </a:lnSpc>
              <a:spcAft>
                <a:spcPts val="300"/>
              </a:spcAft>
              <a:defRPr sz="1500" b="0">
                <a:solidFill>
                  <a:srgbClr val="26364A"/>
                </a:solidFill>
                <a:latin typeface="Aptos"/>
              </a:defRPr>
            </a:pPr>
            <a:r>
              <a:t>A API precisa tratar falhas e timeouts.</a:t>
            </a:r>
          </a:p>
          <a:p>
            <a:pPr algn="l">
              <a:lnSpc>
                <a:spcPct val="100000"/>
              </a:lnSpc>
              <a:spcAft>
                <a:spcPts val="300"/>
              </a:spcAft>
              <a:defRPr sz="1500" b="0">
                <a:solidFill>
                  <a:srgbClr val="26364A"/>
                </a:solidFill>
                <a:latin typeface="Aptos"/>
              </a:defRPr>
            </a:pPr>
            <a:r>
              <a:t>Um retry de escrita exige cuidado com duplicação.</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Inicialização coordenada ajuda a começar; tratamento de falhas ajuda a continuar operando.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E4·46</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Limites de CPU e memória: controlar o consumo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de configuração adicional do serviço app • valores ilustrativos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services:</a:t>
            </a:r>
          </a:p>
          <a:p>
            <a:pPr algn="l">
              <a:lnSpc>
                <a:spcPct val="105000"/>
              </a:lnSpc>
              <a:spcAft>
                <a:spcPts val="100"/>
              </a:spcAft>
              <a:defRPr sz="1800" b="0">
                <a:solidFill>
                  <a:srgbClr val="FFFFFF"/>
                </a:solidFill>
                <a:latin typeface="DejaVu Sans Mono"/>
              </a:defRPr>
            </a:pPr>
            <a:r>
              <a:t>  app:</a:t>
            </a:r>
          </a:p>
          <a:p>
            <a:pPr algn="l">
              <a:lnSpc>
                <a:spcPct val="105000"/>
              </a:lnSpc>
              <a:spcAft>
                <a:spcPts val="100"/>
              </a:spcAft>
              <a:defRPr sz="1800" b="0">
                <a:solidFill>
                  <a:srgbClr val="FFFFFF"/>
                </a:solidFill>
                <a:latin typeface="DejaVu Sans Mono"/>
              </a:defRPr>
            </a:pPr>
            <a:r>
              <a:t>    # Junto dos demais campos do serviço</a:t>
            </a:r>
          </a:p>
          <a:p>
            <a:pPr algn="l">
              <a:lnSpc>
                <a:spcPct val="105000"/>
              </a:lnSpc>
              <a:spcAft>
                <a:spcPts val="100"/>
              </a:spcAft>
              <a:defRPr sz="1800" b="0">
                <a:solidFill>
                  <a:srgbClr val="FFFFFF"/>
                </a:solidFill>
                <a:latin typeface="DejaVu Sans Mono"/>
              </a:defRPr>
            </a:pPr>
            <a:r>
              <a:t>    cpus: 0.50</a:t>
            </a:r>
          </a:p>
          <a:p>
            <a:pPr algn="l">
              <a:lnSpc>
                <a:spcPct val="105000"/>
              </a:lnSpc>
              <a:spcAft>
                <a:spcPts val="100"/>
              </a:spcAft>
              <a:defRPr sz="1800" b="0">
                <a:solidFill>
                  <a:srgbClr val="FFFFFF"/>
                </a:solidFill>
                <a:latin typeface="DejaVu Sans Mono"/>
              </a:defRPr>
            </a:pPr>
            <a:r>
              <a:t>    mem_limit: 256m</a:t>
            </a:r>
          </a:p>
          <a:p>
            <a:pPr algn="l">
              <a:lnSpc>
                <a:spcPct val="105000"/>
              </a:lnSpc>
              <a:spcAft>
                <a:spcPts val="100"/>
              </a:spcAft>
              <a:defRPr sz="1800" b="0">
                <a:solidFill>
                  <a:srgbClr val="FFFFFF"/>
                </a:solidFill>
                <a:latin typeface="DejaVu Sans Mono"/>
              </a:defRPr>
            </a:pPr>
          </a:p>
          <a:p>
            <a:pPr algn="l">
              <a:lnSpc>
                <a:spcPct val="105000"/>
              </a:lnSpc>
              <a:spcAft>
                <a:spcPts val="100"/>
              </a:spcAft>
              <a:defRPr sz="1800" b="0">
                <a:solidFill>
                  <a:srgbClr val="FFFFFF"/>
                </a:solidFill>
                <a:latin typeface="DejaVu Sans Mono"/>
              </a:defRPr>
            </a:pPr>
            <a:r>
              <a:t># Observar depois de aplicar a configuração:</a:t>
            </a:r>
          </a:p>
          <a:p>
            <a:pPr algn="l">
              <a:lnSpc>
                <a:spcPct val="105000"/>
              </a:lnSpc>
              <a:spcAft>
                <a:spcPts val="100"/>
              </a:spcAft>
              <a:defRPr sz="1800" b="0">
                <a:solidFill>
                  <a:srgbClr val="FFFFFF"/>
                </a:solidFill>
                <a:latin typeface="DejaVu Sans Mono"/>
              </a:defRPr>
            </a:pPr>
            <a:r>
              <a:t># docker compose stats --no-stream</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CPU</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0.50 limita o tempo de CPU ao equivalente a meia CPU.</a:t>
            </a:r>
          </a:p>
          <a:p>
            <a:pPr algn="l">
              <a:lnSpc>
                <a:spcPct val="100000"/>
              </a:lnSpc>
              <a:spcAft>
                <a:spcPts val="300"/>
              </a:spcAft>
              <a:defRPr sz="1500" b="0">
                <a:solidFill>
                  <a:srgbClr val="26364A"/>
                </a:solidFill>
                <a:latin typeface="Aptos"/>
              </a:defRPr>
            </a:pPr>
            <a:r>
              <a:t>Não reserva um núcleo exclusivo.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Memória</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256m limita memória.</a:t>
            </a:r>
          </a:p>
          <a:p>
            <a:pPr algn="l">
              <a:lnSpc>
                <a:spcPct val="100000"/>
              </a:lnSpc>
              <a:spcAft>
                <a:spcPts val="300"/>
              </a:spcAft>
              <a:defRPr sz="1500" b="0">
                <a:solidFill>
                  <a:srgbClr val="26364A"/>
                </a:solidFill>
                <a:latin typeface="Aptos"/>
              </a:defRPr>
            </a:pPr>
            <a:r>
              <a:t>Uso excessivo pode levar a encerramento por OOM.</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Medir → definir limite → testar carga e comportamento; copiar números não é dimensionar.</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E4·47</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Políticas de reinício: reagir à saída do processo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No Compose: restart: unless-stopped • escolha conforme a finalidade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145535"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907791"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Política</a:t>
            </a:r>
          </a:p>
        </p:txBody>
      </p:sp>
      <p:sp>
        <p:nvSpPr>
          <p:cNvPr id="7" name="Rounded Rectangle 6"/>
          <p:cNvSpPr/>
          <p:nvPr/>
        </p:nvSpPr>
        <p:spPr>
          <a:xfrm>
            <a:off x="640080" y="2386584"/>
            <a:ext cx="3145535"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"no" (padrão)</a:t>
            </a:r>
          </a:p>
        </p:txBody>
      </p:sp>
      <p:sp>
        <p:nvSpPr>
          <p:cNvPr id="9" name="Rounded Rectangle 8"/>
          <p:cNvSpPr/>
          <p:nvPr/>
        </p:nvSpPr>
        <p:spPr>
          <a:xfrm>
            <a:off x="640080" y="3163824"/>
            <a:ext cx="3145535"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on-failure[:N]</a:t>
            </a:r>
          </a:p>
        </p:txBody>
      </p:sp>
      <p:sp>
        <p:nvSpPr>
          <p:cNvPr id="11" name="Rounded Rectangle 10"/>
          <p:cNvSpPr/>
          <p:nvPr/>
        </p:nvSpPr>
        <p:spPr>
          <a:xfrm>
            <a:off x="640080" y="3941063"/>
            <a:ext cx="3145535"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always</a:t>
            </a:r>
          </a:p>
        </p:txBody>
      </p:sp>
      <p:sp>
        <p:nvSpPr>
          <p:cNvPr id="13" name="Rounded Rectangle 12"/>
          <p:cNvSpPr/>
          <p:nvPr/>
        </p:nvSpPr>
        <p:spPr>
          <a:xfrm>
            <a:off x="640080" y="4718304"/>
            <a:ext cx="3145535"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unless-stopped</a:t>
            </a:r>
          </a:p>
        </p:txBody>
      </p:sp>
      <p:sp>
        <p:nvSpPr>
          <p:cNvPr id="15" name="Rounded Rectangle 14"/>
          <p:cNvSpPr/>
          <p:nvPr/>
        </p:nvSpPr>
        <p:spPr>
          <a:xfrm>
            <a:off x="3822191" y="1764792"/>
            <a:ext cx="775411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41063" y="1874519"/>
            <a:ext cx="7516367"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Comportamento principal</a:t>
            </a:r>
          </a:p>
        </p:txBody>
      </p:sp>
      <p:sp>
        <p:nvSpPr>
          <p:cNvPr id="17" name="Rounded Rectangle 16"/>
          <p:cNvSpPr/>
          <p:nvPr/>
        </p:nvSpPr>
        <p:spPr>
          <a:xfrm>
            <a:off x="3822191" y="2386584"/>
            <a:ext cx="775411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41063" y="2436876"/>
            <a:ext cx="7516367"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Não reinicia automaticamente.</a:t>
            </a:r>
          </a:p>
        </p:txBody>
      </p:sp>
      <p:sp>
        <p:nvSpPr>
          <p:cNvPr id="19" name="Rounded Rectangle 18"/>
          <p:cNvSpPr/>
          <p:nvPr/>
        </p:nvSpPr>
        <p:spPr>
          <a:xfrm>
            <a:off x="3822191" y="3163824"/>
            <a:ext cx="7754112"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41063" y="3214116"/>
            <a:ext cx="7516367"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Reinicia após saída com erro; N pode limitar tentativas.</a:t>
            </a:r>
          </a:p>
        </p:txBody>
      </p:sp>
      <p:sp>
        <p:nvSpPr>
          <p:cNvPr id="21" name="Rounded Rectangle 20"/>
          <p:cNvSpPr/>
          <p:nvPr/>
        </p:nvSpPr>
        <p:spPr>
          <a:xfrm>
            <a:off x="3822191" y="3941063"/>
            <a:ext cx="775411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41063" y="3991355"/>
            <a:ext cx="7516367" cy="704088"/>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Reinicia após saída; parada manual suspende até nova partida do daemon ou do container.</a:t>
            </a:r>
          </a:p>
        </p:txBody>
      </p:sp>
      <p:sp>
        <p:nvSpPr>
          <p:cNvPr id="23" name="Rounded Rectangle 22"/>
          <p:cNvSpPr/>
          <p:nvPr/>
        </p:nvSpPr>
        <p:spPr>
          <a:xfrm>
            <a:off x="3822191" y="4718304"/>
            <a:ext cx="7754112"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41063" y="4768596"/>
            <a:ext cx="7516367" cy="704088"/>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Semelhante a always; preserva a intenção de parada manual mesmo após reinício do daemon.</a:t>
            </a:r>
          </a:p>
        </p:txBody>
      </p:sp>
      <p:sp>
        <p:nvSpPr>
          <p:cNvPr id="25" name="Rounded Rectangle 24"/>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Restart não é healthcheck, não recupera dados perdidos e não oferece alta disponibilidade entre hosts.</a:t>
            </a:r>
          </a:p>
        </p:txBody>
      </p:sp>
      <p:sp>
        <p:nvSpPr>
          <p:cNvPr id="27" name="TextBox 2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28" name="TextBox 2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E4·48</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Subir a aplicação integrada e verificar a resposta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Usar o compose.yaml completo fornecido no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715" b="0">
                <a:solidFill>
                  <a:srgbClr val="FFFFFF"/>
                </a:solidFill>
                <a:latin typeface="DejaVu Sans Mono"/>
              </a:defRPr>
            </a:pPr>
            <a:r>
              <a:t>docker compose config --quiet</a:t>
            </a:r>
          </a:p>
          <a:p>
            <a:pPr algn="l">
              <a:lnSpc>
                <a:spcPct val="105000"/>
              </a:lnSpc>
              <a:spcAft>
                <a:spcPts val="100"/>
              </a:spcAft>
              <a:defRPr sz="1715" b="0">
                <a:solidFill>
                  <a:srgbClr val="FFFFFF"/>
                </a:solidFill>
                <a:latin typeface="DejaVu Sans Mono"/>
              </a:defRPr>
            </a:pPr>
            <a:r>
              <a:t>docker compose up -d --build --wait</a:t>
            </a:r>
          </a:p>
          <a:p>
            <a:pPr algn="l">
              <a:lnSpc>
                <a:spcPct val="105000"/>
              </a:lnSpc>
              <a:spcAft>
                <a:spcPts val="100"/>
              </a:spcAft>
              <a:defRPr sz="1715" b="0">
                <a:solidFill>
                  <a:srgbClr val="FFFFFF"/>
                </a:solidFill>
                <a:latin typeface="DejaVu Sans Mono"/>
              </a:defRPr>
            </a:pPr>
            <a:r>
              <a:t>docker compose ps</a:t>
            </a:r>
          </a:p>
          <a:p>
            <a:pPr algn="l">
              <a:lnSpc>
                <a:spcPct val="105000"/>
              </a:lnSpc>
              <a:spcAft>
                <a:spcPts val="100"/>
              </a:spcAft>
              <a:defRPr sz="1715" b="0">
                <a:solidFill>
                  <a:srgbClr val="FFFFFF"/>
                </a:solidFill>
                <a:latin typeface="DejaVu Sans Mono"/>
              </a:defRPr>
            </a:pPr>
            <a:r>
              <a:t>curl -fsS http://localhost:8080/health/live</a:t>
            </a:r>
          </a:p>
          <a:p>
            <a:pPr algn="l">
              <a:lnSpc>
                <a:spcPct val="105000"/>
              </a:lnSpc>
              <a:spcAft>
                <a:spcPts val="100"/>
              </a:spcAft>
              <a:defRPr sz="1715" b="0">
                <a:solidFill>
                  <a:srgbClr val="FFFFFF"/>
                </a:solidFill>
                <a:latin typeface="DejaVu Sans Mono"/>
              </a:defRPr>
            </a:pPr>
            <a:r>
              <a:t>curl -fsS http://localhost:8080/health/ready</a:t>
            </a:r>
          </a:p>
          <a:p>
            <a:pPr algn="l">
              <a:lnSpc>
                <a:spcPct val="105000"/>
              </a:lnSpc>
              <a:spcAft>
                <a:spcPts val="100"/>
              </a:spcAft>
              <a:defRPr sz="1715" b="0">
                <a:solidFill>
                  <a:srgbClr val="FFFFFF"/>
                </a:solidFill>
                <a:latin typeface="DejaVu Sans Mono"/>
              </a:defRPr>
            </a:pPr>
            <a:r>
              <a:t>curl -fsS -X POST http://localhost:8080/visitas</a:t>
            </a:r>
          </a:p>
          <a:p>
            <a:pPr algn="l">
              <a:lnSpc>
                <a:spcPct val="105000"/>
              </a:lnSpc>
              <a:spcAft>
                <a:spcPts val="100"/>
              </a:spcAft>
              <a:defRPr sz="1715" b="0">
                <a:solidFill>
                  <a:srgbClr val="FFFFFF"/>
                </a:solidFill>
                <a:latin typeface="DejaVu Sans Mono"/>
              </a:defRPr>
            </a:pPr>
            <a:r>
              <a:t>curl -fsS http://localhost:8080/visitas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Preparar</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Engine ativo; porta 8080 livre.</a:t>
            </a:r>
          </a:p>
          <a:p>
            <a:pPr algn="l">
              <a:lnSpc>
                <a:spcPct val="100000"/>
              </a:lnSpc>
              <a:spcAft>
                <a:spcPts val="300"/>
              </a:spcAft>
              <a:defRPr sz="1500" b="0">
                <a:solidFill>
                  <a:srgbClr val="26364A"/>
                </a:solidFill>
                <a:latin typeface="Aptos"/>
              </a:defRPr>
            </a:pPr>
            <a:r>
              <a:t>Terminal na pasta do laboratório.</a:t>
            </a:r>
          </a:p>
          <a:p>
            <a:pPr algn="l">
              <a:lnSpc>
                <a:spcPct val="100000"/>
              </a:lnSpc>
              <a:spcAft>
                <a:spcPts val="300"/>
              </a:spcAft>
              <a:defRPr sz="1500" b="0">
                <a:solidFill>
                  <a:srgbClr val="26364A"/>
                </a:solidFill>
                <a:latin typeface="Aptos"/>
              </a:defRPr>
            </a:pPr>
            <a:r>
              <a:t>config valida a declaração.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Observar</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up cria serviços e recursos.</a:t>
            </a:r>
          </a:p>
          <a:p>
            <a:pPr algn="l">
              <a:lnSpc>
                <a:spcPct val="100000"/>
              </a:lnSpc>
              <a:spcAft>
                <a:spcPts val="300"/>
              </a:spcAft>
              <a:defRPr sz="1500" b="0">
                <a:solidFill>
                  <a:srgbClr val="26364A"/>
                </a:solidFill>
                <a:latin typeface="Aptos"/>
              </a:defRPr>
            </a:pPr>
            <a:r>
              <a:t>--wait aguarda os checks.</a:t>
            </a:r>
          </a:p>
          <a:p>
            <a:pPr algn="l">
              <a:lnSpc>
                <a:spcPct val="100000"/>
              </a:lnSpc>
              <a:spcAft>
                <a:spcPts val="300"/>
              </a:spcAft>
              <a:defRPr sz="1500" b="0">
                <a:solidFill>
                  <a:srgbClr val="26364A"/>
                </a:solidFill>
                <a:latin typeface="Aptos"/>
              </a:defRPr>
            </a:pPr>
            <a:r>
              <a:t>As chamadas HTTP verificam a resposta.</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API só está integrada quando a operação real consegue atravessar a conexão com o banco.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E4·49</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Interpretar as saídas da demonstração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de sequência • números ilustrativos, dependentes do estado do volume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501091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477316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Observação</a:t>
            </a:r>
          </a:p>
        </p:txBody>
      </p:sp>
      <p:sp>
        <p:nvSpPr>
          <p:cNvPr id="7" name="Rounded Rectangle 6"/>
          <p:cNvSpPr/>
          <p:nvPr/>
        </p:nvSpPr>
        <p:spPr>
          <a:xfrm>
            <a:off x="640080" y="2386584"/>
            <a:ext cx="501091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477316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GET /health/live → 200</a:t>
            </a:r>
          </a:p>
        </p:txBody>
      </p:sp>
      <p:sp>
        <p:nvSpPr>
          <p:cNvPr id="9" name="Rounded Rectangle 8"/>
          <p:cNvSpPr/>
          <p:nvPr/>
        </p:nvSpPr>
        <p:spPr>
          <a:xfrm>
            <a:off x="640080" y="3163824"/>
            <a:ext cx="5010912"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477316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GET /health/ready → 200</a:t>
            </a:r>
          </a:p>
        </p:txBody>
      </p:sp>
      <p:sp>
        <p:nvSpPr>
          <p:cNvPr id="11" name="Rounded Rectangle 10"/>
          <p:cNvSpPr/>
          <p:nvPr/>
        </p:nvSpPr>
        <p:spPr>
          <a:xfrm>
            <a:off x="640080" y="3941063"/>
            <a:ext cx="501091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477316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GET total 7 → POST total 8 → GET total 8</a:t>
            </a:r>
          </a:p>
        </p:txBody>
      </p:sp>
      <p:sp>
        <p:nvSpPr>
          <p:cNvPr id="13" name="Rounded Rectangle 12"/>
          <p:cNvSpPr/>
          <p:nvPr/>
        </p:nvSpPr>
        <p:spPr>
          <a:xfrm>
            <a:off x="640080" y="4718304"/>
            <a:ext cx="5010912"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477316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Após down/up, GET total 8</a:t>
            </a:r>
          </a:p>
        </p:txBody>
      </p:sp>
      <p:sp>
        <p:nvSpPr>
          <p:cNvPr id="15" name="Rounded Rectangle 14"/>
          <p:cNvSpPr/>
          <p:nvPr/>
        </p:nvSpPr>
        <p:spPr>
          <a:xfrm>
            <a:off x="5687568" y="1764792"/>
            <a:ext cx="588873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06440" y="1874519"/>
            <a:ext cx="565099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Interpretação</a:t>
            </a:r>
          </a:p>
        </p:txBody>
      </p:sp>
      <p:sp>
        <p:nvSpPr>
          <p:cNvPr id="17" name="Rounded Rectangle 16"/>
          <p:cNvSpPr/>
          <p:nvPr/>
        </p:nvSpPr>
        <p:spPr>
          <a:xfrm>
            <a:off x="5687568" y="2386584"/>
            <a:ext cx="588873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06440" y="2436876"/>
            <a:ext cx="565099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O processo HTTP respondeu.</a:t>
            </a:r>
          </a:p>
        </p:txBody>
      </p:sp>
      <p:sp>
        <p:nvSpPr>
          <p:cNvPr id="19" name="Rounded Rectangle 18"/>
          <p:cNvSpPr/>
          <p:nvPr/>
        </p:nvSpPr>
        <p:spPr>
          <a:xfrm>
            <a:off x="5687568" y="3163824"/>
            <a:ext cx="5888736"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06440" y="3214116"/>
            <a:ext cx="565099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consulta básica no banco funcionou.</a:t>
            </a:r>
          </a:p>
        </p:txBody>
      </p:sp>
      <p:sp>
        <p:nvSpPr>
          <p:cNvPr id="21" name="Rounded Rectangle 20"/>
          <p:cNvSpPr/>
          <p:nvPr/>
        </p:nvSpPr>
        <p:spPr>
          <a:xfrm>
            <a:off x="5687568" y="3941063"/>
            <a:ext cx="588873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06440" y="3991355"/>
            <a:ext cx="565099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operação gravou e leu o incremento.</a:t>
            </a:r>
          </a:p>
        </p:txBody>
      </p:sp>
      <p:sp>
        <p:nvSpPr>
          <p:cNvPr id="23" name="Rounded Rectangle 22"/>
          <p:cNvSpPr/>
          <p:nvPr/>
        </p:nvSpPr>
        <p:spPr>
          <a:xfrm>
            <a:off x="5687568" y="4718304"/>
            <a:ext cx="5888736"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06440" y="4768596"/>
            <a:ext cx="565099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O estado foi preservado no volume reutilizado.</a:t>
            </a:r>
          </a:p>
        </p:txBody>
      </p:sp>
      <p:sp>
        <p:nvSpPr>
          <p:cNvPr id="25" name="Rounded Rectangle 24"/>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Comandos e resultados devem ser relacionados a uma afirmação verificável sobre o projeto.</a:t>
            </a:r>
          </a:p>
        </p:txBody>
      </p:sp>
      <p:sp>
        <p:nvSpPr>
          <p:cNvPr id="27" name="TextBox 2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28" name="TextBox 2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Comprovar persistência com uma experiência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Anotar → recriar containers → ler novamente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715" b="0">
                <a:solidFill>
                  <a:srgbClr val="FFFFFF"/>
                </a:solidFill>
                <a:latin typeface="DejaVu Sans Mono"/>
              </a:defRPr>
            </a:pPr>
            <a:r>
              <a:t>curl -fsS -X POST http://localhost:8080/visitas</a:t>
            </a:r>
          </a:p>
          <a:p>
            <a:pPr algn="l">
              <a:lnSpc>
                <a:spcPct val="105000"/>
              </a:lnSpc>
              <a:spcAft>
                <a:spcPts val="100"/>
              </a:spcAft>
              <a:defRPr sz="1715" b="0">
                <a:solidFill>
                  <a:srgbClr val="FFFFFF"/>
                </a:solidFill>
                <a:latin typeface="DejaVu Sans Mono"/>
              </a:defRPr>
            </a:pPr>
            <a:r>
              <a:t>curl -fsS http://localhost:8080/visitas</a:t>
            </a:r>
          </a:p>
          <a:p>
            <a:pPr algn="l">
              <a:lnSpc>
                <a:spcPct val="105000"/>
              </a:lnSpc>
              <a:spcAft>
                <a:spcPts val="100"/>
              </a:spcAft>
              <a:defRPr sz="1715" b="0">
                <a:solidFill>
                  <a:srgbClr val="FFFFFF"/>
                </a:solidFill>
                <a:latin typeface="DejaVu Sans Mono"/>
              </a:defRPr>
            </a:pPr>
            <a:r>
              <a:t>docker compose down</a:t>
            </a:r>
          </a:p>
          <a:p>
            <a:pPr algn="l">
              <a:lnSpc>
                <a:spcPct val="105000"/>
              </a:lnSpc>
              <a:spcAft>
                <a:spcPts val="100"/>
              </a:spcAft>
              <a:defRPr sz="1715" b="0">
                <a:solidFill>
                  <a:srgbClr val="FFFFFF"/>
                </a:solidFill>
                <a:latin typeface="DejaVu Sans Mono"/>
              </a:defRPr>
            </a:pPr>
            <a:r>
              <a:t>docker compose up -d --wait</a:t>
            </a:r>
          </a:p>
          <a:p>
            <a:pPr algn="l">
              <a:lnSpc>
                <a:spcPct val="105000"/>
              </a:lnSpc>
              <a:spcAft>
                <a:spcPts val="100"/>
              </a:spcAft>
              <a:defRPr sz="1715" b="0">
                <a:solidFill>
                  <a:srgbClr val="FFFFFF"/>
                </a:solidFill>
                <a:latin typeface="DejaVu Sans Mono"/>
              </a:defRPr>
            </a:pPr>
            <a:r>
              <a:t>curl -fsS http://localhost:8080/visitas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Antes</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Leia e anote o total N.</a:t>
            </a:r>
          </a:p>
          <a:p>
            <a:pPr algn="l">
              <a:lnSpc>
                <a:spcPct val="100000"/>
              </a:lnSpc>
              <a:spcAft>
                <a:spcPts val="300"/>
              </a:spcAft>
              <a:defRPr sz="1500" b="0">
                <a:solidFill>
                  <a:srgbClr val="26364A"/>
                </a:solidFill>
                <a:latin typeface="Aptos"/>
              </a:defRPr>
            </a:pPr>
            <a:r>
              <a:t>POST deve produzir N + 1.</a:t>
            </a:r>
          </a:p>
          <a:p>
            <a:pPr algn="l">
              <a:lnSpc>
                <a:spcPct val="100000"/>
              </a:lnSpc>
              <a:spcAft>
                <a:spcPts val="300"/>
              </a:spcAft>
              <a:defRPr sz="1500" b="0">
                <a:solidFill>
                  <a:srgbClr val="26364A"/>
                </a:solidFill>
                <a:latin typeface="Aptos"/>
              </a:defRPr>
            </a:pPr>
            <a:r>
              <a:t>Guarde o valor observado.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Depois</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down sem -v preserva o volume nomeado.</a:t>
            </a:r>
          </a:p>
          <a:p>
            <a:pPr algn="l">
              <a:lnSpc>
                <a:spcPct val="100000"/>
              </a:lnSpc>
              <a:spcAft>
                <a:spcPts val="300"/>
              </a:spcAft>
              <a:defRPr sz="1500" b="0">
                <a:solidFill>
                  <a:srgbClr val="26364A"/>
                </a:solidFill>
                <a:latin typeface="Aptos"/>
              </a:defRPr>
            </a:pPr>
            <a:r>
              <a:t>Com o mesmo projeto, up o reutiliza.</a:t>
            </a:r>
          </a:p>
          <a:p>
            <a:pPr algn="l">
              <a:lnSpc>
                <a:spcPct val="100000"/>
              </a:lnSpc>
              <a:spcAft>
                <a:spcPts val="300"/>
              </a:spcAft>
              <a:defRPr sz="1500" b="0">
                <a:solidFill>
                  <a:srgbClr val="26364A"/>
                </a:solidFill>
                <a:latin typeface="Aptos"/>
              </a:defRPr>
            </a:pPr>
            <a:r>
              <a:t>GET deve devolver o total preservado.</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Persistência além da instância não é recuperação de desastre; volume e backup resolvem problemas diferentes.</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E4·51</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Rede, dados e saúde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Verificação do bloco • responda com os conceitos e exemplos que acabamos de estudar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porta do host muda para 9090. A API deve passar a usar db:9090?</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Depois de down/up sem -v, o total permanece. Isso prova que há backup?</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check SELECT 1 passa, mas a tabela contador não existe. /visitas está garantido?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Discuta primeiro. O próximo slide traz as respostas comentadas.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E4·52</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Rede, dados e saúde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explicado • relacione cada resposta ao exemplo observado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9090 é a entrada do cliente na API. A conexão interna com o banco continua db:5432.</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Prova persistência no volume reutilizado. Backup requer uma cópia recuperável e restauração testada.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A consulta básica pode passar enquanto a operação falha por schema ausente. Teste GET/POST /visitas.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resposta completa identifica o componente envolvido e explica a evidência.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E4·53</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Diagnóstico: observar antes de alterar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Uma sequência de verificação para localizar a falha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2286000"/>
            <a:ext cx="214884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404872"/>
            <a:ext cx="183794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 Fase</a:t>
            </a:r>
          </a:p>
        </p:txBody>
      </p:sp>
      <p:sp>
        <p:nvSpPr>
          <p:cNvPr id="7" name="TextBox 6"/>
          <p:cNvSpPr txBox="1"/>
          <p:nvPr/>
        </p:nvSpPr>
        <p:spPr>
          <a:xfrm>
            <a:off x="749808" y="2944368"/>
            <a:ext cx="183794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Build ou execução?</a:t>
            </a:r>
          </a:p>
        </p:txBody>
      </p:sp>
      <p:sp>
        <p:nvSpPr>
          <p:cNvPr id="8" name="Rounded Rectangle 7"/>
          <p:cNvSpPr/>
          <p:nvPr/>
        </p:nvSpPr>
        <p:spPr>
          <a:xfrm>
            <a:off x="2926079" y="2286000"/>
            <a:ext cx="214884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81527" y="2404872"/>
            <a:ext cx="183794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 Estado</a:t>
            </a:r>
          </a:p>
        </p:txBody>
      </p:sp>
      <p:sp>
        <p:nvSpPr>
          <p:cNvPr id="10" name="TextBox 9"/>
          <p:cNvSpPr txBox="1"/>
          <p:nvPr/>
        </p:nvSpPr>
        <p:spPr>
          <a:xfrm>
            <a:off x="3081527" y="2944368"/>
            <a:ext cx="183794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ps -a</a:t>
            </a:r>
          </a:p>
        </p:txBody>
      </p:sp>
      <p:sp>
        <p:nvSpPr>
          <p:cNvPr id="11" name="Rounded Rectangle 10"/>
          <p:cNvSpPr/>
          <p:nvPr/>
        </p:nvSpPr>
        <p:spPr>
          <a:xfrm>
            <a:off x="5257800" y="2286000"/>
            <a:ext cx="214884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13248" y="2404872"/>
            <a:ext cx="1837944" cy="438912"/>
          </a:xfrm>
          <a:prstGeom prst="rect">
            <a:avLst/>
          </a:prstGeom>
          <a:noFill/>
        </p:spPr>
        <p:txBody>
          <a:bodyPr wrap="none" anchor="t" anchorCtr="0" lIns="27432" rIns="27432" tIns="18288" bIns="0">
            <a:noAutofit/>
          </a:bodyPr>
          <a:lstStyle/>
          <a:p>
            <a:pPr algn="l">
              <a:spcAft>
                <a:spcPts val="900"/>
              </a:spcAft>
              <a:defRPr sz="1842" b="1">
                <a:solidFill>
                  <a:srgbClr val="2A5C8A"/>
                </a:solidFill>
                <a:latin typeface="Aptos"/>
              </a:defRPr>
            </a:pPr>
            <a:r>
              <a:t>3 • Evidência</a:t>
            </a:r>
          </a:p>
        </p:txBody>
      </p:sp>
      <p:sp>
        <p:nvSpPr>
          <p:cNvPr id="13" name="TextBox 12"/>
          <p:cNvSpPr txBox="1"/>
          <p:nvPr/>
        </p:nvSpPr>
        <p:spPr>
          <a:xfrm>
            <a:off x="5413248" y="2944368"/>
            <a:ext cx="183794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logs</a:t>
            </a:r>
          </a:p>
        </p:txBody>
      </p:sp>
      <p:sp>
        <p:nvSpPr>
          <p:cNvPr id="14" name="Rounded Rectangle 13"/>
          <p:cNvSpPr/>
          <p:nvPr/>
        </p:nvSpPr>
        <p:spPr>
          <a:xfrm>
            <a:off x="7589519" y="2286000"/>
            <a:ext cx="214884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44967" y="2404872"/>
            <a:ext cx="1837944" cy="438912"/>
          </a:xfrm>
          <a:prstGeom prst="rect">
            <a:avLst/>
          </a:prstGeom>
          <a:noFill/>
        </p:spPr>
        <p:txBody>
          <a:bodyPr wrap="none" anchor="t" anchorCtr="0" lIns="27432" rIns="27432" tIns="18288" bIns="0">
            <a:noAutofit/>
          </a:bodyPr>
          <a:lstStyle/>
          <a:p>
            <a:pPr algn="l">
              <a:spcAft>
                <a:spcPts val="900"/>
              </a:spcAft>
              <a:defRPr sz="1686" b="1">
                <a:solidFill>
                  <a:srgbClr val="2A5C8A"/>
                </a:solidFill>
                <a:latin typeface="Aptos"/>
              </a:defRPr>
            </a:pPr>
            <a:r>
              <a:t>4 • Integração</a:t>
            </a:r>
          </a:p>
        </p:txBody>
      </p:sp>
      <p:sp>
        <p:nvSpPr>
          <p:cNvPr id="16" name="TextBox 15"/>
          <p:cNvSpPr txBox="1"/>
          <p:nvPr/>
        </p:nvSpPr>
        <p:spPr>
          <a:xfrm>
            <a:off x="7744967" y="2944368"/>
            <a:ext cx="183794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Rede e banco</a:t>
            </a:r>
          </a:p>
        </p:txBody>
      </p:sp>
      <p:sp>
        <p:nvSpPr>
          <p:cNvPr id="17" name="Rounded Rectangle 16"/>
          <p:cNvSpPr/>
          <p:nvPr/>
        </p:nvSpPr>
        <p:spPr>
          <a:xfrm>
            <a:off x="9921240" y="2286000"/>
            <a:ext cx="214884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76688" y="2404872"/>
            <a:ext cx="183794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5 • Prova</a:t>
            </a:r>
          </a:p>
        </p:txBody>
      </p:sp>
      <p:sp>
        <p:nvSpPr>
          <p:cNvPr id="19" name="TextBox 18"/>
          <p:cNvSpPr txBox="1"/>
          <p:nvPr/>
        </p:nvSpPr>
        <p:spPr>
          <a:xfrm>
            <a:off x="10076688" y="2944368"/>
            <a:ext cx="183794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Requisição real</a:t>
            </a:r>
          </a:p>
        </p:txBody>
      </p:sp>
      <p:sp>
        <p:nvSpPr>
          <p:cNvPr id="20" name="Rounded Rectangle 19"/>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Sintoma → hipótese → teste → correção mínima → nova validação → registro.</a:t>
            </a:r>
          </a:p>
        </p:txBody>
      </p:sp>
      <p:sp>
        <p:nvSpPr>
          <p:cNvPr id="22" name="TextBox 21"/>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Diagnóstico</a:t>
            </a:r>
          </a:p>
        </p:txBody>
      </p:sp>
      <p:sp>
        <p:nvSpPr>
          <p:cNvPr id="23" name="TextBox 22"/>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E4·54</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Comandos com uma pergunta técnica definida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Cada comando produz uma evidência diferente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643737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619963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Comando</a:t>
            </a:r>
          </a:p>
        </p:txBody>
      </p:sp>
      <p:sp>
        <p:nvSpPr>
          <p:cNvPr id="7" name="Rounded Rectangle 6"/>
          <p:cNvSpPr/>
          <p:nvPr/>
        </p:nvSpPr>
        <p:spPr>
          <a:xfrm>
            <a:off x="640080" y="2386584"/>
            <a:ext cx="643737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619963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compose ps -a</a:t>
            </a:r>
          </a:p>
        </p:txBody>
      </p:sp>
      <p:sp>
        <p:nvSpPr>
          <p:cNvPr id="9" name="Rounded Rectangle 8"/>
          <p:cNvSpPr/>
          <p:nvPr/>
        </p:nvSpPr>
        <p:spPr>
          <a:xfrm>
            <a:off x="640080" y="3008376"/>
            <a:ext cx="643737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619963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compose logs --tail=60 app</a:t>
            </a:r>
          </a:p>
        </p:txBody>
      </p:sp>
      <p:sp>
        <p:nvSpPr>
          <p:cNvPr id="11" name="Rounded Rectangle 10"/>
          <p:cNvSpPr/>
          <p:nvPr/>
        </p:nvSpPr>
        <p:spPr>
          <a:xfrm>
            <a:off x="640080" y="3630168"/>
            <a:ext cx="643737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619963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compose exec db pg_isready -U aula -d aula</a:t>
            </a:r>
          </a:p>
        </p:txBody>
      </p:sp>
      <p:sp>
        <p:nvSpPr>
          <p:cNvPr id="13" name="Rounded Rectangle 12"/>
          <p:cNvSpPr/>
          <p:nvPr/>
        </p:nvSpPr>
        <p:spPr>
          <a:xfrm>
            <a:off x="640080" y="4251960"/>
            <a:ext cx="643737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619963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compose exec app node -p "process.env.HOST"</a:t>
            </a:r>
          </a:p>
        </p:txBody>
      </p:sp>
      <p:sp>
        <p:nvSpPr>
          <p:cNvPr id="15" name="Rounded Rectangle 14"/>
          <p:cNvSpPr/>
          <p:nvPr/>
        </p:nvSpPr>
        <p:spPr>
          <a:xfrm>
            <a:off x="640080" y="4873752"/>
            <a:ext cx="643737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619963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compose config --quiet</a:t>
            </a:r>
          </a:p>
        </p:txBody>
      </p:sp>
      <p:sp>
        <p:nvSpPr>
          <p:cNvPr id="17" name="Rounded Rectangle 16"/>
          <p:cNvSpPr/>
          <p:nvPr/>
        </p:nvSpPr>
        <p:spPr>
          <a:xfrm>
            <a:off x="7114032" y="1764792"/>
            <a:ext cx="446227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32904" y="1874519"/>
            <a:ext cx="422452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ele ajuda a responder</a:t>
            </a:r>
          </a:p>
        </p:txBody>
      </p:sp>
      <p:sp>
        <p:nvSpPr>
          <p:cNvPr id="19" name="Rounded Rectangle 18"/>
          <p:cNvSpPr/>
          <p:nvPr/>
        </p:nvSpPr>
        <p:spPr>
          <a:xfrm>
            <a:off x="7114032" y="2386584"/>
            <a:ext cx="446227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2436876"/>
            <a:ext cx="422452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instância iniciou ou encerrou?</a:t>
            </a:r>
          </a:p>
        </p:txBody>
      </p:sp>
      <p:sp>
        <p:nvSpPr>
          <p:cNvPr id="21" name="Rounded Rectangle 20"/>
          <p:cNvSpPr/>
          <p:nvPr/>
        </p:nvSpPr>
        <p:spPr>
          <a:xfrm>
            <a:off x="7114032" y="3008376"/>
            <a:ext cx="4462272"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2904" y="3058668"/>
            <a:ext cx="422452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Qual erro a aplicação emitiu?</a:t>
            </a:r>
          </a:p>
        </p:txBody>
      </p:sp>
      <p:sp>
        <p:nvSpPr>
          <p:cNvPr id="23" name="Rounded Rectangle 22"/>
          <p:cNvSpPr/>
          <p:nvPr/>
        </p:nvSpPr>
        <p:spPr>
          <a:xfrm>
            <a:off x="7114032" y="3630168"/>
            <a:ext cx="446227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3680459"/>
            <a:ext cx="422452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O banco aceita conexões?</a:t>
            </a:r>
          </a:p>
        </p:txBody>
      </p:sp>
      <p:sp>
        <p:nvSpPr>
          <p:cNvPr id="25" name="Rounded Rectangle 24"/>
          <p:cNvSpPr/>
          <p:nvPr/>
        </p:nvSpPr>
        <p:spPr>
          <a:xfrm>
            <a:off x="7114032" y="4251960"/>
            <a:ext cx="4462272"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2904" y="4302252"/>
            <a:ext cx="422452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Qual bind a API recebeu?</a:t>
            </a:r>
          </a:p>
        </p:txBody>
      </p:sp>
      <p:sp>
        <p:nvSpPr>
          <p:cNvPr id="27" name="Rounded Rectangle 26"/>
          <p:cNvSpPr/>
          <p:nvPr/>
        </p:nvSpPr>
        <p:spPr>
          <a:xfrm>
            <a:off x="7114032" y="4873752"/>
            <a:ext cx="446227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32904" y="4924044"/>
            <a:ext cx="422452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declaração é válida para o Compose?</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Não memorize uma lista de comandos sem entender qual hipótese cada um testa.</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Diagnóstico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E4·55</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Caso resolvido: banco saudável, API retorna 503</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Falha provocada: hostname localhost na conexão da API</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Sintoma e evidência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db está healthy.</a:t>
            </a:r>
          </a:p>
          <a:p>
            <a:pPr algn="l">
              <a:lnSpc>
                <a:spcPct val="105000"/>
              </a:lnSpc>
              <a:spcAft>
                <a:spcPts val="600"/>
              </a:spcAft>
              <a:defRPr sz="1800" b="0">
                <a:solidFill>
                  <a:srgbClr val="26364A"/>
                </a:solidFill>
                <a:latin typeface="Aptos"/>
              </a:defRPr>
            </a:pPr>
            <a:r>
              <a:t>ready retorna 503.</a:t>
            </a:r>
          </a:p>
          <a:p>
            <a:pPr algn="l">
              <a:lnSpc>
                <a:spcPct val="105000"/>
              </a:lnSpc>
              <a:spcAft>
                <a:spcPts val="600"/>
              </a:spcAft>
              <a:defRPr sz="1800" b="0">
                <a:solidFill>
                  <a:srgbClr val="26364A"/>
                </a:solidFill>
                <a:latin typeface="Aptos"/>
              </a:defRPr>
            </a:pPr>
            <a:r>
              <a:t>Log da API: conexão recusada.</a:t>
            </a:r>
          </a:p>
          <a:p>
            <a:pPr algn="l">
              <a:lnSpc>
                <a:spcPct val="105000"/>
              </a:lnSpc>
              <a:spcAft>
                <a:spcPts val="600"/>
              </a:spcAft>
              <a:defRPr sz="1800" b="0">
                <a:solidFill>
                  <a:srgbClr val="26364A"/>
                </a:solidFill>
                <a:latin typeface="Aptos"/>
              </a:defRPr>
            </a:pPr>
            <a:r>
              <a:t>URL aponta para localhost:5432.</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Causa explicada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conexão sai da API.</a:t>
            </a:r>
          </a:p>
          <a:p>
            <a:pPr algn="l">
              <a:lnSpc>
                <a:spcPct val="105000"/>
              </a:lnSpc>
              <a:spcAft>
                <a:spcPts val="600"/>
              </a:spcAft>
              <a:defRPr sz="1800" b="0">
                <a:solidFill>
                  <a:srgbClr val="26364A"/>
                </a:solidFill>
                <a:latin typeface="Aptos"/>
              </a:defRPr>
            </a:pPr>
            <a:r>
              <a:t>localhost aponta para ela mesma.</a:t>
            </a:r>
          </a:p>
          <a:p>
            <a:pPr algn="l">
              <a:lnSpc>
                <a:spcPct val="105000"/>
              </a:lnSpc>
              <a:spcAft>
                <a:spcPts val="600"/>
              </a:spcAft>
              <a:defRPr sz="1800" b="0">
                <a:solidFill>
                  <a:srgbClr val="26364A"/>
                </a:solidFill>
                <a:latin typeface="Aptos"/>
              </a:defRPr>
            </a:pPr>
            <a:r>
              <a:t>O banco está no serviço db da rede compartilhada.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Correção e prova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Trocar localhost por db.</a:t>
            </a:r>
          </a:p>
          <a:p>
            <a:pPr algn="l">
              <a:lnSpc>
                <a:spcPct val="105000"/>
              </a:lnSpc>
              <a:spcAft>
                <a:spcPts val="600"/>
              </a:spcAft>
              <a:defRPr sz="1800" b="0">
                <a:solidFill>
                  <a:srgbClr val="26364A"/>
                </a:solidFill>
                <a:latin typeface="Aptos"/>
              </a:defRPr>
            </a:pPr>
            <a:r>
              <a:t>Recriar app com a nova configuração.</a:t>
            </a:r>
          </a:p>
          <a:p>
            <a:pPr algn="l">
              <a:lnSpc>
                <a:spcPct val="105000"/>
              </a:lnSpc>
              <a:spcAft>
                <a:spcPts val="600"/>
              </a:spcAft>
              <a:defRPr sz="1800" b="0">
                <a:solidFill>
                  <a:srgbClr val="26364A"/>
                </a:solidFill>
                <a:latin typeface="Aptos"/>
              </a:defRPr>
            </a:pPr>
            <a:r>
              <a:t>Repetir ready e GET/POST /visitas.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evidência antes/depois deve confirmar a causa; apagar o volume não testa esta hipótese.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Diagnóstico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E4·56</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56" b="1">
                <a:solidFill>
                  <a:srgbClr val="1B2A4A"/>
                </a:solidFill>
                <a:latin typeface="Aptos"/>
              </a:defRPr>
            </a:pPr>
            <a:r>
              <a:t>Caso resolvido: check verde, acesso externo falha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Falha provocada: HOST=127.0.0.1 dentro do container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Sintoma e evidência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Chamada interna em localhost:3000 funciona.</a:t>
            </a:r>
          </a:p>
          <a:p>
            <a:pPr algn="l">
              <a:lnSpc>
                <a:spcPct val="105000"/>
              </a:lnSpc>
              <a:spcAft>
                <a:spcPts val="600"/>
              </a:spcAft>
              <a:defRPr sz="1800" b="0">
                <a:solidFill>
                  <a:srgbClr val="26364A"/>
                </a:solidFill>
                <a:latin typeface="Aptos"/>
              </a:defRPr>
            </a:pPr>
            <a:r>
              <a:t>Cliente no host:8080 falha.</a:t>
            </a:r>
          </a:p>
          <a:p>
            <a:pPr algn="l">
              <a:lnSpc>
                <a:spcPct val="105000"/>
              </a:lnSpc>
              <a:spcAft>
                <a:spcPts val="600"/>
              </a:spcAft>
              <a:defRPr sz="1800" b="0">
                <a:solidFill>
                  <a:srgbClr val="26364A"/>
                </a:solidFill>
                <a:latin typeface="Aptos"/>
              </a:defRPr>
            </a:pPr>
            <a:r>
              <a:t>O healthcheck interno pode ficar verde.</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Causa explicada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API escuta apenas no loopback da instância.</a:t>
            </a:r>
          </a:p>
          <a:p>
            <a:pPr algn="l">
              <a:lnSpc>
                <a:spcPct val="105000"/>
              </a:lnSpc>
              <a:spcAft>
                <a:spcPts val="600"/>
              </a:spcAft>
              <a:defRPr sz="1800" b="0">
                <a:solidFill>
                  <a:srgbClr val="26364A"/>
                </a:solidFill>
                <a:latin typeface="Aptos"/>
              </a:defRPr>
            </a:pPr>
            <a:r>
              <a:t>O tráfego publicado chega pela interface de rede do container.</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Correção e prova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Restaurar HOST=0.0.0.0.</a:t>
            </a:r>
          </a:p>
          <a:p>
            <a:pPr algn="l">
              <a:lnSpc>
                <a:spcPct val="105000"/>
              </a:lnSpc>
              <a:spcAft>
                <a:spcPts val="600"/>
              </a:spcAft>
              <a:defRPr sz="1800" b="0">
                <a:solidFill>
                  <a:srgbClr val="26364A"/>
                </a:solidFill>
                <a:latin typeface="Aptos"/>
              </a:defRPr>
            </a:pPr>
            <a:r>
              <a:t>Recriar app.</a:t>
            </a:r>
          </a:p>
          <a:p>
            <a:pPr algn="l">
              <a:lnSpc>
                <a:spcPct val="105000"/>
              </a:lnSpc>
              <a:spcAft>
                <a:spcPts val="600"/>
              </a:spcAft>
              <a:defRPr sz="1800" b="0">
                <a:solidFill>
                  <a:srgbClr val="26364A"/>
                </a:solidFill>
                <a:latin typeface="Aptos"/>
              </a:defRPr>
            </a:pPr>
            <a:r>
              <a:t>Comparar novamente a mesma rota de dentro e de fora.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teste interno bem-sucedido não garante o caminho percorrido pelo cliente externo.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Diagnóstico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E4·57</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Caso resolvido: dependência cai durante o uso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Parar apenas o banco diferencia processo vivo de funcionalidade disponível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Provocar e observar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 compose stop db</a:t>
            </a:r>
          </a:p>
          <a:p>
            <a:pPr algn="l">
              <a:lnSpc>
                <a:spcPct val="105000"/>
              </a:lnSpc>
              <a:spcAft>
                <a:spcPts val="600"/>
              </a:spcAft>
              <a:defRPr sz="1800" b="0">
                <a:solidFill>
                  <a:srgbClr val="26364A"/>
                </a:solidFill>
                <a:latin typeface="Aptos"/>
              </a:defRPr>
            </a:pPr>
            <a:r>
              <a:t>live continua 200.</a:t>
            </a:r>
          </a:p>
          <a:p>
            <a:pPr algn="l">
              <a:lnSpc>
                <a:spcPct val="105000"/>
              </a:lnSpc>
              <a:spcAft>
                <a:spcPts val="600"/>
              </a:spcAft>
              <a:defRPr sz="1800" b="0">
                <a:solidFill>
                  <a:srgbClr val="26364A"/>
                </a:solidFill>
                <a:latin typeface="Aptos"/>
              </a:defRPr>
            </a:pPr>
            <a:r>
              <a:t>ready e /visitas retornam 503.</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Explicação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API segue em execução.</a:t>
            </a:r>
          </a:p>
          <a:p>
            <a:pPr algn="l">
              <a:lnSpc>
                <a:spcPct val="105000"/>
              </a:lnSpc>
              <a:spcAft>
                <a:spcPts val="600"/>
              </a:spcAft>
              <a:defRPr sz="1800" b="0">
                <a:solidFill>
                  <a:srgbClr val="26364A"/>
                </a:solidFill>
                <a:latin typeface="Aptos"/>
              </a:defRPr>
            </a:pPr>
            <a:r>
              <a:t>A operação precisa de consulta SQL.</a:t>
            </a:r>
          </a:p>
          <a:p>
            <a:pPr algn="l">
              <a:lnSpc>
                <a:spcPct val="105000"/>
              </a:lnSpc>
              <a:spcAft>
                <a:spcPts val="600"/>
              </a:spcAft>
              <a:defRPr sz="1800" b="0">
                <a:solidFill>
                  <a:srgbClr val="26364A"/>
                </a:solidFill>
                <a:latin typeface="Aptos"/>
              </a:defRPr>
            </a:pPr>
            <a:r>
              <a:t>depends_on já cumpriu seu papel na partida.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Recuperar e provar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 compose start db</a:t>
            </a:r>
          </a:p>
          <a:p>
            <a:pPr algn="l">
              <a:lnSpc>
                <a:spcPct val="105000"/>
              </a:lnSpc>
              <a:spcAft>
                <a:spcPts val="600"/>
              </a:spcAft>
              <a:defRPr sz="1800" b="0">
                <a:solidFill>
                  <a:srgbClr val="26364A"/>
                </a:solidFill>
                <a:latin typeface="Aptos"/>
              </a:defRPr>
            </a:pPr>
            <a:r>
              <a:t>Aguardar o banco aceitar conexões.</a:t>
            </a:r>
          </a:p>
          <a:p>
            <a:pPr algn="l">
              <a:lnSpc>
                <a:spcPct val="105000"/>
              </a:lnSpc>
              <a:spcAft>
                <a:spcPts val="600"/>
              </a:spcAft>
              <a:defRPr sz="1800" b="0">
                <a:solidFill>
                  <a:srgbClr val="26364A"/>
                </a:solidFill>
                <a:latin typeface="Aptos"/>
              </a:defRPr>
            </a:pPr>
            <a:r>
              <a:t>ready volta a 200; o total permanece.</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Recuperar a dependência e testar novas requisições pode bastar; a decisão deve seguir a evidência.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Diagnóstico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E4·58</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IA no diagnóstico: hipótese com teste verificável</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de pedido depois de coletar o sintoma e a configuração relevante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Contexto fornecido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API retorna 503 em ready.</a:t>
            </a:r>
          </a:p>
          <a:p>
            <a:pPr algn="l">
              <a:lnSpc>
                <a:spcPct val="105000"/>
              </a:lnSpc>
              <a:spcAft>
                <a:spcPts val="600"/>
              </a:spcAft>
              <a:defRPr sz="1800" b="0">
                <a:solidFill>
                  <a:srgbClr val="26364A"/>
                </a:solidFill>
                <a:latin typeface="Aptos"/>
              </a:defRPr>
            </a:pPr>
            <a:r>
              <a:t>db aparece healthy.</a:t>
            </a:r>
          </a:p>
          <a:p>
            <a:pPr algn="l">
              <a:lnSpc>
                <a:spcPct val="105000"/>
              </a:lnSpc>
              <a:spcAft>
                <a:spcPts val="600"/>
              </a:spcAft>
              <a:defRPr sz="1800" b="0">
                <a:solidFill>
                  <a:srgbClr val="26364A"/>
                </a:solidFill>
                <a:latin typeface="Aptos"/>
              </a:defRPr>
            </a:pPr>
            <a:r>
              <a:t>URL usa localhost:5432.</a:t>
            </a:r>
          </a:p>
          <a:p>
            <a:pPr algn="l">
              <a:lnSpc>
                <a:spcPct val="105000"/>
              </a:lnSpc>
              <a:spcAft>
                <a:spcPts val="600"/>
              </a:spcAft>
              <a:defRPr sz="1800" b="0">
                <a:solidFill>
                  <a:srgbClr val="26364A"/>
                </a:solidFill>
                <a:latin typeface="Aptos"/>
              </a:defRPr>
            </a:pPr>
            <a:r>
              <a:t>Sem senhas nem dados reais.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Pedido à IA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“Liste hipóteses priorizadas.</a:t>
            </a:r>
          </a:p>
          <a:p>
            <a:pPr algn="l">
              <a:lnSpc>
                <a:spcPct val="105000"/>
              </a:lnSpc>
              <a:spcAft>
                <a:spcPts val="600"/>
              </a:spcAft>
              <a:defRPr sz="1800" b="0">
                <a:solidFill>
                  <a:srgbClr val="26364A"/>
                </a:solidFill>
                <a:latin typeface="Aptos"/>
              </a:defRPr>
            </a:pPr>
            <a:r>
              <a:t>Para cada uma, dê um teste não destrutivo e o resultado que a descartaria.”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Validação humana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Conferir a relação causa/ação.</a:t>
            </a:r>
          </a:p>
          <a:p>
            <a:pPr algn="l">
              <a:lnSpc>
                <a:spcPct val="105000"/>
              </a:lnSpc>
              <a:spcAft>
                <a:spcPts val="600"/>
              </a:spcAft>
              <a:defRPr sz="1800" b="0">
                <a:solidFill>
                  <a:srgbClr val="26364A"/>
                </a:solidFill>
                <a:latin typeface="Aptos"/>
              </a:defRPr>
            </a:pPr>
            <a:r>
              <a:t>Executar a verificação.</a:t>
            </a:r>
          </a:p>
          <a:p>
            <a:pPr algn="l">
              <a:lnSpc>
                <a:spcPct val="105000"/>
              </a:lnSpc>
              <a:spcAft>
                <a:spcPts val="600"/>
              </a:spcAft>
              <a:defRPr sz="1800" b="0">
                <a:solidFill>
                  <a:srgbClr val="26364A"/>
                </a:solidFill>
                <a:latin typeface="Aptos"/>
              </a:defRPr>
            </a:pPr>
            <a:r>
              <a:t>Rejeitar down -v para um erro de hostname.</a:t>
            </a:r>
          </a:p>
          <a:p>
            <a:pPr algn="l">
              <a:lnSpc>
                <a:spcPct val="105000"/>
              </a:lnSpc>
              <a:spcAft>
                <a:spcPts val="600"/>
              </a:spcAft>
              <a:defRPr sz="1800" b="0">
                <a:solidFill>
                  <a:srgbClr val="26364A"/>
                </a:solidFill>
                <a:latin typeface="Aptos"/>
              </a:defRPr>
            </a:pPr>
            <a:r>
              <a:t>Registrar correção e resultado.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Toda saída de IA é hipótese até ser validada por teste, execução ou revisão humana.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Diagnóstico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E4·59</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Como este encontro entra no projeto integrador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mesmo projeto evolui do código validado ao ambiente executável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20240"/>
            <a:ext cx="3383280" cy="31089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03911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E1–E3 | BASE</a:t>
            </a:r>
          </a:p>
        </p:txBody>
      </p:sp>
      <p:sp>
        <p:nvSpPr>
          <p:cNvPr id="7" name="TextBox 6"/>
          <p:cNvSpPr txBox="1"/>
          <p:nvPr/>
        </p:nvSpPr>
        <p:spPr>
          <a:xfrm>
            <a:off x="795528" y="2578608"/>
            <a:ext cx="3072384" cy="23500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Projeto escolhido</a:t>
            </a:r>
          </a:p>
          <a:p>
            <a:pPr algn="l">
              <a:lnSpc>
                <a:spcPct val="105000"/>
              </a:lnSpc>
              <a:spcAft>
                <a:spcPts val="600"/>
              </a:spcAft>
              <a:defRPr sz="1800" b="0">
                <a:solidFill>
                  <a:srgbClr val="26364A"/>
                </a:solidFill>
                <a:latin typeface="Aptos"/>
              </a:defRPr>
            </a:pPr>
            <a:r>
              <a:t>Colaboração e código</a:t>
            </a:r>
          </a:p>
          <a:p>
            <a:pPr algn="l">
              <a:lnSpc>
                <a:spcPct val="105000"/>
              </a:lnSpc>
              <a:spcAft>
                <a:spcPts val="600"/>
              </a:spcAft>
              <a:defRPr sz="1800" b="0">
                <a:solidFill>
                  <a:srgbClr val="26364A"/>
                </a:solidFill>
                <a:latin typeface="Aptos"/>
              </a:defRPr>
            </a:pPr>
            <a:r>
              <a:t>Testes e pipeline CI</a:t>
            </a:r>
          </a:p>
        </p:txBody>
      </p:sp>
      <p:sp>
        <p:nvSpPr>
          <p:cNvPr id="8" name="Right Arrow 7"/>
          <p:cNvSpPr/>
          <p:nvPr/>
        </p:nvSpPr>
        <p:spPr>
          <a:xfrm>
            <a:off x="4078224" y="320040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920240"/>
            <a:ext cx="3383280" cy="31089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203911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E4 | EXECUÇÃO</a:t>
            </a:r>
          </a:p>
        </p:txBody>
      </p:sp>
      <p:sp>
        <p:nvSpPr>
          <p:cNvPr id="11" name="TextBox 10"/>
          <p:cNvSpPr txBox="1"/>
          <p:nvPr/>
        </p:nvSpPr>
        <p:spPr>
          <a:xfrm>
            <a:off x="4544568" y="2578608"/>
            <a:ext cx="3072384" cy="23500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Imagem da aplicação</a:t>
            </a:r>
          </a:p>
          <a:p>
            <a:pPr algn="l">
              <a:lnSpc>
                <a:spcPct val="105000"/>
              </a:lnSpc>
              <a:spcAft>
                <a:spcPts val="600"/>
              </a:spcAft>
              <a:defRPr sz="1800" b="0">
                <a:solidFill>
                  <a:srgbClr val="26364A"/>
                </a:solidFill>
                <a:latin typeface="Aptos"/>
              </a:defRPr>
            </a:pPr>
            <a:r>
              <a:t>Serviços integrados</a:t>
            </a:r>
          </a:p>
          <a:p>
            <a:pPr algn="l">
              <a:lnSpc>
                <a:spcPct val="105000"/>
              </a:lnSpc>
              <a:spcAft>
                <a:spcPts val="600"/>
              </a:spcAft>
              <a:defRPr sz="1800" b="0">
                <a:solidFill>
                  <a:srgbClr val="26364A"/>
                </a:solidFill>
                <a:latin typeface="Aptos"/>
              </a:defRPr>
            </a:pPr>
            <a:r>
              <a:t>Diagnóstico com evidência</a:t>
            </a:r>
          </a:p>
        </p:txBody>
      </p:sp>
      <p:sp>
        <p:nvSpPr>
          <p:cNvPr id="12" name="Right Arrow 11"/>
          <p:cNvSpPr/>
          <p:nvPr/>
        </p:nvSpPr>
        <p:spPr>
          <a:xfrm>
            <a:off x="7827263" y="320040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59" y="1920240"/>
            <a:ext cx="3383280" cy="31089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3607" y="203911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E5–E6 | ENTREGA</a:t>
            </a:r>
          </a:p>
        </p:txBody>
      </p:sp>
      <p:sp>
        <p:nvSpPr>
          <p:cNvPr id="15" name="TextBox 14"/>
          <p:cNvSpPr txBox="1"/>
          <p:nvPr/>
        </p:nvSpPr>
        <p:spPr>
          <a:xfrm>
            <a:off x="8293607" y="2578608"/>
            <a:ext cx="3072384" cy="23500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Configuração e promoção</a:t>
            </a:r>
          </a:p>
          <a:p>
            <a:pPr algn="l">
              <a:lnSpc>
                <a:spcPct val="105000"/>
              </a:lnSpc>
              <a:spcAft>
                <a:spcPts val="600"/>
              </a:spcAft>
              <a:defRPr sz="1800" b="0">
                <a:solidFill>
                  <a:srgbClr val="26364A"/>
                </a:solidFill>
                <a:latin typeface="Aptos"/>
              </a:defRPr>
            </a:pPr>
            <a:r>
              <a:t>Rollback e governança</a:t>
            </a:r>
          </a:p>
          <a:p>
            <a:pPr algn="l">
              <a:lnSpc>
                <a:spcPct val="105000"/>
              </a:lnSpc>
              <a:spcAft>
                <a:spcPts val="600"/>
              </a:spcAft>
              <a:defRPr sz="1800" b="0">
                <a:solidFill>
                  <a:srgbClr val="26364A"/>
                </a:solidFill>
                <a:latin typeface="Aptos"/>
              </a:defRPr>
            </a:pPr>
            <a:r>
              <a:t>Demonstração final</a:t>
            </a:r>
          </a:p>
        </p:txBody>
      </p:sp>
      <p:sp>
        <p:nvSpPr>
          <p:cNvPr id="16" name="Rounded Rectangle 15"/>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E4 alimenta os 20% de Containers/Compose já previstos na rubrica; os demais pesos permanecem os oficiais.</a:t>
            </a:r>
          </a:p>
        </p:txBody>
      </p:sp>
      <p:sp>
        <p:nvSpPr>
          <p:cNvPr id="18" name="TextBox 17"/>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9" name="TextBox 18"/>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Traduzir o exemplo para a aplicação da equipe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linguagem pode mudar; as responsabilidades continuam</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46817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44439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No exemplo da aula</a:t>
            </a:r>
          </a:p>
        </p:txBody>
      </p:sp>
      <p:sp>
        <p:nvSpPr>
          <p:cNvPr id="7" name="Rounded Rectangle 6"/>
          <p:cNvSpPr/>
          <p:nvPr/>
        </p:nvSpPr>
        <p:spPr>
          <a:xfrm>
            <a:off x="640080" y="2386584"/>
            <a:ext cx="46817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Node + server.js</a:t>
            </a:r>
          </a:p>
        </p:txBody>
      </p:sp>
      <p:sp>
        <p:nvSpPr>
          <p:cNvPr id="9" name="Rounded Rectangle 8"/>
          <p:cNvSpPr/>
          <p:nvPr/>
        </p:nvSpPr>
        <p:spPr>
          <a:xfrm>
            <a:off x="640080" y="3008376"/>
            <a:ext cx="468172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pg + lockfile npm</a:t>
            </a:r>
          </a:p>
        </p:txBody>
      </p:sp>
      <p:sp>
        <p:nvSpPr>
          <p:cNvPr id="11" name="Rounded Rectangle 10"/>
          <p:cNvSpPr/>
          <p:nvPr/>
        </p:nvSpPr>
        <p:spPr>
          <a:xfrm>
            <a:off x="640080" y="3630168"/>
            <a:ext cx="46817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app → db</a:t>
            </a:r>
          </a:p>
        </p:txBody>
      </p:sp>
      <p:sp>
        <p:nvSpPr>
          <p:cNvPr id="13" name="Rounded Rectangle 12"/>
          <p:cNvSpPr/>
          <p:nvPr/>
        </p:nvSpPr>
        <p:spPr>
          <a:xfrm>
            <a:off x="640080" y="4251960"/>
            <a:ext cx="468172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dados + init.sql</a:t>
            </a:r>
          </a:p>
        </p:txBody>
      </p:sp>
      <p:sp>
        <p:nvSpPr>
          <p:cNvPr id="15" name="Rounded Rectangle 14"/>
          <p:cNvSpPr/>
          <p:nvPr/>
        </p:nvSpPr>
        <p:spPr>
          <a:xfrm>
            <a:off x="640080" y="4873752"/>
            <a:ext cx="46817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live, ready e /visitas</a:t>
            </a:r>
          </a:p>
        </p:txBody>
      </p:sp>
      <p:sp>
        <p:nvSpPr>
          <p:cNvPr id="17" name="Rounded Rectangle 16"/>
          <p:cNvSpPr/>
          <p:nvPr/>
        </p:nvSpPr>
        <p:spPr>
          <a:xfrm>
            <a:off x="5358384" y="1764792"/>
            <a:ext cx="621792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77256" y="1874519"/>
            <a:ext cx="598017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No projeto da equipe</a:t>
            </a:r>
          </a:p>
        </p:txBody>
      </p:sp>
      <p:sp>
        <p:nvSpPr>
          <p:cNvPr id="19" name="Rounded Rectangle 18"/>
          <p:cNvSpPr/>
          <p:nvPr/>
        </p:nvSpPr>
        <p:spPr>
          <a:xfrm>
            <a:off x="5358384" y="2386584"/>
            <a:ext cx="621792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77256" y="2436876"/>
            <a:ext cx="59801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Runtime e comando reais da aplicação.</a:t>
            </a:r>
          </a:p>
        </p:txBody>
      </p:sp>
      <p:sp>
        <p:nvSpPr>
          <p:cNvPr id="21" name="Rounded Rectangle 20"/>
          <p:cNvSpPr/>
          <p:nvPr/>
        </p:nvSpPr>
        <p:spPr>
          <a:xfrm>
            <a:off x="5358384" y="3008376"/>
            <a:ext cx="621792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77256" y="3058668"/>
            <a:ext cx="59801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Dependências controladas da stack escolhida.</a:t>
            </a:r>
          </a:p>
        </p:txBody>
      </p:sp>
      <p:sp>
        <p:nvSpPr>
          <p:cNvPr id="23" name="Rounded Rectangle 22"/>
          <p:cNvSpPr/>
          <p:nvPr/>
        </p:nvSpPr>
        <p:spPr>
          <a:xfrm>
            <a:off x="5358384" y="3630168"/>
            <a:ext cx="621792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77256" y="3680459"/>
            <a:ext cx="59801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Componentes que de fato precisam conversar.</a:t>
            </a:r>
          </a:p>
        </p:txBody>
      </p:sp>
      <p:sp>
        <p:nvSpPr>
          <p:cNvPr id="25" name="Rounded Rectangle 24"/>
          <p:cNvSpPr/>
          <p:nvPr/>
        </p:nvSpPr>
        <p:spPr>
          <a:xfrm>
            <a:off x="5358384" y="4251960"/>
            <a:ext cx="621792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77256" y="4302252"/>
            <a:ext cx="59801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Persistência e inicialização/migração pertinentes.</a:t>
            </a:r>
          </a:p>
        </p:txBody>
      </p:sp>
      <p:sp>
        <p:nvSpPr>
          <p:cNvPr id="27" name="Rounded Rectangle 26"/>
          <p:cNvSpPr/>
          <p:nvPr/>
        </p:nvSpPr>
        <p:spPr>
          <a:xfrm>
            <a:off x="5358384" y="4873752"/>
            <a:ext cx="621792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77256" y="4924044"/>
            <a:ext cx="59801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Check de saúde e operação funcional do projeto.</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Antes de escrever o Dockerfile, anote comando, runtime, dependências, configuração e estado do próprio projeto.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E4·61</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Plano técnico: decisões antes de executar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Preencher no README da própria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Imagem</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Qual comando inicia a aplicação?</a:t>
            </a:r>
          </a:p>
          <a:p>
            <a:pPr algn="l">
              <a:lnSpc>
                <a:spcPct val="105000"/>
              </a:lnSpc>
              <a:spcAft>
                <a:spcPts val="600"/>
              </a:spcAft>
              <a:defRPr sz="1800" b="0">
                <a:solidFill>
                  <a:srgbClr val="26364A"/>
                </a:solidFill>
                <a:latin typeface="Aptos"/>
              </a:defRPr>
            </a:pPr>
            <a:r>
              <a:t>Qual runtime e versão ela usa?</a:t>
            </a:r>
          </a:p>
          <a:p>
            <a:pPr algn="l">
              <a:lnSpc>
                <a:spcPct val="105000"/>
              </a:lnSpc>
              <a:spcAft>
                <a:spcPts val="600"/>
              </a:spcAft>
              <a:defRPr sz="1800" b="0">
                <a:solidFill>
                  <a:srgbClr val="26364A"/>
                </a:solidFill>
                <a:latin typeface="Aptos"/>
              </a:defRPr>
            </a:pPr>
            <a:r>
              <a:t>Quais arquivos precisam entrar?</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Integração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Quais serviços existem?</a:t>
            </a:r>
          </a:p>
          <a:p>
            <a:pPr algn="l">
              <a:lnSpc>
                <a:spcPct val="105000"/>
              </a:lnSpc>
              <a:spcAft>
                <a:spcPts val="600"/>
              </a:spcAft>
              <a:defRPr sz="1800" b="0">
                <a:solidFill>
                  <a:srgbClr val="26364A"/>
                </a:solidFill>
                <a:latin typeface="Aptos"/>
              </a:defRPr>
            </a:pPr>
            <a:r>
              <a:t>Quem chama quem e por qual porta?</a:t>
            </a:r>
          </a:p>
          <a:p>
            <a:pPr algn="l">
              <a:lnSpc>
                <a:spcPct val="105000"/>
              </a:lnSpc>
              <a:spcAft>
                <a:spcPts val="600"/>
              </a:spcAft>
              <a:defRPr sz="1800" b="0">
                <a:solidFill>
                  <a:srgbClr val="26364A"/>
                </a:solidFill>
                <a:latin typeface="Aptos"/>
              </a:defRPr>
            </a:pPr>
            <a:r>
              <a:t>Quais variáveis são obrigatórias?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Dados e validação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Onde o estado deve persistir?</a:t>
            </a:r>
          </a:p>
          <a:p>
            <a:pPr algn="l">
              <a:lnSpc>
                <a:spcPct val="105000"/>
              </a:lnSpc>
              <a:spcAft>
                <a:spcPts val="600"/>
              </a:spcAft>
              <a:defRPr sz="1800" b="0">
                <a:solidFill>
                  <a:srgbClr val="26364A"/>
                </a:solidFill>
                <a:latin typeface="Aptos"/>
              </a:defRPr>
            </a:pPr>
            <a:r>
              <a:t>O que o check de saúde mede?</a:t>
            </a:r>
          </a:p>
          <a:p>
            <a:pPr algn="l">
              <a:lnSpc>
                <a:spcPct val="105000"/>
              </a:lnSpc>
              <a:spcAft>
                <a:spcPts val="600"/>
              </a:spcAft>
              <a:defRPr sz="1800" b="0">
                <a:solidFill>
                  <a:srgbClr val="26364A"/>
                </a:solidFill>
                <a:latin typeface="Aptos"/>
              </a:defRPr>
            </a:pPr>
            <a:r>
              <a:t>Qual operação comprova funcionamento?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As decisões do README devem corresponder aos arquivos versionados e à execução que será demonstrada.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E4·62</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Laboratório: aplicar ao projeto da equipe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70 minutos reservados para implementação e evidências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1995" b="1">
                <a:solidFill>
                  <a:srgbClr val="2A5C8A"/>
                </a:solidFill>
                <a:latin typeface="Aptos"/>
              </a:defRPr>
            </a:pPr>
            <a:r>
              <a:t>0–20 min | Empacotar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Dockerfile e .dockerignore.</a:t>
            </a:r>
          </a:p>
          <a:p>
            <a:pPr algn="l">
              <a:lnSpc>
                <a:spcPct val="105000"/>
              </a:lnSpc>
              <a:spcAft>
                <a:spcPts val="600"/>
              </a:spcAft>
              <a:defRPr sz="1800" b="0">
                <a:solidFill>
                  <a:srgbClr val="26364A"/>
                </a:solidFill>
                <a:latin typeface="Aptos"/>
              </a:defRPr>
            </a:pPr>
            <a:r>
              <a:t>Dependências controladas.</a:t>
            </a:r>
          </a:p>
          <a:p>
            <a:pPr algn="l">
              <a:lnSpc>
                <a:spcPct val="105000"/>
              </a:lnSpc>
              <a:spcAft>
                <a:spcPts val="600"/>
              </a:spcAft>
              <a:defRPr sz="1800" b="0">
                <a:solidFill>
                  <a:srgbClr val="26364A"/>
                </a:solidFill>
                <a:latin typeface="Aptos"/>
              </a:defRPr>
            </a:pPr>
            <a:r>
              <a:t>Imagem inicia com comando claro.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20–45 min | Integrar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Compose com serviços pertinentes.</a:t>
            </a:r>
          </a:p>
          <a:p>
            <a:pPr algn="l">
              <a:lnSpc>
                <a:spcPct val="105000"/>
              </a:lnSpc>
              <a:spcAft>
                <a:spcPts val="600"/>
              </a:spcAft>
              <a:defRPr sz="1800" b="0">
                <a:solidFill>
                  <a:srgbClr val="26364A"/>
                </a:solidFill>
                <a:latin typeface="Aptos"/>
              </a:defRPr>
            </a:pPr>
            <a:r>
              <a:t>Configuração, rede, dados e saúde.</a:t>
            </a:r>
          </a:p>
          <a:p>
            <a:pPr algn="l">
              <a:lnSpc>
                <a:spcPct val="105000"/>
              </a:lnSpc>
              <a:spcAft>
                <a:spcPts val="600"/>
              </a:spcAft>
              <a:defRPr sz="1800" b="0">
                <a:solidFill>
                  <a:srgbClr val="26364A"/>
                </a:solidFill>
                <a:latin typeface="Aptos"/>
              </a:defRPr>
            </a:pPr>
            <a:r>
              <a:t>Executar uma operação funcional.</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45–70 min | Validar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Provocar e corrigir uma falha.</a:t>
            </a:r>
          </a:p>
          <a:p>
            <a:pPr algn="l">
              <a:lnSpc>
                <a:spcPct val="105000"/>
              </a:lnSpc>
              <a:spcAft>
                <a:spcPts val="600"/>
              </a:spcAft>
              <a:defRPr sz="1800" b="0">
                <a:solidFill>
                  <a:srgbClr val="26364A"/>
                </a:solidFill>
                <a:latin typeface="Aptos"/>
              </a:defRPr>
            </a:pPr>
            <a:r>
              <a:t>Conferir README a partir de clone limpo.</a:t>
            </a:r>
          </a:p>
          <a:p>
            <a:pPr algn="l">
              <a:lnSpc>
                <a:spcPct val="105000"/>
              </a:lnSpc>
              <a:spcAft>
                <a:spcPts val="600"/>
              </a:spcAft>
              <a:defRPr sz="1800" b="0">
                <a:solidFill>
                  <a:srgbClr val="26364A"/>
                </a:solidFill>
                <a:latin typeface="Aptos"/>
              </a:defRPr>
            </a:pPr>
            <a:r>
              <a:t>Registrar comandos, resultados e decisões.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equipe deve conseguir explicar o que cada serviço faz e reproduzir sua própria execução.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E4·63</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80" b="1">
                <a:solidFill>
                  <a:srgbClr val="1B2A4A"/>
                </a:solidFill>
                <a:latin typeface="Aptos"/>
              </a:defRPr>
            </a:pPr>
            <a:r>
              <a:t>Critérios de aceite: o que deve ficar demonstrado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Evidências no repositório • critério Containers/Compose: 20%</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Reprodução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Dockerfile, Compose e arquivos necessários.</a:t>
            </a:r>
          </a:p>
          <a:p>
            <a:pPr algn="l">
              <a:lnSpc>
                <a:spcPct val="105000"/>
              </a:lnSpc>
              <a:spcAft>
                <a:spcPts val="600"/>
              </a:spcAft>
              <a:defRPr sz="1800" b="0">
                <a:solidFill>
                  <a:srgbClr val="26364A"/>
                </a:solidFill>
                <a:latin typeface="Aptos"/>
              </a:defRPr>
            </a:pPr>
            <a:r>
              <a:t>README com setup, subida, teste e parada.</a:t>
            </a:r>
          </a:p>
          <a:p>
            <a:pPr algn="l">
              <a:lnSpc>
                <a:spcPct val="105000"/>
              </a:lnSpc>
              <a:spcAft>
                <a:spcPts val="600"/>
              </a:spcAft>
              <a:defRPr sz="1800" b="0">
                <a:solidFill>
                  <a:srgbClr val="26364A"/>
                </a:solidFill>
                <a:latin typeface="Aptos"/>
              </a:defRPr>
            </a:pPr>
            <a:r>
              <a:t>Nenhum arquivo local oculto indispensável.</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Comportamento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Aplicação inicia.</a:t>
            </a:r>
          </a:p>
          <a:p>
            <a:pPr algn="l">
              <a:lnSpc>
                <a:spcPct val="105000"/>
              </a:lnSpc>
              <a:spcAft>
                <a:spcPts val="600"/>
              </a:spcAft>
              <a:defRPr sz="1800" b="0">
                <a:solidFill>
                  <a:srgbClr val="26364A"/>
                </a:solidFill>
                <a:latin typeface="Aptos"/>
              </a:defRPr>
            </a:pPr>
            <a:r>
              <a:t>Operação alcança a dependência.</a:t>
            </a:r>
          </a:p>
          <a:p>
            <a:pPr algn="l">
              <a:lnSpc>
                <a:spcPct val="105000"/>
              </a:lnSpc>
              <a:spcAft>
                <a:spcPts val="600"/>
              </a:spcAft>
              <a:defRPr sz="1800" b="0">
                <a:solidFill>
                  <a:srgbClr val="26364A"/>
                </a:solidFill>
                <a:latin typeface="Aptos"/>
              </a:defRPr>
            </a:pPr>
            <a:r>
              <a:t>Estado persiste quando necessário.</a:t>
            </a:r>
          </a:p>
          <a:p>
            <a:pPr algn="l">
              <a:lnSpc>
                <a:spcPct val="105000"/>
              </a:lnSpc>
              <a:spcAft>
                <a:spcPts val="600"/>
              </a:spcAft>
              <a:defRPr sz="1800" b="0">
                <a:solidFill>
                  <a:srgbClr val="26364A"/>
                </a:solidFill>
                <a:latin typeface="Aptos"/>
              </a:defRPr>
            </a:pPr>
            <a:r>
              <a:t>Check tem um contrato explicado.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Raciocínio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Falha reproduzida e causa confirmada.</a:t>
            </a:r>
          </a:p>
          <a:p>
            <a:pPr algn="l">
              <a:lnSpc>
                <a:spcPct val="105000"/>
              </a:lnSpc>
              <a:spcAft>
                <a:spcPts val="600"/>
              </a:spcAft>
              <a:defRPr sz="1800" b="0">
                <a:solidFill>
                  <a:srgbClr val="26364A"/>
                </a:solidFill>
                <a:latin typeface="Aptos"/>
              </a:defRPr>
            </a:pPr>
            <a:r>
              <a:t>Correção validada por execução.</a:t>
            </a:r>
          </a:p>
          <a:p>
            <a:pPr algn="l">
              <a:lnSpc>
                <a:spcPct val="105000"/>
              </a:lnSpc>
              <a:spcAft>
                <a:spcPts val="600"/>
              </a:spcAft>
              <a:defRPr sz="1800" b="0">
                <a:solidFill>
                  <a:srgbClr val="26364A"/>
                </a:solidFill>
                <a:latin typeface="Aptos"/>
              </a:defRPr>
            </a:pPr>
            <a:r>
              <a:t>Registro crítico de IA, se utilizada.</a:t>
            </a:r>
          </a:p>
          <a:p>
            <a:pPr algn="l">
              <a:lnSpc>
                <a:spcPct val="105000"/>
              </a:lnSpc>
              <a:spcAft>
                <a:spcPts val="600"/>
              </a:spcAft>
              <a:defRPr sz="1800" b="0">
                <a:solidFill>
                  <a:srgbClr val="26364A"/>
                </a:solidFill>
                <a:latin typeface="Aptos"/>
              </a:defRPr>
            </a:pPr>
            <a:r>
              <a:t>Escolhas justificadas.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Arquivo presente é parte da evidência; resultado reproduzível e explicação da decisão completam a entrega.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E4·64</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18" b="1">
                <a:solidFill>
                  <a:srgbClr val="1B2A4A"/>
                </a:solidFill>
                <a:latin typeface="Aptos"/>
              </a:defRPr>
            </a:pPr>
            <a:r>
              <a:t>Exemplo preenchido: evidência de uma falha corrigida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Modelo ilustrativo para adaptar aos comandos e resultados reais da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59689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35915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Campo</a:t>
            </a:r>
          </a:p>
        </p:txBody>
      </p:sp>
      <p:sp>
        <p:nvSpPr>
          <p:cNvPr id="7" name="Rounded Rectangle 6"/>
          <p:cNvSpPr/>
          <p:nvPr/>
        </p:nvSpPr>
        <p:spPr>
          <a:xfrm>
            <a:off x="640080" y="2386584"/>
            <a:ext cx="25968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359152"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Sintoma</a:t>
            </a:r>
          </a:p>
        </p:txBody>
      </p:sp>
      <p:sp>
        <p:nvSpPr>
          <p:cNvPr id="9" name="Rounded Rectangle 8"/>
          <p:cNvSpPr/>
          <p:nvPr/>
        </p:nvSpPr>
        <p:spPr>
          <a:xfrm>
            <a:off x="640080" y="3008376"/>
            <a:ext cx="259689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359152"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Hipótese e teste</a:t>
            </a:r>
          </a:p>
        </p:txBody>
      </p:sp>
      <p:sp>
        <p:nvSpPr>
          <p:cNvPr id="11" name="Rounded Rectangle 10"/>
          <p:cNvSpPr/>
          <p:nvPr/>
        </p:nvSpPr>
        <p:spPr>
          <a:xfrm>
            <a:off x="640080" y="3630168"/>
            <a:ext cx="25968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359152"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Causa</a:t>
            </a:r>
          </a:p>
        </p:txBody>
      </p:sp>
      <p:sp>
        <p:nvSpPr>
          <p:cNvPr id="13" name="Rounded Rectangle 12"/>
          <p:cNvSpPr/>
          <p:nvPr/>
        </p:nvSpPr>
        <p:spPr>
          <a:xfrm>
            <a:off x="640080" y="4251960"/>
            <a:ext cx="259689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359152"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Correção</a:t>
            </a:r>
          </a:p>
        </p:txBody>
      </p:sp>
      <p:sp>
        <p:nvSpPr>
          <p:cNvPr id="15" name="Rounded Rectangle 14"/>
          <p:cNvSpPr/>
          <p:nvPr/>
        </p:nvSpPr>
        <p:spPr>
          <a:xfrm>
            <a:off x="640080" y="4873752"/>
            <a:ext cx="25968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359152"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Validação</a:t>
            </a:r>
          </a:p>
        </p:txBody>
      </p:sp>
      <p:sp>
        <p:nvSpPr>
          <p:cNvPr id="17" name="Rounded Rectangle 16"/>
          <p:cNvSpPr/>
          <p:nvPr/>
        </p:nvSpPr>
        <p:spPr>
          <a:xfrm>
            <a:off x="3273552" y="1764792"/>
            <a:ext cx="830275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92424" y="1874519"/>
            <a:ext cx="806500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 preenchido</a:t>
            </a:r>
          </a:p>
        </p:txBody>
      </p:sp>
      <p:sp>
        <p:nvSpPr>
          <p:cNvPr id="19" name="Rounded Rectangle 18"/>
          <p:cNvSpPr/>
          <p:nvPr/>
        </p:nvSpPr>
        <p:spPr>
          <a:xfrm>
            <a:off x="3273552" y="2386584"/>
            <a:ext cx="830275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92424" y="2436876"/>
            <a:ext cx="806500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GET /health/ready devolvia HTTP 503.</a:t>
            </a:r>
          </a:p>
        </p:txBody>
      </p:sp>
      <p:sp>
        <p:nvSpPr>
          <p:cNvPr id="21" name="Rounded Rectangle 20"/>
          <p:cNvSpPr/>
          <p:nvPr/>
        </p:nvSpPr>
        <p:spPr>
          <a:xfrm>
            <a:off x="3273552" y="3008376"/>
            <a:ext cx="8302752"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92424" y="3058668"/>
            <a:ext cx="8065008" cy="548640"/>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URL usava localhost; db estava saudável. Conferimos destino e logs.</a:t>
            </a:r>
          </a:p>
        </p:txBody>
      </p:sp>
      <p:sp>
        <p:nvSpPr>
          <p:cNvPr id="23" name="Rounded Rectangle 22"/>
          <p:cNvSpPr/>
          <p:nvPr/>
        </p:nvSpPr>
        <p:spPr>
          <a:xfrm>
            <a:off x="3273552" y="3630168"/>
            <a:ext cx="830275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92424" y="3680459"/>
            <a:ext cx="806500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API procurava o banco em sua própria instância.</a:t>
            </a:r>
          </a:p>
        </p:txBody>
      </p:sp>
      <p:sp>
        <p:nvSpPr>
          <p:cNvPr id="25" name="Rounded Rectangle 24"/>
          <p:cNvSpPr/>
          <p:nvPr/>
        </p:nvSpPr>
        <p:spPr>
          <a:xfrm>
            <a:off x="3273552" y="4251960"/>
            <a:ext cx="8302752"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92424" y="4302252"/>
            <a:ext cx="806500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Hostname mudou para db; somente app foi recriado.</a:t>
            </a:r>
          </a:p>
        </p:txBody>
      </p:sp>
      <p:sp>
        <p:nvSpPr>
          <p:cNvPr id="27" name="Rounded Rectangle 26"/>
          <p:cNvSpPr/>
          <p:nvPr/>
        </p:nvSpPr>
        <p:spPr>
          <a:xfrm>
            <a:off x="3273552" y="4873752"/>
            <a:ext cx="830275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92424" y="4924044"/>
            <a:ext cx="806500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ready retornou 200; POST incrementou N para N+1 e GET confirmou.</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Substitua os valores do exemplo pela execução real e mantenha toda evidência no repositório.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E4·65</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final | Explicar o próprio projeto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Verificação do bloco • responda com os conceitos e exemplos que acabamos de estudar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Ao apresentar o projeto, como distinguir imagem, container e os dois sentidos de runtime?</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Como provar que sua aplicação está integrada à dependência, além de mostrar o container Up?</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Qual evidência liga uma alteração de configuração à correção de uma falha?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Discuta primeiro. O próximo slide traz as respostas comentadas.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E4·66</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31" b="1">
                <a:solidFill>
                  <a:srgbClr val="1B2A4A"/>
                </a:solidFill>
                <a:latin typeface="Aptos"/>
              </a:defRPr>
            </a:pPr>
            <a:r>
              <a:t>Respostas comentadas | Explicar o próprio projeto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explicado • relacione cada resposta ao exemplo observado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Imagem: artefato. Container: instância. Runtime da linguagem executa o código; runtime de containers prepara e inicia processos isolados.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Executar uma operação funcional com resultado esperado; verificar saúde e persistência conforme o contrato do projeto.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Sintoma reproduzido, hipótese testada, mudança específica e repetição do mesmo teste com resultado corrigido.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resposta completa identifica o componente envolvido e explica a evidência.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E4·67</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Do ambiente executável à entrega controlada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Conexão com o Encontro 5 e a apresentação final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Levar pronto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Projeto executável por comando documentado.</a:t>
            </a:r>
          </a:p>
          <a:p>
            <a:pPr algn="l">
              <a:lnSpc>
                <a:spcPct val="105000"/>
              </a:lnSpc>
              <a:spcAft>
                <a:spcPts val="600"/>
              </a:spcAft>
              <a:defRPr sz="1800" b="0">
                <a:solidFill>
                  <a:srgbClr val="26364A"/>
                </a:solidFill>
                <a:latin typeface="Aptos"/>
              </a:defRPr>
            </a:pPr>
            <a:r>
              <a:t>Integração demonstrada.</a:t>
            </a:r>
          </a:p>
          <a:p>
            <a:pPr algn="l">
              <a:lnSpc>
                <a:spcPct val="105000"/>
              </a:lnSpc>
              <a:spcAft>
                <a:spcPts val="600"/>
              </a:spcAft>
              <a:defRPr sz="1800" b="0">
                <a:solidFill>
                  <a:srgbClr val="26364A"/>
                </a:solidFill>
                <a:latin typeface="Aptos"/>
              </a:defRPr>
            </a:pPr>
            <a:r>
              <a:t>Falha corrigida e registrada.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Preparar a entrega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Identificar a imagem validada.</a:t>
            </a:r>
          </a:p>
          <a:p>
            <a:pPr algn="l">
              <a:lnSpc>
                <a:spcPct val="105000"/>
              </a:lnSpc>
              <a:spcAft>
                <a:spcPts val="600"/>
              </a:spcAft>
              <a:defRPr sz="1800" b="0">
                <a:solidFill>
                  <a:srgbClr val="26364A"/>
                </a:solidFill>
                <a:latin typeface="Aptos"/>
              </a:defRPr>
            </a:pPr>
            <a:r>
              <a:t>Separar configuração de ambiente.</a:t>
            </a:r>
          </a:p>
          <a:p>
            <a:pPr algn="l">
              <a:lnSpc>
                <a:spcPct val="105000"/>
              </a:lnSpc>
              <a:spcAft>
                <a:spcPts val="600"/>
              </a:spcAft>
              <a:defRPr sz="1800" b="0">
                <a:solidFill>
                  <a:srgbClr val="26364A"/>
                </a:solidFill>
                <a:latin typeface="Aptos"/>
              </a:defRPr>
            </a:pPr>
            <a:r>
              <a:t>Definir promoção e rollback.</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Apresentação final</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Explicar o fluxo código → CI → imagem → execução.</a:t>
            </a:r>
          </a:p>
          <a:p>
            <a:pPr algn="l">
              <a:lnSpc>
                <a:spcPct val="105000"/>
              </a:lnSpc>
              <a:spcAft>
                <a:spcPts val="600"/>
              </a:spcAft>
              <a:defRPr sz="1800" b="0">
                <a:solidFill>
                  <a:srgbClr val="26364A"/>
                </a:solidFill>
                <a:latin typeface="Aptos"/>
              </a:defRPr>
            </a:pPr>
            <a:r>
              <a:t>Mostrar evidências reais.</a:t>
            </a:r>
          </a:p>
          <a:p>
            <a:pPr algn="l">
              <a:lnSpc>
                <a:spcPct val="105000"/>
              </a:lnSpc>
              <a:spcAft>
                <a:spcPts val="600"/>
              </a:spcAft>
              <a:defRPr sz="1800" b="0">
                <a:solidFill>
                  <a:srgbClr val="26364A"/>
                </a:solidFill>
                <a:latin typeface="Aptos"/>
              </a:defRPr>
            </a:pPr>
            <a:r>
              <a:t>Defender as escolhas adotadas.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Containerização tem valor quando melhora a reprodução, a integração e a entrega do projeto.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E4·68</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Referências e consulta depois da aula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Documentação oficial e material do próprio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Conceitos</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 visão geral e containers.</a:t>
            </a:r>
          </a:p>
          <a:p>
            <a:pPr algn="l">
              <a:lnSpc>
                <a:spcPct val="105000"/>
              </a:lnSpc>
              <a:spcAft>
                <a:spcPts val="600"/>
              </a:spcAft>
              <a:defRPr sz="1800" b="0">
                <a:solidFill>
                  <a:srgbClr val="26364A"/>
                </a:solidFill>
                <a:latin typeface="Aptos"/>
              </a:defRPr>
            </a:pPr>
            <a:r>
              <a:t>Engine e Compose.</a:t>
            </a:r>
          </a:p>
          <a:p>
            <a:pPr algn="l">
              <a:lnSpc>
                <a:spcPct val="105000"/>
              </a:lnSpc>
              <a:spcAft>
                <a:spcPts val="600"/>
              </a:spcAft>
              <a:defRPr sz="1800" b="0">
                <a:solidFill>
                  <a:srgbClr val="26364A"/>
                </a:solidFill>
                <a:latin typeface="Aptos"/>
              </a:defRPr>
            </a:pPr>
            <a:r>
              <a:t>containerd e runc: responsabilidades.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Prática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Dockerfile, cache e .dockerignore.</a:t>
            </a:r>
          </a:p>
          <a:p>
            <a:pPr algn="l">
              <a:lnSpc>
                <a:spcPct val="105000"/>
              </a:lnSpc>
              <a:spcAft>
                <a:spcPts val="600"/>
              </a:spcAft>
              <a:defRPr sz="1800" b="0">
                <a:solidFill>
                  <a:srgbClr val="26364A"/>
                </a:solidFill>
                <a:latin typeface="Aptos"/>
              </a:defRPr>
            </a:pPr>
            <a:r>
              <a:t>Redes, volumes e health checks.</a:t>
            </a:r>
          </a:p>
          <a:p>
            <a:pPr algn="l">
              <a:lnSpc>
                <a:spcPct val="105000"/>
              </a:lnSpc>
              <a:spcAft>
                <a:spcPts val="600"/>
              </a:spcAft>
              <a:defRPr sz="1800" b="0">
                <a:solidFill>
                  <a:srgbClr val="26364A"/>
                </a:solidFill>
                <a:latin typeface="Aptos"/>
              </a:defRPr>
            </a:pPr>
            <a:r>
              <a:t>Imagem oficial PostgreSQL.</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Material disponível</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Notas do apresentador.</a:t>
            </a:r>
          </a:p>
          <a:p>
            <a:pPr algn="l">
              <a:lnSpc>
                <a:spcPct val="105000"/>
              </a:lnSpc>
              <a:spcAft>
                <a:spcPts val="600"/>
              </a:spcAft>
              <a:defRPr sz="1800" b="0">
                <a:solidFill>
                  <a:srgbClr val="26364A"/>
                </a:solidFill>
                <a:latin typeface="Aptos"/>
              </a:defRPr>
            </a:pPr>
            <a:r>
              <a:t>Guia completo por slide.</a:t>
            </a:r>
          </a:p>
          <a:p>
            <a:pPr algn="l">
              <a:lnSpc>
                <a:spcPct val="105000"/>
              </a:lnSpc>
              <a:spcAft>
                <a:spcPts val="600"/>
              </a:spcAft>
              <a:defRPr sz="1800" b="0">
                <a:solidFill>
                  <a:srgbClr val="26364A"/>
                </a:solidFill>
                <a:latin typeface="Aptos"/>
              </a:defRPr>
            </a:pPr>
            <a:r>
              <a:t>README e exemplos executáveis.</a:t>
            </a:r>
          </a:p>
          <a:p>
            <a:pPr algn="l">
              <a:lnSpc>
                <a:spcPct val="105000"/>
              </a:lnSpc>
              <a:spcAft>
                <a:spcPts val="600"/>
              </a:spcAft>
              <a:defRPr sz="1800" b="0">
                <a:solidFill>
                  <a:srgbClr val="26364A"/>
                </a:solidFill>
                <a:latin typeface="Aptos"/>
              </a:defRPr>
            </a:pPr>
            <a:r>
              <a:t>Gabaritos das verificações.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Fim da trilha principal. Os próximos slides são material de consulta, sem nova entrega obrigatória.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Referências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E4·69</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Consulta | Registry, tag e digest</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Identificar o artefato que será promovido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Registry</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Armazena e distribui imagens.</a:t>
            </a:r>
          </a:p>
          <a:p>
            <a:pPr algn="l">
              <a:lnSpc>
                <a:spcPct val="105000"/>
              </a:lnSpc>
              <a:spcAft>
                <a:spcPts val="600"/>
              </a:spcAft>
              <a:defRPr sz="1800" b="0">
                <a:solidFill>
                  <a:srgbClr val="26364A"/>
                </a:solidFill>
                <a:latin typeface="Aptos"/>
              </a:defRPr>
            </a:pPr>
            <a:r>
              <a:t>push publica; pull obtém.</a:t>
            </a:r>
          </a:p>
          <a:p>
            <a:pPr algn="l">
              <a:lnSpc>
                <a:spcPct val="105000"/>
              </a:lnSpc>
              <a:spcAft>
                <a:spcPts val="600"/>
              </a:spcAft>
              <a:defRPr sz="1800" b="0">
                <a:solidFill>
                  <a:srgbClr val="26364A"/>
                </a:solidFill>
                <a:latin typeface="Aptos"/>
              </a:defRPr>
            </a:pPr>
            <a:r>
              <a:t>Não executa a aplicação.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Tag</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Nome legível de uma referência.</a:t>
            </a:r>
          </a:p>
          <a:p>
            <a:pPr algn="l">
              <a:lnSpc>
                <a:spcPct val="105000"/>
              </a:lnSpc>
              <a:spcAft>
                <a:spcPts val="600"/>
              </a:spcAft>
              <a:defRPr sz="1800" b="0">
                <a:solidFill>
                  <a:srgbClr val="26364A"/>
                </a:solidFill>
                <a:latin typeface="Aptos"/>
              </a:defRPr>
            </a:pPr>
            <a:r>
              <a:t>Pode mudar de alvo.</a:t>
            </a:r>
          </a:p>
          <a:p>
            <a:pPr algn="l">
              <a:lnSpc>
                <a:spcPct val="105000"/>
              </a:lnSpc>
              <a:spcAft>
                <a:spcPts val="600"/>
              </a:spcAft>
              <a:defRPr sz="1800" b="0">
                <a:solidFill>
                  <a:srgbClr val="26364A"/>
                </a:solidFill>
                <a:latin typeface="Aptos"/>
              </a:defRPr>
            </a:pPr>
            <a:r>
              <a:t>latest não significa conteúdo imutável.</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Digest</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Identifica conteúdo.</a:t>
            </a:r>
          </a:p>
          <a:p>
            <a:pPr algn="l">
              <a:lnSpc>
                <a:spcPct val="105000"/>
              </a:lnSpc>
              <a:spcAft>
                <a:spcPts val="600"/>
              </a:spcAft>
              <a:defRPr sz="1800" b="0">
                <a:solidFill>
                  <a:srgbClr val="26364A"/>
                </a:solidFill>
                <a:latin typeface="Aptos"/>
              </a:defRPr>
            </a:pPr>
            <a:r>
              <a:t>Permite registrar o artefato validado.</a:t>
            </a:r>
          </a:p>
          <a:p>
            <a:pPr algn="l">
              <a:lnSpc>
                <a:spcPct val="105000"/>
              </a:lnSpc>
              <a:spcAft>
                <a:spcPts val="600"/>
              </a:spcAft>
              <a:defRPr sz="1800" b="0">
                <a:solidFill>
                  <a:srgbClr val="26364A"/>
                </a:solidFill>
                <a:latin typeface="Aptos"/>
              </a:defRPr>
            </a:pPr>
            <a:r>
              <a:t>Em imagens multiplataforma, registre também a plataforma.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Mesma tag não prova igualdade de conteúdo entre máquinas ou momentos diferentes.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Consulta  |  CONSULTA / APROFUNDAMENTO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E4·70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13" b="1">
                <a:solidFill>
                  <a:srgbClr val="1B2A4A"/>
                </a:solidFill>
                <a:latin typeface="Aptos"/>
              </a:defRPr>
            </a:pPr>
            <a:r>
              <a:t>Consulta | Multi-stage e separação de responsabilidades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conceitual de aplicação TypeScript • não é necessário na API do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Estágio de build</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Instala dependências de desenvolvimento.</a:t>
            </a:r>
          </a:p>
          <a:p>
            <a:pPr algn="l">
              <a:lnSpc>
                <a:spcPct val="105000"/>
              </a:lnSpc>
              <a:spcAft>
                <a:spcPts val="600"/>
              </a:spcAft>
              <a:defRPr sz="1800" b="0">
                <a:solidFill>
                  <a:srgbClr val="26364A"/>
                </a:solidFill>
                <a:latin typeface="Aptos"/>
              </a:defRPr>
            </a:pPr>
            <a:r>
              <a:t>Executa o compilador.</a:t>
            </a:r>
          </a:p>
          <a:p>
            <a:pPr algn="l">
              <a:lnSpc>
                <a:spcPct val="105000"/>
              </a:lnSpc>
              <a:spcAft>
                <a:spcPts val="600"/>
              </a:spcAft>
              <a:defRPr sz="1800" b="0">
                <a:solidFill>
                  <a:srgbClr val="26364A"/>
                </a:solidFill>
                <a:latin typeface="Aptos"/>
              </a:defRPr>
            </a:pPr>
            <a:r>
              <a:t>Gera o diretório dist/.</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Estágio de execução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Recebe dist/ e dependências de produção.</a:t>
            </a:r>
          </a:p>
          <a:p>
            <a:pPr algn="l">
              <a:lnSpc>
                <a:spcPct val="105000"/>
              </a:lnSpc>
              <a:spcAft>
                <a:spcPts val="600"/>
              </a:spcAft>
              <a:defRPr sz="1800" b="0">
                <a:solidFill>
                  <a:srgbClr val="26364A"/>
                </a:solidFill>
                <a:latin typeface="Aptos"/>
              </a:defRPr>
            </a:pPr>
            <a:r>
              <a:t>Executa com Node.</a:t>
            </a:r>
          </a:p>
          <a:p>
            <a:pPr algn="l">
              <a:lnSpc>
                <a:spcPct val="105000"/>
              </a:lnSpc>
              <a:spcAft>
                <a:spcPts val="600"/>
              </a:spcAft>
              <a:defRPr sz="1800" b="0">
                <a:solidFill>
                  <a:srgbClr val="26364A"/>
                </a:solidFill>
                <a:latin typeface="Aptos"/>
              </a:defRPr>
            </a:pPr>
            <a:r>
              <a:t>Não precisa do compilador só para iniciar.</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Decisão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Inclua somente o necessário para executar.</a:t>
            </a:r>
          </a:p>
          <a:p>
            <a:pPr algn="l">
              <a:lnSpc>
                <a:spcPct val="105000"/>
              </a:lnSpc>
              <a:spcAft>
                <a:spcPts val="600"/>
              </a:spcAft>
              <a:defRPr sz="1800" b="0">
                <a:solidFill>
                  <a:srgbClr val="26364A"/>
                </a:solidFill>
                <a:latin typeface="Aptos"/>
              </a:defRPr>
            </a:pPr>
            <a:r>
              <a:t>Verifique bibliotecas nativas e plataforma.</a:t>
            </a:r>
          </a:p>
          <a:p>
            <a:pPr algn="l">
              <a:lnSpc>
                <a:spcPct val="105000"/>
              </a:lnSpc>
              <a:spcAft>
                <a:spcPts val="600"/>
              </a:spcAft>
              <a:defRPr sz="1800" b="0">
                <a:solidFill>
                  <a:srgbClr val="26364A"/>
                </a:solidFill>
                <a:latin typeface="Aptos"/>
              </a:defRPr>
            </a:pPr>
            <a:r>
              <a:t>Não presuma ganho de segurança só pelo número de estágios.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Multi-stage é uma escolha de empacotamento; use quando houver uma separação útil entre construir e executar.</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Consulta  |  CONSULTA / APROFUNDAMENTO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E4·71</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Consulta | Verificar a imagem no CI</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Evolução do pipeline já criado no Encontro 3</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Validar o código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Instalação controlada.</a:t>
            </a:r>
          </a:p>
          <a:p>
            <a:pPr algn="l">
              <a:lnSpc>
                <a:spcPct val="105000"/>
              </a:lnSpc>
              <a:spcAft>
                <a:spcPts val="600"/>
              </a:spcAft>
              <a:defRPr sz="1800" b="0">
                <a:solidFill>
                  <a:srgbClr val="26364A"/>
                </a:solidFill>
                <a:latin typeface="Aptos"/>
              </a:defRPr>
            </a:pPr>
            <a:r>
              <a:t>Testes da aplicação.</a:t>
            </a:r>
          </a:p>
          <a:p>
            <a:pPr algn="l">
              <a:lnSpc>
                <a:spcPct val="105000"/>
              </a:lnSpc>
              <a:spcAft>
                <a:spcPts val="600"/>
              </a:spcAft>
              <a:defRPr sz="1800" b="0">
                <a:solidFill>
                  <a:srgbClr val="26364A"/>
                </a:solidFill>
                <a:latin typeface="Aptos"/>
              </a:defRPr>
            </a:pPr>
            <a:r>
              <a:t>Build quando a stack exige.</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Validar a execução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Construir a imagem.</a:t>
            </a:r>
          </a:p>
          <a:p>
            <a:pPr algn="l">
              <a:lnSpc>
                <a:spcPct val="105000"/>
              </a:lnSpc>
              <a:spcAft>
                <a:spcPts val="600"/>
              </a:spcAft>
              <a:defRPr sz="1800" b="0">
                <a:solidFill>
                  <a:srgbClr val="26364A"/>
                </a:solidFill>
                <a:latin typeface="Aptos"/>
              </a:defRPr>
            </a:pPr>
            <a:r>
              <a:t>Subir dependências de teste.</a:t>
            </a:r>
          </a:p>
          <a:p>
            <a:pPr algn="l">
              <a:lnSpc>
                <a:spcPct val="105000"/>
              </a:lnSpc>
              <a:spcAft>
                <a:spcPts val="600"/>
              </a:spcAft>
              <a:defRPr sz="1800" b="0">
                <a:solidFill>
                  <a:srgbClr val="26364A"/>
                </a:solidFill>
                <a:latin typeface="Aptos"/>
              </a:defRPr>
            </a:pPr>
            <a:r>
              <a:t>Executar uma operação integrada.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Registrar e encerrar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Identificar o artefato testado.</a:t>
            </a:r>
          </a:p>
          <a:p>
            <a:pPr algn="l">
              <a:lnSpc>
                <a:spcPct val="105000"/>
              </a:lnSpc>
              <a:spcAft>
                <a:spcPts val="600"/>
              </a:spcAft>
              <a:defRPr sz="1800" b="0">
                <a:solidFill>
                  <a:srgbClr val="26364A"/>
                </a:solidFill>
                <a:latin typeface="Aptos"/>
              </a:defRPr>
            </a:pPr>
            <a:r>
              <a:t>Guardar logs pertinentes.</a:t>
            </a:r>
          </a:p>
          <a:p>
            <a:pPr algn="l">
              <a:lnSpc>
                <a:spcPct val="105000"/>
              </a:lnSpc>
              <a:spcAft>
                <a:spcPts val="600"/>
              </a:spcAft>
              <a:defRPr sz="1800" b="0">
                <a:solidFill>
                  <a:srgbClr val="26364A"/>
                </a:solidFill>
                <a:latin typeface="Aptos"/>
              </a:defRPr>
            </a:pPr>
            <a:r>
              <a:t>Encerrar apenas os recursos do job, inclusive em falha.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CI verde só comprova o que foi testado; executar a imagem amplia a evidência sobre o artefato.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Consulta  |  CONSULTA / APROFUNDAMENTO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E4·72</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Consulta | Volume, bind mount e tmpfs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Três maneiras de montar arquivos, com finalidades diferentes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70662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46888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Montagem</a:t>
            </a:r>
          </a:p>
        </p:txBody>
      </p:sp>
      <p:sp>
        <p:nvSpPr>
          <p:cNvPr id="7" name="Rounded Rectangle 6"/>
          <p:cNvSpPr/>
          <p:nvPr/>
        </p:nvSpPr>
        <p:spPr>
          <a:xfrm>
            <a:off x="640080" y="2386584"/>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Volume nomeado</a:t>
            </a:r>
          </a:p>
        </p:txBody>
      </p:sp>
      <p:sp>
        <p:nvSpPr>
          <p:cNvPr id="9" name="Rounded Rectangle 8"/>
          <p:cNvSpPr/>
          <p:nvPr/>
        </p:nvSpPr>
        <p:spPr>
          <a:xfrm>
            <a:off x="640080" y="3282696"/>
            <a:ext cx="2706624"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Bind mount</a:t>
            </a:r>
          </a:p>
        </p:txBody>
      </p:sp>
      <p:sp>
        <p:nvSpPr>
          <p:cNvPr id="11" name="Rounded Rectangle 10"/>
          <p:cNvSpPr/>
          <p:nvPr/>
        </p:nvSpPr>
        <p:spPr>
          <a:xfrm>
            <a:off x="640080" y="4178808"/>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tmpfs (Linux)</a:t>
            </a:r>
          </a:p>
        </p:txBody>
      </p:sp>
      <p:sp>
        <p:nvSpPr>
          <p:cNvPr id="13" name="Rounded Rectangle 12"/>
          <p:cNvSpPr/>
          <p:nvPr/>
        </p:nvSpPr>
        <p:spPr>
          <a:xfrm>
            <a:off x="3383280" y="1764792"/>
            <a:ext cx="413308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874519"/>
            <a:ext cx="389534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Quando usar</a:t>
            </a:r>
          </a:p>
        </p:txBody>
      </p:sp>
      <p:sp>
        <p:nvSpPr>
          <p:cNvPr id="15" name="Rounded Rectangle 14"/>
          <p:cNvSpPr/>
          <p:nvPr/>
        </p:nvSpPr>
        <p:spPr>
          <a:xfrm>
            <a:off x="3383280" y="2386584"/>
            <a:ext cx="41330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2152" y="2436876"/>
            <a:ext cx="38953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Dados que precisam sobreviver à instância.</a:t>
            </a:r>
          </a:p>
        </p:txBody>
      </p:sp>
      <p:sp>
        <p:nvSpPr>
          <p:cNvPr id="17" name="Rounded Rectangle 16"/>
          <p:cNvSpPr/>
          <p:nvPr/>
        </p:nvSpPr>
        <p:spPr>
          <a:xfrm>
            <a:off x="3383280" y="3282696"/>
            <a:ext cx="4133088"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02152" y="3332988"/>
            <a:ext cx="38953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Arquivo/diretório específico do host.</a:t>
            </a:r>
          </a:p>
        </p:txBody>
      </p:sp>
      <p:sp>
        <p:nvSpPr>
          <p:cNvPr id="19" name="Rounded Rectangle 18"/>
          <p:cNvSpPr/>
          <p:nvPr/>
        </p:nvSpPr>
        <p:spPr>
          <a:xfrm>
            <a:off x="3383280" y="4178808"/>
            <a:ext cx="41330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4229100"/>
            <a:ext cx="38953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Arquivos temporários durante a execução.</a:t>
            </a:r>
          </a:p>
        </p:txBody>
      </p:sp>
      <p:sp>
        <p:nvSpPr>
          <p:cNvPr id="21" name="Rounded Rectangle 20"/>
          <p:cNvSpPr/>
          <p:nvPr/>
        </p:nvSpPr>
        <p:spPr>
          <a:xfrm>
            <a:off x="7552944" y="1764792"/>
            <a:ext cx="4023359"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71816" y="1874519"/>
            <a:ext cx="3785615"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lembrar</a:t>
            </a:r>
          </a:p>
        </p:txBody>
      </p:sp>
      <p:sp>
        <p:nvSpPr>
          <p:cNvPr id="23" name="Rounded Rectangle 22"/>
          <p:cNvSpPr/>
          <p:nvPr/>
        </p:nvSpPr>
        <p:spPr>
          <a:xfrm>
            <a:off x="7552944" y="2386584"/>
            <a:ext cx="4023359"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71816" y="2436876"/>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Precisa de backup; existe fora da camada gravável.</a:t>
            </a:r>
          </a:p>
        </p:txBody>
      </p:sp>
      <p:sp>
        <p:nvSpPr>
          <p:cNvPr id="25" name="Rounded Rectangle 24"/>
          <p:cNvSpPr/>
          <p:nvPr/>
        </p:nvSpPr>
        <p:spPr>
          <a:xfrm>
            <a:off x="7552944" y="3282696"/>
            <a:ext cx="4023359"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71816" y="3332988"/>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Depende de caminho e permissões do host.</a:t>
            </a:r>
          </a:p>
        </p:txBody>
      </p:sp>
      <p:sp>
        <p:nvSpPr>
          <p:cNvPr id="27" name="Rounded Rectangle 26"/>
          <p:cNvSpPr/>
          <p:nvPr/>
        </p:nvSpPr>
        <p:spPr>
          <a:xfrm>
            <a:off x="7552944" y="4178808"/>
            <a:ext cx="4023359"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71816" y="4229100"/>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Não persiste após parada; pode haver swap.</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Persistência, compartilhamento com o host e armazenamento temporário são requisitos diferentes.</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Consulta  |  CONSULTA / APROFUNDAMENTO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E4·73</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Consulta | Diferentes modos de rede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laboratório usa a rede bridge criada pelo Compose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81635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57860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Driver</a:t>
            </a:r>
          </a:p>
        </p:txBody>
      </p:sp>
      <p:sp>
        <p:nvSpPr>
          <p:cNvPr id="7" name="Rounded Rectangle 6"/>
          <p:cNvSpPr/>
          <p:nvPr/>
        </p:nvSpPr>
        <p:spPr>
          <a:xfrm>
            <a:off x="640080" y="2386584"/>
            <a:ext cx="281635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578608"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bridge</a:t>
            </a:r>
          </a:p>
        </p:txBody>
      </p:sp>
      <p:sp>
        <p:nvSpPr>
          <p:cNvPr id="9" name="Rounded Rectangle 8"/>
          <p:cNvSpPr/>
          <p:nvPr/>
        </p:nvSpPr>
        <p:spPr>
          <a:xfrm>
            <a:off x="640080" y="3008376"/>
            <a:ext cx="2816352"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578608"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host</a:t>
            </a:r>
          </a:p>
        </p:txBody>
      </p:sp>
      <p:sp>
        <p:nvSpPr>
          <p:cNvPr id="11" name="Rounded Rectangle 10"/>
          <p:cNvSpPr/>
          <p:nvPr/>
        </p:nvSpPr>
        <p:spPr>
          <a:xfrm>
            <a:off x="640080" y="3630168"/>
            <a:ext cx="281635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578608"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none</a:t>
            </a:r>
          </a:p>
        </p:txBody>
      </p:sp>
      <p:sp>
        <p:nvSpPr>
          <p:cNvPr id="13" name="Rounded Rectangle 12"/>
          <p:cNvSpPr/>
          <p:nvPr/>
        </p:nvSpPr>
        <p:spPr>
          <a:xfrm>
            <a:off x="640080" y="4251960"/>
            <a:ext cx="2816352"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578608"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overlay</a:t>
            </a:r>
          </a:p>
        </p:txBody>
      </p:sp>
      <p:sp>
        <p:nvSpPr>
          <p:cNvPr id="15" name="Rounded Rectangle 14"/>
          <p:cNvSpPr/>
          <p:nvPr/>
        </p:nvSpPr>
        <p:spPr>
          <a:xfrm>
            <a:off x="640080" y="4873752"/>
            <a:ext cx="2816352"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578608"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macvlan / ipvlan</a:t>
            </a:r>
          </a:p>
        </p:txBody>
      </p:sp>
      <p:sp>
        <p:nvSpPr>
          <p:cNvPr id="17" name="Rounded Rectangle 16"/>
          <p:cNvSpPr/>
          <p:nvPr/>
        </p:nvSpPr>
        <p:spPr>
          <a:xfrm>
            <a:off x="3493008" y="1764792"/>
            <a:ext cx="808329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80" y="1874519"/>
            <a:ext cx="7845551"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Finalidade e contexto</a:t>
            </a:r>
          </a:p>
        </p:txBody>
      </p:sp>
      <p:sp>
        <p:nvSpPr>
          <p:cNvPr id="19" name="Rounded Rectangle 18"/>
          <p:cNvSpPr/>
          <p:nvPr/>
        </p:nvSpPr>
        <p:spPr>
          <a:xfrm>
            <a:off x="3493008" y="2386584"/>
            <a:ext cx="80832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2436876"/>
            <a:ext cx="7845551" cy="548640"/>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Conecta containers no mesmo host; redes definidas pelo usuário permitem descoberta por nome.</a:t>
            </a:r>
          </a:p>
        </p:txBody>
      </p:sp>
      <p:sp>
        <p:nvSpPr>
          <p:cNvPr id="21" name="Rounded Rectangle 20"/>
          <p:cNvSpPr/>
          <p:nvPr/>
        </p:nvSpPr>
        <p:spPr>
          <a:xfrm>
            <a:off x="3493008" y="3008376"/>
            <a:ext cx="808329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11880" y="3058668"/>
            <a:ext cx="7845551" cy="548640"/>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Compartilha a pilha de rede do host; comportamento e suporte dependem da plataforma.</a:t>
            </a:r>
          </a:p>
        </p:txBody>
      </p:sp>
      <p:sp>
        <p:nvSpPr>
          <p:cNvPr id="23" name="Rounded Rectangle 22"/>
          <p:cNvSpPr/>
          <p:nvPr/>
        </p:nvSpPr>
        <p:spPr>
          <a:xfrm>
            <a:off x="3493008" y="3630168"/>
            <a:ext cx="80832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11880" y="3680459"/>
            <a:ext cx="7845551"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Desativa a conectividade externa da instância; mantém loopback.</a:t>
            </a:r>
          </a:p>
        </p:txBody>
      </p:sp>
      <p:sp>
        <p:nvSpPr>
          <p:cNvPr id="25" name="Rounded Rectangle 24"/>
          <p:cNvSpPr/>
          <p:nvPr/>
        </p:nvSpPr>
        <p:spPr>
          <a:xfrm>
            <a:off x="3493008" y="4251960"/>
            <a:ext cx="808329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4302252"/>
            <a:ext cx="7845551"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Rede entre hosts, com requisitos de Swarm; fora do laboratório.</a:t>
            </a:r>
          </a:p>
        </p:txBody>
      </p:sp>
      <p:sp>
        <p:nvSpPr>
          <p:cNvPr id="27" name="Rounded Rectangle 26"/>
          <p:cNvSpPr/>
          <p:nvPr/>
        </p:nvSpPr>
        <p:spPr>
          <a:xfrm>
            <a:off x="3493008" y="4873752"/>
            <a:ext cx="80832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11880" y="4924044"/>
            <a:ext cx="7845551" cy="548640"/>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Integração especializada com a rede física, exigindo planejamento de endereçamento.</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Escolha a topologia necessária antes do driver; uma rede compartilhada não publica sozinha portas no host.</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Consulta  |  CONSULTA / APROFUNDAMENTO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E4·74</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21" b="1">
                <a:solidFill>
                  <a:srgbClr val="1B2A4A"/>
                </a:solidFill>
                <a:latin typeface="Aptos"/>
              </a:defRPr>
            </a:pPr>
            <a:r>
              <a:t>Consulta | Profiles: serviços opcionais no Compose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de ferramenta administrativa que não precisa iniciar sempre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services:</a:t>
            </a:r>
          </a:p>
          <a:p>
            <a:pPr algn="l">
              <a:lnSpc>
                <a:spcPct val="105000"/>
              </a:lnSpc>
              <a:spcAft>
                <a:spcPts val="100"/>
              </a:spcAft>
              <a:defRPr sz="1800" b="0">
                <a:solidFill>
                  <a:srgbClr val="FFFFFF"/>
                </a:solidFill>
                <a:latin typeface="DejaVu Sans Mono"/>
              </a:defRPr>
            </a:pPr>
            <a:r>
              <a:t>  admin:</a:t>
            </a:r>
          </a:p>
          <a:p>
            <a:pPr algn="l">
              <a:lnSpc>
                <a:spcPct val="105000"/>
              </a:lnSpc>
              <a:spcAft>
                <a:spcPts val="100"/>
              </a:spcAft>
              <a:defRPr sz="1800" b="0">
                <a:solidFill>
                  <a:srgbClr val="FFFFFF"/>
                </a:solidFill>
                <a:latin typeface="DejaVu Sans Mono"/>
              </a:defRPr>
            </a:pPr>
            <a:r>
              <a:t>    image: adminer:4</a:t>
            </a:r>
          </a:p>
          <a:p>
            <a:pPr algn="l">
              <a:lnSpc>
                <a:spcPct val="105000"/>
              </a:lnSpc>
              <a:spcAft>
                <a:spcPts val="100"/>
              </a:spcAft>
              <a:defRPr sz="1800" b="0">
                <a:solidFill>
                  <a:srgbClr val="FFFFFF"/>
                </a:solidFill>
                <a:latin typeface="DejaVu Sans Mono"/>
              </a:defRPr>
            </a:pPr>
            <a:r>
              <a:t>    profiles: ["ferramentas"]</a:t>
            </a:r>
          </a:p>
          <a:p>
            <a:pPr algn="l">
              <a:lnSpc>
                <a:spcPct val="105000"/>
              </a:lnSpc>
              <a:spcAft>
                <a:spcPts val="100"/>
              </a:spcAft>
              <a:defRPr sz="1800" b="0">
                <a:solidFill>
                  <a:srgbClr val="FFFFFF"/>
                </a:solidFill>
                <a:latin typeface="DejaVu Sans Mono"/>
              </a:defRPr>
            </a:pPr>
            <a:r>
              <a:t>    ports:</a:t>
            </a:r>
          </a:p>
          <a:p>
            <a:pPr algn="l">
              <a:lnSpc>
                <a:spcPct val="105000"/>
              </a:lnSpc>
              <a:spcAft>
                <a:spcPts val="100"/>
              </a:spcAft>
              <a:defRPr sz="1800" b="0">
                <a:solidFill>
                  <a:srgbClr val="FFFFFF"/>
                </a:solidFill>
                <a:latin typeface="DejaVu Sans Mono"/>
              </a:defRPr>
            </a:pPr>
            <a:r>
              <a:t>      - "127.0.0.1:18082:8080"</a:t>
            </a:r>
          </a:p>
          <a:p>
            <a:pPr algn="l">
              <a:lnSpc>
                <a:spcPct val="105000"/>
              </a:lnSpc>
              <a:spcAft>
                <a:spcPts val="100"/>
              </a:spcAft>
              <a:defRPr sz="1800" b="0">
                <a:solidFill>
                  <a:srgbClr val="FFFFFF"/>
                </a:solidFill>
                <a:latin typeface="DejaVu Sans Mono"/>
              </a:defRPr>
            </a:pPr>
          </a:p>
          <a:p>
            <a:pPr algn="l">
              <a:lnSpc>
                <a:spcPct val="105000"/>
              </a:lnSpc>
              <a:spcAft>
                <a:spcPts val="100"/>
              </a:spcAft>
              <a:defRPr sz="1800" b="0">
                <a:solidFill>
                  <a:srgbClr val="FFFFFF"/>
                </a:solidFill>
                <a:latin typeface="DejaVu Sans Mono"/>
              </a:defRPr>
            </a:pPr>
            <a:r>
              <a:t># Na configuração completa com app e db:</a:t>
            </a:r>
          </a:p>
          <a:p>
            <a:pPr algn="l">
              <a:lnSpc>
                <a:spcPct val="105000"/>
              </a:lnSpc>
              <a:spcAft>
                <a:spcPts val="100"/>
              </a:spcAft>
              <a:defRPr sz="1800" b="0">
                <a:solidFill>
                  <a:srgbClr val="FFFFFF"/>
                </a:solidFill>
                <a:latin typeface="DejaVu Sans Mono"/>
              </a:defRPr>
            </a:pPr>
            <a:r>
              <a:t># docker compose --profile ferramentas up -d</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Sem o profile</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up inicia serviços sem profile.</a:t>
            </a:r>
          </a:p>
          <a:p>
            <a:pPr algn="l">
              <a:lnSpc>
                <a:spcPct val="100000"/>
              </a:lnSpc>
              <a:spcAft>
                <a:spcPts val="300"/>
              </a:spcAft>
              <a:defRPr sz="1500" b="0">
                <a:solidFill>
                  <a:srgbClr val="26364A"/>
                </a:solidFill>
                <a:latin typeface="Aptos"/>
              </a:defRPr>
            </a:pPr>
            <a:r>
              <a:t>admin fica fora desse conjunto.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Com ferramentas</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Inclui admin no conjunto.</a:t>
            </a:r>
          </a:p>
          <a:p>
            <a:pPr algn="l">
              <a:lnSpc>
                <a:spcPct val="100000"/>
              </a:lnSpc>
              <a:spcAft>
                <a:spcPts val="300"/>
              </a:spcAft>
              <a:defRPr sz="1500" b="0">
                <a:solidFill>
                  <a:srgbClr val="26364A"/>
                </a:solidFill>
                <a:latin typeface="Aptos"/>
              </a:defRPr>
            </a:pPr>
            <a:r>
              <a:t>O exemplo deve compartilhar a rede do db.</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Profiles permitem escolher ferramentas ou tarefas opcionais sem duplicar toda a aplicação.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Consulta  |  CONSULTA / APROFUNDAMENTO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E4·75</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66" b="1">
                <a:solidFill>
                  <a:srgbClr val="1B2A4A"/>
                </a:solidFill>
                <a:latin typeface="Aptos"/>
              </a:defRPr>
            </a:pPr>
            <a:r>
              <a:t>Consulta | Overrides e Watch no desenvolvimento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Adaptar o ambiente local mantendo a configuração compreensível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Overrides</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Arquivos adicionais combinam configurações.</a:t>
            </a:r>
          </a:p>
          <a:p>
            <a:pPr algn="l">
              <a:lnSpc>
                <a:spcPct val="105000"/>
              </a:lnSpc>
              <a:spcAft>
                <a:spcPts val="600"/>
              </a:spcAft>
              <a:defRPr sz="1800" b="0">
                <a:solidFill>
                  <a:srgbClr val="26364A"/>
                </a:solidFill>
                <a:latin typeface="Aptos"/>
              </a:defRPr>
            </a:pPr>
            <a:r>
              <a:t>Ex.: compose.yaml + compose.dev.yaml.</a:t>
            </a:r>
          </a:p>
          <a:p>
            <a:pPr algn="l">
              <a:lnSpc>
                <a:spcPct val="105000"/>
              </a:lnSpc>
              <a:spcAft>
                <a:spcPts val="600"/>
              </a:spcAft>
              <a:defRPr sz="1800" b="0">
                <a:solidFill>
                  <a:srgbClr val="26364A"/>
                </a:solidFill>
                <a:latin typeface="Aptos"/>
              </a:defRPr>
            </a:pPr>
            <a:r>
              <a:t>Revise o resultado com compose config.</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Watch</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Regras develop.watch podem sincronizar arquivos ou reconstruir a imagem.</a:t>
            </a:r>
          </a:p>
          <a:p>
            <a:pPr algn="l">
              <a:lnSpc>
                <a:spcPct val="105000"/>
              </a:lnSpc>
              <a:spcAft>
                <a:spcPts val="600"/>
              </a:spcAft>
              <a:defRPr sz="1800" b="0">
                <a:solidFill>
                  <a:srgbClr val="26364A"/>
                </a:solidFill>
                <a:latin typeface="Aptos"/>
              </a:defRPr>
            </a:pPr>
            <a:r>
              <a:t>O efeito depende da ação configurada.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Limite do recurso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Sincronizar arquivo não garante recarga do processo.</a:t>
            </a:r>
          </a:p>
          <a:p>
            <a:pPr algn="l">
              <a:lnSpc>
                <a:spcPct val="105000"/>
              </a:lnSpc>
              <a:spcAft>
                <a:spcPts val="600"/>
              </a:spcAft>
              <a:defRPr sz="1800" b="0">
                <a:solidFill>
                  <a:srgbClr val="26364A"/>
                </a:solidFill>
                <a:latin typeface="Aptos"/>
              </a:defRPr>
            </a:pPr>
            <a:r>
              <a:t>Framework e comando precisam suportar o fluxo escolhido.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Confira a versão do Compose e a configuração resultante; conveniência local não dispensa testar a imagem final.</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Consulta  |  CONSULTA / APROFUNDAMENTO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E4·76</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Consulta | BuildKit, Buildx e cache de construção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Construir com eficiência e escolher a plataforma de destino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BuildKit</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Backend de construção.</a:t>
            </a:r>
          </a:p>
          <a:p>
            <a:pPr algn="l">
              <a:lnSpc>
                <a:spcPct val="105000"/>
              </a:lnSpc>
              <a:spcAft>
                <a:spcPts val="600"/>
              </a:spcAft>
              <a:defRPr sz="1800" b="0">
                <a:solidFill>
                  <a:srgbClr val="26364A"/>
                </a:solidFill>
                <a:latin typeface="Aptos"/>
              </a:defRPr>
            </a:pPr>
            <a:r>
              <a:t>Pode reutilizar resultados e usar cache mounts.</a:t>
            </a:r>
          </a:p>
          <a:p>
            <a:pPr algn="l">
              <a:lnSpc>
                <a:spcPct val="105000"/>
              </a:lnSpc>
              <a:spcAft>
                <a:spcPts val="600"/>
              </a:spcAft>
              <a:defRPr sz="1800" b="0">
                <a:solidFill>
                  <a:srgbClr val="26364A"/>
                </a:solidFill>
                <a:latin typeface="Aptos"/>
              </a:defRPr>
            </a:pPr>
            <a:r>
              <a:t>Nem todo build será executado do zero.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Buildx</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Interface para recursos de build.</a:t>
            </a:r>
          </a:p>
          <a:p>
            <a:pPr algn="l">
              <a:lnSpc>
                <a:spcPct val="105000"/>
              </a:lnSpc>
              <a:spcAft>
                <a:spcPts val="600"/>
              </a:spcAft>
              <a:defRPr sz="1800" b="0">
                <a:solidFill>
                  <a:srgbClr val="26364A"/>
                </a:solidFill>
                <a:latin typeface="Aptos"/>
              </a:defRPr>
            </a:pPr>
            <a:r>
              <a:t>Permite escolher builders e plataformas.</a:t>
            </a:r>
          </a:p>
          <a:p>
            <a:pPr algn="l">
              <a:lnSpc>
                <a:spcPct val="105000"/>
              </a:lnSpc>
              <a:spcAft>
                <a:spcPts val="600"/>
              </a:spcAft>
              <a:defRPr sz="1800" b="0">
                <a:solidFill>
                  <a:srgbClr val="26364A"/>
                </a:solidFill>
                <a:latin typeface="Aptos"/>
              </a:defRPr>
            </a:pPr>
            <a:r>
              <a:t>Ex.: linux/amd64 ou linux/arm64.</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Exemplo e cuidado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Uma biblioteca nativa precisa ser compatível com a plataforma final.</a:t>
            </a:r>
          </a:p>
          <a:p>
            <a:pPr algn="l">
              <a:lnSpc>
                <a:spcPct val="105000"/>
              </a:lnSpc>
              <a:spcAft>
                <a:spcPts val="600"/>
              </a:spcAft>
              <a:defRPr sz="1800" b="0">
                <a:solidFill>
                  <a:srgbClr val="26364A"/>
                </a:solidFill>
                <a:latin typeface="Aptos"/>
              </a:defRPr>
            </a:pPr>
            <a:r>
              <a:t>Build bem-sucedido pede teste de execução.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Otimizar a construção e controlar a plataforma complementam a reprodução; não substituem testes.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Consulta  |  CONSULTA / APROFUNDAMENTO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E4·77</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Consulta | Outros recursos do ecossistema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Conhecer o propósito sem exigir todas as ferramentas no projeto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25526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301752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Recurso</a:t>
            </a:r>
          </a:p>
        </p:txBody>
      </p:sp>
      <p:sp>
        <p:nvSpPr>
          <p:cNvPr id="7" name="Rounded Rectangle 6"/>
          <p:cNvSpPr/>
          <p:nvPr/>
        </p:nvSpPr>
        <p:spPr>
          <a:xfrm>
            <a:off x="640080" y="2386584"/>
            <a:ext cx="325526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301752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Docker Hub / registry</a:t>
            </a:r>
          </a:p>
        </p:txBody>
      </p:sp>
      <p:sp>
        <p:nvSpPr>
          <p:cNvPr id="9" name="Rounded Rectangle 8"/>
          <p:cNvSpPr/>
          <p:nvPr/>
        </p:nvSpPr>
        <p:spPr>
          <a:xfrm>
            <a:off x="640080" y="3008376"/>
            <a:ext cx="3255263"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301752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Contexts</a:t>
            </a:r>
          </a:p>
        </p:txBody>
      </p:sp>
      <p:sp>
        <p:nvSpPr>
          <p:cNvPr id="11" name="Rounded Rectangle 10"/>
          <p:cNvSpPr/>
          <p:nvPr/>
        </p:nvSpPr>
        <p:spPr>
          <a:xfrm>
            <a:off x="640080" y="3630168"/>
            <a:ext cx="325526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301752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Docker Scout</a:t>
            </a:r>
          </a:p>
        </p:txBody>
      </p:sp>
      <p:sp>
        <p:nvSpPr>
          <p:cNvPr id="13" name="Rounded Rectangle 12"/>
          <p:cNvSpPr/>
          <p:nvPr/>
        </p:nvSpPr>
        <p:spPr>
          <a:xfrm>
            <a:off x="640080" y="4251960"/>
            <a:ext cx="3255263"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301752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Swarm mode</a:t>
            </a:r>
          </a:p>
        </p:txBody>
      </p:sp>
      <p:sp>
        <p:nvSpPr>
          <p:cNvPr id="15" name="Rounded Rectangle 14"/>
          <p:cNvSpPr/>
          <p:nvPr/>
        </p:nvSpPr>
        <p:spPr>
          <a:xfrm>
            <a:off x="640080" y="4873752"/>
            <a:ext cx="325526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301752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Desktop Dashboard</a:t>
            </a:r>
          </a:p>
        </p:txBody>
      </p:sp>
      <p:sp>
        <p:nvSpPr>
          <p:cNvPr id="17" name="Rounded Rectangle 16"/>
          <p:cNvSpPr/>
          <p:nvPr/>
        </p:nvSpPr>
        <p:spPr>
          <a:xfrm>
            <a:off x="3931920" y="1764792"/>
            <a:ext cx="764438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50791" y="1874519"/>
            <a:ext cx="740663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Para que serve</a:t>
            </a:r>
          </a:p>
        </p:txBody>
      </p:sp>
      <p:sp>
        <p:nvSpPr>
          <p:cNvPr id="19" name="Rounded Rectangle 18"/>
          <p:cNvSpPr/>
          <p:nvPr/>
        </p:nvSpPr>
        <p:spPr>
          <a:xfrm>
            <a:off x="3931920" y="2386584"/>
            <a:ext cx="764438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50791" y="2436876"/>
            <a:ext cx="740663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Distribuição de imagens, tags e controle de acesso.</a:t>
            </a:r>
          </a:p>
        </p:txBody>
      </p:sp>
      <p:sp>
        <p:nvSpPr>
          <p:cNvPr id="21" name="Rounded Rectangle 20"/>
          <p:cNvSpPr/>
          <p:nvPr/>
        </p:nvSpPr>
        <p:spPr>
          <a:xfrm>
            <a:off x="3931920" y="3008376"/>
            <a:ext cx="7644383"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50791" y="3058668"/>
            <a:ext cx="740663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Selecionar qual Engine a CLI controla; conferir antes de operar.</a:t>
            </a:r>
          </a:p>
        </p:txBody>
      </p:sp>
      <p:sp>
        <p:nvSpPr>
          <p:cNvPr id="23" name="Rounded Rectangle 22"/>
          <p:cNvSpPr/>
          <p:nvPr/>
        </p:nvSpPr>
        <p:spPr>
          <a:xfrm>
            <a:off x="3931920" y="3630168"/>
            <a:ext cx="764438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50791" y="3680459"/>
            <a:ext cx="740663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Análise de imagens e informações sobre vulnerabilidades.</a:t>
            </a:r>
          </a:p>
        </p:txBody>
      </p:sp>
      <p:sp>
        <p:nvSpPr>
          <p:cNvPr id="25" name="Rounded Rectangle 24"/>
          <p:cNvSpPr/>
          <p:nvPr/>
        </p:nvSpPr>
        <p:spPr>
          <a:xfrm>
            <a:off x="3931920" y="4251960"/>
            <a:ext cx="7644383"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50791" y="4302252"/>
            <a:ext cx="740663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Orquestração de serviços entre nós; difere do Compose local.</a:t>
            </a:r>
          </a:p>
        </p:txBody>
      </p:sp>
      <p:sp>
        <p:nvSpPr>
          <p:cNvPr id="27" name="Rounded Rectangle 26"/>
          <p:cNvSpPr/>
          <p:nvPr/>
        </p:nvSpPr>
        <p:spPr>
          <a:xfrm>
            <a:off x="3931920" y="4873752"/>
            <a:ext cx="764438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50791" y="4924044"/>
            <a:ext cx="740663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Interface para visualizar e operar recursos do ambiente local.</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entrega desta aula usa os recursos necessários ao projeto; conhecer opções não cria novas exigências.</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Consulta  |  CONSULTA / APROFUNDAMENTO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E4·78</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1092</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pt-BR</dc:language>
  <cp:lastModifiedBy/>
  <dcterms:modified xsi:type="dcterms:W3CDTF">2026-09-11T15:50:09Z</dcterms:modified>
  <cp:revision>16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