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4.xml" ContentType="application/vnd.openxmlformats-officedocument.theme+xml"/>
  <Override PartName="/ppt/theme/theme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10.xml" ContentType="application/vnd.openxmlformats-officedocument.theme+xml"/>
  <Override PartName="/ppt/theme/theme9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42.jpeg" ContentType="image/jpe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45.jpeg" ContentType="image/jpeg"/>
  <Override PartName="/ppt/media/image21.png" ContentType="image/png"/>
  <Override PartName="/ppt/media/image19.png" ContentType="image/png"/>
  <Override PartName="/ppt/media/image41.jpeg" ContentType="image/jpeg"/>
  <Override PartName="/ppt/media/image14.png" ContentType="image/png"/>
  <Override PartName="/ppt/media/image5.png" ContentType="image/png"/>
  <Override PartName="/ppt/media/image37.png" ContentType="image/png"/>
  <Override PartName="/ppt/media/image9.png" ContentType="image/png"/>
  <Override PartName="/ppt/media/image20.png" ContentType="image/png"/>
  <Override PartName="/ppt/media/image18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12.png" ContentType="image/png"/>
  <Override PartName="/ppt/media/image44.jpeg" ContentType="image/jpeg"/>
  <Override PartName="/ppt/media/image10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9.jpeg" ContentType="image/jpeg"/>
  <Override PartName="/ppt/media/image15.png" ContentType="image/png"/>
  <Override PartName="/ppt/media/image40.jpeg" ContentType="image/jpeg"/>
  <Override PartName="/ppt/media/image3.png" ContentType="image/png"/>
  <Override PartName="/ppt/media/image35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43.jpeg" ContentType="image/jpeg"/>
  <Override PartName="/ppt/media/image7.png" ContentType="image/png"/>
  <Override PartName="/ppt/media/image16.png" ContentType="image/png"/>
  <Override PartName="/ppt/media/image1.png" ContentType="image/png"/>
  <Override PartName="/ppt/media/image33.png" ContentType="image/png"/>
  <Override PartName="/ppt/media/image6.png" ContentType="image/png"/>
  <Override PartName="/ppt/media/image38.png" ContentType="image/png"/>
  <Override PartName="/ppt/slides/_rels/slide71.xml.rels" ContentType="application/vnd.openxmlformats-package.relationships+xml"/>
  <Override PartName="/ppt/slides/_rels/slide70.xml.rels" ContentType="application/vnd.openxmlformats-package.relationships+xml"/>
  <Override PartName="/ppt/slides/_rels/slide61.xml.rels" ContentType="application/vnd.openxmlformats-package.relationships+xml"/>
  <Override PartName="/ppt/slides/_rels/slide60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28.xml.rels" ContentType="application/vnd.openxmlformats-package.relationships+xml"/>
  <Override PartName="/ppt/slides/_rels/slide96.xml.rels" ContentType="application/vnd.openxmlformats-package.relationships+xml"/>
  <Override PartName="/ppt/slides/_rels/slide141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12.xml.rels" ContentType="application/vnd.openxmlformats-package.relationships+xml"/>
  <Override PartName="/ppt/slides/_rels/slide80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7.xml.rels" ContentType="application/vnd.openxmlformats-package.relationships+xml"/>
  <Override PartName="/ppt/slides/_rels/slide94.xml.rels" ContentType="application/vnd.openxmlformats-package.relationships+xml"/>
  <Override PartName="/ppt/slides/_rels/slide26.xml.rels" ContentType="application/vnd.openxmlformats-package.relationships+xml"/>
  <Override PartName="/ppt/slides/_rels/slide29.xml.rels" ContentType="application/vnd.openxmlformats-package.relationships+xml"/>
  <Override PartName="/ppt/slides/_rels/slide97.xml.rels" ContentType="application/vnd.openxmlformats-package.relationships+xml"/>
  <Override PartName="/ppt/slides/_rels/slide142.xml.rels" ContentType="application/vnd.openxmlformats-package.relationships+xml"/>
  <Override PartName="/ppt/slides/_rels/slide1.xml.rels" ContentType="application/vnd.openxmlformats-package.relationships+xml"/>
  <Override PartName="/ppt/slides/_rels/slide129.xml.rels" ContentType="application/vnd.openxmlformats-package.relationships+xml"/>
  <Override PartName="/ppt/slides/_rels/slide46.xml.rels" ContentType="application/vnd.openxmlformats-package.relationships+xml"/>
  <Override PartName="/ppt/slides/_rels/slide13.xml.rels" ContentType="application/vnd.openxmlformats-package.relationships+xml"/>
  <Override PartName="/ppt/slides/_rels/slide81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52.xml.rels" ContentType="application/vnd.openxmlformats-package.relationships+xml"/>
  <Override PartName="/ppt/slides/_rels/slide154.xml.rels" ContentType="application/vnd.openxmlformats-package.relationships+xml"/>
  <Override PartName="/ppt/slides/_rels/slide153.xml.rels" ContentType="application/vnd.openxmlformats-package.relationships+xml"/>
  <Override PartName="/ppt/slides/_rels/slide74.xml.rels" ContentType="application/vnd.openxmlformats-package.relationships+xml"/>
  <Override PartName="/ppt/slides/_rels/slide152.xml.rels" ContentType="application/vnd.openxmlformats-package.relationships+xml"/>
  <Override PartName="/ppt/slides/_rels/slide39.xml.rels" ContentType="application/vnd.openxmlformats-package.relationships+xml"/>
  <Override PartName="/ppt/slides/_rels/slide117.xml.rels" ContentType="application/vnd.openxmlformats-package.relationships+xml"/>
  <Override PartName="/ppt/slides/_rels/slide73.xml.rels" ContentType="application/vnd.openxmlformats-package.relationships+xml"/>
  <Override PartName="/ppt/slides/_rels/slide72.xml.rels" ContentType="application/vnd.openxmlformats-package.relationships+xml"/>
  <Override PartName="/ppt/slides/_rels/slide146.xml.rels" ContentType="application/vnd.openxmlformats-package.relationships+xml"/>
  <Override PartName="/ppt/slides/_rels/slide88.xml.rels" ContentType="application/vnd.openxmlformats-package.relationships+xml"/>
  <Override PartName="/ppt/slides/_rels/slide133.xml.rels" ContentType="application/vnd.openxmlformats-package.relationships+xml"/>
  <Override PartName="/ppt/slides/_rels/slide149.xml.rels" ContentType="application/vnd.openxmlformats-package.relationships+xml"/>
  <Override PartName="/ppt/slides/_rels/slide34.xml.rels" ContentType="application/vnd.openxmlformats-package.relationships+xml"/>
  <Override PartName="/ppt/slides/_rels/slide145.xml.rels" ContentType="application/vnd.openxmlformats-package.relationships+xml"/>
  <Override PartName="/ppt/slides/_rels/slide112.xml.rels" ContentType="application/vnd.openxmlformats-package.relationships+xml"/>
  <Override PartName="/ppt/slides/_rels/slide67.xml.rels" ContentType="application/vnd.openxmlformats-package.relationships+xml"/>
  <Override PartName="/ppt/slides/_rels/slide54.xml.rels" ContentType="application/vnd.openxmlformats-package.relationships+xml"/>
  <Override PartName="/ppt/slides/_rels/slide19.xml.rels" ContentType="application/vnd.openxmlformats-package.relationships+xml"/>
  <Override PartName="/ppt/slides/_rels/slide87.xml.rels" ContentType="application/vnd.openxmlformats-package.relationships+xml"/>
  <Override PartName="/ppt/slides/_rels/slide132.xml.rels" ContentType="application/vnd.openxmlformats-package.relationships+xml"/>
  <Override PartName="/ppt/slides/_rels/slide148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33.xml.rels" ContentType="application/vnd.openxmlformats-package.relationships+xml"/>
  <Override PartName="/ppt/slides/_rels/slide106.xml.rels" ContentType="application/vnd.openxmlformats-package.relationships+xml"/>
  <Override PartName="/ppt/slides/_rels/slide85.xml.rels" ContentType="application/vnd.openxmlformats-package.relationships+xml"/>
  <Override PartName="/ppt/slides/_rels/slide130.xml.rels" ContentType="application/vnd.openxmlformats-package.relationships+xml"/>
  <Override PartName="/ppt/slides/_rels/slide17.xml.rels" ContentType="application/vnd.openxmlformats-package.relationships+xml"/>
  <Override PartName="/ppt/slides/_rels/slide108.xml.rels" ContentType="application/vnd.openxmlformats-package.relationships+xml"/>
  <Override PartName="/ppt/slides/_rels/slide2.xml.rels" ContentType="application/vnd.openxmlformats-package.relationships+xml"/>
  <Override PartName="/ppt/slides/_rels/slide109.xml.rels" ContentType="application/vnd.openxmlformats-package.relationships+xml"/>
  <Override PartName="/ppt/slides/_rels/slide3.xml.rels" ContentType="application/vnd.openxmlformats-package.relationships+xml"/>
  <Override PartName="/ppt/slides/_rels/slide116.xml.rels" ContentType="application/vnd.openxmlformats-package.relationships+xml"/>
  <Override PartName="/ppt/slides/_rels/slide151.xml.rels" ContentType="application/vnd.openxmlformats-package.relationships+xml"/>
  <Override PartName="/ppt/slides/_rels/slide38.xml.rels" ContentType="application/vnd.openxmlformats-package.relationships+xml"/>
  <Override PartName="/ppt/slides/_rels/slide118.xml.rels" ContentType="application/vnd.openxmlformats-package.relationships+xml"/>
  <Override PartName="/ppt/slides/_rels/slide107.xml.rels" ContentType="application/vnd.openxmlformats-package.relationships+xml"/>
  <Override PartName="/ppt/slides/_rels/slide119.xml.rels" ContentType="application/vnd.openxmlformats-package.relationships+xml"/>
  <Override PartName="/ppt/slides/_rels/slide30.xml.rels" ContentType="application/vnd.openxmlformats-package.relationships+xml"/>
  <Override PartName="/ppt/slides/_rels/slide105.xml.rels" ContentType="application/vnd.openxmlformats-package.relationships+xml"/>
  <Override PartName="/ppt/slides/_rels/slide53.xml.rels" ContentType="application/vnd.openxmlformats-package.relationships+xml"/>
  <Override PartName="/ppt/slides/_rels/slide155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35.xml.rels" ContentType="application/vnd.openxmlformats-package.relationships+xml"/>
  <Override PartName="/ppt/slides/_rels/slide5.xml.rels" ContentType="application/vnd.openxmlformats-package.relationships+xml"/>
  <Override PartName="/ppt/slides/_rels/slide55.xml.rels" ContentType="application/vnd.openxmlformats-package.relationships+xml"/>
  <Override PartName="/ppt/slides/_rels/slide100.xml.rels" ContentType="application/vnd.openxmlformats-package.relationships+xml"/>
  <Override PartName="/ppt/slides/_rels/slide137.xml.rels" ContentType="application/vnd.openxmlformats-package.relationships+xml"/>
  <Override PartName="/ppt/slides/_rels/slide77.xml.rels" ContentType="application/vnd.openxmlformats-package.relationships+xml"/>
  <Override PartName="/ppt/slides/_rels/slide122.xml.rels" ContentType="application/vnd.openxmlformats-package.relationships+xml"/>
  <Override PartName="/ppt/slides/_rels/slide44.xml.rels" ContentType="application/vnd.openxmlformats-package.relationships+xml"/>
  <Override PartName="/ppt/slides/_rels/slide31.xml.rels" ContentType="application/vnd.openxmlformats-package.relationships+xml"/>
  <Override PartName="/ppt/slides/_rels/slide78.xml.rels" ContentType="application/vnd.openxmlformats-package.relationships+xml"/>
  <Override PartName="/ppt/slides/_rels/slide123.xml.rels" ContentType="application/vnd.openxmlformats-package.relationships+xml"/>
  <Override PartName="/ppt/slides/_rels/slide45.xml.rels" ContentType="application/vnd.openxmlformats-package.relationships+xml"/>
  <Override PartName="/ppt/slides/_rels/slide3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125.xml.rels" ContentType="application/vnd.openxmlformats-package.relationships+xml"/>
  <Override PartName="/ppt/slides/_rels/slide47.xml.rels" ContentType="application/vnd.openxmlformats-package.relationships+xml"/>
  <Override PartName="/ppt/slides/_rels/slide126.xml.rels" ContentType="application/vnd.openxmlformats-package.relationships+xml"/>
  <Override PartName="/ppt/slides/_rels/slide48.xml.rels" ContentType="application/vnd.openxmlformats-package.relationships+xml"/>
  <Override PartName="/ppt/slides/_rels/slide127.xml.rels" ContentType="application/vnd.openxmlformats-package.relationships+xml"/>
  <Override PartName="/ppt/slides/_rels/slide49.xml.rels" ContentType="application/vnd.openxmlformats-package.relationships+xml"/>
  <Override PartName="/ppt/slides/_rels/slide36.xml.rels" ContentType="application/vnd.openxmlformats-package.relationships+xml"/>
  <Override PartName="/ppt/slides/_rels/slide18.xml.rels" ContentType="application/vnd.openxmlformats-package.relationships+xml"/>
  <Override PartName="/ppt/slides/_rels/slide131.xml.rels" ContentType="application/vnd.openxmlformats-package.relationships+xml"/>
  <Override PartName="/ppt/slides/_rels/slide86.xml.rels" ContentType="application/vnd.openxmlformats-package.relationships+xml"/>
  <Override PartName="/ppt/slides/_rels/slide98.xml.rels" ContentType="application/vnd.openxmlformats-package.relationships+xml"/>
  <Override PartName="/ppt/slides/_rels/slide143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47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89.xml.rels" ContentType="application/vnd.openxmlformats-package.relationships+xml"/>
  <Override PartName="/ppt/slides/_rels/slide134.xml.rels" ContentType="application/vnd.openxmlformats-package.relationships+xml"/>
  <Override PartName="/ppt/slides/_rels/slide51.xml.rels" ContentType="application/vnd.openxmlformats-package.relationships+xml"/>
  <Override PartName="/ppt/slides/_rels/slide64.xml.rels" ContentType="application/vnd.openxmlformats-package.relationships+xml"/>
  <Override PartName="/ppt/slides/_rels/slide50.xml.rels" ContentType="application/vnd.openxmlformats-package.relationships+xml"/>
  <Override PartName="/ppt/slides/_rels/slide63.xml.rels" ContentType="application/vnd.openxmlformats-package.relationships+xml"/>
  <Override PartName="/ppt/slides/_rels/slide22.xml.rels" ContentType="application/vnd.openxmlformats-package.relationships+xml"/>
  <Override PartName="/ppt/slides/_rels/slide90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139.xml.rels" ContentType="application/vnd.openxmlformats-package.relationships+xml"/>
  <Override PartName="/ppt/slides/_rels/slide95.xml.rels" ContentType="application/vnd.openxmlformats-package.relationships+xml"/>
  <Override PartName="/ppt/slides/_rels/slide27.xml.rels" ContentType="application/vnd.openxmlformats-package.relationships+xml"/>
  <Override PartName="/ppt/slides/_rels/slide140.xml.rels" ContentType="application/vnd.openxmlformats-package.relationships+xml"/>
  <Override PartName="/ppt/slides/_rels/slide62.xml.rels" ContentType="application/vnd.openxmlformats-package.relationships+xml"/>
  <Override PartName="/ppt/slides/_rels/slide56.xml.rels" ContentType="application/vnd.openxmlformats-package.relationships+xml"/>
  <Override PartName="/ppt/slides/_rels/slide101.xml.rels" ContentType="application/vnd.openxmlformats-package.relationships+xml"/>
  <Override PartName="/ppt/slides/_rels/slide138.xml.rels" ContentType="application/vnd.openxmlformats-package.relationships+xml"/>
  <Override PartName="/ppt/slides/_rels/slide136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135.xml.rels" ContentType="application/vnd.openxmlformats-package.relationships+xml"/>
  <Override PartName="/ppt/slides/_rels/slide102.xml.rels" ContentType="application/vnd.openxmlformats-package.relationships+xml"/>
  <Override PartName="/ppt/slides/_rels/slide57.xml.rels" ContentType="application/vnd.openxmlformats-package.relationships+xml"/>
  <Override PartName="/ppt/slides/_rels/slide43.xml.rels" ContentType="application/vnd.openxmlformats-package.relationships+xml"/>
  <Override PartName="/ppt/slides/_rels/slide76.xml.rels" ContentType="application/vnd.openxmlformats-package.relationships+xml"/>
  <Override PartName="/ppt/slides/_rels/slide121.xml.rels" ContentType="application/vnd.openxmlformats-package.relationships+xml"/>
  <Override PartName="/ppt/slides/_rels/slide42.xml.rels" ContentType="application/vnd.openxmlformats-package.relationships+xml"/>
  <Override PartName="/ppt/slides/_rels/slide75.xml.rels" ContentType="application/vnd.openxmlformats-package.relationships+xml"/>
  <Override PartName="/ppt/slides/_rels/slide120.xml.rels" ContentType="application/vnd.openxmlformats-package.relationships+xml"/>
  <Override PartName="/ppt/slides/_rels/slide41.xml.rels" ContentType="application/vnd.openxmlformats-package.relationships+xml"/>
  <Override PartName="/ppt/slides/_rels/slide40.xml.rels" ContentType="application/vnd.openxmlformats-package.relationships+xml"/>
  <Override PartName="/ppt/slides/_rels/slide150.xml.rels" ContentType="application/vnd.openxmlformats-package.relationships+xml"/>
  <Override PartName="/ppt/slides/_rels/slide37.xml.rels" ContentType="application/vnd.openxmlformats-package.relationships+xml"/>
  <Override PartName="/ppt/slides/_rels/slide115.xml.rels" ContentType="application/vnd.openxmlformats-package.relationships+xml"/>
  <Override PartName="/ppt/slides/_rels/slide128.xml.rels" ContentType="application/vnd.openxmlformats-package.relationships+xml"/>
  <Override PartName="/ppt/slides/_rels/slide59.xml.rels" ContentType="application/vnd.openxmlformats-package.relationships+xml"/>
  <Override PartName="/ppt/slides/_rels/slide104.xml.rels" ContentType="application/vnd.openxmlformats-package.relationships+xml"/>
  <Override PartName="/ppt/slides/_rels/slide23.xml.rels" ContentType="application/vnd.openxmlformats-package.relationships+xml"/>
  <Override PartName="/ppt/slides/_rels/slide91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44.xml.rels" ContentType="application/vnd.openxmlformats-package.relationships+xml"/>
  <Override PartName="/ppt/slides/_rels/slide99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27.xml" ContentType="application/vnd.openxmlformats-officedocument.presentationml.slide+xml"/>
  <Override PartName="/ppt/slides/slide126.xml" ContentType="application/vnd.openxmlformats-officedocument.presentationml.slide+xml"/>
  <Override PartName="/ppt/slides/slide119.xml" ContentType="application/vnd.openxmlformats-officedocument.presentationml.slide+xml"/>
  <Override PartName="/ppt/slides/slide118.xml" ContentType="application/vnd.openxmlformats-officedocument.presentationml.slide+xml"/>
  <Override PartName="/ppt/slides/slide117.xml" ContentType="application/vnd.openxmlformats-officedocument.presentationml.slide+xml"/>
  <Override PartName="/ppt/slides/slide116.xml" ContentType="application/vnd.openxmlformats-officedocument.presentationml.slide+xml"/>
  <Override PartName="/ppt/slides/slide109.xml" ContentType="application/vnd.openxmlformats-officedocument.presentationml.slide+xml"/>
  <Override PartName="/ppt/slides/slide108.xml" ContentType="application/vnd.openxmlformats-officedocument.presentationml.slide+xml"/>
  <Override PartName="/ppt/slides/slide107.xml" ContentType="application/vnd.openxmlformats-officedocument.presentationml.slide+xml"/>
  <Override PartName="/ppt/slides/slide106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76.xml" ContentType="application/vnd.openxmlformats-officedocument.presentationml.slide+xml"/>
  <Override PartName="/ppt/slides/slide59.xml" ContentType="application/vnd.openxmlformats-officedocument.presentationml.slide+xml"/>
  <Override PartName="/ppt/slides/slide105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39.xml" ContentType="application/vnd.openxmlformats-officedocument.presentationml.slide+xml"/>
  <Override PartName="/ppt/slides/slide150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7.xml" ContentType="application/vnd.openxmlformats-officedocument.presentationml.slide+xml"/>
  <Override PartName="/ppt/slides/slide6.xml" ContentType="application/vnd.openxmlformats-officedocument.presentationml.slide+xml"/>
  <Override PartName="/ppt/slides/slide148.xml" ContentType="application/vnd.openxmlformats-officedocument.presentationml.slide+xml"/>
  <Override PartName="/ppt/slides/slide7.xml" ContentType="application/vnd.openxmlformats-officedocument.presentationml.slide+xml"/>
  <Override PartName="/ppt/slides/slide45.xml" ContentType="application/vnd.openxmlformats-officedocument.presentationml.slide+xml"/>
  <Override PartName="/ppt/slides/slide149.xml" ContentType="application/vnd.openxmlformats-officedocument.presentationml.slide+xml"/>
  <Override PartName="/ppt/slides/slide8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22.xml" ContentType="application/vnd.openxmlformats-officedocument.presentationml.slide+xml"/>
  <Override PartName="/ppt/slides/slide90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38.xml" ContentType="application/vnd.openxmlformats-officedocument.presentationml.slide+xml"/>
  <Override PartName="/ppt/slides/slide143.xml" ContentType="application/vnd.openxmlformats-officedocument.presentationml.slide+xml"/>
  <Override PartName="/ppt/slides/slide2.xml" ContentType="application/vnd.openxmlformats-officedocument.presentationml.slide+xml"/>
  <Override PartName="/ppt/slides/slide155.xml" ContentType="application/vnd.openxmlformats-officedocument.presentationml.slide+xml"/>
  <Override PartName="/ppt/slides/slide37.xml" ContentType="application/vnd.openxmlformats-officedocument.presentationml.slide+xml"/>
  <Override PartName="/ppt/slides/slide142.xml" ContentType="application/vnd.openxmlformats-officedocument.presentationml.slide+xml"/>
  <Override PartName="/ppt/slides/slide1.xml" ContentType="application/vnd.openxmlformats-officedocument.presentationml.slide+xml"/>
  <Override PartName="/ppt/slides/slide36.xml" ContentType="application/vnd.openxmlformats-officedocument.presentationml.slide+xml"/>
  <Override PartName="/ppt/slides/slide141.xml" ContentType="application/vnd.openxmlformats-officedocument.presentationml.slide+xml"/>
  <Override PartName="/ppt/slides/slide102.xml" ContentType="application/vnd.openxmlformats-officedocument.presentationml.slide+xml"/>
  <Override PartName="/ppt/slides/slide56.xml" ContentType="application/vnd.openxmlformats-officedocument.presentationml.slide+xml"/>
  <Override PartName="/ppt/slides/slide139.xml" ContentType="application/vnd.openxmlformats-officedocument.presentationml.slide+xml"/>
  <Override PartName="/ppt/slides/slide35.xml" ContentType="application/vnd.openxmlformats-officedocument.presentationml.slide+xml"/>
  <Override PartName="/ppt/slides/slide140.xml" ContentType="application/vnd.openxmlformats-officedocument.presentationml.slide+xml"/>
  <Override PartName="/ppt/slides/slide97.xml" ContentType="application/vnd.openxmlformats-officedocument.presentationml.slide+xml"/>
  <Override PartName="/ppt/slides/slide29.xml" ContentType="application/vnd.openxmlformats-officedocument.presentationml.slide+xml"/>
  <Override PartName="/ppt/slides/slide138.xml" ContentType="application/vnd.openxmlformats-officedocument.presentationml.slide+xml"/>
  <Override PartName="/ppt/slides/slide137.xml" ContentType="application/vnd.openxmlformats-officedocument.presentationml.slide+xml"/>
  <Override PartName="/ppt/slides/slide136.xml" ContentType="application/vnd.openxmlformats-officedocument.presentationml.slide+xml"/>
  <Override PartName="/ppt/slides/slide135.xml" ContentType="application/vnd.openxmlformats-officedocument.presentationml.slide+xml"/>
  <Override PartName="/ppt/slides/slide134.xml" ContentType="application/vnd.openxmlformats-officedocument.presentationml.slide+xml"/>
  <Override PartName="/ppt/slides/slide133.xml" ContentType="application/vnd.openxmlformats-officedocument.presentationml.slide+xml"/>
  <Override PartName="/ppt/slides/slide132.xml" ContentType="application/vnd.openxmlformats-officedocument.presentationml.slide+xml"/>
  <Override PartName="/ppt/slides/slide131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28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21.xml" ContentType="application/vnd.openxmlformats-officedocument.presentationml.slide+xml"/>
  <Override PartName="/ppt/slides/slide49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84.xml" ContentType="application/vnd.openxmlformats-officedocument.presentationml.slide+xml"/>
  <Override PartName="/ppt/slides/slide16.xml" ContentType="application/vnd.openxmlformats-officedocument.presentationml.slide+xml"/>
  <Override PartName="/ppt/slides/slide81.xml" ContentType="application/vnd.openxmlformats-officedocument.presentationml.slide+xml"/>
  <Override PartName="/ppt/slides/slide13.xml" ContentType="application/vnd.openxmlformats-officedocument.presentationml.slide+xml"/>
  <Override PartName="/ppt/slides/slide46.xml" ContentType="application/vnd.openxmlformats-officedocument.presentationml.slide+xml"/>
  <Override PartName="/ppt/slides/slide83.xml" ContentType="application/vnd.openxmlformats-officedocument.presentationml.slide+xml"/>
  <Override PartName="/ppt/slides/slide15.xml" ContentType="application/vnd.openxmlformats-officedocument.presentationml.slide+xml"/>
  <Override PartName="/ppt/slides/slide80.xml" ContentType="application/vnd.openxmlformats-officedocument.presentationml.slide+xml"/>
  <Override PartName="/ppt/slides/slide12.xml" ContentType="application/vnd.openxmlformats-officedocument.presentationml.slide+xml"/>
  <Override PartName="/ppt/slides/slide82.xml" ContentType="application/vnd.openxmlformats-officedocument.presentationml.slide+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91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4.xml" ContentType="application/vnd.openxmlformats-officedocument.presentationml.slide+xml"/>
  <Override PartName="/ppt/slides/slide92.xml" ContentType="application/vnd.openxmlformats-officedocument.presentationml.slide+xml"/>
  <Override PartName="/ppt/slides/slide96.xml" ContentType="application/vnd.openxmlformats-officedocument.presentationml.slide+xml"/>
  <Override PartName="/ppt/slides/slide28.xml" ContentType="application/vnd.openxmlformats-officedocument.presentationml.slide+xml"/>
  <Override PartName="/ppt/slides/slide25.xml" ContentType="application/vnd.openxmlformats-officedocument.presentationml.slide+xml"/>
  <Override PartName="/ppt/slides/slide93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110.xml" ContentType="application/vnd.openxmlformats-officedocument.presentationml.slide+xml"/>
  <Override PartName="/ppt/slides/slide65.xml" ContentType="application/vnd.openxmlformats-officedocument.presentationml.slide+xml"/>
  <Override PartName="/ppt/slides/slide111.xml" ContentType="application/vnd.openxmlformats-officedocument.presentationml.slide+xml"/>
  <Override PartName="/ppt/slides/slide66.xml" ContentType="application/vnd.openxmlformats-officedocument.presentationml.slide+xml"/>
  <Override PartName="/ppt/slides/slide112.xml" ContentType="application/vnd.openxmlformats-officedocument.presentationml.slide+xml"/>
  <Override PartName="/ppt/slides/slide67.xml" ContentType="application/vnd.openxmlformats-officedocument.presentationml.slide+xml"/>
  <Override PartName="/ppt/slides/slide113.xml" ContentType="application/vnd.openxmlformats-officedocument.presentationml.slide+xml"/>
  <Override PartName="/ppt/slides/slide68.xml" ContentType="application/vnd.openxmlformats-officedocument.presentationml.slide+xml"/>
  <Override PartName="/ppt/slides/slide114.xml" ContentType="application/vnd.openxmlformats-officedocument.presentationml.slide+xml"/>
  <Override PartName="/ppt/slides/slide69.xml" ContentType="application/vnd.openxmlformats-officedocument.presentationml.slide+xml"/>
  <Override PartName="/ppt/slides/slide115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120.xml" ContentType="application/vnd.openxmlformats-officedocument.presentationml.slide+xml"/>
  <Override PartName="/ppt/slides/slide75.xml" ContentType="application/vnd.openxmlformats-officedocument.presentationml.slide+xml"/>
  <Override PartName="/ppt/slides/slide121.xml" ContentType="application/vnd.openxmlformats-officedocument.presentationml.slide+xml"/>
  <Override PartName="/ppt/notesSlides/notesSlide86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_rels/notesSlide59.xml.rels" ContentType="application/vnd.openxmlformats-package.relationships+xml"/>
  <Override PartName="/ppt/notesSlides/_rels/notesSlide78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81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77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69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68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79.xml.rels" ContentType="application/vnd.openxmlformats-package.relationships+xml"/>
  <Override PartName="/ppt/notesSlides/_rels/notesSlide90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51.xml.rels" ContentType="application/vnd.openxmlformats-package.relationships+xml"/>
  <Override PartName="/ppt/notesSlides/_rels/notesSlide53.xml.rels" ContentType="application/vnd.openxmlformats-package.relationships+xml"/>
  <Override PartName="/ppt/notesSlides/_rels/notesSlide88.xml.rels" ContentType="application/vnd.openxmlformats-package.relationships+xml"/>
  <Override PartName="/ppt/notesSlides/_rels/notesSlide106.xml.rels" ContentType="application/vnd.openxmlformats-package.relationships+xml"/>
  <Override PartName="/ppt/notesSlides/_rels/notesSlide50.xml.rels" ContentType="application/vnd.openxmlformats-package.relationships+xml"/>
  <Override PartName="/ppt/notesSlides/_rels/notesSlide52.xml.rels" ContentType="application/vnd.openxmlformats-package.relationships+xml"/>
  <Override PartName="/ppt/notesSlides/_rels/notesSlide89.xml.rels" ContentType="application/vnd.openxmlformats-package.relationships+xml"/>
  <Override PartName="/ppt/notesSlides/_rels/notesSlide87.xml.rels" ContentType="application/vnd.openxmlformats-package.relationships+xml"/>
  <Override PartName="/ppt/notesSlides/_rels/notesSlide105.xml.rels" ContentType="application/vnd.openxmlformats-package.relationships+xml"/>
  <Override PartName="/ppt/notesSlides/_rels/notesSlide91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104.xml.rels" ContentType="application/vnd.openxmlformats-package.relationships+xml"/>
  <Override PartName="/ppt/notesSlides/_rels/notesSlide86.xml.rels" ContentType="application/vnd.openxmlformats-package.relationships+xml"/>
  <Override PartName="/ppt/notesSlides/_rels/notesSlide103.xml.rels" ContentType="application/vnd.openxmlformats-package.relationships+xml"/>
  <Override PartName="/ppt/notesSlides/_rels/notesSlide85.xml.rels" ContentType="application/vnd.openxmlformats-package.relationships+xml"/>
  <Override PartName="/ppt/notesSlides/_rels/notesSlide76.xml.rels" ContentType="application/vnd.openxmlformats-package.relationships+xml"/>
  <Override PartName="/ppt/notesSlides/_rels/notesSlide64.xml.rels" ContentType="application/vnd.openxmlformats-package.relationships+xml"/>
  <Override PartName="/ppt/notesSlides/_rels/notesSlide75.xml.rels" ContentType="application/vnd.openxmlformats-package.relationships+xml"/>
  <Override PartName="/ppt/notesSlides/_rels/notesSlide63.xml.rels" ContentType="application/vnd.openxmlformats-package.relationships+xml"/>
  <Override PartName="/ppt/notesSlides/_rels/notesSlide74.xml.rels" ContentType="application/vnd.openxmlformats-package.relationships+xml"/>
  <Override PartName="/ppt/notesSlides/_rels/notesSlide62.xml.rels" ContentType="application/vnd.openxmlformats-package.relationships+xml"/>
  <Override PartName="/ppt/notesSlides/_rels/notesSlide99.xml.rels" ContentType="application/vnd.openxmlformats-package.relationships+xml"/>
  <Override PartName="/ppt/notesSlides/_rels/notesSlide73.xml.rels" ContentType="application/vnd.openxmlformats-package.relationships+xml"/>
  <Override PartName="/ppt/notesSlides/_rels/notesSlide61.xml.rels" ContentType="application/vnd.openxmlformats-package.relationships+xml"/>
  <Override PartName="/ppt/notesSlides/_rels/notesSlide98.xml.rels" ContentType="application/vnd.openxmlformats-package.relationships+xml"/>
  <Override PartName="/ppt/notesSlides/_rels/notesSlide72.xml.rels" ContentType="application/vnd.openxmlformats-package.relationships+xml"/>
  <Override PartName="/ppt/notesSlides/_rels/notesSlide71.xml.rels" ContentType="application/vnd.openxmlformats-package.relationships+xml"/>
  <Override PartName="/ppt/notesSlides/_rels/notesSlide70.xml.rels" ContentType="application/vnd.openxmlformats-package.relationships+xml"/>
  <Override PartName="/ppt/notesSlides/_rels/notesSlide66.xml.rels" ContentType="application/vnd.openxmlformats-package.relationships+xml"/>
  <Override PartName="/ppt/notesSlides/_rels/notesSlide65.xml.rels" ContentType="application/vnd.openxmlformats-package.relationships+xml"/>
  <Override PartName="/ppt/notesSlides/_rels/notesSlide54.xml.rels" ContentType="application/vnd.openxmlformats-package.relationships+xml"/>
  <Override PartName="/ppt/notesSlides/_rels/notesSlide55.xml.rels" ContentType="application/vnd.openxmlformats-package.relationships+xml"/>
  <Override PartName="/ppt/notesSlides/_rels/notesSlide92.xml.rels" ContentType="application/vnd.openxmlformats-package.relationships+xml"/>
  <Override PartName="/ppt/notesSlides/_rels/notesSlide56.xml.rels" ContentType="application/vnd.openxmlformats-package.relationships+xml"/>
  <Override PartName="/ppt/notesSlides/_rels/notesSlide93.xml.rels" ContentType="application/vnd.openxmlformats-package.relationships+xml"/>
  <Override PartName="/ppt/notesSlides/_rels/notesSlide102.xml.rels" ContentType="application/vnd.openxmlformats-package.relationships+xml"/>
  <Override PartName="/ppt/notesSlides/_rels/notesSlide84.xml.rels" ContentType="application/vnd.openxmlformats-package.relationships+xml"/>
  <Override PartName="/ppt/notesSlides/_rels/notesSlide97.xml.rels" ContentType="application/vnd.openxmlformats-package.relationships+xml"/>
  <Override PartName="/ppt/notesSlides/_rels/notesSlide60.xml.rels" ContentType="application/vnd.openxmlformats-package.relationships+xml"/>
  <Override PartName="/ppt/notesSlides/_rels/notesSlide101.xml.rels" ContentType="application/vnd.openxmlformats-package.relationships+xml"/>
  <Override PartName="/ppt/notesSlides/_rels/notesSlide83.xml.rels" ContentType="application/vnd.openxmlformats-package.relationships+xml"/>
  <Override PartName="/ppt/notesSlides/_rels/notesSlide96.xml.rels" ContentType="application/vnd.openxmlformats-package.relationships+xml"/>
  <Override PartName="/ppt/notesSlides/_rels/notesSlide149.xml.rels" ContentType="application/vnd.openxmlformats-package.relationships+xml"/>
  <Override PartName="/ppt/notesSlides/_rels/notesSlide100.xml.rels" ContentType="application/vnd.openxmlformats-package.relationships+xml"/>
  <Override PartName="/ppt/notesSlides/_rels/notesSlide82.xml.rels" ContentType="application/vnd.openxmlformats-package.relationships+xml"/>
  <Override PartName="/ppt/notesSlides/_rels/notesSlide58.xml.rels" ContentType="application/vnd.openxmlformats-package.relationships+xml"/>
  <Override PartName="/ppt/notesSlides/_rels/notesSlide95.xml.rels" ContentType="application/vnd.openxmlformats-package.relationships+xml"/>
  <Override PartName="/ppt/notesSlides/_rels/notesSlide57.xml.rels" ContentType="application/vnd.openxmlformats-package.relationships+xml"/>
  <Override PartName="/ppt/notesSlides/_rels/notesSlide94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67.xml.rels" ContentType="application/vnd.openxmlformats-package.relationships+xml"/>
  <Override PartName="/ppt/notesSlides/_rels/notesSlide42.xml.rels" ContentType="application/vnd.openxmlformats-package.relationships+xml"/>
  <Override PartName="/ppt/notesSlides/notesSlide73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5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</p:sldMasterIdLst>
  <p:notesMasterIdLst>
    <p:notesMasterId r:id="rId15"/>
  </p:notesMasterIdLst>
  <p:sldIdLst>
    <p:sldId id="256" r:id="rId16"/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  <p:sldId id="272" r:id="rId32"/>
    <p:sldId id="273" r:id="rId33"/>
    <p:sldId id="274" r:id="rId34"/>
    <p:sldId id="275" r:id="rId35"/>
    <p:sldId id="276" r:id="rId36"/>
    <p:sldId id="277" r:id="rId37"/>
    <p:sldId id="278" r:id="rId38"/>
    <p:sldId id="279" r:id="rId39"/>
    <p:sldId id="280" r:id="rId40"/>
    <p:sldId id="281" r:id="rId41"/>
    <p:sldId id="282" r:id="rId42"/>
    <p:sldId id="283" r:id="rId43"/>
    <p:sldId id="284" r:id="rId44"/>
    <p:sldId id="285" r:id="rId45"/>
    <p:sldId id="286" r:id="rId46"/>
    <p:sldId id="287" r:id="rId47"/>
    <p:sldId id="288" r:id="rId48"/>
    <p:sldId id="289" r:id="rId49"/>
    <p:sldId id="290" r:id="rId50"/>
    <p:sldId id="291" r:id="rId51"/>
    <p:sldId id="292" r:id="rId52"/>
    <p:sldId id="293" r:id="rId53"/>
    <p:sldId id="294" r:id="rId54"/>
    <p:sldId id="295" r:id="rId55"/>
    <p:sldId id="296" r:id="rId56"/>
    <p:sldId id="297" r:id="rId57"/>
    <p:sldId id="298" r:id="rId58"/>
    <p:sldId id="299" r:id="rId59"/>
    <p:sldId id="300" r:id="rId60"/>
    <p:sldId id="301" r:id="rId61"/>
    <p:sldId id="302" r:id="rId62"/>
    <p:sldId id="303" r:id="rId63"/>
    <p:sldId id="304" r:id="rId64"/>
    <p:sldId id="305" r:id="rId65"/>
    <p:sldId id="306" r:id="rId66"/>
    <p:sldId id="307" r:id="rId67"/>
    <p:sldId id="308" r:id="rId68"/>
    <p:sldId id="309" r:id="rId69"/>
    <p:sldId id="310" r:id="rId70"/>
    <p:sldId id="311" r:id="rId71"/>
    <p:sldId id="312" r:id="rId72"/>
    <p:sldId id="313" r:id="rId73"/>
    <p:sldId id="314" r:id="rId74"/>
    <p:sldId id="315" r:id="rId75"/>
    <p:sldId id="316" r:id="rId76"/>
    <p:sldId id="317" r:id="rId77"/>
    <p:sldId id="318" r:id="rId78"/>
    <p:sldId id="319" r:id="rId79"/>
    <p:sldId id="320" r:id="rId80"/>
    <p:sldId id="321" r:id="rId81"/>
    <p:sldId id="322" r:id="rId82"/>
    <p:sldId id="323" r:id="rId83"/>
    <p:sldId id="324" r:id="rId84"/>
    <p:sldId id="325" r:id="rId85"/>
    <p:sldId id="326" r:id="rId86"/>
    <p:sldId id="327" r:id="rId87"/>
    <p:sldId id="328" r:id="rId88"/>
    <p:sldId id="329" r:id="rId89"/>
    <p:sldId id="330" r:id="rId90"/>
    <p:sldId id="331" r:id="rId91"/>
    <p:sldId id="332" r:id="rId92"/>
    <p:sldId id="333" r:id="rId93"/>
    <p:sldId id="334" r:id="rId94"/>
    <p:sldId id="335" r:id="rId95"/>
    <p:sldId id="336" r:id="rId96"/>
    <p:sldId id="337" r:id="rId97"/>
    <p:sldId id="338" r:id="rId98"/>
    <p:sldId id="339" r:id="rId99"/>
    <p:sldId id="340" r:id="rId100"/>
    <p:sldId id="341" r:id="rId101"/>
    <p:sldId id="342" r:id="rId102"/>
    <p:sldId id="343" r:id="rId103"/>
    <p:sldId id="344" r:id="rId104"/>
    <p:sldId id="345" r:id="rId105"/>
    <p:sldId id="346" r:id="rId106"/>
    <p:sldId id="347" r:id="rId107"/>
    <p:sldId id="348" r:id="rId108"/>
    <p:sldId id="349" r:id="rId109"/>
    <p:sldId id="350" r:id="rId110"/>
    <p:sldId id="351" r:id="rId111"/>
    <p:sldId id="352" r:id="rId112"/>
    <p:sldId id="353" r:id="rId113"/>
    <p:sldId id="354" r:id="rId114"/>
    <p:sldId id="355" r:id="rId115"/>
    <p:sldId id="356" r:id="rId116"/>
    <p:sldId id="357" r:id="rId117"/>
    <p:sldId id="358" r:id="rId118"/>
    <p:sldId id="359" r:id="rId119"/>
    <p:sldId id="360" r:id="rId120"/>
    <p:sldId id="361" r:id="rId121"/>
    <p:sldId id="362" r:id="rId122"/>
    <p:sldId id="363" r:id="rId123"/>
    <p:sldId id="364" r:id="rId124"/>
    <p:sldId id="365" r:id="rId125"/>
    <p:sldId id="366" r:id="rId126"/>
    <p:sldId id="367" r:id="rId127"/>
    <p:sldId id="368" r:id="rId128"/>
    <p:sldId id="369" r:id="rId129"/>
    <p:sldId id="370" r:id="rId130"/>
    <p:sldId id="371" r:id="rId131"/>
    <p:sldId id="372" r:id="rId132"/>
    <p:sldId id="373" r:id="rId133"/>
    <p:sldId id="374" r:id="rId134"/>
    <p:sldId id="375" r:id="rId135"/>
    <p:sldId id="376" r:id="rId136"/>
    <p:sldId id="377" r:id="rId137"/>
    <p:sldId id="378" r:id="rId138"/>
    <p:sldId id="379" r:id="rId139"/>
    <p:sldId id="380" r:id="rId140"/>
    <p:sldId id="381" r:id="rId141"/>
    <p:sldId id="382" r:id="rId142"/>
    <p:sldId id="383" r:id="rId143"/>
    <p:sldId id="384" r:id="rId144"/>
    <p:sldId id="385" r:id="rId145"/>
    <p:sldId id="386" r:id="rId146"/>
    <p:sldId id="387" r:id="rId147"/>
    <p:sldId id="388" r:id="rId148"/>
    <p:sldId id="389" r:id="rId149"/>
    <p:sldId id="390" r:id="rId150"/>
    <p:sldId id="391" r:id="rId151"/>
    <p:sldId id="392" r:id="rId152"/>
    <p:sldId id="393" r:id="rId153"/>
    <p:sldId id="394" r:id="rId154"/>
    <p:sldId id="395" r:id="rId155"/>
    <p:sldId id="396" r:id="rId156"/>
    <p:sldId id="397" r:id="rId157"/>
    <p:sldId id="398" r:id="rId158"/>
    <p:sldId id="399" r:id="rId159"/>
    <p:sldId id="400" r:id="rId160"/>
    <p:sldId id="401" r:id="rId161"/>
    <p:sldId id="402" r:id="rId162"/>
    <p:sldId id="403" r:id="rId163"/>
    <p:sldId id="404" r:id="rId164"/>
    <p:sldId id="405" r:id="rId165"/>
    <p:sldId id="406" r:id="rId166"/>
    <p:sldId id="407" r:id="rId167"/>
    <p:sldId id="408" r:id="rId168"/>
    <p:sldId id="409" r:id="rId169"/>
    <p:sldId id="410" r:id="rId17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Relationship Id="rId69" Type="http://schemas.openxmlformats.org/officeDocument/2006/relationships/slide" Target="slides/slide54.xml"/><Relationship Id="rId70" Type="http://schemas.openxmlformats.org/officeDocument/2006/relationships/slide" Target="slides/slide55.xml"/><Relationship Id="rId71" Type="http://schemas.openxmlformats.org/officeDocument/2006/relationships/slide" Target="slides/slide56.xml"/><Relationship Id="rId72" Type="http://schemas.openxmlformats.org/officeDocument/2006/relationships/slide" Target="slides/slide57.xml"/><Relationship Id="rId73" Type="http://schemas.openxmlformats.org/officeDocument/2006/relationships/slide" Target="slides/slide58.xml"/><Relationship Id="rId74" Type="http://schemas.openxmlformats.org/officeDocument/2006/relationships/slide" Target="slides/slide59.xml"/><Relationship Id="rId75" Type="http://schemas.openxmlformats.org/officeDocument/2006/relationships/slide" Target="slides/slide60.xml"/><Relationship Id="rId76" Type="http://schemas.openxmlformats.org/officeDocument/2006/relationships/slide" Target="slides/slide61.xml"/><Relationship Id="rId77" Type="http://schemas.openxmlformats.org/officeDocument/2006/relationships/slide" Target="slides/slide62.xml"/><Relationship Id="rId78" Type="http://schemas.openxmlformats.org/officeDocument/2006/relationships/slide" Target="slides/slide63.xml"/><Relationship Id="rId79" Type="http://schemas.openxmlformats.org/officeDocument/2006/relationships/slide" Target="slides/slide64.xml"/><Relationship Id="rId80" Type="http://schemas.openxmlformats.org/officeDocument/2006/relationships/slide" Target="slides/slide65.xml"/><Relationship Id="rId81" Type="http://schemas.openxmlformats.org/officeDocument/2006/relationships/slide" Target="slides/slide66.xml"/><Relationship Id="rId82" Type="http://schemas.openxmlformats.org/officeDocument/2006/relationships/slide" Target="slides/slide67.xml"/><Relationship Id="rId83" Type="http://schemas.openxmlformats.org/officeDocument/2006/relationships/slide" Target="slides/slide68.xml"/><Relationship Id="rId84" Type="http://schemas.openxmlformats.org/officeDocument/2006/relationships/slide" Target="slides/slide69.xml"/><Relationship Id="rId85" Type="http://schemas.openxmlformats.org/officeDocument/2006/relationships/slide" Target="slides/slide70.xml"/><Relationship Id="rId86" Type="http://schemas.openxmlformats.org/officeDocument/2006/relationships/slide" Target="slides/slide71.xml"/><Relationship Id="rId87" Type="http://schemas.openxmlformats.org/officeDocument/2006/relationships/slide" Target="slides/slide72.xml"/><Relationship Id="rId88" Type="http://schemas.openxmlformats.org/officeDocument/2006/relationships/slide" Target="slides/slide73.xml"/><Relationship Id="rId89" Type="http://schemas.openxmlformats.org/officeDocument/2006/relationships/slide" Target="slides/slide74.xml"/><Relationship Id="rId90" Type="http://schemas.openxmlformats.org/officeDocument/2006/relationships/slide" Target="slides/slide75.xml"/><Relationship Id="rId91" Type="http://schemas.openxmlformats.org/officeDocument/2006/relationships/slide" Target="slides/slide76.xml"/><Relationship Id="rId92" Type="http://schemas.openxmlformats.org/officeDocument/2006/relationships/slide" Target="slides/slide77.xml"/><Relationship Id="rId93" Type="http://schemas.openxmlformats.org/officeDocument/2006/relationships/slide" Target="slides/slide78.xml"/><Relationship Id="rId94" Type="http://schemas.openxmlformats.org/officeDocument/2006/relationships/slide" Target="slides/slide79.xml"/><Relationship Id="rId95" Type="http://schemas.openxmlformats.org/officeDocument/2006/relationships/slide" Target="slides/slide80.xml"/><Relationship Id="rId96" Type="http://schemas.openxmlformats.org/officeDocument/2006/relationships/slide" Target="slides/slide81.xml"/><Relationship Id="rId97" Type="http://schemas.openxmlformats.org/officeDocument/2006/relationships/slide" Target="slides/slide82.xml"/><Relationship Id="rId98" Type="http://schemas.openxmlformats.org/officeDocument/2006/relationships/slide" Target="slides/slide83.xml"/><Relationship Id="rId99" Type="http://schemas.openxmlformats.org/officeDocument/2006/relationships/slide" Target="slides/slide84.xml"/><Relationship Id="rId100" Type="http://schemas.openxmlformats.org/officeDocument/2006/relationships/slide" Target="slides/slide85.xml"/><Relationship Id="rId101" Type="http://schemas.openxmlformats.org/officeDocument/2006/relationships/slide" Target="slides/slide86.xml"/><Relationship Id="rId102" Type="http://schemas.openxmlformats.org/officeDocument/2006/relationships/slide" Target="slides/slide87.xml"/><Relationship Id="rId103" Type="http://schemas.openxmlformats.org/officeDocument/2006/relationships/slide" Target="slides/slide88.xml"/><Relationship Id="rId104" Type="http://schemas.openxmlformats.org/officeDocument/2006/relationships/slide" Target="slides/slide89.xml"/><Relationship Id="rId105" Type="http://schemas.openxmlformats.org/officeDocument/2006/relationships/slide" Target="slides/slide90.xml"/><Relationship Id="rId106" Type="http://schemas.openxmlformats.org/officeDocument/2006/relationships/slide" Target="slides/slide91.xml"/><Relationship Id="rId107" Type="http://schemas.openxmlformats.org/officeDocument/2006/relationships/slide" Target="slides/slide92.xml"/><Relationship Id="rId108" Type="http://schemas.openxmlformats.org/officeDocument/2006/relationships/slide" Target="slides/slide93.xml"/><Relationship Id="rId109" Type="http://schemas.openxmlformats.org/officeDocument/2006/relationships/slide" Target="slides/slide94.xml"/><Relationship Id="rId110" Type="http://schemas.openxmlformats.org/officeDocument/2006/relationships/slide" Target="slides/slide95.xml"/><Relationship Id="rId111" Type="http://schemas.openxmlformats.org/officeDocument/2006/relationships/slide" Target="slides/slide96.xml"/><Relationship Id="rId112" Type="http://schemas.openxmlformats.org/officeDocument/2006/relationships/slide" Target="slides/slide97.xml"/><Relationship Id="rId113" Type="http://schemas.openxmlformats.org/officeDocument/2006/relationships/slide" Target="slides/slide98.xml"/><Relationship Id="rId114" Type="http://schemas.openxmlformats.org/officeDocument/2006/relationships/slide" Target="slides/slide99.xml"/><Relationship Id="rId115" Type="http://schemas.openxmlformats.org/officeDocument/2006/relationships/slide" Target="slides/slide100.xml"/><Relationship Id="rId116" Type="http://schemas.openxmlformats.org/officeDocument/2006/relationships/slide" Target="slides/slide101.xml"/><Relationship Id="rId117" Type="http://schemas.openxmlformats.org/officeDocument/2006/relationships/slide" Target="slides/slide102.xml"/><Relationship Id="rId118" Type="http://schemas.openxmlformats.org/officeDocument/2006/relationships/slide" Target="slides/slide103.xml"/><Relationship Id="rId119" Type="http://schemas.openxmlformats.org/officeDocument/2006/relationships/slide" Target="slides/slide104.xml"/><Relationship Id="rId120" Type="http://schemas.openxmlformats.org/officeDocument/2006/relationships/slide" Target="slides/slide105.xml"/><Relationship Id="rId121" Type="http://schemas.openxmlformats.org/officeDocument/2006/relationships/slide" Target="slides/slide106.xml"/><Relationship Id="rId122" Type="http://schemas.openxmlformats.org/officeDocument/2006/relationships/slide" Target="slides/slide107.xml"/><Relationship Id="rId123" Type="http://schemas.openxmlformats.org/officeDocument/2006/relationships/slide" Target="slides/slide108.xml"/><Relationship Id="rId124" Type="http://schemas.openxmlformats.org/officeDocument/2006/relationships/slide" Target="slides/slide109.xml"/><Relationship Id="rId125" Type="http://schemas.openxmlformats.org/officeDocument/2006/relationships/slide" Target="slides/slide110.xml"/><Relationship Id="rId126" Type="http://schemas.openxmlformats.org/officeDocument/2006/relationships/slide" Target="slides/slide111.xml"/><Relationship Id="rId127" Type="http://schemas.openxmlformats.org/officeDocument/2006/relationships/slide" Target="slides/slide112.xml"/><Relationship Id="rId128" Type="http://schemas.openxmlformats.org/officeDocument/2006/relationships/slide" Target="slides/slide113.xml"/><Relationship Id="rId129" Type="http://schemas.openxmlformats.org/officeDocument/2006/relationships/slide" Target="slides/slide114.xml"/><Relationship Id="rId130" Type="http://schemas.openxmlformats.org/officeDocument/2006/relationships/slide" Target="slides/slide115.xml"/><Relationship Id="rId131" Type="http://schemas.openxmlformats.org/officeDocument/2006/relationships/slide" Target="slides/slide116.xml"/><Relationship Id="rId132" Type="http://schemas.openxmlformats.org/officeDocument/2006/relationships/slide" Target="slides/slide117.xml"/><Relationship Id="rId133" Type="http://schemas.openxmlformats.org/officeDocument/2006/relationships/slide" Target="slides/slide118.xml"/><Relationship Id="rId134" Type="http://schemas.openxmlformats.org/officeDocument/2006/relationships/slide" Target="slides/slide119.xml"/><Relationship Id="rId135" Type="http://schemas.openxmlformats.org/officeDocument/2006/relationships/slide" Target="slides/slide120.xml"/><Relationship Id="rId136" Type="http://schemas.openxmlformats.org/officeDocument/2006/relationships/slide" Target="slides/slide121.xml"/><Relationship Id="rId137" Type="http://schemas.openxmlformats.org/officeDocument/2006/relationships/slide" Target="slides/slide122.xml"/><Relationship Id="rId138" Type="http://schemas.openxmlformats.org/officeDocument/2006/relationships/slide" Target="slides/slide123.xml"/><Relationship Id="rId139" Type="http://schemas.openxmlformats.org/officeDocument/2006/relationships/slide" Target="slides/slide124.xml"/><Relationship Id="rId140" Type="http://schemas.openxmlformats.org/officeDocument/2006/relationships/slide" Target="slides/slide125.xml"/><Relationship Id="rId141" Type="http://schemas.openxmlformats.org/officeDocument/2006/relationships/slide" Target="slides/slide126.xml"/><Relationship Id="rId142" Type="http://schemas.openxmlformats.org/officeDocument/2006/relationships/slide" Target="slides/slide127.xml"/><Relationship Id="rId143" Type="http://schemas.openxmlformats.org/officeDocument/2006/relationships/slide" Target="slides/slide128.xml"/><Relationship Id="rId144" Type="http://schemas.openxmlformats.org/officeDocument/2006/relationships/slide" Target="slides/slide129.xml"/><Relationship Id="rId145" Type="http://schemas.openxmlformats.org/officeDocument/2006/relationships/slide" Target="slides/slide130.xml"/><Relationship Id="rId146" Type="http://schemas.openxmlformats.org/officeDocument/2006/relationships/slide" Target="slides/slide131.xml"/><Relationship Id="rId147" Type="http://schemas.openxmlformats.org/officeDocument/2006/relationships/slide" Target="slides/slide132.xml"/><Relationship Id="rId148" Type="http://schemas.openxmlformats.org/officeDocument/2006/relationships/slide" Target="slides/slide133.xml"/><Relationship Id="rId149" Type="http://schemas.openxmlformats.org/officeDocument/2006/relationships/slide" Target="slides/slide134.xml"/><Relationship Id="rId150" Type="http://schemas.openxmlformats.org/officeDocument/2006/relationships/slide" Target="slides/slide135.xml"/><Relationship Id="rId151" Type="http://schemas.openxmlformats.org/officeDocument/2006/relationships/slide" Target="slides/slide136.xml"/><Relationship Id="rId152" Type="http://schemas.openxmlformats.org/officeDocument/2006/relationships/slide" Target="slides/slide137.xml"/><Relationship Id="rId153" Type="http://schemas.openxmlformats.org/officeDocument/2006/relationships/slide" Target="slides/slide138.xml"/><Relationship Id="rId154" Type="http://schemas.openxmlformats.org/officeDocument/2006/relationships/slide" Target="slides/slide139.xml"/><Relationship Id="rId155" Type="http://schemas.openxmlformats.org/officeDocument/2006/relationships/slide" Target="slides/slide140.xml"/><Relationship Id="rId156" Type="http://schemas.openxmlformats.org/officeDocument/2006/relationships/slide" Target="slides/slide141.xml"/><Relationship Id="rId157" Type="http://schemas.openxmlformats.org/officeDocument/2006/relationships/slide" Target="slides/slide142.xml"/><Relationship Id="rId158" Type="http://schemas.openxmlformats.org/officeDocument/2006/relationships/slide" Target="slides/slide143.xml"/><Relationship Id="rId159" Type="http://schemas.openxmlformats.org/officeDocument/2006/relationships/slide" Target="slides/slide144.xml"/><Relationship Id="rId160" Type="http://schemas.openxmlformats.org/officeDocument/2006/relationships/slide" Target="slides/slide145.xml"/><Relationship Id="rId161" Type="http://schemas.openxmlformats.org/officeDocument/2006/relationships/slide" Target="slides/slide146.xml"/><Relationship Id="rId162" Type="http://schemas.openxmlformats.org/officeDocument/2006/relationships/slide" Target="slides/slide147.xml"/><Relationship Id="rId163" Type="http://schemas.openxmlformats.org/officeDocument/2006/relationships/slide" Target="slides/slide148.xml"/><Relationship Id="rId164" Type="http://schemas.openxmlformats.org/officeDocument/2006/relationships/slide" Target="slides/slide149.xml"/><Relationship Id="rId165" Type="http://schemas.openxmlformats.org/officeDocument/2006/relationships/slide" Target="slides/slide150.xml"/><Relationship Id="rId166" Type="http://schemas.openxmlformats.org/officeDocument/2006/relationships/slide" Target="slides/slide151.xml"/><Relationship Id="rId167" Type="http://schemas.openxmlformats.org/officeDocument/2006/relationships/slide" Target="slides/slide152.xml"/><Relationship Id="rId168" Type="http://schemas.openxmlformats.org/officeDocument/2006/relationships/slide" Target="slides/slide153.xml"/><Relationship Id="rId169" Type="http://schemas.openxmlformats.org/officeDocument/2006/relationships/slide" Target="slides/slide154.xml"/><Relationship Id="rId170" Type="http://schemas.openxmlformats.org/officeDocument/2006/relationships/slide" Target="slides/slide155.xml"/><Relationship Id="rId17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mover o slide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Clique para editar o formato de notas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DDE86A1-DBFB-4A21-B860-240CC0AE56CD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49.xml.rels><?xml version="1.0" encoding="UTF-8"?>
<Relationships xmlns="http://schemas.openxmlformats.org/package/2006/relationships"><Relationship Id="rId1" Type="http://schemas.openxmlformats.org/officeDocument/2006/relationships/slide" Target="../slides/slide149.xml"/><Relationship Id="rId2" Type="http://schemas.openxmlformats.org/officeDocument/2006/relationships/notesMaster" Target="../notesMasters/notesMaster1.xml"/>
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0E5C61-55CF-4ACD-9522-90771EFDCFEB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3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99DCB9-6B9D-4E0D-B2FC-93896B43D6C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3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FA43B1-CEC1-497C-9B5B-CFB9A3A1000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4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96D379-8C57-4201-A2B7-0731D938491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4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661F60-8783-475C-A6B5-15D47283078C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4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1EBEB1-51DD-47F0-A664-8FF60ABDB97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5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1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F7C030-E70B-4456-9190-B0AF59A26CCE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5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F5E3DC-D20C-49A5-9DAA-4F8B1BE0752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5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7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CD1B9E-6164-463E-B4EF-3E07BFEAC60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5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0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0B969E-5B50-4098-8B37-3B2B36580C6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6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3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63BC2C-E1BA-42C7-ACFE-9F25963BC40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6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5BA72E-C976-4D0F-9CDA-47A21382BB4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9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2B3360-AAA3-4C2B-B80C-F557BD6FE1C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2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14007A-6F7C-4ADB-A135-7776AD422C5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5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C401C5-5698-48B9-878D-C329C009836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8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FFCF3B-5695-4974-A834-F1929CAC4B2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1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B032FE3-0D16-4817-95AF-240EEBC6DCCC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4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A5574A-AA00-4DCA-9A59-0A03BC2FE68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7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E2073B-241B-4B31-A508-D943D3075E4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0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A67565-D9BB-455F-9E80-DA2C44F2ED7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3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1E2CFC-DC7E-45E6-9143-8EC8AE251D8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6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527E54-763F-4B9F-8CEE-251FB3C1CDCE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1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9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9E39B5-5F7E-4066-91A5-E6D8943CCDC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2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CE0003D-1D8E-4A43-8988-FD5E66E906A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5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D3B5D5-FBE2-4DC2-8238-36F4EE83E09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8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21E0A7-A55C-4F18-ADB7-9ADB3188DD37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1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E2E230-E898-46FF-8219-EC1C019F361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4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94AE6F-6BB1-485D-8C34-A8606D2B0D9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7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358EDD-C47E-4DC0-9E03-0A9BFD44CDD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0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336915-0CE4-41DF-AE57-F46F39B7FD8E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3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C714C2-BA89-4D01-8791-028D9E32E01B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6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5967E5-DE41-4561-B950-47EB51F1855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9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014661-250C-4CF3-B31B-DB34C2201CA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2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BC8680-99D0-44E0-9D76-E79DC7CF838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3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5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9FE35A-BC42-449B-96A6-8284438B14B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3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8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2FA4C2-0921-4FAC-9DA0-BC663C17D0DC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4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1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F1E9FA-E9D8-41CF-9BA5-640253A1DC4B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4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4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DF397F-0A62-41EC-8004-1A86FF621EF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4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7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3EB01E-372F-43D5-987B-A17B93EF3DB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4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0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B6D623-ED94-4EF3-A0D6-957E51055A1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5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3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62A6F5-F0A8-4F50-94BC-FEAB821277E2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5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6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7C1594-4703-4F9A-B6B9-F4599557FEDF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5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9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552797-824C-4C8B-886C-7FF12529FBB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6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2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13CE2A-C0D1-4B43-9D22-AD35E9E9E6E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6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5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AD42D7-B612-4ACF-B061-58B08C569BDF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6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8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FBE06A-DD24-48FB-8896-2C72AB87A29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7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1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715E26-EF9A-40C2-894A-03BC1F69A9E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7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4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36C064-6165-494A-986F-7549CB7B099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7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7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782045-BCC0-4C1D-A3A8-A54860FE987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27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0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A23BDF-74B7-45CF-AEAC-26B927B7881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1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282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Fontes e apoio: GitHub Actions Docs — workflow syntax and concepts; npm Docs — npm ci.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3" name="PlaceHolder 3"/>
          <p:cNvSpPr>
            <a:spLocks noGrp="1"/>
          </p:cNvSpPr>
          <p:nvPr>
            <p:ph type="sldNum" idx="90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BE7BC5-FE1F-436E-82F3-BBC7A0DF60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4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285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Fontes e apoio: GitHub Actions Docs — workflows run on configurable events and jobs.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6" name="PlaceHolder 3"/>
          <p:cNvSpPr>
            <a:spLocks noGrp="1"/>
          </p:cNvSpPr>
          <p:nvPr>
            <p:ph type="sldNum" idx="91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F15FFA-367E-44EB-96BD-A4B8CB8E88A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7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288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9" name="PlaceHolder 3"/>
          <p:cNvSpPr>
            <a:spLocks noGrp="1"/>
          </p:cNvSpPr>
          <p:nvPr>
            <p:ph type="sldNum" idx="92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494D58-6BE9-4023-A242-D949370ACD7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0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291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2" name="PlaceHolder 3"/>
          <p:cNvSpPr>
            <a:spLocks noGrp="1"/>
          </p:cNvSpPr>
          <p:nvPr>
            <p:ph type="sldNum" idx="93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4016C0-9862-422E-9281-B8EE878461A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3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294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Fontes e apoio: GitHub Actions Docs — workflow syntax: jobs, runs-on and steps.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5" name="PlaceHolder 3"/>
          <p:cNvSpPr>
            <a:spLocks noGrp="1"/>
          </p:cNvSpPr>
          <p:nvPr>
            <p:ph type="sldNum" idx="94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56E081-140E-4A8C-9518-1576DC3EA23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6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297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Fontes e apoio: GitHub Actions Docs — workflow syntax and examples.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8" name="PlaceHolder 3"/>
          <p:cNvSpPr>
            <a:spLocks noGrp="1"/>
          </p:cNvSpPr>
          <p:nvPr>
            <p:ph type="sldNum" idx="95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FAD772-8F56-430B-AB9B-1D7786897FC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9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00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Fontes e apoio: GitHub Actions Docs — workflow events and workflow syntax.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1" name="PlaceHolder 3"/>
          <p:cNvSpPr>
            <a:spLocks noGrp="1"/>
          </p:cNvSpPr>
          <p:nvPr>
            <p:ph type="sldNum" idx="96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4879C6-5C45-494D-B625-79A280B52A0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2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03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Fontes e apoio: GitHub Actions Docs — jobs.&lt;job_id&gt;.runs-on and jobs.&lt;job_id&gt;.steps.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4" name="PlaceHolder 3"/>
          <p:cNvSpPr>
            <a:spLocks noGrp="1"/>
          </p:cNvSpPr>
          <p:nvPr>
            <p:ph type="sldNum" idx="97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1AE9E5-CDB6-46E7-9AD6-6CEE122C845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5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06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Fontes e apoio: npm Docs — npm ci; npm Docs — npm run-script.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7" name="PlaceHolder 3"/>
          <p:cNvSpPr>
            <a:spLocks noGrp="1"/>
          </p:cNvSpPr>
          <p:nvPr>
            <p:ph type="sldNum" idx="98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4EE62C-38E4-4FE9-AAC6-38BD88A022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8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09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Fontes e apoio: npm Docs — npm ci description and differences from npm install.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0" name="PlaceHolder 3"/>
          <p:cNvSpPr>
            <a:spLocks noGrp="1"/>
          </p:cNvSpPr>
          <p:nvPr>
            <p:ph type="sldNum" idx="99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F14AE1-8547-40CC-940E-05B03E294F9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1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12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3" name="PlaceHolder 3"/>
          <p:cNvSpPr>
            <a:spLocks noGrp="1"/>
          </p:cNvSpPr>
          <p:nvPr>
            <p:ph type="sldNum" idx="100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122E5E-172C-4FCF-A537-0E628867DE0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4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15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6" name="PlaceHolder 3"/>
          <p:cNvSpPr>
            <a:spLocks noGrp="1"/>
          </p:cNvSpPr>
          <p:nvPr>
            <p:ph type="sldNum" idx="101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E46A6E-9FED-419D-A145-68B2CBA991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7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18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9" name="PlaceHolder 3"/>
          <p:cNvSpPr>
            <a:spLocks noGrp="1"/>
          </p:cNvSpPr>
          <p:nvPr>
            <p:ph type="sldNum" idx="102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6E548C-FC66-4E13-B700-0F41310604B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0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21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2" name="PlaceHolder 3"/>
          <p:cNvSpPr>
            <a:spLocks noGrp="1"/>
          </p:cNvSpPr>
          <p:nvPr>
            <p:ph type="sldNum" idx="103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2C56F4-DB23-41A8-87A6-421B26D041F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3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24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5" name="PlaceHolder 3"/>
          <p:cNvSpPr>
            <a:spLocks noGrp="1"/>
          </p:cNvSpPr>
          <p:nvPr>
            <p:ph type="sldNum" idx="104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01453A-924A-44E4-A00E-D3DB523B8B8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6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27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8" name="PlaceHolder 3"/>
          <p:cNvSpPr>
            <a:spLocks noGrp="1"/>
          </p:cNvSpPr>
          <p:nvPr>
            <p:ph type="sldNum" idx="105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1DBE89-6CAD-4F33-8EF8-54DF3B49F89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9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30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1" name="PlaceHolder 3"/>
          <p:cNvSpPr>
            <a:spLocks noGrp="1"/>
          </p:cNvSpPr>
          <p:nvPr>
            <p:ph type="sldNum" idx="106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8A7AD2-D1EE-484F-AE27-077B1AFC0B4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2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33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4" name="PlaceHolder 3"/>
          <p:cNvSpPr>
            <a:spLocks noGrp="1"/>
          </p:cNvSpPr>
          <p:nvPr>
            <p:ph type="sldNum" idx="107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31B0B3-5E26-4D7A-A602-A3C037D7284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5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36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7" name="PlaceHolder 3"/>
          <p:cNvSpPr>
            <a:spLocks noGrp="1"/>
          </p:cNvSpPr>
          <p:nvPr>
            <p:ph type="sldNum" idx="108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2EC416-D673-4460-BBC2-2D3ADF1A4A3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8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39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0" name="PlaceHolder 3"/>
          <p:cNvSpPr>
            <a:spLocks noGrp="1"/>
          </p:cNvSpPr>
          <p:nvPr>
            <p:ph type="sldNum" idx="109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85C77F-300C-47A9-A47A-C5DF03808BC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1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42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3" name="PlaceHolder 3"/>
          <p:cNvSpPr>
            <a:spLocks noGrp="1"/>
          </p:cNvSpPr>
          <p:nvPr>
            <p:ph type="sldNum" idx="110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FE0570-5A91-4534-92F0-BCF7F84DDA6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4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45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6" name="PlaceHolder 3"/>
          <p:cNvSpPr>
            <a:spLocks noGrp="1"/>
          </p:cNvSpPr>
          <p:nvPr>
            <p:ph type="sldNum" idx="111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96FCC5-2C2A-426C-83BE-91AC3AE6435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7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48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9" name="PlaceHolder 3"/>
          <p:cNvSpPr>
            <a:spLocks noGrp="1"/>
          </p:cNvSpPr>
          <p:nvPr>
            <p:ph type="sldNum" idx="112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24FBF8-DB25-46A0-8F6F-BBFC5655AD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0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51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2" name="PlaceHolder 3"/>
          <p:cNvSpPr>
            <a:spLocks noGrp="1"/>
          </p:cNvSpPr>
          <p:nvPr>
            <p:ph type="sldNum" idx="113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4E8D74-F061-4AA2-8CB3-9EDCF501A82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3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54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5" name="PlaceHolder 3"/>
          <p:cNvSpPr>
            <a:spLocks noGrp="1"/>
          </p:cNvSpPr>
          <p:nvPr>
            <p:ph type="sldNum" idx="114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1FF1E8-3DFB-4A44-BCBF-6DFF4A010D0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6" name="PlaceHolder 1"/>
          <p:cNvSpPr>
            <a:spLocks noGrp="1"/>
          </p:cNvSpPr>
          <p:nvPr>
            <p:ph type="sldImg"/>
          </p:nvPr>
        </p:nvSpPr>
        <p:spPr>
          <a:xfrm>
            <a:off x="755640" y="1002240"/>
            <a:ext cx="6047280" cy="2706120"/>
          </a:xfrm>
          <a:prstGeom prst="rect">
            <a:avLst/>
          </a:prstGeom>
          <a:ln w="0">
            <a:noFill/>
          </a:ln>
        </p:spPr>
      </p:sp>
      <p:sp>
        <p:nvSpPr>
          <p:cNvPr id="3357" name="PlaceHolder 2"/>
          <p:cNvSpPr>
            <a:spLocks noGrp="1"/>
          </p:cNvSpPr>
          <p:nvPr>
            <p:ph type="body"/>
          </p:nvPr>
        </p:nvSpPr>
        <p:spPr>
          <a:xfrm>
            <a:off x="755640" y="3858840"/>
            <a:ext cx="6047280" cy="31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8" name="PlaceHolder 3"/>
          <p:cNvSpPr>
            <a:spLocks noGrp="1"/>
          </p:cNvSpPr>
          <p:nvPr>
            <p:ph type="sldNum" idx="115"/>
          </p:nvPr>
        </p:nvSpPr>
        <p:spPr>
          <a:xfrm>
            <a:off x="4282200" y="7616520"/>
            <a:ext cx="3275280" cy="40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1227C0-9F79-47DB-B445-72914DA5E22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336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1" name="PlaceHolder 3"/>
          <p:cNvSpPr>
            <a:spLocks noGrp="1"/>
          </p:cNvSpPr>
          <p:nvPr>
            <p:ph type="sldNum" idx="11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5F3F66-99E7-4A35-A3A3-EAEE8A45AD0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8B6D61C-F334-430F-B1C4-20A81F584C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adr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9C78721-130B-4E3F-AB9B-05D7863E81D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0E1C589-ACF7-4809-8AA2-ABD331C4E6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55DF70E-B2B8-421F-9DC9-14AB2166B1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527EEB4-1E48-43A0-8B7A-DED8A9F596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E701D04-6ADB-4E33-B654-D2AF90127EA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C9B359A-B76C-4D66-9E87-741D4F7830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769396B-F904-41B0-B258-E1986DB482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556A23F-912E-4FA9-A8A8-5499E58F9E7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BC50F77-3936-4439-AD96-57EEDDBCFB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08C87FC-6E87-46E3-9544-739F046624C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6CE4B87-6019-4739-AD60-D23B8A3718B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9A5D23D-8D87-46EE-8A36-EEACD072525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75DDB37-ED10-4BC3-9888-81F84EAECEC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975F997-E6E9-4800-85FB-02142D3B33B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065FE50-892C-46F4-B583-B8DE205D14D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FDC449A-5B9D-4C4C-9152-D0B89E92B93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891D63C-C7AB-438F-94AD-C7711487A23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FF47F75-27C9-4FC9-B628-76AE5519BC1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14845F3-1799-4AF4-85F5-985D4C86593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B673C89-8F9E-4D43-BB1D-D45E488955B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5DE24BE-5502-44F8-9AE6-452674B8141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6BAAF24-8226-4B3F-A402-BFC5D22C96A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D53D980-79E1-408F-9635-90CA257EFE1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580" spc="-1" strike="noStrike">
                <a:solidFill>
                  <a:schemeClr val="dk1"/>
                </a:solidFill>
                <a:latin typeface="Aptos"/>
              </a:rPr>
              <a:t>Clique para editar o formato do texto do título</a:t>
            </a:r>
            <a:endParaRPr b="0" lang="pt-BR" sz="158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chemeClr val="dk1"/>
                </a:solidFill>
                <a:latin typeface="Aptos"/>
              </a:rPr>
              <a:t>Clique para editar o formato de texto dos tópicos</a:t>
            </a:r>
            <a:endParaRPr b="0" lang="pt-BR" sz="32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chemeClr val="dk1"/>
                </a:solidFill>
                <a:latin typeface="Aptos"/>
              </a:rPr>
              <a:t>2.º nível de tópicos</a:t>
            </a:r>
            <a:endParaRPr b="0" lang="pt-BR" sz="24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chemeClr val="dk1"/>
                </a:solidFill>
                <a:latin typeface="Aptos"/>
              </a:rPr>
              <a:t>3.º nível de tópicos</a:t>
            </a:r>
            <a:endParaRPr b="0" lang="pt-BR" sz="20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chemeClr val="dk1"/>
                </a:solidFill>
                <a:latin typeface="Aptos"/>
              </a:rPr>
              <a:t>4.º nível de tópicos</a:t>
            </a:r>
            <a:endParaRPr b="0" lang="pt-BR" sz="20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chemeClr val="dk1"/>
                </a:solidFill>
                <a:latin typeface="Aptos"/>
              </a:rPr>
              <a:t>5.º nível de tópicos</a:t>
            </a:r>
            <a:endParaRPr b="0" lang="pt-BR" sz="20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chemeClr val="dk1"/>
                </a:solidFill>
                <a:latin typeface="Aptos"/>
              </a:rPr>
              <a:t>6.º nível de tópicos</a:t>
            </a:r>
            <a:endParaRPr b="0" lang="pt-BR" sz="20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chemeClr val="dk1"/>
                </a:solidFill>
                <a:latin typeface="Aptos"/>
              </a:rPr>
              <a:t>7.º nível de tópicos</a:t>
            </a:r>
            <a:endParaRPr b="0" lang="pt-BR" sz="20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5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6.png"/><Relationship Id="rId15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0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0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0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9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9.jpeg"/><Relationship Id="rId3" Type="http://schemas.openxmlformats.org/officeDocument/2006/relationships/image" Target="../media/image40.jpeg"/><Relationship Id="rId4" Type="http://schemas.openxmlformats.org/officeDocument/2006/relationships/image" Target="../media/image41.jpeg"/><Relationship Id="rId5" Type="http://schemas.openxmlformats.org/officeDocument/2006/relationships/image" Target="../media/image42.jpe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0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3.jpeg"/><Relationship Id="rId3" Type="http://schemas.openxmlformats.org/officeDocument/2006/relationships/image" Target="../media/image44.jpeg"/><Relationship Id="rId4" Type="http://schemas.openxmlformats.org/officeDocument/2006/relationships/image" Target="../media/image45.jpe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731520" y="1005840"/>
            <a:ext cx="1060488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ffffff"/>
                </a:solidFill>
                <a:latin typeface="Aptos"/>
              </a:rPr>
              <a:t>Desenvolvimento de Software Integrado - DevOps</a:t>
            </a:r>
            <a:endParaRPr b="0" lang="pt-BR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Box 2"/>
          <p:cNvSpPr/>
          <p:nvPr/>
        </p:nvSpPr>
        <p:spPr>
          <a:xfrm>
            <a:off x="1508760" y="1737360"/>
            <a:ext cx="914184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ae5ed"/>
                </a:solidFill>
                <a:latin typeface="Aptos"/>
              </a:rPr>
              <a:t>Slides da disciplina | Turma 4 - Z251 | Semestre 2026.2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Rounded Rectangle 3"/>
          <p:cNvSpPr/>
          <p:nvPr/>
        </p:nvSpPr>
        <p:spPr>
          <a:xfrm>
            <a:off x="914400" y="3246120"/>
            <a:ext cx="985320" cy="52812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" name="TextBox 4"/>
          <p:cNvSpPr/>
          <p:nvPr/>
        </p:nvSpPr>
        <p:spPr>
          <a:xfrm>
            <a:off x="914400" y="3401640"/>
            <a:ext cx="98532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Rounded Rectangle 5"/>
          <p:cNvSpPr/>
          <p:nvPr/>
        </p:nvSpPr>
        <p:spPr>
          <a:xfrm>
            <a:off x="2212920" y="3246120"/>
            <a:ext cx="985320" cy="52812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6"/>
          <p:cNvSpPr/>
          <p:nvPr/>
        </p:nvSpPr>
        <p:spPr>
          <a:xfrm>
            <a:off x="2212920" y="3401640"/>
            <a:ext cx="98532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Rounded Rectangle 7"/>
          <p:cNvSpPr/>
          <p:nvPr/>
        </p:nvSpPr>
        <p:spPr>
          <a:xfrm>
            <a:off x="3511440" y="3246120"/>
            <a:ext cx="985320" cy="52812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TextBox 8"/>
          <p:cNvSpPr/>
          <p:nvPr/>
        </p:nvSpPr>
        <p:spPr>
          <a:xfrm>
            <a:off x="3511440" y="3401640"/>
            <a:ext cx="98532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Rounded Rectangle 9"/>
          <p:cNvSpPr/>
          <p:nvPr/>
        </p:nvSpPr>
        <p:spPr>
          <a:xfrm>
            <a:off x="4809600" y="3246120"/>
            <a:ext cx="985320" cy="52812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4809600" y="3401640"/>
            <a:ext cx="98532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Rounded Rectangle 11"/>
          <p:cNvSpPr/>
          <p:nvPr/>
        </p:nvSpPr>
        <p:spPr>
          <a:xfrm>
            <a:off x="6108120" y="3246120"/>
            <a:ext cx="985320" cy="52812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12"/>
          <p:cNvSpPr/>
          <p:nvPr/>
        </p:nvSpPr>
        <p:spPr>
          <a:xfrm>
            <a:off x="6108120" y="3401640"/>
            <a:ext cx="98532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Rounded Rectangle 13"/>
          <p:cNvSpPr/>
          <p:nvPr/>
        </p:nvSpPr>
        <p:spPr>
          <a:xfrm>
            <a:off x="7406640" y="3246120"/>
            <a:ext cx="985320" cy="52812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14"/>
          <p:cNvSpPr/>
          <p:nvPr/>
        </p:nvSpPr>
        <p:spPr>
          <a:xfrm>
            <a:off x="7406640" y="3401640"/>
            <a:ext cx="98532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Rounded Rectangle 15"/>
          <p:cNvSpPr/>
          <p:nvPr/>
        </p:nvSpPr>
        <p:spPr>
          <a:xfrm>
            <a:off x="8705160" y="3246120"/>
            <a:ext cx="985320" cy="52812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" name="TextBox 16"/>
          <p:cNvSpPr/>
          <p:nvPr/>
        </p:nvSpPr>
        <p:spPr>
          <a:xfrm>
            <a:off x="8705160" y="3401640"/>
            <a:ext cx="98532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Rounded Rectangle 17"/>
          <p:cNvSpPr/>
          <p:nvPr/>
        </p:nvSpPr>
        <p:spPr>
          <a:xfrm>
            <a:off x="10003680" y="3246120"/>
            <a:ext cx="985320" cy="52812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TextBox 18"/>
          <p:cNvSpPr/>
          <p:nvPr/>
        </p:nvSpPr>
        <p:spPr>
          <a:xfrm>
            <a:off x="10003680" y="3401640"/>
            <a:ext cx="98532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4983480" y="6217920"/>
            <a:ext cx="223812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ae5ed"/>
                </a:solidFill>
                <a:latin typeface="Aptos"/>
              </a:rPr>
              <a:t>Arimatéia Júnior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" name="Picture 21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Sobre o Professor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Quem conduz 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pic>
        <p:nvPicPr>
          <p:cNvPr id="88" name="Picture 5" descr="Foto Perfil JR.png"/>
          <p:cNvPicPr/>
          <p:nvPr/>
        </p:nvPicPr>
        <p:blipFill>
          <a:blip r:embed="rId2"/>
          <a:stretch/>
        </p:blipFill>
        <p:spPr>
          <a:xfrm>
            <a:off x="800280" y="1508760"/>
            <a:ext cx="3061080" cy="30610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89" name="TextBox 6"/>
          <p:cNvSpPr/>
          <p:nvPr/>
        </p:nvSpPr>
        <p:spPr>
          <a:xfrm>
            <a:off x="914400" y="4663440"/>
            <a:ext cx="283248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32b42"/>
                </a:solidFill>
                <a:latin typeface="Aptos"/>
              </a:rPr>
              <a:t>Arimatéia Júnior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30" spc="-1" strike="noStrike">
                <a:solidFill>
                  <a:srgbClr val="5e6c7a"/>
                </a:solidFill>
                <a:latin typeface="Aptos"/>
              </a:rPr>
              <a:t>Professor - Desenvolvimento de Software Integrado - DevOps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Rounded Rectangle 7"/>
          <p:cNvSpPr/>
          <p:nvPr/>
        </p:nvSpPr>
        <p:spPr>
          <a:xfrm>
            <a:off x="4846320" y="1508760"/>
            <a:ext cx="6444360" cy="168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Rectangle 8"/>
          <p:cNvSpPr/>
          <p:nvPr/>
        </p:nvSpPr>
        <p:spPr>
          <a:xfrm>
            <a:off x="4846320" y="1508760"/>
            <a:ext cx="70920" cy="16894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TextBox 9"/>
          <p:cNvSpPr/>
          <p:nvPr/>
        </p:nvSpPr>
        <p:spPr>
          <a:xfrm>
            <a:off x="5010840" y="1636920"/>
            <a:ext cx="6151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Formação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" name="Picture 10" descr="ic_grad.png"/>
          <p:cNvPicPr/>
          <p:nvPr/>
        </p:nvPicPr>
        <p:blipFill>
          <a:blip r:embed="rId3"/>
          <a:stretch/>
        </p:blipFill>
        <p:spPr>
          <a:xfrm>
            <a:off x="5010840" y="1984320"/>
            <a:ext cx="345240" cy="345240"/>
          </a:xfrm>
          <a:prstGeom prst="rect">
            <a:avLst/>
          </a:prstGeom>
          <a:ln w="0">
            <a:noFill/>
          </a:ln>
        </p:spPr>
      </p:pic>
      <p:sp>
        <p:nvSpPr>
          <p:cNvPr id="94" name="TextBox 11"/>
          <p:cNvSpPr/>
          <p:nvPr/>
        </p:nvSpPr>
        <p:spPr>
          <a:xfrm>
            <a:off x="5010840" y="2312280"/>
            <a:ext cx="615168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Pós-graduado em Engenharia de Software com ênfase em DevOps — UNIFOR (2025).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MBA em Arquitetura de Software e Soluções — XP Educação (2023).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Especialização em Segurança da Informação — UNINASSAU (2021).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Formado em Redes de Computadores — Faculdade Lourenço Filho (2014).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Rounded Rectangle 12"/>
          <p:cNvSpPr/>
          <p:nvPr/>
        </p:nvSpPr>
        <p:spPr>
          <a:xfrm>
            <a:off x="4846320" y="3337560"/>
            <a:ext cx="3129840" cy="17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Rectangle 13"/>
          <p:cNvSpPr/>
          <p:nvPr/>
        </p:nvSpPr>
        <p:spPr>
          <a:xfrm>
            <a:off x="4846320" y="3337560"/>
            <a:ext cx="70920" cy="17352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14"/>
          <p:cNvSpPr/>
          <p:nvPr/>
        </p:nvSpPr>
        <p:spPr>
          <a:xfrm>
            <a:off x="5010840" y="3465720"/>
            <a:ext cx="2837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Experiência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" name="Picture 15" descr="ic_briefcase.png"/>
          <p:cNvPicPr/>
          <p:nvPr/>
        </p:nvPicPr>
        <p:blipFill>
          <a:blip r:embed="rId4"/>
          <a:stretch/>
        </p:blipFill>
        <p:spPr>
          <a:xfrm>
            <a:off x="5010840" y="3813120"/>
            <a:ext cx="345240" cy="345240"/>
          </a:xfrm>
          <a:prstGeom prst="rect">
            <a:avLst/>
          </a:prstGeom>
          <a:ln w="0">
            <a:noFill/>
          </a:ln>
        </p:spPr>
      </p:pic>
      <p:sp>
        <p:nvSpPr>
          <p:cNvPr id="99" name="TextBox 16"/>
          <p:cNvSpPr/>
          <p:nvPr/>
        </p:nvSpPr>
        <p:spPr>
          <a:xfrm>
            <a:off x="5010840" y="4270320"/>
            <a:ext cx="283716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Arquiteto de Software e Soluções — TIVIT (cliente Petrobras).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Consultor de Tecnologia — ARI JR Technology.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ounded Rectangle 17"/>
          <p:cNvSpPr/>
          <p:nvPr/>
        </p:nvSpPr>
        <p:spPr>
          <a:xfrm>
            <a:off x="8160840" y="3337560"/>
            <a:ext cx="3129840" cy="17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Rectangle 18"/>
          <p:cNvSpPr/>
          <p:nvPr/>
        </p:nvSpPr>
        <p:spPr>
          <a:xfrm>
            <a:off x="8160840" y="3337560"/>
            <a:ext cx="70920" cy="17352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TextBox 19"/>
          <p:cNvSpPr/>
          <p:nvPr/>
        </p:nvSpPr>
        <p:spPr>
          <a:xfrm>
            <a:off x="8325720" y="3465720"/>
            <a:ext cx="2837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Certificações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" name="Picture 20" descr="ic_medal.png"/>
          <p:cNvPicPr/>
          <p:nvPr/>
        </p:nvPicPr>
        <p:blipFill>
          <a:blip r:embed="rId5"/>
          <a:stretch/>
        </p:blipFill>
        <p:spPr>
          <a:xfrm>
            <a:off x="8325720" y="3813120"/>
            <a:ext cx="345240" cy="345240"/>
          </a:xfrm>
          <a:prstGeom prst="rect">
            <a:avLst/>
          </a:prstGeom>
          <a:ln w="0">
            <a:noFill/>
          </a:ln>
        </p:spPr>
      </p:pic>
      <p:sp>
        <p:nvSpPr>
          <p:cNvPr id="104" name="TextBox 21"/>
          <p:cNvSpPr/>
          <p:nvPr/>
        </p:nvSpPr>
        <p:spPr>
          <a:xfrm>
            <a:off x="8325720" y="4270320"/>
            <a:ext cx="28371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Microsoft, AWS, Google Cloud, Oracle e VMware.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ounded Rectangle 22"/>
          <p:cNvSpPr/>
          <p:nvPr/>
        </p:nvSpPr>
        <p:spPr>
          <a:xfrm>
            <a:off x="4846320" y="5212080"/>
            <a:ext cx="6491880" cy="90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Rectangle 23"/>
          <p:cNvSpPr/>
          <p:nvPr/>
        </p:nvSpPr>
        <p:spPr>
          <a:xfrm>
            <a:off x="4846320" y="5212080"/>
            <a:ext cx="70920" cy="5464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24"/>
          <p:cNvSpPr/>
          <p:nvPr/>
        </p:nvSpPr>
        <p:spPr>
          <a:xfrm>
            <a:off x="5010840" y="5340240"/>
            <a:ext cx="6151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Sobre mim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25"/>
          <p:cNvSpPr/>
          <p:nvPr/>
        </p:nvSpPr>
        <p:spPr>
          <a:xfrm>
            <a:off x="5010840" y="5651280"/>
            <a:ext cx="6151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Apaixonado por família, tecnologia e futebol.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" name="Picture 26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110" name="TextBox 27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28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Visão Geral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2"/>
          <p:cNvSpPr/>
          <p:nvPr/>
        </p:nvSpPr>
        <p:spPr>
          <a:xfrm>
            <a:off x="621720" y="841320"/>
            <a:ext cx="9873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24h em seis encontros: cultura, automação, entrega, operação e IA aplicada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Rounded Rectangle 4"/>
          <p:cNvSpPr/>
          <p:nvPr/>
        </p:nvSpPr>
        <p:spPr>
          <a:xfrm>
            <a:off x="685800" y="1508760"/>
            <a:ext cx="3426840" cy="1826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" name="Rectangle 5"/>
          <p:cNvSpPr/>
          <p:nvPr/>
        </p:nvSpPr>
        <p:spPr>
          <a:xfrm>
            <a:off x="685800" y="1508760"/>
            <a:ext cx="70920" cy="1826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TextBox 6"/>
          <p:cNvSpPr/>
          <p:nvPr/>
        </p:nvSpPr>
        <p:spPr>
          <a:xfrm>
            <a:off x="850320" y="163692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Objetivo da turma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7"/>
          <p:cNvSpPr/>
          <p:nvPr/>
        </p:nvSpPr>
        <p:spPr>
          <a:xfrm>
            <a:off x="850320" y="2011680"/>
            <a:ext cx="313416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Conectar desenvolvimento, qualidade e operação em um fluxo único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Trabalhar com artefatos reais: repositório, pipeline, containers, evidências 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Fechar com projeto integrador e uso responsável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Rounded Rectangle 8"/>
          <p:cNvSpPr/>
          <p:nvPr/>
        </p:nvSpPr>
        <p:spPr>
          <a:xfrm>
            <a:off x="4389120" y="1508760"/>
            <a:ext cx="3426840" cy="1826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Rectangle 9"/>
          <p:cNvSpPr/>
          <p:nvPr/>
        </p:nvSpPr>
        <p:spPr>
          <a:xfrm>
            <a:off x="4389120" y="1508760"/>
            <a:ext cx="70920" cy="1826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" name="TextBox 10"/>
          <p:cNvSpPr/>
          <p:nvPr/>
        </p:nvSpPr>
        <p:spPr>
          <a:xfrm>
            <a:off x="4553640" y="163692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Eixo prático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11"/>
          <p:cNvSpPr/>
          <p:nvPr/>
        </p:nvSpPr>
        <p:spPr>
          <a:xfrm>
            <a:off x="4553640" y="2011680"/>
            <a:ext cx="313416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Diagnóstico + IA no SDLC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Git, PR e revisão assistida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CI, testes e qualidade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Docker/Compose e troubleshooting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CD, segurança, observabilidade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ounded Rectangle 12"/>
          <p:cNvSpPr/>
          <p:nvPr/>
        </p:nvSpPr>
        <p:spPr>
          <a:xfrm>
            <a:off x="8092440" y="1508760"/>
            <a:ext cx="3426840" cy="1826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Rectangle 13"/>
          <p:cNvSpPr/>
          <p:nvPr/>
        </p:nvSpPr>
        <p:spPr>
          <a:xfrm>
            <a:off x="8092440" y="1508760"/>
            <a:ext cx="70920" cy="1826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" name="TextBox 14"/>
          <p:cNvSpPr/>
          <p:nvPr/>
        </p:nvSpPr>
        <p:spPr>
          <a:xfrm>
            <a:off x="8256960" y="163692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 esperado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15"/>
          <p:cNvSpPr/>
          <p:nvPr/>
        </p:nvSpPr>
        <p:spPr>
          <a:xfrm>
            <a:off x="8256960" y="2011680"/>
            <a:ext cx="313416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Aplicação executável em ambiente reproduzível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Pipeline com validações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Uso de IA documentado e validado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Release/rollback ou plano de rollback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Evidências de operação e melhoria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16"/>
          <p:cNvSpPr/>
          <p:nvPr/>
        </p:nvSpPr>
        <p:spPr>
          <a:xfrm>
            <a:off x="685800" y="3794760"/>
            <a:ext cx="10833480" cy="1369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Rectangle 17"/>
          <p:cNvSpPr/>
          <p:nvPr/>
        </p:nvSpPr>
        <p:spPr>
          <a:xfrm>
            <a:off x="685800" y="3794760"/>
            <a:ext cx="70920" cy="1369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18"/>
          <p:cNvSpPr/>
          <p:nvPr/>
        </p:nvSpPr>
        <p:spPr>
          <a:xfrm>
            <a:off x="850320" y="3922920"/>
            <a:ext cx="1054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orientadora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19"/>
          <p:cNvSpPr/>
          <p:nvPr/>
        </p:nvSpPr>
        <p:spPr>
          <a:xfrm>
            <a:off x="850320" y="4297680"/>
            <a:ext cx="10540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transformar uma aplicação em um produto entregável, observável, seguro e evolutivo usando DevOps e IA com validação humana?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20"/>
          <p:cNvSpPr/>
          <p:nvPr/>
        </p:nvSpPr>
        <p:spPr>
          <a:xfrm>
            <a:off x="1298520" y="6446520"/>
            <a:ext cx="5877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21"/>
          <p:cNvSpPr/>
          <p:nvPr/>
        </p:nvSpPr>
        <p:spPr>
          <a:xfrm>
            <a:off x="11201400" y="6446520"/>
            <a:ext cx="5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3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34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Objetivos de Aprendizagem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você deve conseguir fazer ao final da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39" name="Rounded Rectangle 5"/>
          <p:cNvSpPr/>
          <p:nvPr/>
        </p:nvSpPr>
        <p:spPr>
          <a:xfrm>
            <a:off x="68580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Rectangle 6"/>
          <p:cNvSpPr/>
          <p:nvPr/>
        </p:nvSpPr>
        <p:spPr>
          <a:xfrm>
            <a:off x="685800" y="1508760"/>
            <a:ext cx="70920" cy="2549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Compreender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85032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Explicar cultura DevOps e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gargalos entre desenvolvimento, qualidade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Relacionar métricas, feedback e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Rounded Rectangle 9"/>
          <p:cNvSpPr/>
          <p:nvPr/>
        </p:nvSpPr>
        <p:spPr>
          <a:xfrm>
            <a:off x="438912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Rectangle 10"/>
          <p:cNvSpPr/>
          <p:nvPr/>
        </p:nvSpPr>
        <p:spPr>
          <a:xfrm>
            <a:off x="4389120" y="1508760"/>
            <a:ext cx="70920" cy="25491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Construir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4553640" y="1993320"/>
            <a:ext cx="3134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Git e PRs com revisão objetiva.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pipeline de CI com testes e artefatos.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uma aplicação e padronizar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Planejar CD com segurança básica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ounded Rectangle 13"/>
          <p:cNvSpPr/>
          <p:nvPr/>
        </p:nvSpPr>
        <p:spPr>
          <a:xfrm>
            <a:off x="809244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14"/>
          <p:cNvSpPr/>
          <p:nvPr/>
        </p:nvSpPr>
        <p:spPr>
          <a:xfrm>
            <a:off x="8092440" y="1508760"/>
            <a:ext cx="70920" cy="25491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Avaliar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16"/>
          <p:cNvSpPr/>
          <p:nvPr/>
        </p:nvSpPr>
        <p:spPr>
          <a:xfrm>
            <a:off x="825696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criticamente no SDLC.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Analisar logs, falhas, riscos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Defender o projeto final com evidências executáveis.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152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Linha do Tempo dos Encontros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2"/>
          <p:cNvSpPr/>
          <p:nvPr/>
        </p:nvSpPr>
        <p:spPr>
          <a:xfrm>
            <a:off x="621720" y="841320"/>
            <a:ext cx="9873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Datas oficiais da turma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Rounded Rectangle 4"/>
          <p:cNvSpPr/>
          <p:nvPr/>
        </p:nvSpPr>
        <p:spPr>
          <a:xfrm>
            <a:off x="685800" y="1508760"/>
            <a:ext cx="3426840" cy="141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Rectangle 5"/>
          <p:cNvSpPr/>
          <p:nvPr/>
        </p:nvSpPr>
        <p:spPr>
          <a:xfrm>
            <a:off x="685800" y="1508760"/>
            <a:ext cx="70920" cy="1415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TextBox 6"/>
          <p:cNvSpPr/>
          <p:nvPr/>
        </p:nvSpPr>
        <p:spPr>
          <a:xfrm>
            <a:off x="850320" y="163692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10/09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7"/>
          <p:cNvSpPr/>
          <p:nvPr/>
        </p:nvSpPr>
        <p:spPr>
          <a:xfrm>
            <a:off x="850320" y="2011680"/>
            <a:ext cx="3134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Cultura DevOps, IA no SDLC e 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ounded Rectangle 8"/>
          <p:cNvSpPr/>
          <p:nvPr/>
        </p:nvSpPr>
        <p:spPr>
          <a:xfrm>
            <a:off x="4434840" y="1508760"/>
            <a:ext cx="3426840" cy="141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Rectangle 9"/>
          <p:cNvSpPr/>
          <p:nvPr/>
        </p:nvSpPr>
        <p:spPr>
          <a:xfrm>
            <a:off x="4434840" y="1508760"/>
            <a:ext cx="70920" cy="14151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10"/>
          <p:cNvSpPr/>
          <p:nvPr/>
        </p:nvSpPr>
        <p:spPr>
          <a:xfrm>
            <a:off x="4599360" y="163692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11/09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11"/>
          <p:cNvSpPr/>
          <p:nvPr/>
        </p:nvSpPr>
        <p:spPr>
          <a:xfrm>
            <a:off x="4599360" y="2011680"/>
            <a:ext cx="3134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Git, colaboração, qualidade e IA assistida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Rounded Rectangle 12"/>
          <p:cNvSpPr/>
          <p:nvPr/>
        </p:nvSpPr>
        <p:spPr>
          <a:xfrm>
            <a:off x="8183880" y="1508760"/>
            <a:ext cx="3426840" cy="141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Rectangle 13"/>
          <p:cNvSpPr/>
          <p:nvPr/>
        </p:nvSpPr>
        <p:spPr>
          <a:xfrm>
            <a:off x="8183880" y="1508760"/>
            <a:ext cx="70920" cy="14151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TextBox 14"/>
          <p:cNvSpPr/>
          <p:nvPr/>
        </p:nvSpPr>
        <p:spPr>
          <a:xfrm>
            <a:off x="8348400" y="163692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12/09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15"/>
          <p:cNvSpPr/>
          <p:nvPr/>
        </p:nvSpPr>
        <p:spPr>
          <a:xfrm>
            <a:off x="8348400" y="2011680"/>
            <a:ext cx="3134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CI, testes automatizados e IA para automação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Rounded Rectangle 16"/>
          <p:cNvSpPr/>
          <p:nvPr/>
        </p:nvSpPr>
        <p:spPr>
          <a:xfrm>
            <a:off x="685800" y="3474720"/>
            <a:ext cx="3426840" cy="141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" name="Rectangle 17"/>
          <p:cNvSpPr/>
          <p:nvPr/>
        </p:nvSpPr>
        <p:spPr>
          <a:xfrm>
            <a:off x="685800" y="3474720"/>
            <a:ext cx="70920" cy="14151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TextBox 18"/>
          <p:cNvSpPr/>
          <p:nvPr/>
        </p:nvSpPr>
        <p:spPr>
          <a:xfrm>
            <a:off x="850320" y="36028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24/09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Box 19"/>
          <p:cNvSpPr/>
          <p:nvPr/>
        </p:nvSpPr>
        <p:spPr>
          <a:xfrm>
            <a:off x="850320" y="3977640"/>
            <a:ext cx="3134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Containers, integração e troubleshooting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Rounded Rectangle 20"/>
          <p:cNvSpPr/>
          <p:nvPr/>
        </p:nvSpPr>
        <p:spPr>
          <a:xfrm>
            <a:off x="4434840" y="3474720"/>
            <a:ext cx="3426840" cy="141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" name="Rectangle 21"/>
          <p:cNvSpPr/>
          <p:nvPr/>
        </p:nvSpPr>
        <p:spPr>
          <a:xfrm>
            <a:off x="4434840" y="3474720"/>
            <a:ext cx="70920" cy="14151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TextBox 22"/>
          <p:cNvSpPr/>
          <p:nvPr/>
        </p:nvSpPr>
        <p:spPr>
          <a:xfrm>
            <a:off x="4599360" y="36028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25/09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Box 23"/>
          <p:cNvSpPr/>
          <p:nvPr/>
        </p:nvSpPr>
        <p:spPr>
          <a:xfrm>
            <a:off x="4599360" y="3977640"/>
            <a:ext cx="3134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CD, configuração, segurança e governança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Rounded Rectangle 24"/>
          <p:cNvSpPr/>
          <p:nvPr/>
        </p:nvSpPr>
        <p:spPr>
          <a:xfrm>
            <a:off x="8183880" y="3474720"/>
            <a:ext cx="3426840" cy="141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" name="Rectangle 25"/>
          <p:cNvSpPr/>
          <p:nvPr/>
        </p:nvSpPr>
        <p:spPr>
          <a:xfrm>
            <a:off x="8183880" y="3474720"/>
            <a:ext cx="70920" cy="141516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26"/>
          <p:cNvSpPr/>
          <p:nvPr/>
        </p:nvSpPr>
        <p:spPr>
          <a:xfrm>
            <a:off x="8348400" y="36028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26/09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27"/>
          <p:cNvSpPr/>
          <p:nvPr/>
        </p:nvSpPr>
        <p:spPr>
          <a:xfrm>
            <a:off x="8348400" y="3977640"/>
            <a:ext cx="3134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Observabilidade, IA aplicada e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Box 28"/>
          <p:cNvSpPr/>
          <p:nvPr/>
        </p:nvSpPr>
        <p:spPr>
          <a:xfrm>
            <a:off x="1298520" y="6446520"/>
            <a:ext cx="5877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29"/>
          <p:cNvSpPr/>
          <p:nvPr/>
        </p:nvSpPr>
        <p:spPr>
          <a:xfrm>
            <a:off x="11201400" y="6446520"/>
            <a:ext cx="5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" name="Picture 30" descr="e1_magnifier_dark.png"/>
          <p:cNvPicPr/>
          <p:nvPr/>
        </p:nvPicPr>
        <p:blipFill>
          <a:blip r:embed="rId1"/>
          <a:stretch/>
        </p:blipFill>
        <p:spPr>
          <a:xfrm>
            <a:off x="3593520" y="1618560"/>
            <a:ext cx="381960" cy="381960"/>
          </a:xfrm>
          <a:prstGeom prst="rect">
            <a:avLst/>
          </a:prstGeom>
          <a:ln w="0">
            <a:noFill/>
          </a:ln>
        </p:spPr>
      </p:pic>
      <p:pic>
        <p:nvPicPr>
          <p:cNvPr id="184" name="Picture 31" descr="e2_git_dark.png"/>
          <p:cNvPicPr/>
          <p:nvPr/>
        </p:nvPicPr>
        <p:blipFill>
          <a:blip r:embed="rId2"/>
          <a:stretch/>
        </p:blipFill>
        <p:spPr>
          <a:xfrm>
            <a:off x="7342560" y="1618560"/>
            <a:ext cx="381960" cy="381960"/>
          </a:xfrm>
          <a:prstGeom prst="rect">
            <a:avLst/>
          </a:prstGeom>
          <a:ln w="0">
            <a:noFill/>
          </a:ln>
        </p:spPr>
      </p:pic>
      <p:pic>
        <p:nvPicPr>
          <p:cNvPr id="185" name="Picture 32" descr="e3_refresh_dark.png"/>
          <p:cNvPicPr/>
          <p:nvPr/>
        </p:nvPicPr>
        <p:blipFill>
          <a:blip r:embed="rId3"/>
          <a:stretch/>
        </p:blipFill>
        <p:spPr>
          <a:xfrm>
            <a:off x="11091600" y="1618560"/>
            <a:ext cx="381960" cy="381960"/>
          </a:xfrm>
          <a:prstGeom prst="rect">
            <a:avLst/>
          </a:prstGeom>
          <a:ln w="0">
            <a:noFill/>
          </a:ln>
        </p:spPr>
      </p:pic>
      <p:pic>
        <p:nvPicPr>
          <p:cNvPr id="186" name="Picture 33" descr="e4_container_dark.png"/>
          <p:cNvPicPr/>
          <p:nvPr/>
        </p:nvPicPr>
        <p:blipFill>
          <a:blip r:embed="rId4"/>
          <a:stretch/>
        </p:blipFill>
        <p:spPr>
          <a:xfrm>
            <a:off x="3593520" y="3584520"/>
            <a:ext cx="381960" cy="381960"/>
          </a:xfrm>
          <a:prstGeom prst="rect">
            <a:avLst/>
          </a:prstGeom>
          <a:ln w="0">
            <a:noFill/>
          </a:ln>
        </p:spPr>
      </p:pic>
      <p:pic>
        <p:nvPicPr>
          <p:cNvPr id="187" name="Picture 34" descr="e5_shield_dark.png"/>
          <p:cNvPicPr/>
          <p:nvPr/>
        </p:nvPicPr>
        <p:blipFill>
          <a:blip r:embed="rId5"/>
          <a:stretch/>
        </p:blipFill>
        <p:spPr>
          <a:xfrm>
            <a:off x="7342560" y="3584520"/>
            <a:ext cx="381960" cy="381960"/>
          </a:xfrm>
          <a:prstGeom prst="rect">
            <a:avLst/>
          </a:prstGeom>
          <a:ln w="0">
            <a:noFill/>
          </a:ln>
        </p:spPr>
      </p:pic>
      <p:pic>
        <p:nvPicPr>
          <p:cNvPr id="188" name="Picture 35" descr="e6_pulse_dark.png"/>
          <p:cNvPicPr/>
          <p:nvPr/>
        </p:nvPicPr>
        <p:blipFill>
          <a:blip r:embed="rId6"/>
          <a:stretch/>
        </p:blipFill>
        <p:spPr>
          <a:xfrm>
            <a:off x="11091600" y="3584520"/>
            <a:ext cx="381960" cy="381960"/>
          </a:xfrm>
          <a:prstGeom prst="rect">
            <a:avLst/>
          </a:prstGeom>
          <a:ln w="0">
            <a:noFill/>
          </a:ln>
        </p:spPr>
      </p:pic>
      <p:pic>
        <p:nvPicPr>
          <p:cNvPr id="189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90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2"/>
          <p:cNvSpPr/>
          <p:nvPr/>
        </p:nvSpPr>
        <p:spPr>
          <a:xfrm>
            <a:off x="621720" y="841320"/>
            <a:ext cx="9873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fluxo DevOps completo em pequena escala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Rounded Rectangle 4"/>
          <p:cNvSpPr/>
          <p:nvPr/>
        </p:nvSpPr>
        <p:spPr>
          <a:xfrm>
            <a:off x="685800" y="1600200"/>
            <a:ext cx="1351080" cy="65628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5"/>
          <p:cNvSpPr/>
          <p:nvPr/>
        </p:nvSpPr>
        <p:spPr>
          <a:xfrm>
            <a:off x="685800" y="1810440"/>
            <a:ext cx="13510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Repositório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6"/>
          <p:cNvSpPr/>
          <p:nvPr/>
        </p:nvSpPr>
        <p:spPr>
          <a:xfrm>
            <a:off x="2084760" y="1783080"/>
            <a:ext cx="36360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ounded Rectangle 7"/>
          <p:cNvSpPr/>
          <p:nvPr/>
        </p:nvSpPr>
        <p:spPr>
          <a:xfrm>
            <a:off x="2560320" y="1600200"/>
            <a:ext cx="1351080" cy="65628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8"/>
          <p:cNvSpPr/>
          <p:nvPr/>
        </p:nvSpPr>
        <p:spPr>
          <a:xfrm>
            <a:off x="2560320" y="1810440"/>
            <a:ext cx="13510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Pipeline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9"/>
          <p:cNvSpPr/>
          <p:nvPr/>
        </p:nvSpPr>
        <p:spPr>
          <a:xfrm>
            <a:off x="3959280" y="1783080"/>
            <a:ext cx="36360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ounded Rectangle 10"/>
          <p:cNvSpPr/>
          <p:nvPr/>
        </p:nvSpPr>
        <p:spPr>
          <a:xfrm>
            <a:off x="4434840" y="1600200"/>
            <a:ext cx="1351080" cy="65628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11"/>
          <p:cNvSpPr/>
          <p:nvPr/>
        </p:nvSpPr>
        <p:spPr>
          <a:xfrm>
            <a:off x="4434840" y="1810440"/>
            <a:ext cx="13510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Imagem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12"/>
          <p:cNvSpPr/>
          <p:nvPr/>
        </p:nvSpPr>
        <p:spPr>
          <a:xfrm>
            <a:off x="5833800" y="1783080"/>
            <a:ext cx="36360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ounded Rectangle 13"/>
          <p:cNvSpPr/>
          <p:nvPr/>
        </p:nvSpPr>
        <p:spPr>
          <a:xfrm>
            <a:off x="6309360" y="1600200"/>
            <a:ext cx="1351080" cy="65628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6309360" y="1810440"/>
            <a:ext cx="13510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Ambiente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15"/>
          <p:cNvSpPr/>
          <p:nvPr/>
        </p:nvSpPr>
        <p:spPr>
          <a:xfrm>
            <a:off x="7708320" y="1783080"/>
            <a:ext cx="36360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ounded Rectangle 16"/>
          <p:cNvSpPr/>
          <p:nvPr/>
        </p:nvSpPr>
        <p:spPr>
          <a:xfrm>
            <a:off x="8183880" y="1600200"/>
            <a:ext cx="1351080" cy="65628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17"/>
          <p:cNvSpPr/>
          <p:nvPr/>
        </p:nvSpPr>
        <p:spPr>
          <a:xfrm>
            <a:off x="8183880" y="1810440"/>
            <a:ext cx="13510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18"/>
          <p:cNvSpPr/>
          <p:nvPr/>
        </p:nvSpPr>
        <p:spPr>
          <a:xfrm>
            <a:off x="9582840" y="1783080"/>
            <a:ext cx="36360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ounded Rectangle 19"/>
          <p:cNvSpPr/>
          <p:nvPr/>
        </p:nvSpPr>
        <p:spPr>
          <a:xfrm>
            <a:off x="10058400" y="1600200"/>
            <a:ext cx="1351080" cy="65628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TextBox 20"/>
          <p:cNvSpPr/>
          <p:nvPr/>
        </p:nvSpPr>
        <p:spPr>
          <a:xfrm>
            <a:off x="10058400" y="1810440"/>
            <a:ext cx="1351080" cy="16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Observabilidade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Rounded Rectangle 21"/>
          <p:cNvSpPr/>
          <p:nvPr/>
        </p:nvSpPr>
        <p:spPr>
          <a:xfrm>
            <a:off x="685800" y="2788920"/>
            <a:ext cx="3426840" cy="1780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Rectangle 22"/>
          <p:cNvSpPr/>
          <p:nvPr/>
        </p:nvSpPr>
        <p:spPr>
          <a:xfrm>
            <a:off x="685800" y="2788920"/>
            <a:ext cx="70920" cy="1780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23"/>
          <p:cNvSpPr/>
          <p:nvPr/>
        </p:nvSpPr>
        <p:spPr>
          <a:xfrm>
            <a:off x="850320" y="29170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Artefatos mínimos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24"/>
          <p:cNvSpPr/>
          <p:nvPr/>
        </p:nvSpPr>
        <p:spPr>
          <a:xfrm>
            <a:off x="850320" y="3291840"/>
            <a:ext cx="3134160" cy="11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versionado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de build/teste/release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do uso de IA quando aplicado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ounded Rectangle 25"/>
          <p:cNvSpPr/>
          <p:nvPr/>
        </p:nvSpPr>
        <p:spPr>
          <a:xfrm>
            <a:off x="4389120" y="2788920"/>
            <a:ext cx="3426840" cy="1780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Rectangle 26"/>
          <p:cNvSpPr/>
          <p:nvPr/>
        </p:nvSpPr>
        <p:spPr>
          <a:xfrm>
            <a:off x="4389120" y="2788920"/>
            <a:ext cx="70920" cy="17809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TextBox 27"/>
          <p:cNvSpPr/>
          <p:nvPr/>
        </p:nvSpPr>
        <p:spPr>
          <a:xfrm>
            <a:off x="4553640" y="29170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Critérios técnicos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Box 28"/>
          <p:cNvSpPr/>
          <p:nvPr/>
        </p:nvSpPr>
        <p:spPr>
          <a:xfrm>
            <a:off x="4553640" y="3291840"/>
            <a:ext cx="3134160" cy="11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rastreável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visível e tratável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ou plano de 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Sugestões de IA validadas por teste 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ounded Rectangle 29"/>
          <p:cNvSpPr/>
          <p:nvPr/>
        </p:nvSpPr>
        <p:spPr>
          <a:xfrm>
            <a:off x="8092440" y="2788920"/>
            <a:ext cx="3426840" cy="1780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Rectangle 30"/>
          <p:cNvSpPr/>
          <p:nvPr/>
        </p:nvSpPr>
        <p:spPr>
          <a:xfrm>
            <a:off x="8092440" y="2788920"/>
            <a:ext cx="70920" cy="1780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TextBox 31"/>
          <p:cNvSpPr/>
          <p:nvPr/>
        </p:nvSpPr>
        <p:spPr>
          <a:xfrm>
            <a:off x="8256960" y="29170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Defesa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32"/>
          <p:cNvSpPr/>
          <p:nvPr/>
        </p:nvSpPr>
        <p:spPr>
          <a:xfrm>
            <a:off x="8256960" y="3291840"/>
            <a:ext cx="3134160" cy="11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técnicas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crítico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33"/>
          <p:cNvSpPr/>
          <p:nvPr/>
        </p:nvSpPr>
        <p:spPr>
          <a:xfrm>
            <a:off x="1298520" y="6446520"/>
            <a:ext cx="5877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34"/>
          <p:cNvSpPr/>
          <p:nvPr/>
        </p:nvSpPr>
        <p:spPr>
          <a:xfrm>
            <a:off x="11201400" y="6446520"/>
            <a:ext cx="5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5" name="Picture 35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226" name="Picture 36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Box 1"/>
          <p:cNvSpPr/>
          <p:nvPr/>
        </p:nvSpPr>
        <p:spPr>
          <a:xfrm>
            <a:off x="594360" y="320040"/>
            <a:ext cx="98733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Projeto Integrador - Incrementos por Encontro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único projeto evolui ao longo dos seis encontros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31" name="Rounded Rectangle 5"/>
          <p:cNvSpPr/>
          <p:nvPr/>
        </p:nvSpPr>
        <p:spPr>
          <a:xfrm>
            <a:off x="68580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Rectangle 6"/>
          <p:cNvSpPr/>
          <p:nvPr/>
        </p:nvSpPr>
        <p:spPr>
          <a:xfrm>
            <a:off x="685800" y="1508760"/>
            <a:ext cx="70920" cy="23112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Incrementos por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8"/>
          <p:cNvSpPr/>
          <p:nvPr/>
        </p:nvSpPr>
        <p:spPr>
          <a:xfrm>
            <a:off x="850320" y="1993320"/>
            <a:ext cx="3134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E1: diagnóstico e proposta priorizada.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E2: organização, equipe e código-base na main.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E3: pipeline CI com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E4: execução com Docker/Compose.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E5: release, rollback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E6: observabilidade e defesa.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Rounded Rectangle 9"/>
          <p:cNvSpPr/>
          <p:nvPr/>
        </p:nvSpPr>
        <p:spPr>
          <a:xfrm>
            <a:off x="438912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" name="Rectangle 10"/>
          <p:cNvSpPr/>
          <p:nvPr/>
        </p:nvSpPr>
        <p:spPr>
          <a:xfrm>
            <a:off x="4389120" y="1508760"/>
            <a:ext cx="70920" cy="23112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 de escolha da aplicação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12"/>
          <p:cNvSpPr/>
          <p:nvPr/>
        </p:nvSpPr>
        <p:spPr>
          <a:xfrm>
            <a:off x="455364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pequena, mas realista.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ter build, teste e execução local.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Ideal ter API + dependência externa ou banco.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stack complexa que consuma 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Rounded Rectangle 13"/>
          <p:cNvSpPr/>
          <p:nvPr/>
        </p:nvSpPr>
        <p:spPr>
          <a:xfrm>
            <a:off x="809244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" name="Rectangle 14"/>
          <p:cNvSpPr/>
          <p:nvPr/>
        </p:nvSpPr>
        <p:spPr>
          <a:xfrm>
            <a:off x="8092440" y="1508760"/>
            <a:ext cx="70920" cy="23112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 mínima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16"/>
          <p:cNvSpPr/>
          <p:nvPr/>
        </p:nvSpPr>
        <p:spPr>
          <a:xfrm>
            <a:off x="825696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Print/log de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release/rollback.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IA, quando aplicado.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44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Ferramentas e Ambiente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ter pronto antes do primeiro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50" name="Rounded Rectangle 5"/>
          <p:cNvSpPr/>
          <p:nvPr/>
        </p:nvSpPr>
        <p:spPr>
          <a:xfrm>
            <a:off x="685800" y="1508760"/>
            <a:ext cx="3426840" cy="2603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" name="Rectangle 6"/>
          <p:cNvSpPr/>
          <p:nvPr/>
        </p:nvSpPr>
        <p:spPr>
          <a:xfrm>
            <a:off x="685800" y="1508760"/>
            <a:ext cx="70920" cy="2603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Essencial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3" name="Picture 8" descr="git.png"/>
          <p:cNvPicPr/>
          <p:nvPr/>
        </p:nvPicPr>
        <p:blipFill>
          <a:blip r:embed="rId2"/>
          <a:stretch/>
        </p:blipFill>
        <p:spPr>
          <a:xfrm>
            <a:off x="850320" y="198432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254" name="Picture 9" descr="github.png"/>
          <p:cNvPicPr/>
          <p:nvPr/>
        </p:nvPicPr>
        <p:blipFill>
          <a:blip r:embed="rId3"/>
          <a:stretch/>
        </p:blipFill>
        <p:spPr>
          <a:xfrm>
            <a:off x="1344240" y="198432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255" name="Picture 10" descr="gitlab.png"/>
          <p:cNvPicPr/>
          <p:nvPr/>
        </p:nvPicPr>
        <p:blipFill>
          <a:blip r:embed="rId4"/>
          <a:stretch/>
        </p:blipFill>
        <p:spPr>
          <a:xfrm>
            <a:off x="1837800" y="198432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256" name="Picture 11" descr="docker.png"/>
          <p:cNvPicPr/>
          <p:nvPr/>
        </p:nvPicPr>
        <p:blipFill>
          <a:blip r:embed="rId5"/>
          <a:stretch/>
        </p:blipFill>
        <p:spPr>
          <a:xfrm>
            <a:off x="2331720" y="1984320"/>
            <a:ext cx="345240" cy="345240"/>
          </a:xfrm>
          <a:prstGeom prst="rect">
            <a:avLst/>
          </a:prstGeom>
          <a:ln w="0">
            <a:noFill/>
          </a:ln>
        </p:spPr>
      </p:pic>
      <p:sp>
        <p:nvSpPr>
          <p:cNvPr id="257" name="TextBox 12"/>
          <p:cNvSpPr/>
          <p:nvPr/>
        </p:nvSpPr>
        <p:spPr>
          <a:xfrm>
            <a:off x="850320" y="2441520"/>
            <a:ext cx="313416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 instalado e configurado.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Conta em GitHub, GitLab ou Azure DevOps.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Editor com terminal integrado.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Docker Desktop ou Docker Engine + Compose.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Rounded Rectangle 13"/>
          <p:cNvSpPr/>
          <p:nvPr/>
        </p:nvSpPr>
        <p:spPr>
          <a:xfrm>
            <a:off x="4389120" y="1508760"/>
            <a:ext cx="3426840" cy="2603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Rectangle 14"/>
          <p:cNvSpPr/>
          <p:nvPr/>
        </p:nvSpPr>
        <p:spPr>
          <a:xfrm>
            <a:off x="4389120" y="1508760"/>
            <a:ext cx="70920" cy="2603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" name="TextBox 15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1" name="Picture 16" descr="githubactions.png"/>
          <p:cNvPicPr/>
          <p:nvPr/>
        </p:nvPicPr>
        <p:blipFill>
          <a:blip r:embed="rId6"/>
          <a:stretch/>
        </p:blipFill>
        <p:spPr>
          <a:xfrm>
            <a:off x="4553640" y="198432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262" name="Picture 17" descr="azuredevops.png"/>
          <p:cNvPicPr/>
          <p:nvPr/>
        </p:nvPicPr>
        <p:blipFill>
          <a:blip r:embed="rId7"/>
          <a:stretch/>
        </p:blipFill>
        <p:spPr>
          <a:xfrm>
            <a:off x="5047560" y="198432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263" name="Picture 18" descr="gitlab.png"/>
          <p:cNvPicPr/>
          <p:nvPr/>
        </p:nvPicPr>
        <p:blipFill>
          <a:blip r:embed="rId8"/>
          <a:stretch/>
        </p:blipFill>
        <p:spPr>
          <a:xfrm>
            <a:off x="5541120" y="1984320"/>
            <a:ext cx="345240" cy="345240"/>
          </a:xfrm>
          <a:prstGeom prst="rect">
            <a:avLst/>
          </a:prstGeom>
          <a:ln w="0">
            <a:noFill/>
          </a:ln>
        </p:spPr>
      </p:pic>
      <p:sp>
        <p:nvSpPr>
          <p:cNvPr id="264" name="TextBox 19"/>
          <p:cNvSpPr/>
          <p:nvPr/>
        </p:nvSpPr>
        <p:spPr>
          <a:xfrm>
            <a:off x="4553640" y="2441520"/>
            <a:ext cx="313416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Actions é a opção mais simples para laboratório.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GitLab CI ou Azure Pipelines seguem a mesma lógica.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Exemplos curtos e versionados no repositório da turma.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Rounded Rectangle 20"/>
          <p:cNvSpPr/>
          <p:nvPr/>
        </p:nvSpPr>
        <p:spPr>
          <a:xfrm>
            <a:off x="8092440" y="1508760"/>
            <a:ext cx="3426840" cy="2603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" name="Rectangle 21"/>
          <p:cNvSpPr/>
          <p:nvPr/>
        </p:nvSpPr>
        <p:spPr>
          <a:xfrm>
            <a:off x="8092440" y="1508760"/>
            <a:ext cx="70920" cy="2603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" name="TextBox 22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 assistida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8" name="Picture 23" descr="githubcopilot.png"/>
          <p:cNvPicPr/>
          <p:nvPr/>
        </p:nvPicPr>
        <p:blipFill>
          <a:blip r:embed="rId9"/>
          <a:stretch/>
        </p:blipFill>
        <p:spPr>
          <a:xfrm>
            <a:off x="8256960" y="198432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269" name="Picture 24" descr="openai.png"/>
          <p:cNvPicPr/>
          <p:nvPr/>
        </p:nvPicPr>
        <p:blipFill>
          <a:blip r:embed="rId10"/>
          <a:stretch/>
        </p:blipFill>
        <p:spPr>
          <a:xfrm>
            <a:off x="8750880" y="198432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270" name="Picture 25" descr="cursor.png"/>
          <p:cNvPicPr/>
          <p:nvPr/>
        </p:nvPicPr>
        <p:blipFill>
          <a:blip r:embed="rId11"/>
          <a:stretch/>
        </p:blipFill>
        <p:spPr>
          <a:xfrm>
            <a:off x="9244440" y="198432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271" name="Picture 26" descr="googlegemini.png"/>
          <p:cNvPicPr/>
          <p:nvPr/>
        </p:nvPicPr>
        <p:blipFill>
          <a:blip r:embed="rId12"/>
          <a:stretch/>
        </p:blipFill>
        <p:spPr>
          <a:xfrm>
            <a:off x="9738360" y="198432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272" name="Picture 27" descr="amazonaws.png"/>
          <p:cNvPicPr/>
          <p:nvPr/>
        </p:nvPicPr>
        <p:blipFill>
          <a:blip r:embed="rId13"/>
          <a:stretch/>
        </p:blipFill>
        <p:spPr>
          <a:xfrm>
            <a:off x="10232280" y="1984320"/>
            <a:ext cx="345240" cy="345240"/>
          </a:xfrm>
          <a:prstGeom prst="rect">
            <a:avLst/>
          </a:prstGeom>
          <a:ln w="0">
            <a:noFill/>
          </a:ln>
        </p:spPr>
      </p:pic>
      <p:sp>
        <p:nvSpPr>
          <p:cNvPr id="273" name="TextBox 28"/>
          <p:cNvSpPr/>
          <p:nvPr/>
        </p:nvSpPr>
        <p:spPr>
          <a:xfrm>
            <a:off x="8256960" y="2441520"/>
            <a:ext cx="313416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Copilot, ChatGPT/Codex, Cursor, Gemini Code Assist, Amazon Q ou equivalente.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Acesso opcional, com demonstrações em sala.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4" name="Picture 29" descr="Logo Unifor.png"/>
          <p:cNvPicPr/>
          <p:nvPr/>
        </p:nvPicPr>
        <p:blipFill>
          <a:blip r:embed="rId14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75" name="TextBox 30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Box 31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extBox 25"/>
          <p:cNvSpPr/>
          <p:nvPr/>
        </p:nvSpPr>
        <p:spPr>
          <a:xfrm>
            <a:off x="1298520" y="6446520"/>
            <a:ext cx="5877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Box 26"/>
          <p:cNvSpPr/>
          <p:nvPr/>
        </p:nvSpPr>
        <p:spPr>
          <a:xfrm>
            <a:off x="11201400" y="6446520"/>
            <a:ext cx="5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7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28"/>
          <p:cNvSpPr/>
          <p:nvPr/>
        </p:nvSpPr>
        <p:spPr>
          <a:xfrm>
            <a:off x="621720" y="841320"/>
            <a:ext cx="9873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Distribuição final alinhada ao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Rectangle 29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Rounded Rectangle 30"/>
          <p:cNvSpPr/>
          <p:nvPr/>
        </p:nvSpPr>
        <p:spPr>
          <a:xfrm>
            <a:off x="749880" y="1481400"/>
            <a:ext cx="3399480" cy="1305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Rectangle 31"/>
          <p:cNvSpPr/>
          <p:nvPr/>
        </p:nvSpPr>
        <p:spPr>
          <a:xfrm>
            <a:off x="749880" y="1481400"/>
            <a:ext cx="70920" cy="130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" name="TextBox 32"/>
          <p:cNvSpPr/>
          <p:nvPr/>
        </p:nvSpPr>
        <p:spPr>
          <a:xfrm>
            <a:off x="951120" y="1645920"/>
            <a:ext cx="7750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00897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Box 33"/>
          <p:cNvSpPr/>
          <p:nvPr/>
        </p:nvSpPr>
        <p:spPr>
          <a:xfrm>
            <a:off x="1710000" y="1645920"/>
            <a:ext cx="2146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Projeto funcional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34"/>
          <p:cNvSpPr/>
          <p:nvPr/>
        </p:nvSpPr>
        <p:spPr>
          <a:xfrm>
            <a:off x="951120" y="2103120"/>
            <a:ext cx="29239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Repositório organizado, aplicação executável, documentação e registro crítico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Rounded Rectangle 35"/>
          <p:cNvSpPr/>
          <p:nvPr/>
        </p:nvSpPr>
        <p:spPr>
          <a:xfrm>
            <a:off x="4480560" y="1481400"/>
            <a:ext cx="3399480" cy="1305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8" name="Rectangle 36"/>
          <p:cNvSpPr/>
          <p:nvPr/>
        </p:nvSpPr>
        <p:spPr>
          <a:xfrm>
            <a:off x="4480560" y="1481400"/>
            <a:ext cx="70920" cy="1305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" name="TextBox 37"/>
          <p:cNvSpPr/>
          <p:nvPr/>
        </p:nvSpPr>
        <p:spPr>
          <a:xfrm>
            <a:off x="4681800" y="1645920"/>
            <a:ext cx="7750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666a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38"/>
          <p:cNvSpPr/>
          <p:nvPr/>
        </p:nvSpPr>
        <p:spPr>
          <a:xfrm>
            <a:off x="5440680" y="1645920"/>
            <a:ext cx="2146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Pipeline CI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39"/>
          <p:cNvSpPr/>
          <p:nvPr/>
        </p:nvSpPr>
        <p:spPr>
          <a:xfrm>
            <a:off x="4681800" y="2103120"/>
            <a:ext cx="29239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Build, testes, qualidade, análise de falhas e artefatos/imagens publicados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Rounded Rectangle 40"/>
          <p:cNvSpPr/>
          <p:nvPr/>
        </p:nvSpPr>
        <p:spPr>
          <a:xfrm>
            <a:off x="8211240" y="1481400"/>
            <a:ext cx="3399480" cy="1305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Rectangle 41"/>
          <p:cNvSpPr/>
          <p:nvPr/>
        </p:nvSpPr>
        <p:spPr>
          <a:xfrm>
            <a:off x="8211240" y="1481400"/>
            <a:ext cx="70920" cy="1305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TextBox 42"/>
          <p:cNvSpPr/>
          <p:nvPr/>
        </p:nvSpPr>
        <p:spPr>
          <a:xfrm>
            <a:off x="8412480" y="1645920"/>
            <a:ext cx="7750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750a4"/>
                </a:solidFill>
                <a:latin typeface="Aptos"/>
              </a:rPr>
              <a:t>20%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43"/>
          <p:cNvSpPr/>
          <p:nvPr/>
        </p:nvSpPr>
        <p:spPr>
          <a:xfrm>
            <a:off x="9171360" y="1645920"/>
            <a:ext cx="2146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Containers/Compose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Box 44"/>
          <p:cNvSpPr/>
          <p:nvPr/>
        </p:nvSpPr>
        <p:spPr>
          <a:xfrm>
            <a:off x="8412480" y="2103120"/>
            <a:ext cx="29239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Dockerfile, compose.yaml, variáveis, volumes e health checks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Rounded Rectangle 45"/>
          <p:cNvSpPr/>
          <p:nvPr/>
        </p:nvSpPr>
        <p:spPr>
          <a:xfrm>
            <a:off x="749880" y="3264480"/>
            <a:ext cx="3399480" cy="1305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8" name="Rectangle 46"/>
          <p:cNvSpPr/>
          <p:nvPr/>
        </p:nvSpPr>
        <p:spPr>
          <a:xfrm>
            <a:off x="749880" y="3264480"/>
            <a:ext cx="70920" cy="1305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" name="TextBox 47"/>
          <p:cNvSpPr/>
          <p:nvPr/>
        </p:nvSpPr>
        <p:spPr>
          <a:xfrm>
            <a:off x="951120" y="3429000"/>
            <a:ext cx="7750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e88b26"/>
                </a:solidFill>
                <a:latin typeface="Aptos"/>
              </a:rPr>
              <a:t>15%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Box 48"/>
          <p:cNvSpPr/>
          <p:nvPr/>
        </p:nvSpPr>
        <p:spPr>
          <a:xfrm>
            <a:off x="1710000" y="3429000"/>
            <a:ext cx="2146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Entrega e operação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49"/>
          <p:cNvSpPr/>
          <p:nvPr/>
        </p:nvSpPr>
        <p:spPr>
          <a:xfrm>
            <a:off x="951120" y="3886200"/>
            <a:ext cx="29239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Release, rollback/plano, segurança básica, logs, métricas e governança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50"/>
          <p:cNvSpPr/>
          <p:nvPr/>
        </p:nvSpPr>
        <p:spPr>
          <a:xfrm>
            <a:off x="4480560" y="3264480"/>
            <a:ext cx="3399480" cy="1305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3" name="Rectangle 51"/>
          <p:cNvSpPr/>
          <p:nvPr/>
        </p:nvSpPr>
        <p:spPr>
          <a:xfrm>
            <a:off x="4480560" y="3264480"/>
            <a:ext cx="70920" cy="1305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52"/>
          <p:cNvSpPr/>
          <p:nvPr/>
        </p:nvSpPr>
        <p:spPr>
          <a:xfrm>
            <a:off x="4681800" y="3429000"/>
            <a:ext cx="7750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e7d32"/>
                </a:solidFill>
                <a:latin typeface="Aptos"/>
              </a:rPr>
              <a:t>10%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53"/>
          <p:cNvSpPr/>
          <p:nvPr/>
        </p:nvSpPr>
        <p:spPr>
          <a:xfrm>
            <a:off x="5440680" y="3429000"/>
            <a:ext cx="2146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Diagnóstico DevOps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54"/>
          <p:cNvSpPr/>
          <p:nvPr/>
        </p:nvSpPr>
        <p:spPr>
          <a:xfrm>
            <a:off x="4681800" y="3886200"/>
            <a:ext cx="29239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Gargalos, riscos, oportunidades de IA e proposta de evolução da automação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Rounded Rectangle 55"/>
          <p:cNvSpPr/>
          <p:nvPr/>
        </p:nvSpPr>
        <p:spPr>
          <a:xfrm>
            <a:off x="8211240" y="3264480"/>
            <a:ext cx="3399480" cy="1305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" name="Rectangle 56"/>
          <p:cNvSpPr/>
          <p:nvPr/>
        </p:nvSpPr>
        <p:spPr>
          <a:xfrm>
            <a:off x="8211240" y="3264480"/>
            <a:ext cx="70920" cy="130536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" name="TextBox 57"/>
          <p:cNvSpPr/>
          <p:nvPr/>
        </p:nvSpPr>
        <p:spPr>
          <a:xfrm>
            <a:off x="8412480" y="3429000"/>
            <a:ext cx="77508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b73636"/>
                </a:solidFill>
                <a:latin typeface="Aptos"/>
              </a:rPr>
              <a:t>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58"/>
          <p:cNvSpPr/>
          <p:nvPr/>
        </p:nvSpPr>
        <p:spPr>
          <a:xfrm>
            <a:off x="9171360" y="3429000"/>
            <a:ext cx="2146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Apresentação final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59"/>
          <p:cNvSpPr/>
          <p:nvPr/>
        </p:nvSpPr>
        <p:spPr>
          <a:xfrm>
            <a:off x="8412480" y="3886200"/>
            <a:ext cx="292392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Defesa técnica das decisões, uso de IA, tradeoffs e próximos passos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60"/>
          <p:cNvSpPr/>
          <p:nvPr/>
        </p:nvSpPr>
        <p:spPr>
          <a:xfrm>
            <a:off x="749880" y="5230440"/>
            <a:ext cx="106048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da rubrica: a IA pode apoiar o trabalho, mas a nota depende de evidências executáveis, validação humana, testes e decisões técnicas defendidas.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3" name="Picture 61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314" name="Picture 62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IA Aplicada ao SDLC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2"/>
          <p:cNvSpPr/>
          <p:nvPr/>
        </p:nvSpPr>
        <p:spPr>
          <a:xfrm>
            <a:off x="621720" y="841320"/>
            <a:ext cx="97819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Onde usar durante o fluxo DevOps sem perder rigor técnico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4"/>
          <p:cNvSpPr/>
          <p:nvPr/>
        </p:nvSpPr>
        <p:spPr>
          <a:xfrm>
            <a:off x="1298520" y="6446520"/>
            <a:ext cx="58773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5"/>
          <p:cNvSpPr/>
          <p:nvPr/>
        </p:nvSpPr>
        <p:spPr>
          <a:xfrm>
            <a:off x="11201400" y="6446520"/>
            <a:ext cx="5007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10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6"/>
          <p:cNvSpPr/>
          <p:nvPr/>
        </p:nvSpPr>
        <p:spPr>
          <a:xfrm>
            <a:off x="685800" y="1508760"/>
            <a:ext cx="3243960" cy="1506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" name="Rectangle 7"/>
          <p:cNvSpPr/>
          <p:nvPr/>
        </p:nvSpPr>
        <p:spPr>
          <a:xfrm>
            <a:off x="685800" y="1508760"/>
            <a:ext cx="61920" cy="15066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" name="TextBox 8"/>
          <p:cNvSpPr/>
          <p:nvPr/>
        </p:nvSpPr>
        <p:spPr>
          <a:xfrm>
            <a:off x="850320" y="1618560"/>
            <a:ext cx="29696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Planejar e entender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9"/>
          <p:cNvSpPr/>
          <p:nvPr/>
        </p:nvSpPr>
        <p:spPr>
          <a:xfrm>
            <a:off x="850320" y="1984320"/>
            <a:ext cx="292392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Refinar histórias e critérios de aceite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Resumir contexto técnico do repositório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Mapear riscos, dependências e premissas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ounded Rectangle 10"/>
          <p:cNvSpPr/>
          <p:nvPr/>
        </p:nvSpPr>
        <p:spPr>
          <a:xfrm>
            <a:off x="4251960" y="1508760"/>
            <a:ext cx="3243960" cy="1506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Rectangle 11"/>
          <p:cNvSpPr/>
          <p:nvPr/>
        </p:nvSpPr>
        <p:spPr>
          <a:xfrm>
            <a:off x="4251960" y="1508760"/>
            <a:ext cx="61920" cy="15066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4416480" y="1618560"/>
            <a:ext cx="29696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Codificar e refatorar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3"/>
          <p:cNvSpPr/>
          <p:nvPr/>
        </p:nvSpPr>
        <p:spPr>
          <a:xfrm>
            <a:off x="4416480" y="1984320"/>
            <a:ext cx="292392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implementação incremental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código legado ou desconhecido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Propor refatoração pequena e revisável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14"/>
          <p:cNvSpPr/>
          <p:nvPr/>
        </p:nvSpPr>
        <p:spPr>
          <a:xfrm>
            <a:off x="7818120" y="1508760"/>
            <a:ext cx="3243960" cy="1506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9" name="Rectangle 15"/>
          <p:cNvSpPr/>
          <p:nvPr/>
        </p:nvSpPr>
        <p:spPr>
          <a:xfrm>
            <a:off x="7818120" y="1508760"/>
            <a:ext cx="61920" cy="15066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0" name="TextBox 16"/>
          <p:cNvSpPr/>
          <p:nvPr/>
        </p:nvSpPr>
        <p:spPr>
          <a:xfrm>
            <a:off x="7982640" y="1618560"/>
            <a:ext cx="29696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Testar e revisar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17"/>
          <p:cNvSpPr/>
          <p:nvPr/>
        </p:nvSpPr>
        <p:spPr>
          <a:xfrm>
            <a:off x="7982640" y="1984320"/>
            <a:ext cx="292392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casos de teste e dados de borda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Revisar diff/PR com checklist explícito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Conferir cobertura, legibilidade e regressão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18"/>
          <p:cNvSpPr/>
          <p:nvPr/>
        </p:nvSpPr>
        <p:spPr>
          <a:xfrm>
            <a:off x="685800" y="3337560"/>
            <a:ext cx="3243960" cy="1506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3" name="Rectangle 19"/>
          <p:cNvSpPr/>
          <p:nvPr/>
        </p:nvSpPr>
        <p:spPr>
          <a:xfrm>
            <a:off x="685800" y="3337560"/>
            <a:ext cx="61920" cy="150660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4" name="TextBox 20"/>
          <p:cNvSpPr/>
          <p:nvPr/>
        </p:nvSpPr>
        <p:spPr>
          <a:xfrm>
            <a:off x="850320" y="3447360"/>
            <a:ext cx="29696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Automatizar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21"/>
          <p:cNvSpPr/>
          <p:nvPr/>
        </p:nvSpPr>
        <p:spPr>
          <a:xfrm>
            <a:off x="850320" y="3813120"/>
            <a:ext cx="292392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YAML de CI/CD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correção para falha de job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Documentar etapas e variáveis necessárias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Rounded Rectangle 22"/>
          <p:cNvSpPr/>
          <p:nvPr/>
        </p:nvSpPr>
        <p:spPr>
          <a:xfrm>
            <a:off x="4251960" y="3337560"/>
            <a:ext cx="3243960" cy="1506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" name="Rectangle 23"/>
          <p:cNvSpPr/>
          <p:nvPr/>
        </p:nvSpPr>
        <p:spPr>
          <a:xfrm>
            <a:off x="4251960" y="3337560"/>
            <a:ext cx="61920" cy="150660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8" name="TextBox 24"/>
          <p:cNvSpPr/>
          <p:nvPr/>
        </p:nvSpPr>
        <p:spPr>
          <a:xfrm>
            <a:off x="4416480" y="3447360"/>
            <a:ext cx="29696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Operar e observar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25"/>
          <p:cNvSpPr/>
          <p:nvPr/>
        </p:nvSpPr>
        <p:spPr>
          <a:xfrm>
            <a:off x="4416480" y="3813120"/>
            <a:ext cx="292392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Sumarizar logs e levantar hipóteses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Relacionar métrica, erro e deploy recente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runbook inicial para incidentes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ounded Rectangle 26"/>
          <p:cNvSpPr/>
          <p:nvPr/>
        </p:nvSpPr>
        <p:spPr>
          <a:xfrm>
            <a:off x="7818120" y="3337560"/>
            <a:ext cx="3243960" cy="1506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Rectangle 27"/>
          <p:cNvSpPr/>
          <p:nvPr/>
        </p:nvSpPr>
        <p:spPr>
          <a:xfrm>
            <a:off x="7818120" y="3337560"/>
            <a:ext cx="61920" cy="15066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2" name="TextBox 28"/>
          <p:cNvSpPr/>
          <p:nvPr/>
        </p:nvSpPr>
        <p:spPr>
          <a:xfrm>
            <a:off x="7982640" y="3447360"/>
            <a:ext cx="296964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Documentar decisão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Box 29"/>
          <p:cNvSpPr/>
          <p:nvPr/>
        </p:nvSpPr>
        <p:spPr>
          <a:xfrm>
            <a:off x="7982640" y="3813120"/>
            <a:ext cx="292392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Produzir README e release notes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Registrar prompts, saídas e validações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o que foi aceito, rejeitado e por quê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4" name="Picture 30" descr="ic_lightbulb.png"/>
          <p:cNvPicPr/>
          <p:nvPr/>
        </p:nvPicPr>
        <p:blipFill>
          <a:blip r:embed="rId1"/>
          <a:stretch/>
        </p:blipFill>
        <p:spPr>
          <a:xfrm>
            <a:off x="3429000" y="162756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345" name="Picture 31" descr="ic_code.png"/>
          <p:cNvPicPr/>
          <p:nvPr/>
        </p:nvPicPr>
        <p:blipFill>
          <a:blip r:embed="rId2"/>
          <a:stretch/>
        </p:blipFill>
        <p:spPr>
          <a:xfrm>
            <a:off x="6995160" y="162756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346" name="Picture 32" descr="ic_check.png"/>
          <p:cNvPicPr/>
          <p:nvPr/>
        </p:nvPicPr>
        <p:blipFill>
          <a:blip r:embed="rId3"/>
          <a:stretch/>
        </p:blipFill>
        <p:spPr>
          <a:xfrm>
            <a:off x="10561320" y="162756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347" name="Picture 33" descr="ic_gear.png"/>
          <p:cNvPicPr/>
          <p:nvPr/>
        </p:nvPicPr>
        <p:blipFill>
          <a:blip r:embed="rId4"/>
          <a:stretch/>
        </p:blipFill>
        <p:spPr>
          <a:xfrm>
            <a:off x="3429000" y="345636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348" name="Picture 34" descr="ic_eye.png"/>
          <p:cNvPicPr/>
          <p:nvPr/>
        </p:nvPicPr>
        <p:blipFill>
          <a:blip r:embed="rId5"/>
          <a:stretch/>
        </p:blipFill>
        <p:spPr>
          <a:xfrm>
            <a:off x="6995160" y="345636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349" name="Picture 35" descr="ic_document.png"/>
          <p:cNvPicPr/>
          <p:nvPr/>
        </p:nvPicPr>
        <p:blipFill>
          <a:blip r:embed="rId6"/>
          <a:stretch/>
        </p:blipFill>
        <p:spPr>
          <a:xfrm>
            <a:off x="10561320" y="3456360"/>
            <a:ext cx="345240" cy="345240"/>
          </a:xfrm>
          <a:prstGeom prst="rect">
            <a:avLst/>
          </a:prstGeom>
          <a:ln w="0">
            <a:noFill/>
          </a:ln>
        </p:spPr>
      </p:pic>
      <p:pic>
        <p:nvPicPr>
          <p:cNvPr id="350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351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Uso Seguro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2"/>
          <p:cNvSpPr/>
          <p:nvPr/>
        </p:nvSpPr>
        <p:spPr>
          <a:xfrm>
            <a:off x="621720" y="841320"/>
            <a:ext cx="97819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Regras práticas para laboratório, projeto e avaliação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" name="TextBox 4"/>
          <p:cNvSpPr/>
          <p:nvPr/>
        </p:nvSpPr>
        <p:spPr>
          <a:xfrm>
            <a:off x="1298520" y="6446520"/>
            <a:ext cx="58773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5"/>
          <p:cNvSpPr/>
          <p:nvPr/>
        </p:nvSpPr>
        <p:spPr>
          <a:xfrm>
            <a:off x="11201400" y="6446520"/>
            <a:ext cx="50076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11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Rounded Rectangle 6"/>
          <p:cNvSpPr/>
          <p:nvPr/>
        </p:nvSpPr>
        <p:spPr>
          <a:xfrm>
            <a:off x="685800" y="1508760"/>
            <a:ext cx="4889880" cy="159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" name="Rectangle 7"/>
          <p:cNvSpPr/>
          <p:nvPr/>
        </p:nvSpPr>
        <p:spPr>
          <a:xfrm>
            <a:off x="685800" y="1508760"/>
            <a:ext cx="61920" cy="15980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9" name="TextBox 8"/>
          <p:cNvSpPr/>
          <p:nvPr/>
        </p:nvSpPr>
        <p:spPr>
          <a:xfrm>
            <a:off x="850320" y="1618560"/>
            <a:ext cx="4615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Antes de perguntar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9"/>
          <p:cNvSpPr/>
          <p:nvPr/>
        </p:nvSpPr>
        <p:spPr>
          <a:xfrm>
            <a:off x="850320" y="1984320"/>
            <a:ext cx="45698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Não enviar segredos, tokens, chaves, dados pessoais ou código sensível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Fornecer contexto mínimo: objetivo, stack, erro, restrições e trecho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Pedir plano curto ou hipóteses antes de aceitar código pronto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10"/>
          <p:cNvSpPr/>
          <p:nvPr/>
        </p:nvSpPr>
        <p:spPr>
          <a:xfrm>
            <a:off x="5989320" y="1508760"/>
            <a:ext cx="4889880" cy="159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2" name="Rectangle 11"/>
          <p:cNvSpPr/>
          <p:nvPr/>
        </p:nvSpPr>
        <p:spPr>
          <a:xfrm>
            <a:off x="5989320" y="1508760"/>
            <a:ext cx="61920" cy="159804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3" name="TextBox 12"/>
          <p:cNvSpPr/>
          <p:nvPr/>
        </p:nvSpPr>
        <p:spPr>
          <a:xfrm>
            <a:off x="6153840" y="1618560"/>
            <a:ext cx="4615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Durante 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13"/>
          <p:cNvSpPr/>
          <p:nvPr/>
        </p:nvSpPr>
        <p:spPr>
          <a:xfrm>
            <a:off x="6153840" y="1984320"/>
            <a:ext cx="45698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Checar se a solução respeita arquitetura, dependências e padrões do projeto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Tratar saída da IA como sugestão, não como fonte de verdade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Investigar alucinações, comandos perigosos e permissões excessivas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Rounded Rectangle 14"/>
          <p:cNvSpPr/>
          <p:nvPr/>
        </p:nvSpPr>
        <p:spPr>
          <a:xfrm>
            <a:off x="685800" y="3493080"/>
            <a:ext cx="4889880" cy="159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6" name="Rectangle 15"/>
          <p:cNvSpPr/>
          <p:nvPr/>
        </p:nvSpPr>
        <p:spPr>
          <a:xfrm>
            <a:off x="685800" y="3493080"/>
            <a:ext cx="61920" cy="159804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7" name="TextBox 16"/>
          <p:cNvSpPr/>
          <p:nvPr/>
        </p:nvSpPr>
        <p:spPr>
          <a:xfrm>
            <a:off x="850320" y="3602880"/>
            <a:ext cx="4615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Depois de aplicar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17"/>
          <p:cNvSpPr/>
          <p:nvPr/>
        </p:nvSpPr>
        <p:spPr>
          <a:xfrm>
            <a:off x="850320" y="3968640"/>
            <a:ext cx="45698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Rodar testes, lint, build e validação manual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Revisar segurança: segredos, entrada de usuário, dependências e logs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Manter diff pequeno para facilitar revisão humana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ounded Rectangle 18"/>
          <p:cNvSpPr/>
          <p:nvPr/>
        </p:nvSpPr>
        <p:spPr>
          <a:xfrm>
            <a:off x="5989320" y="3493080"/>
            <a:ext cx="4889880" cy="159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0" name="Rectangle 19"/>
          <p:cNvSpPr/>
          <p:nvPr/>
        </p:nvSpPr>
        <p:spPr>
          <a:xfrm>
            <a:off x="5989320" y="3493080"/>
            <a:ext cx="61920" cy="159804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1" name="TextBox 20"/>
          <p:cNvSpPr/>
          <p:nvPr/>
        </p:nvSpPr>
        <p:spPr>
          <a:xfrm>
            <a:off x="6153840" y="3602880"/>
            <a:ext cx="4615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Evidência para avaliação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21"/>
          <p:cNvSpPr/>
          <p:nvPr/>
        </p:nvSpPr>
        <p:spPr>
          <a:xfrm>
            <a:off x="6153840" y="3968640"/>
            <a:ext cx="45698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Registrar prompt/contexto, saída útil, alterações aceitas e descartadas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Explicar validações feitas e correções humanas realizadas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Citar limites, riscos e próximos passos quando a IA foi usada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3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374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Aprofundamento em Segurança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complementar disponível nos materiais do EAD desta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7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pic>
        <p:nvPicPr>
          <p:cNvPr id="379" name="Picture 5" descr="nist_cover.png"/>
          <p:cNvPicPr/>
          <p:nvPr/>
        </p:nvPicPr>
        <p:blipFill>
          <a:blip r:embed="rId2"/>
          <a:stretch/>
        </p:blipFill>
        <p:spPr>
          <a:xfrm>
            <a:off x="2345400" y="1691640"/>
            <a:ext cx="1799640" cy="23295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80" name="TextBox 6"/>
          <p:cNvSpPr/>
          <p:nvPr/>
        </p:nvSpPr>
        <p:spPr>
          <a:xfrm>
            <a:off x="1828800" y="4114800"/>
            <a:ext cx="283248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NIST AI RMF 1.0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Artificial Intelligence Risk Management Framework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Box 7"/>
          <p:cNvSpPr/>
          <p:nvPr/>
        </p:nvSpPr>
        <p:spPr>
          <a:xfrm>
            <a:off x="914400" y="4645080"/>
            <a:ext cx="466128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Framework de referência para gerenciar riscos de sistemas de IA.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para pensar governança, confiabilidade e uso responsável no projeto integrador.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2" name="Picture 8" descr="owasp_cover.png"/>
          <p:cNvPicPr/>
          <p:nvPr/>
        </p:nvPicPr>
        <p:blipFill>
          <a:blip r:embed="rId3"/>
          <a:stretch/>
        </p:blipFill>
        <p:spPr>
          <a:xfrm>
            <a:off x="7420320" y="1691640"/>
            <a:ext cx="1799640" cy="23295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83" name="TextBox 9"/>
          <p:cNvSpPr/>
          <p:nvPr/>
        </p:nvSpPr>
        <p:spPr>
          <a:xfrm>
            <a:off x="6903720" y="4114800"/>
            <a:ext cx="2832480" cy="66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OWASP Top 10 for LLM Applications 2026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OWASP GenAI Security Project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Box 10"/>
          <p:cNvSpPr/>
          <p:nvPr/>
        </p:nvSpPr>
        <p:spPr>
          <a:xfrm>
            <a:off x="5989320" y="4645080"/>
            <a:ext cx="46612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Os 10 riscos mais críticos em aplicações que usam LLM.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Referência direta para prompt injection, vazamento de dados e alucinação.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Box 11"/>
          <p:cNvSpPr/>
          <p:nvPr/>
        </p:nvSpPr>
        <p:spPr>
          <a:xfrm>
            <a:off x="685800" y="5989320"/>
            <a:ext cx="10604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5e6c7a"/>
                </a:solidFill>
                <a:latin typeface="Aptos"/>
              </a:rPr>
              <a:t>Disponível na área de materiais de apoio do EAD — leitura recomendada antes do Encontro 5.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6" name="Picture 12" descr="Logo Unifor.png"/>
          <p:cNvPicPr/>
          <p:nvPr/>
        </p:nvPicPr>
        <p:blipFill>
          <a:blip r:embed="rId4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387" name="TextBox 13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Box 14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extBox 1"/>
          <p:cNvSpPr/>
          <p:nvPr/>
        </p:nvSpPr>
        <p:spPr>
          <a:xfrm>
            <a:off x="565200" y="36000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DORA 2026: O Que os Dados Dizem Sobre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2"/>
          <p:cNvSpPr/>
          <p:nvPr/>
        </p:nvSpPr>
        <p:spPr>
          <a:xfrm>
            <a:off x="591840" y="261504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Antes de usar IA em DevOps, veja o que a pesquisa mais citada da área já mediu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ectangle 3"/>
          <p:cNvSpPr/>
          <p:nvPr/>
        </p:nvSpPr>
        <p:spPr>
          <a:xfrm>
            <a:off x="618120" y="3015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9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393" name="Rounded Rectangle 5"/>
          <p:cNvSpPr/>
          <p:nvPr/>
        </p:nvSpPr>
        <p:spPr>
          <a:xfrm>
            <a:off x="591840" y="3404880"/>
            <a:ext cx="5278680" cy="136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4" name="Rectangle 6"/>
          <p:cNvSpPr/>
          <p:nvPr/>
        </p:nvSpPr>
        <p:spPr>
          <a:xfrm>
            <a:off x="591840" y="3404880"/>
            <a:ext cx="70920" cy="1360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5" name="TextBox 7"/>
          <p:cNvSpPr/>
          <p:nvPr/>
        </p:nvSpPr>
        <p:spPr>
          <a:xfrm>
            <a:off x="756360" y="3533040"/>
            <a:ext cx="4986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Adoção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Box 8"/>
          <p:cNvSpPr/>
          <p:nvPr/>
        </p:nvSpPr>
        <p:spPr>
          <a:xfrm>
            <a:off x="756360" y="3889440"/>
            <a:ext cx="4986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90% dos profissionais de tecnologia já usam IA no trabalho.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de 80% relatam ganho de produtividade individual.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Rounded Rectangle 9"/>
          <p:cNvSpPr/>
          <p:nvPr/>
        </p:nvSpPr>
        <p:spPr>
          <a:xfrm>
            <a:off x="6147000" y="3404880"/>
            <a:ext cx="5278680" cy="136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8" name="Rectangle 10"/>
          <p:cNvSpPr/>
          <p:nvPr/>
        </p:nvSpPr>
        <p:spPr>
          <a:xfrm>
            <a:off x="6147000" y="3404880"/>
            <a:ext cx="70920" cy="1360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9" name="TextBox 11"/>
          <p:cNvSpPr/>
          <p:nvPr/>
        </p:nvSpPr>
        <p:spPr>
          <a:xfrm>
            <a:off x="6311520" y="3533040"/>
            <a:ext cx="4986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Efeito colateral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12"/>
          <p:cNvSpPr/>
          <p:nvPr/>
        </p:nvSpPr>
        <p:spPr>
          <a:xfrm>
            <a:off x="6311520" y="3889440"/>
            <a:ext cx="4986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cada 25% de aumento na adoção de IA, throughput de entrega cai 1,5%.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Estabilidade de entrega cai 7,2% no mesmo cenário.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Rounded Rectangle 13"/>
          <p:cNvSpPr/>
          <p:nvPr/>
        </p:nvSpPr>
        <p:spPr>
          <a:xfrm>
            <a:off x="591840" y="4932000"/>
            <a:ext cx="5278680" cy="1186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2" name="Rectangle 14"/>
          <p:cNvSpPr/>
          <p:nvPr/>
        </p:nvSpPr>
        <p:spPr>
          <a:xfrm>
            <a:off x="591840" y="4932000"/>
            <a:ext cx="70920" cy="11865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3" name="TextBox 15"/>
          <p:cNvSpPr/>
          <p:nvPr/>
        </p:nvSpPr>
        <p:spPr>
          <a:xfrm>
            <a:off x="756360" y="5059800"/>
            <a:ext cx="4986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Paradoxo da produtividade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16"/>
          <p:cNvSpPr/>
          <p:nvPr/>
        </p:nvSpPr>
        <p:spPr>
          <a:xfrm>
            <a:off x="756360" y="5416560"/>
            <a:ext cx="4986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Incidentes por Pull Request subiram 242,7%.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tempo economizado na criação de código é realocado para auditoria e verificação.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Rounded Rectangle 17"/>
          <p:cNvSpPr/>
          <p:nvPr/>
        </p:nvSpPr>
        <p:spPr>
          <a:xfrm>
            <a:off x="6147000" y="4932000"/>
            <a:ext cx="5278680" cy="1186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6" name="Rectangle 18"/>
          <p:cNvSpPr/>
          <p:nvPr/>
        </p:nvSpPr>
        <p:spPr>
          <a:xfrm>
            <a:off x="6147000" y="4932000"/>
            <a:ext cx="70920" cy="118656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7" name="TextBox 19"/>
          <p:cNvSpPr/>
          <p:nvPr/>
        </p:nvSpPr>
        <p:spPr>
          <a:xfrm>
            <a:off x="6311520" y="5059800"/>
            <a:ext cx="4986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Conclusão do 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20"/>
          <p:cNvSpPr/>
          <p:nvPr/>
        </p:nvSpPr>
        <p:spPr>
          <a:xfrm>
            <a:off x="6311520" y="5416560"/>
            <a:ext cx="4986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é um amplificador, não substituto de boa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Só expande capacidade em times com testes sólidos, PRs pequenos e fluxo saudável.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9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410" name="TextBox 22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23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Rounded Rectangle 1"/>
          <p:cNvSpPr/>
          <p:nvPr/>
        </p:nvSpPr>
        <p:spPr>
          <a:xfrm>
            <a:off x="659880" y="1080000"/>
            <a:ext cx="10678680" cy="1258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4ea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3" name="Rectangle 1"/>
          <p:cNvSpPr/>
          <p:nvPr/>
        </p:nvSpPr>
        <p:spPr>
          <a:xfrm>
            <a:off x="659880" y="1080000"/>
            <a:ext cx="70920" cy="1360440"/>
          </a:xfrm>
          <a:prstGeom prst="rect">
            <a:avLst/>
          </a:prstGeom>
          <a:solidFill>
            <a:srgbClr val="81d4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4" name="TextBox 36"/>
          <p:cNvSpPr/>
          <p:nvPr/>
        </p:nvSpPr>
        <p:spPr>
          <a:xfrm>
            <a:off x="824400" y="1208160"/>
            <a:ext cx="4986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DORA (DevOps Research and Assessment)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40"/>
          <p:cNvSpPr/>
          <p:nvPr/>
        </p:nvSpPr>
        <p:spPr>
          <a:xfrm>
            <a:off x="824400" y="1564560"/>
            <a:ext cx="10154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Programa de pesquisa do Google Cloud que estuda o desempenho de equipes de engenharia de software e identifica as práticas capazes de impulsionar a entrega e as operações de tecnologia.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TextBox 1"/>
          <p:cNvSpPr/>
          <p:nvPr/>
        </p:nvSpPr>
        <p:spPr>
          <a:xfrm>
            <a:off x="777240" y="228600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1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TextBox 2"/>
          <p:cNvSpPr/>
          <p:nvPr/>
        </p:nvSpPr>
        <p:spPr>
          <a:xfrm>
            <a:off x="1920240" y="3090600"/>
            <a:ext cx="83188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10/09/2026 | Cultura DevOps, IA no SDLC e diagnóstico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Box 3"/>
          <p:cNvSpPr/>
          <p:nvPr/>
        </p:nvSpPr>
        <p:spPr>
          <a:xfrm>
            <a:off x="5532120" y="6263640"/>
            <a:ext cx="1186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14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9" name="Picture 4" descr="e1_magnifi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7960" cy="957960"/>
          </a:xfrm>
          <a:prstGeom prst="rect">
            <a:avLst/>
          </a:prstGeom>
          <a:ln w="0">
            <a:noFill/>
          </a:ln>
        </p:spPr>
      </p:pic>
      <p:pic>
        <p:nvPicPr>
          <p:cNvPr id="420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1 - Cultura e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2"/>
          <p:cNvSpPr/>
          <p:nvPr/>
        </p:nvSpPr>
        <p:spPr>
          <a:xfrm>
            <a:off x="621720" y="841320"/>
            <a:ext cx="9873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Base: cultura DevOps + diagnóstico de maturidade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Rounded Rectangle 4"/>
          <p:cNvSpPr/>
          <p:nvPr/>
        </p:nvSpPr>
        <p:spPr>
          <a:xfrm>
            <a:off x="685800" y="1417320"/>
            <a:ext cx="3426840" cy="200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Rectangle 5"/>
          <p:cNvSpPr/>
          <p:nvPr/>
        </p:nvSpPr>
        <p:spPr>
          <a:xfrm>
            <a:off x="685800" y="1417320"/>
            <a:ext cx="70920" cy="20095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6" name="TextBox 6"/>
          <p:cNvSpPr/>
          <p:nvPr/>
        </p:nvSpPr>
        <p:spPr>
          <a:xfrm>
            <a:off x="85032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Abertura e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7"/>
          <p:cNvSpPr/>
          <p:nvPr/>
        </p:nvSpPr>
        <p:spPr>
          <a:xfrm>
            <a:off x="850320" y="1920240"/>
            <a:ext cx="313416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da disciplina, conhecimentos prévios e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Papel da IA como apoio, não substituição da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Rounded Rectangle 8"/>
          <p:cNvSpPr/>
          <p:nvPr/>
        </p:nvSpPr>
        <p:spPr>
          <a:xfrm>
            <a:off x="4389120" y="1417320"/>
            <a:ext cx="3426840" cy="200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9" name="Rectangle 9"/>
          <p:cNvSpPr/>
          <p:nvPr/>
        </p:nvSpPr>
        <p:spPr>
          <a:xfrm>
            <a:off x="4389120" y="1417320"/>
            <a:ext cx="70920" cy="20095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0" name="TextBox 10"/>
          <p:cNvSpPr/>
          <p:nvPr/>
        </p:nvSpPr>
        <p:spPr>
          <a:xfrm>
            <a:off x="455364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Cultura e ciclo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11"/>
          <p:cNvSpPr/>
          <p:nvPr/>
        </p:nvSpPr>
        <p:spPr>
          <a:xfrm>
            <a:off x="4553640" y="1920240"/>
            <a:ext cx="313416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x Ops e responsabilidade compartilhada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Plan, Code, Build, Test, Release, Deploy, Operate, Monitor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apoia análise, código, testes, operação e feedback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ounded Rectangle 12"/>
          <p:cNvSpPr/>
          <p:nvPr/>
        </p:nvSpPr>
        <p:spPr>
          <a:xfrm>
            <a:off x="8092440" y="1417320"/>
            <a:ext cx="3426840" cy="200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3" name="Rectangle 13"/>
          <p:cNvSpPr/>
          <p:nvPr/>
        </p:nvSpPr>
        <p:spPr>
          <a:xfrm>
            <a:off x="8092440" y="1417320"/>
            <a:ext cx="70920" cy="20095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4" name="TextBox 14"/>
          <p:cNvSpPr/>
          <p:nvPr/>
        </p:nvSpPr>
        <p:spPr>
          <a:xfrm>
            <a:off x="825696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5"/>
          <p:cNvSpPr/>
          <p:nvPr/>
        </p:nvSpPr>
        <p:spPr>
          <a:xfrm>
            <a:off x="8256960" y="1920240"/>
            <a:ext cx="313416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Quick check em grupos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Mapear gargalos e tarefas manuais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oportunidades e riscos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hipóteses de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6"/>
          <p:cNvSpPr/>
          <p:nvPr/>
        </p:nvSpPr>
        <p:spPr>
          <a:xfrm>
            <a:off x="685800" y="3886200"/>
            <a:ext cx="10833480" cy="1232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7" name="Rectangle 17"/>
          <p:cNvSpPr/>
          <p:nvPr/>
        </p:nvSpPr>
        <p:spPr>
          <a:xfrm>
            <a:off x="685800" y="3886200"/>
            <a:ext cx="70920" cy="12322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8" name="TextBox 18"/>
          <p:cNvSpPr/>
          <p:nvPr/>
        </p:nvSpPr>
        <p:spPr>
          <a:xfrm>
            <a:off x="850320" y="4014360"/>
            <a:ext cx="1054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19"/>
          <p:cNvSpPr/>
          <p:nvPr/>
        </p:nvSpPr>
        <p:spPr>
          <a:xfrm>
            <a:off x="850320" y="4389120"/>
            <a:ext cx="1054080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Documento curto: diagnóstico DevOps + uma proposta priorizada, incluindo oportunidade de IA e validação necessária quando fizer sentido.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Box 20"/>
          <p:cNvSpPr/>
          <p:nvPr/>
        </p:nvSpPr>
        <p:spPr>
          <a:xfrm>
            <a:off x="1298520" y="6446520"/>
            <a:ext cx="5877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21"/>
          <p:cNvSpPr/>
          <p:nvPr/>
        </p:nvSpPr>
        <p:spPr>
          <a:xfrm>
            <a:off x="11201400" y="6446520"/>
            <a:ext cx="5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2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443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Conceitos Essenciais -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sustenta a prática do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4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448" name="Rounded Rectangle 5"/>
          <p:cNvSpPr/>
          <p:nvPr/>
        </p:nvSpPr>
        <p:spPr>
          <a:xfrm>
            <a:off x="731520" y="1417320"/>
            <a:ext cx="2073600" cy="4561200"/>
          </a:xfrm>
          <a:prstGeom prst="roundRect">
            <a:avLst>
              <a:gd name="adj" fmla="val 12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9" name="TextBox 6"/>
          <p:cNvSpPr/>
          <p:nvPr/>
        </p:nvSpPr>
        <p:spPr>
          <a:xfrm>
            <a:off x="685800" y="1490400"/>
            <a:ext cx="21650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7"/>
          <p:cNvSpPr/>
          <p:nvPr/>
        </p:nvSpPr>
        <p:spPr>
          <a:xfrm>
            <a:off x="731520" y="1929240"/>
            <a:ext cx="2073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Cultura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Rounded Rectangle 8"/>
          <p:cNvSpPr/>
          <p:nvPr/>
        </p:nvSpPr>
        <p:spPr>
          <a:xfrm>
            <a:off x="2898720" y="1417320"/>
            <a:ext cx="2073600" cy="4561200"/>
          </a:xfrm>
          <a:prstGeom prst="roundRect">
            <a:avLst>
              <a:gd name="adj" fmla="val 12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2" name="TextBox 9"/>
          <p:cNvSpPr/>
          <p:nvPr/>
        </p:nvSpPr>
        <p:spPr>
          <a:xfrm>
            <a:off x="2853000" y="1490400"/>
            <a:ext cx="21650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10"/>
          <p:cNvSpPr/>
          <p:nvPr/>
        </p:nvSpPr>
        <p:spPr>
          <a:xfrm>
            <a:off x="2898720" y="1929240"/>
            <a:ext cx="2073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Automação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Rounded Rectangle 11"/>
          <p:cNvSpPr/>
          <p:nvPr/>
        </p:nvSpPr>
        <p:spPr>
          <a:xfrm>
            <a:off x="5065920" y="1417320"/>
            <a:ext cx="2073600" cy="4561200"/>
          </a:xfrm>
          <a:prstGeom prst="roundRect">
            <a:avLst>
              <a:gd name="adj" fmla="val 12000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TextBox 12"/>
          <p:cNvSpPr/>
          <p:nvPr/>
        </p:nvSpPr>
        <p:spPr>
          <a:xfrm>
            <a:off x="5020200" y="1490400"/>
            <a:ext cx="21650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L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13"/>
          <p:cNvSpPr/>
          <p:nvPr/>
        </p:nvSpPr>
        <p:spPr>
          <a:xfrm>
            <a:off x="5065920" y="1929240"/>
            <a:ext cx="2073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Lean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Rounded Rectangle 14"/>
          <p:cNvSpPr/>
          <p:nvPr/>
        </p:nvSpPr>
        <p:spPr>
          <a:xfrm>
            <a:off x="7232760" y="1417320"/>
            <a:ext cx="2073600" cy="4561200"/>
          </a:xfrm>
          <a:prstGeom prst="roundRect">
            <a:avLst>
              <a:gd name="adj" fmla="val 12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8" name="TextBox 15"/>
          <p:cNvSpPr/>
          <p:nvPr/>
        </p:nvSpPr>
        <p:spPr>
          <a:xfrm>
            <a:off x="7187040" y="1490400"/>
            <a:ext cx="21650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Box 16"/>
          <p:cNvSpPr/>
          <p:nvPr/>
        </p:nvSpPr>
        <p:spPr>
          <a:xfrm>
            <a:off x="7232760" y="1929240"/>
            <a:ext cx="2073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Medição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Rounded Rectangle 17"/>
          <p:cNvSpPr/>
          <p:nvPr/>
        </p:nvSpPr>
        <p:spPr>
          <a:xfrm>
            <a:off x="9399960" y="1417320"/>
            <a:ext cx="2073600" cy="4561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1" name="TextBox 18"/>
          <p:cNvSpPr/>
          <p:nvPr/>
        </p:nvSpPr>
        <p:spPr>
          <a:xfrm>
            <a:off x="9354240" y="1490400"/>
            <a:ext cx="21650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Box 19"/>
          <p:cNvSpPr/>
          <p:nvPr/>
        </p:nvSpPr>
        <p:spPr>
          <a:xfrm>
            <a:off x="9399960" y="1929240"/>
            <a:ext cx="2073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Compartilhamento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63" name="Picture 32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464" name="TextBox 33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34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463"/>
          <p:cNvSpPr/>
          <p:nvPr/>
        </p:nvSpPr>
        <p:spPr>
          <a:xfrm>
            <a:off x="777240" y="2232360"/>
            <a:ext cx="1982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Foco nas pessoas, na colaboração e na responsabilidade compartilhada entre os times.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464"/>
          <p:cNvSpPr/>
          <p:nvPr/>
        </p:nvSpPr>
        <p:spPr>
          <a:xfrm>
            <a:off x="2944440" y="2232360"/>
            <a:ext cx="1982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Eliminar tarefas manuais repetitivas para evitar erros e acelerar processos.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465"/>
          <p:cNvSpPr/>
          <p:nvPr/>
        </p:nvSpPr>
        <p:spPr>
          <a:xfrm>
            <a:off x="5111640" y="2232360"/>
            <a:ext cx="1982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princípios enxutos para eliminar desperdícios e focar no que gera valor real para o cliente.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466"/>
          <p:cNvSpPr/>
          <p:nvPr/>
        </p:nvSpPr>
        <p:spPr>
          <a:xfrm>
            <a:off x="7278480" y="2232360"/>
            <a:ext cx="1982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Coletar dados e métricas (como as métricas DORA) para entender se os processos estão melhorando.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Box 467"/>
          <p:cNvSpPr/>
          <p:nvPr/>
        </p:nvSpPr>
        <p:spPr>
          <a:xfrm>
            <a:off x="9445680" y="2232360"/>
            <a:ext cx="198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Dividir conhecimento, sucessos e erros entre toda a organização.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DevOps em Uma Frase: Mensagem, Modelos e Métricas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amarrar CALMS ao vocabulário de decisão do dia a dia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7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475" name="Rounded Rectangle 20"/>
          <p:cNvSpPr/>
          <p:nvPr/>
        </p:nvSpPr>
        <p:spPr>
          <a:xfrm>
            <a:off x="685800" y="17499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6" name="Rectangle 21"/>
          <p:cNvSpPr/>
          <p:nvPr/>
        </p:nvSpPr>
        <p:spPr>
          <a:xfrm>
            <a:off x="685800" y="1749960"/>
            <a:ext cx="70920" cy="2073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7" name="TextBox 22"/>
          <p:cNvSpPr/>
          <p:nvPr/>
        </p:nvSpPr>
        <p:spPr>
          <a:xfrm>
            <a:off x="850320" y="187776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Mensagem central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23"/>
          <p:cNvSpPr/>
          <p:nvPr/>
        </p:nvSpPr>
        <p:spPr>
          <a:xfrm>
            <a:off x="850320" y="22345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não é uma ferramenta.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integração entre cultura, processo, automação e medição.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objetivo é reduzir tempo de ciclo sem perder qualidade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Rounded Rectangle 24"/>
          <p:cNvSpPr/>
          <p:nvPr/>
        </p:nvSpPr>
        <p:spPr>
          <a:xfrm>
            <a:off x="4389120" y="17499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0" name="Rectangle 25"/>
          <p:cNvSpPr/>
          <p:nvPr/>
        </p:nvSpPr>
        <p:spPr>
          <a:xfrm>
            <a:off x="4389120" y="1749960"/>
            <a:ext cx="70920" cy="2073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1" name="TextBox 26"/>
          <p:cNvSpPr/>
          <p:nvPr/>
        </p:nvSpPr>
        <p:spPr>
          <a:xfrm>
            <a:off x="4553640" y="187776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Modelos úteis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Box 27"/>
          <p:cNvSpPr/>
          <p:nvPr/>
        </p:nvSpPr>
        <p:spPr>
          <a:xfrm>
            <a:off x="4553640" y="22345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CALMS: cultura, automação, lean, medição e compartilhamento.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Fluxo de valor: do pedido ao software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rápido: erro descoberto cedo é mais barato.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Rounded Rectangle 28"/>
          <p:cNvSpPr/>
          <p:nvPr/>
        </p:nvSpPr>
        <p:spPr>
          <a:xfrm>
            <a:off x="8092440" y="17499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4" name="Rectangle 29"/>
          <p:cNvSpPr/>
          <p:nvPr/>
        </p:nvSpPr>
        <p:spPr>
          <a:xfrm>
            <a:off x="8092440" y="1749960"/>
            <a:ext cx="70920" cy="2073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5" name="TextBox 30"/>
          <p:cNvSpPr/>
          <p:nvPr/>
        </p:nvSpPr>
        <p:spPr>
          <a:xfrm>
            <a:off x="8256960" y="187776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 para citar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31"/>
          <p:cNvSpPr/>
          <p:nvPr/>
        </p:nvSpPr>
        <p:spPr>
          <a:xfrm>
            <a:off x="8256960" y="22345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Lead time for changes.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Deployment frequency.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Change failure rate.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Mean time to restore.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Use como linguagem de decisão, não como decoração.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7" name="Picture 32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488" name="TextBox 33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34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As 4 Métricas DORA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medir a saúde da entrega de software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9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494" name="Rounded Rectangle 5"/>
          <p:cNvSpPr/>
          <p:nvPr/>
        </p:nvSpPr>
        <p:spPr>
          <a:xfrm>
            <a:off x="685800" y="1508760"/>
            <a:ext cx="5278680" cy="136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5" name="Rectangle 6"/>
          <p:cNvSpPr/>
          <p:nvPr/>
        </p:nvSpPr>
        <p:spPr>
          <a:xfrm>
            <a:off x="685800" y="1508760"/>
            <a:ext cx="70920" cy="1360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TextBox 7"/>
          <p:cNvSpPr/>
          <p:nvPr/>
        </p:nvSpPr>
        <p:spPr>
          <a:xfrm>
            <a:off x="850320" y="1636920"/>
            <a:ext cx="4986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Deployment Frequency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TextBox 8"/>
          <p:cNvSpPr/>
          <p:nvPr/>
        </p:nvSpPr>
        <p:spPr>
          <a:xfrm>
            <a:off x="850320" y="1993320"/>
            <a:ext cx="4986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 que frequência o time entrega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sob demanda, múltiplas vezes ao dia.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Rounded Rectangle 9"/>
          <p:cNvSpPr/>
          <p:nvPr/>
        </p:nvSpPr>
        <p:spPr>
          <a:xfrm>
            <a:off x="6240960" y="1508760"/>
            <a:ext cx="5278680" cy="136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9" name="Rectangle 10"/>
          <p:cNvSpPr/>
          <p:nvPr/>
        </p:nvSpPr>
        <p:spPr>
          <a:xfrm>
            <a:off x="6240960" y="1508760"/>
            <a:ext cx="70920" cy="1360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0" name="TextBox 11"/>
          <p:cNvSpPr/>
          <p:nvPr/>
        </p:nvSpPr>
        <p:spPr>
          <a:xfrm>
            <a:off x="6405480" y="1636920"/>
            <a:ext cx="4986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Lead Time for Changes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12"/>
          <p:cNvSpPr/>
          <p:nvPr/>
        </p:nvSpPr>
        <p:spPr>
          <a:xfrm>
            <a:off x="6405480" y="1993320"/>
            <a:ext cx="4986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do commit até rodar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3"/>
          <p:cNvSpPr/>
          <p:nvPr/>
        </p:nvSpPr>
        <p:spPr>
          <a:xfrm>
            <a:off x="685800" y="3035880"/>
            <a:ext cx="5278680" cy="1186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3" name="Rectangle 14"/>
          <p:cNvSpPr/>
          <p:nvPr/>
        </p:nvSpPr>
        <p:spPr>
          <a:xfrm>
            <a:off x="685800" y="3035880"/>
            <a:ext cx="70920" cy="11865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TextBox 15"/>
          <p:cNvSpPr/>
          <p:nvPr/>
        </p:nvSpPr>
        <p:spPr>
          <a:xfrm>
            <a:off x="850320" y="3163680"/>
            <a:ext cx="4986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Change Failure Rate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TextBox 16"/>
          <p:cNvSpPr/>
          <p:nvPr/>
        </p:nvSpPr>
        <p:spPr>
          <a:xfrm>
            <a:off x="850320" y="3520440"/>
            <a:ext cx="4986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Percentual de mudanças que causam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entre 0% e 15%.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Rounded Rectangle 17"/>
          <p:cNvSpPr/>
          <p:nvPr/>
        </p:nvSpPr>
        <p:spPr>
          <a:xfrm>
            <a:off x="6240960" y="3035880"/>
            <a:ext cx="5278680" cy="1186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7" name="Rectangle 18"/>
          <p:cNvSpPr/>
          <p:nvPr/>
        </p:nvSpPr>
        <p:spPr>
          <a:xfrm>
            <a:off x="6240960" y="3035880"/>
            <a:ext cx="70920" cy="118656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8" name="TextBox 19"/>
          <p:cNvSpPr/>
          <p:nvPr/>
        </p:nvSpPr>
        <p:spPr>
          <a:xfrm>
            <a:off x="6405480" y="3163680"/>
            <a:ext cx="4986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Time to Restore (MTTR)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Box 20"/>
          <p:cNvSpPr/>
          <p:nvPr/>
        </p:nvSpPr>
        <p:spPr>
          <a:xfrm>
            <a:off x="6405480" y="3520440"/>
            <a:ext cx="4986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para recuperar de uma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0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511" name="TextBox 22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23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DORA na Prática: Benchmarks Reais de Mercado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Números públicos e verificáveis, não estimativa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1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517" name="Rounded Rectangle 5"/>
          <p:cNvSpPr/>
          <p:nvPr/>
        </p:nvSpPr>
        <p:spPr>
          <a:xfrm>
            <a:off x="68580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8" name="Rectangle 6"/>
          <p:cNvSpPr/>
          <p:nvPr/>
        </p:nvSpPr>
        <p:spPr>
          <a:xfrm>
            <a:off x="685800" y="1508760"/>
            <a:ext cx="70920" cy="2073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Amazon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8"/>
          <p:cNvSpPr/>
          <p:nvPr/>
        </p:nvSpPr>
        <p:spPr>
          <a:xfrm>
            <a:off x="85032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 a cada 11,7 segundos em média (~50 milhões de deploys/ano).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 popularizado por Gene Kim, autor de "The DevOps Handbook" — bibliografia oficial da disciplina.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Rounded Rectangle 9"/>
          <p:cNvSpPr/>
          <p:nvPr/>
        </p:nvSpPr>
        <p:spPr>
          <a:xfrm>
            <a:off x="438912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2" name="Rectangle 10"/>
          <p:cNvSpPr/>
          <p:nvPr/>
        </p:nvSpPr>
        <p:spPr>
          <a:xfrm>
            <a:off x="4389120" y="1508760"/>
            <a:ext cx="70920" cy="2073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Etsy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Saiu de 2 deploys por semana para mais de 50 deploys por dia após automatizar 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dos casos mais citados de transformação DevOps na literatura.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Rounded Rectangle 13"/>
          <p:cNvSpPr/>
          <p:nvPr/>
        </p:nvSpPr>
        <p:spPr>
          <a:xfrm>
            <a:off x="809244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6" name="Rectangle 14"/>
          <p:cNvSpPr/>
          <p:nvPr/>
        </p:nvSpPr>
        <p:spPr>
          <a:xfrm>
            <a:off x="8092440" y="1508760"/>
            <a:ext cx="70920" cy="20736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7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iFood e Netflix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16"/>
          <p:cNvSpPr/>
          <p:nvPr/>
        </p:nvSpPr>
        <p:spPr>
          <a:xfrm>
            <a:off x="825696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iFood: 1.500+ engenheiros, ~10 mil repositórios, deploy canário automatizado (Canary 2.0).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Netflix: milhares de deploys por dia.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530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o DevOps Surgiu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Origem e contexto do movimento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3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536" name="Rounded Rectangle 5"/>
          <p:cNvSpPr/>
          <p:nvPr/>
        </p:nvSpPr>
        <p:spPr>
          <a:xfrm>
            <a:off x="68580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7" name="Rectangle 6"/>
          <p:cNvSpPr/>
          <p:nvPr/>
        </p:nvSpPr>
        <p:spPr>
          <a:xfrm>
            <a:off x="685800" y="1508760"/>
            <a:ext cx="70920" cy="23112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8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muro da confusão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8"/>
          <p:cNvSpPr/>
          <p:nvPr/>
        </p:nvSpPr>
        <p:spPr>
          <a:xfrm>
            <a:off x="850320" y="1993320"/>
            <a:ext cx="3134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quer lançar rápido; Ops quer estabilidade — metas em conflito.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lado media sucesso de um jeito diferente e se culpava pelos problemas.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Passagem de bastão sem responsabilidade compartilhada gerava atrito.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9"/>
          <p:cNvSpPr/>
          <p:nvPr/>
        </p:nvSpPr>
        <p:spPr>
          <a:xfrm>
            <a:off x="438912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1" name="Rectangle 10"/>
          <p:cNvSpPr/>
          <p:nvPr/>
        </p:nvSpPr>
        <p:spPr>
          <a:xfrm>
            <a:off x="4389120" y="1508760"/>
            <a:ext cx="70920" cy="23112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2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Raízes do movimento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Box 12"/>
          <p:cNvSpPr/>
          <p:nvPr/>
        </p:nvSpPr>
        <p:spPr>
          <a:xfrm>
            <a:off x="455364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Agile (2001): entrega iterativa e feedback frequente.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Lean: eliminar desperdício, otimizar o fluxo de valor.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Gestão de operações: disciplina de mudança e confiabilidade.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Rounded Rectangle 13"/>
          <p:cNvSpPr/>
          <p:nvPr/>
        </p:nvSpPr>
        <p:spPr>
          <a:xfrm>
            <a:off x="809244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5" name="Rectangle 14"/>
          <p:cNvSpPr/>
          <p:nvPr/>
        </p:nvSpPr>
        <p:spPr>
          <a:xfrm>
            <a:off x="8092440" y="1508760"/>
            <a:ext cx="70920" cy="23112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6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Mudança de mentalidade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16"/>
          <p:cNvSpPr/>
          <p:nvPr/>
        </p:nvSpPr>
        <p:spPr>
          <a:xfrm>
            <a:off x="825696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 “jogar por cima do muro” para “you build it, you run it”.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Responsabilidade compartilhada do código até a operação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549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 de feedback,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5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555" name="Donut 5"/>
          <p:cNvSpPr/>
          <p:nvPr/>
        </p:nvSpPr>
        <p:spPr>
          <a:xfrm>
            <a:off x="4276080" y="1883520"/>
            <a:ext cx="3637080" cy="3637080"/>
          </a:xfrm>
          <a:prstGeom prst="donut">
            <a:avLst>
              <a:gd name="adj" fmla="val 2500"/>
            </a:avLst>
          </a:prstGeom>
          <a:solidFill>
            <a:srgbClr val="dae0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6" name="TextBox 6"/>
          <p:cNvSpPr/>
          <p:nvPr/>
        </p:nvSpPr>
        <p:spPr>
          <a:xfrm>
            <a:off x="4907160" y="3566160"/>
            <a:ext cx="2375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e6c7a"/>
                </a:solidFill>
                <a:latin typeface="Aptos"/>
              </a:rPr>
              <a:t>ciclo contínuo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Rounded Rectangle 7"/>
          <p:cNvSpPr/>
          <p:nvPr/>
        </p:nvSpPr>
        <p:spPr>
          <a:xfrm>
            <a:off x="5387040" y="1664280"/>
            <a:ext cx="1415160" cy="50976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8"/>
          <p:cNvSpPr/>
          <p:nvPr/>
        </p:nvSpPr>
        <p:spPr>
          <a:xfrm>
            <a:off x="6648120" y="2186640"/>
            <a:ext cx="1415160" cy="50976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Rounded Rectangle 9"/>
          <p:cNvSpPr/>
          <p:nvPr/>
        </p:nvSpPr>
        <p:spPr>
          <a:xfrm>
            <a:off x="7170120" y="3447360"/>
            <a:ext cx="1415160" cy="50976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Rounded Rectangle 10"/>
          <p:cNvSpPr/>
          <p:nvPr/>
        </p:nvSpPr>
        <p:spPr>
          <a:xfrm>
            <a:off x="6648120" y="4708080"/>
            <a:ext cx="1415160" cy="50976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Rounded Rectangle 11"/>
          <p:cNvSpPr/>
          <p:nvPr/>
        </p:nvSpPr>
        <p:spPr>
          <a:xfrm>
            <a:off x="5387040" y="5230440"/>
            <a:ext cx="1415160" cy="5097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Rounded Rectangle 12"/>
          <p:cNvSpPr/>
          <p:nvPr/>
        </p:nvSpPr>
        <p:spPr>
          <a:xfrm>
            <a:off x="4126320" y="4708080"/>
            <a:ext cx="1415160" cy="509760"/>
          </a:xfrm>
          <a:prstGeom prst="roundRect">
            <a:avLst>
              <a:gd name="adj" fmla="val 16667"/>
            </a:avLst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" name="Rounded Rectangle 13"/>
          <p:cNvSpPr/>
          <p:nvPr/>
        </p:nvSpPr>
        <p:spPr>
          <a:xfrm>
            <a:off x="3603960" y="3447360"/>
            <a:ext cx="1415160" cy="50976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Rounded Rectangle 14"/>
          <p:cNvSpPr/>
          <p:nvPr/>
        </p:nvSpPr>
        <p:spPr>
          <a:xfrm>
            <a:off x="4126320" y="2186640"/>
            <a:ext cx="1415160" cy="50976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" name="TextBox 15"/>
          <p:cNvSpPr/>
          <p:nvPr/>
        </p:nvSpPr>
        <p:spPr>
          <a:xfrm>
            <a:off x="1463040" y="5806440"/>
            <a:ext cx="923328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50" spc="-1" strike="noStrike">
                <a:solidFill>
                  <a:srgbClr val="0f172a"/>
                </a:solidFill>
                <a:latin typeface="Aptos"/>
              </a:rPr>
              <a:t>Monitor alimenta o próximo Plan: feedback rápido é o que fecha o loop e sustenta a melhoria contínua.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6" name="Picture 16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567" name="TextBox 17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18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DevOps: Cada Etapa em Detalhe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7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573" name="Rounded Rectangle 5"/>
          <p:cNvSpPr/>
          <p:nvPr/>
        </p:nvSpPr>
        <p:spPr>
          <a:xfrm>
            <a:off x="68580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4" name="Rectangle 6"/>
          <p:cNvSpPr/>
          <p:nvPr/>
        </p:nvSpPr>
        <p:spPr>
          <a:xfrm>
            <a:off x="685800" y="1508760"/>
            <a:ext cx="70920" cy="2073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5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desenvolvimento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8"/>
          <p:cNvSpPr/>
          <p:nvPr/>
        </p:nvSpPr>
        <p:spPr>
          <a:xfrm>
            <a:off x="85032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Plan: entender o problema e definir critérios de aceite.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Code: implementar em mudanças pequenas e revisáveis.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Build: compilar, empacotar e testar automaticamente.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Rounded Rectangle 9"/>
          <p:cNvSpPr/>
          <p:nvPr/>
        </p:nvSpPr>
        <p:spPr>
          <a:xfrm>
            <a:off x="438912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8" name="Rectangle 10"/>
          <p:cNvSpPr/>
          <p:nvPr/>
        </p:nvSpPr>
        <p:spPr>
          <a:xfrm>
            <a:off x="4389120" y="1508760"/>
            <a:ext cx="70920" cy="20736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operação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12"/>
          <p:cNvSpPr/>
          <p:nvPr/>
        </p:nvSpPr>
        <p:spPr>
          <a:xfrm>
            <a:off x="455364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Release: preparar e aprovar uma versão para entrega.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Deploy: colocar a versão no ambiente de destino.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Operate/Monitor: manter saudável e observar o comportamento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Rounded Rectangle 13"/>
          <p:cNvSpPr/>
          <p:nvPr/>
        </p:nvSpPr>
        <p:spPr>
          <a:xfrm>
            <a:off x="809244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2" name="Rectangle 14"/>
          <p:cNvSpPr/>
          <p:nvPr/>
        </p:nvSpPr>
        <p:spPr>
          <a:xfrm>
            <a:off x="8092440" y="1508760"/>
            <a:ext cx="70920" cy="2073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ponto de conexão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TextBox 16"/>
          <p:cNvSpPr/>
          <p:nvPr/>
        </p:nvSpPr>
        <p:spPr>
          <a:xfrm>
            <a:off x="825696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Monitor alimenta o próximo Plan — é um ciclo, não uma linha.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 é o que fecha o loop e sustenta a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586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Sinais de que um Time Precisa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debate: quais desses sintomas vocês já viveram?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9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592" name="Rounded Rectangle 5"/>
          <p:cNvSpPr/>
          <p:nvPr/>
        </p:nvSpPr>
        <p:spPr>
          <a:xfrm>
            <a:off x="68580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3" name="Rectangle 6"/>
          <p:cNvSpPr/>
          <p:nvPr/>
        </p:nvSpPr>
        <p:spPr>
          <a:xfrm>
            <a:off x="685800" y="1508760"/>
            <a:ext cx="70920" cy="23112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4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Sintomas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8"/>
          <p:cNvSpPr/>
          <p:nvPr/>
        </p:nvSpPr>
        <p:spPr>
          <a:xfrm>
            <a:off x="850320" y="1993320"/>
            <a:ext cx="3134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Deploys manuais, longos e concentrados em uma pessoa.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Medo de lançar em sexta-feira.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“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Funciona na minha máquina”, mas não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Falta de rastreabilidade: ninguém sabe o que mudou entre versões.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Rounded Rectangle 9"/>
          <p:cNvSpPr/>
          <p:nvPr/>
        </p:nvSpPr>
        <p:spPr>
          <a:xfrm>
            <a:off x="438912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7" name="Rectangle 10"/>
          <p:cNvSpPr/>
          <p:nvPr/>
        </p:nvSpPr>
        <p:spPr>
          <a:xfrm>
            <a:off x="4389120" y="1508760"/>
            <a:ext cx="70920" cy="23112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8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Custos escondidos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Box 12"/>
          <p:cNvSpPr/>
          <p:nvPr/>
        </p:nvSpPr>
        <p:spPr>
          <a:xfrm>
            <a:off x="455364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perdido coordenando quem pode mudar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Bugs descobertos tarde custam muito mais para corrigir.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Burnout de quem sempre “segura” a produção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Rounded Rectangle 13"/>
          <p:cNvSpPr/>
          <p:nvPr/>
        </p:nvSpPr>
        <p:spPr>
          <a:xfrm>
            <a:off x="809244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1" name="Rectangle 14"/>
          <p:cNvSpPr/>
          <p:nvPr/>
        </p:nvSpPr>
        <p:spPr>
          <a:xfrm>
            <a:off x="8092440" y="1508760"/>
            <a:ext cx="70920" cy="23112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2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Box 16"/>
          <p:cNvSpPr/>
          <p:nvPr/>
        </p:nvSpPr>
        <p:spPr>
          <a:xfrm>
            <a:off x="825696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desses sintomas vocês já viveram — como dev, como usuário ou como cliente?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mudaria se a responsabilidade fosse compartilhada desde o início?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0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605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IA no SDLC: Onde Ajuda e Onde Exige Cautela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Ganhos reais e riscos reais, lado a lado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1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611" name="Rounded Rectangle 5"/>
          <p:cNvSpPr/>
          <p:nvPr/>
        </p:nvSpPr>
        <p:spPr>
          <a:xfrm>
            <a:off x="68580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2" name="Rectangle 6"/>
          <p:cNvSpPr/>
          <p:nvPr/>
        </p:nvSpPr>
        <p:spPr>
          <a:xfrm>
            <a:off x="685800" y="1508760"/>
            <a:ext cx="70920" cy="2073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3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Ganhos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Box 8"/>
          <p:cNvSpPr/>
          <p:nvPr/>
        </p:nvSpPr>
        <p:spPr>
          <a:xfrm>
            <a:off x="85032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tempo em tarefas repetitivas: boilerplate, testes,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Acelera entendimento de código legado e análise de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Ajuda a levantar hipóteses e alternativas técnicas rapidamente.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Rounded Rectangle 9"/>
          <p:cNvSpPr/>
          <p:nvPr/>
        </p:nvSpPr>
        <p:spPr>
          <a:xfrm>
            <a:off x="438912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6" name="Rectangle 10"/>
          <p:cNvSpPr/>
          <p:nvPr/>
        </p:nvSpPr>
        <p:spPr>
          <a:xfrm>
            <a:off x="4389120" y="1508760"/>
            <a:ext cx="70920" cy="20736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7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TextBox 12"/>
          <p:cNvSpPr/>
          <p:nvPr/>
        </p:nvSpPr>
        <p:spPr>
          <a:xfrm>
            <a:off x="455364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 que não existem.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aceitar sem entender o que foi gerado.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dado sensível quando colado sem cuidado no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Rounded Rectangle 13"/>
          <p:cNvSpPr/>
          <p:nvPr/>
        </p:nvSpPr>
        <p:spPr>
          <a:xfrm>
            <a:off x="809244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0" name="Rectangle 14"/>
          <p:cNvSpPr/>
          <p:nvPr/>
        </p:nvSpPr>
        <p:spPr>
          <a:xfrm>
            <a:off x="8092440" y="1508760"/>
            <a:ext cx="70920" cy="2073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1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Regra prática da disciplina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16"/>
          <p:cNvSpPr/>
          <p:nvPr/>
        </p:nvSpPr>
        <p:spPr>
          <a:xfrm>
            <a:off x="825696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saída de IA é hipótese até ser validada por teste, execução ou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usa precisa conseguir explicar e defender o resultado.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624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1 - Diagnóstico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TextBox 2"/>
          <p:cNvSpPr/>
          <p:nvPr/>
        </p:nvSpPr>
        <p:spPr>
          <a:xfrm>
            <a:off x="621720" y="841320"/>
            <a:ext cx="9873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fazer, em 3 passos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9" name="Rounded Rectangle 4"/>
          <p:cNvSpPr/>
          <p:nvPr/>
        </p:nvSpPr>
        <p:spPr>
          <a:xfrm>
            <a:off x="731520" y="1417320"/>
            <a:ext cx="3426840" cy="1963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0" name="Rectangle 5"/>
          <p:cNvSpPr/>
          <p:nvPr/>
        </p:nvSpPr>
        <p:spPr>
          <a:xfrm>
            <a:off x="731520" y="1417320"/>
            <a:ext cx="70920" cy="19638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1" name="TextBox 6"/>
          <p:cNvSpPr/>
          <p:nvPr/>
        </p:nvSpPr>
        <p:spPr>
          <a:xfrm>
            <a:off x="89604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1 — Mapear o fluxo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7"/>
          <p:cNvSpPr/>
          <p:nvPr/>
        </p:nvSpPr>
        <p:spPr>
          <a:xfrm>
            <a:off x="896040" y="1920240"/>
            <a:ext cx="31341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uma demanda simples e real (do dia a dia do grupo ou de um sistema que vocês conhecem).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Liste as etapas até a entrega, marcando esperas, retrabalho e aprovações manuais.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Rounded Rectangle 8"/>
          <p:cNvSpPr/>
          <p:nvPr/>
        </p:nvSpPr>
        <p:spPr>
          <a:xfrm>
            <a:off x="4389120" y="1417320"/>
            <a:ext cx="3426840" cy="1963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4" name="Rectangle 9"/>
          <p:cNvSpPr/>
          <p:nvPr/>
        </p:nvSpPr>
        <p:spPr>
          <a:xfrm>
            <a:off x="4389120" y="1417320"/>
            <a:ext cx="70920" cy="19638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5" name="TextBox 10"/>
          <p:cNvSpPr/>
          <p:nvPr/>
        </p:nvSpPr>
        <p:spPr>
          <a:xfrm>
            <a:off x="455364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2 — Classificar gargalos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TextBox 11"/>
          <p:cNvSpPr/>
          <p:nvPr/>
        </p:nvSpPr>
        <p:spPr>
          <a:xfrm>
            <a:off x="4553640" y="1920240"/>
            <a:ext cx="31341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Para cada gargalo encontrado, classifique em cultura, processo ou ferramenta/dado.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Seja específico: "sistema lento" não é gargalo; "deploy manual sem revisão" é.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Rounded Rectangle 12"/>
          <p:cNvSpPr/>
          <p:nvPr/>
        </p:nvSpPr>
        <p:spPr>
          <a:xfrm>
            <a:off x="8046720" y="1417320"/>
            <a:ext cx="3426840" cy="1963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8" name="Rectangle 13"/>
          <p:cNvSpPr/>
          <p:nvPr/>
        </p:nvSpPr>
        <p:spPr>
          <a:xfrm>
            <a:off x="8046720" y="1417320"/>
            <a:ext cx="70920" cy="19638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9" name="TextBox 14"/>
          <p:cNvSpPr/>
          <p:nvPr/>
        </p:nvSpPr>
        <p:spPr>
          <a:xfrm>
            <a:off x="821124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3 — Priorizar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Box 15"/>
          <p:cNvSpPr/>
          <p:nvPr/>
        </p:nvSpPr>
        <p:spPr>
          <a:xfrm>
            <a:off x="8211240" y="1920240"/>
            <a:ext cx="31341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3 gargalos e registre impacto, esforço, risco e evidência para cada um.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1 melhoria final, indicando onde a IA ajuda e onde pode aumentar o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Rounded Rectangle 16"/>
          <p:cNvSpPr/>
          <p:nvPr/>
        </p:nvSpPr>
        <p:spPr>
          <a:xfrm>
            <a:off x="731520" y="3886200"/>
            <a:ext cx="10742040" cy="1232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2" name="Rectangle 17"/>
          <p:cNvSpPr/>
          <p:nvPr/>
        </p:nvSpPr>
        <p:spPr>
          <a:xfrm>
            <a:off x="731520" y="3886200"/>
            <a:ext cx="70920" cy="12322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3" name="TextBox 18"/>
          <p:cNvSpPr/>
          <p:nvPr/>
        </p:nvSpPr>
        <p:spPr>
          <a:xfrm>
            <a:off x="896040" y="4014360"/>
            <a:ext cx="104493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Antes de começar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19"/>
          <p:cNvSpPr/>
          <p:nvPr/>
        </p:nvSpPr>
        <p:spPr>
          <a:xfrm>
            <a:off x="896040" y="4389120"/>
            <a:ext cx="104493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Grupos de 4 a 5 integrantes, já formados no início do encontro.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Box 20"/>
          <p:cNvSpPr/>
          <p:nvPr/>
        </p:nvSpPr>
        <p:spPr>
          <a:xfrm>
            <a:off x="1298520" y="6446520"/>
            <a:ext cx="5877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21"/>
          <p:cNvSpPr/>
          <p:nvPr/>
        </p:nvSpPr>
        <p:spPr>
          <a:xfrm>
            <a:off x="11201400" y="6446520"/>
            <a:ext cx="5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7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648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1 - Diagnóstico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TextBox 2"/>
          <p:cNvSpPr/>
          <p:nvPr/>
        </p:nvSpPr>
        <p:spPr>
          <a:xfrm>
            <a:off x="621720" y="841320"/>
            <a:ext cx="9873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Perguntas guia, evidências e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Rounded Rectangle 4"/>
          <p:cNvSpPr/>
          <p:nvPr/>
        </p:nvSpPr>
        <p:spPr>
          <a:xfrm>
            <a:off x="731520" y="1417320"/>
            <a:ext cx="3426840" cy="1963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3" name="Rectangle 5"/>
          <p:cNvSpPr/>
          <p:nvPr/>
        </p:nvSpPr>
        <p:spPr>
          <a:xfrm>
            <a:off x="731520" y="1417320"/>
            <a:ext cx="70920" cy="19638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4" name="TextBox 6"/>
          <p:cNvSpPr/>
          <p:nvPr/>
        </p:nvSpPr>
        <p:spPr>
          <a:xfrm>
            <a:off x="89604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Box 7"/>
          <p:cNvSpPr/>
          <p:nvPr/>
        </p:nvSpPr>
        <p:spPr>
          <a:xfrm>
            <a:off x="896040" y="1920240"/>
            <a:ext cx="31341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há espera manual?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falta feedback?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falha só aparece tarde?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é dono da operação?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reduz esforço sem ocultar risco?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Rounded Rectangle 8"/>
          <p:cNvSpPr/>
          <p:nvPr/>
        </p:nvSpPr>
        <p:spPr>
          <a:xfrm>
            <a:off x="4389120" y="1417320"/>
            <a:ext cx="3426840" cy="1963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7" name="Rectangle 9"/>
          <p:cNvSpPr/>
          <p:nvPr/>
        </p:nvSpPr>
        <p:spPr>
          <a:xfrm>
            <a:off x="4389120" y="1417320"/>
            <a:ext cx="70920" cy="19638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8" name="TextBox 10"/>
          <p:cNvSpPr/>
          <p:nvPr/>
        </p:nvSpPr>
        <p:spPr>
          <a:xfrm>
            <a:off x="455364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11"/>
          <p:cNvSpPr/>
          <p:nvPr/>
        </p:nvSpPr>
        <p:spPr>
          <a:xfrm>
            <a:off x="4553640" y="1920240"/>
            <a:ext cx="31341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Mapa simples do fluxo atual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Lista de 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por gargalo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Oportunidade de IA e validação necessária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 que mostraria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Rounded Rectangle 12"/>
          <p:cNvSpPr/>
          <p:nvPr/>
        </p:nvSpPr>
        <p:spPr>
          <a:xfrm>
            <a:off x="8046720" y="1417320"/>
            <a:ext cx="3426840" cy="1963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1" name="Rectangle 13"/>
          <p:cNvSpPr/>
          <p:nvPr/>
        </p:nvSpPr>
        <p:spPr>
          <a:xfrm>
            <a:off x="8046720" y="1417320"/>
            <a:ext cx="70920" cy="19638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2" name="TextBox 14"/>
          <p:cNvSpPr/>
          <p:nvPr/>
        </p:nvSpPr>
        <p:spPr>
          <a:xfrm>
            <a:off x="821124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TextBox 15"/>
          <p:cNvSpPr/>
          <p:nvPr/>
        </p:nvSpPr>
        <p:spPr>
          <a:xfrm>
            <a:off x="8211240" y="1920240"/>
            <a:ext cx="313416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1 página por grupo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Priorizar 3 melhorias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Classificar em cultura, processo, ferramenta, dado ou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Rounded Rectangle 16"/>
          <p:cNvSpPr/>
          <p:nvPr/>
        </p:nvSpPr>
        <p:spPr>
          <a:xfrm>
            <a:off x="731520" y="3886200"/>
            <a:ext cx="10742040" cy="1232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5" name="Rectangle 17"/>
          <p:cNvSpPr/>
          <p:nvPr/>
        </p:nvSpPr>
        <p:spPr>
          <a:xfrm>
            <a:off x="731520" y="3886200"/>
            <a:ext cx="70920" cy="12322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6" name="TextBox 18"/>
          <p:cNvSpPr/>
          <p:nvPr/>
        </p:nvSpPr>
        <p:spPr>
          <a:xfrm>
            <a:off x="896040" y="4014360"/>
            <a:ext cx="104493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TextBox 19"/>
          <p:cNvSpPr/>
          <p:nvPr/>
        </p:nvSpPr>
        <p:spPr>
          <a:xfrm>
            <a:off x="896040" y="4389120"/>
            <a:ext cx="104493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 diagnóstico vira insumo para a proposta de implantação/evolução DevOps do projeto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TextBox 20"/>
          <p:cNvSpPr/>
          <p:nvPr/>
        </p:nvSpPr>
        <p:spPr>
          <a:xfrm>
            <a:off x="1298520" y="6446520"/>
            <a:ext cx="5877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21"/>
          <p:cNvSpPr/>
          <p:nvPr/>
        </p:nvSpPr>
        <p:spPr>
          <a:xfrm>
            <a:off x="11201400" y="6446520"/>
            <a:ext cx="5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0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671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Sem dados sensíveis no conteúdo do prompt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7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pic>
        <p:nvPicPr>
          <p:cNvPr id="676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0320" cy="400320"/>
          </a:xfrm>
          <a:prstGeom prst="rect">
            <a:avLst/>
          </a:prstGeom>
          <a:ln w="0">
            <a:noFill/>
          </a:ln>
        </p:spPr>
      </p:pic>
      <p:sp>
        <p:nvSpPr>
          <p:cNvPr id="677" name="Rounded Rectangle 6"/>
          <p:cNvSpPr/>
          <p:nvPr/>
        </p:nvSpPr>
        <p:spPr>
          <a:xfrm>
            <a:off x="685800" y="1508760"/>
            <a:ext cx="3426840" cy="195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Rectangle 7"/>
          <p:cNvSpPr/>
          <p:nvPr/>
        </p:nvSpPr>
        <p:spPr>
          <a:xfrm>
            <a:off x="685800" y="1508760"/>
            <a:ext cx="70920" cy="19548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9" name="TextBox 8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Mapear fluxo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Box 9"/>
          <p:cNvSpPr/>
          <p:nvPr/>
        </p:nvSpPr>
        <p:spPr>
          <a:xfrm>
            <a:off x="850320" y="1993320"/>
            <a:ext cx="313416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Atue como consultor DevOps. Com base no fluxo abaixo, identifique gargalos, riscos e pontos de automação.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Fluxo: &lt;descrever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Responda em tabela: etapa, gargalo, impacto, evidência, melhoria.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Rounded Rectangle 10"/>
          <p:cNvSpPr/>
          <p:nvPr/>
        </p:nvSpPr>
        <p:spPr>
          <a:xfrm>
            <a:off x="4389120" y="1508760"/>
            <a:ext cx="3426840" cy="195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2" name="Rectangle 11"/>
          <p:cNvSpPr/>
          <p:nvPr/>
        </p:nvSpPr>
        <p:spPr>
          <a:xfrm>
            <a:off x="4389120" y="1508760"/>
            <a:ext cx="70920" cy="19548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3" name="TextBox 12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Criticar melhoria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Box 13"/>
          <p:cNvSpPr/>
          <p:nvPr/>
        </p:nvSpPr>
        <p:spPr>
          <a:xfrm>
            <a:off x="4553640" y="1993320"/>
            <a:ext cx="31341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Avalie esta proposta de melhoria DevOps. Aponte premissas frágeis, riscos operacionais e como medir se funcionou.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Proposta: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Rounded Rectangle 14"/>
          <p:cNvSpPr/>
          <p:nvPr/>
        </p:nvSpPr>
        <p:spPr>
          <a:xfrm>
            <a:off x="8092440" y="1508760"/>
            <a:ext cx="3426840" cy="195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6" name="Rectangle 15"/>
          <p:cNvSpPr/>
          <p:nvPr/>
        </p:nvSpPr>
        <p:spPr>
          <a:xfrm>
            <a:off x="8092440" y="1508760"/>
            <a:ext cx="70920" cy="19548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7" name="TextBox 16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Definir métrica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Box 17"/>
          <p:cNvSpPr/>
          <p:nvPr/>
        </p:nvSpPr>
        <p:spPr>
          <a:xfrm>
            <a:off x="8256960" y="1993320"/>
            <a:ext cx="31341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Para o gargalo abaixo, sugira uma métrica simples, como coletar a evidência e qual decisão essa métrica apoiaria.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Gargalo: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9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690" name="TextBox 19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Box 20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1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2: Git e colaboração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9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696" name="Rounded Rectangle 5"/>
          <p:cNvSpPr/>
          <p:nvPr/>
        </p:nvSpPr>
        <p:spPr>
          <a:xfrm>
            <a:off x="685800" y="1508760"/>
            <a:ext cx="10833480" cy="136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7" name="Rectangle 6"/>
          <p:cNvSpPr/>
          <p:nvPr/>
        </p:nvSpPr>
        <p:spPr>
          <a:xfrm>
            <a:off x="685800" y="1508760"/>
            <a:ext cx="70920" cy="1360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8" name="TextBox 7"/>
          <p:cNvSpPr/>
          <p:nvPr/>
        </p:nvSpPr>
        <p:spPr>
          <a:xfrm>
            <a:off x="850320" y="1636920"/>
            <a:ext cx="1054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Box 8"/>
          <p:cNvSpPr/>
          <p:nvPr/>
        </p:nvSpPr>
        <p:spPr>
          <a:xfrm>
            <a:off x="850320" y="1993320"/>
            <a:ext cx="10540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Refinar a proposta de melhoria escolhida.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Escolher a aplicação e a stack do grupo.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ao próximo encontro: nome, stack e escopo mínimo para criar o código-base.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0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701" name="TextBox 10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Box 11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TextBox 1"/>
          <p:cNvSpPr/>
          <p:nvPr/>
        </p:nvSpPr>
        <p:spPr>
          <a:xfrm>
            <a:off x="777240" y="228600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2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Box 2"/>
          <p:cNvSpPr/>
          <p:nvPr/>
        </p:nvSpPr>
        <p:spPr>
          <a:xfrm>
            <a:off x="1920240" y="3090600"/>
            <a:ext cx="83188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11/09/2026 | Git, colaboração, qualidade e IA assistida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3"/>
          <p:cNvSpPr/>
          <p:nvPr/>
        </p:nvSpPr>
        <p:spPr>
          <a:xfrm>
            <a:off x="5532120" y="6263640"/>
            <a:ext cx="1186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29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06" name="Picture 4" descr="e2_git.png"/>
          <p:cNvPicPr/>
          <p:nvPr/>
        </p:nvPicPr>
        <p:blipFill>
          <a:blip r:embed="rId1"/>
          <a:stretch/>
        </p:blipFill>
        <p:spPr>
          <a:xfrm>
            <a:off x="5615640" y="914400"/>
            <a:ext cx="957960" cy="957960"/>
          </a:xfrm>
          <a:prstGeom prst="rect">
            <a:avLst/>
          </a:prstGeom>
          <a:ln w="0">
            <a:noFill/>
          </a:ln>
        </p:spPr>
      </p:pic>
      <p:pic>
        <p:nvPicPr>
          <p:cNvPr id="707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Encontro 2 — Git, Colaboração, Qualidade e IA Assistida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11/09/2026 • Do trabalho individual à mudança revisada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11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712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713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30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6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Entender → comparar exemplos → discutir → iniciar o projeto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Rounded Rectangle 12"/>
          <p:cNvSpPr/>
          <p:nvPr/>
        </p:nvSpPr>
        <p:spPr>
          <a:xfrm>
            <a:off x="77724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8" name="TextBox 13"/>
          <p:cNvSpPr/>
          <p:nvPr/>
        </p:nvSpPr>
        <p:spPr>
          <a:xfrm>
            <a:off x="85032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Modelo Git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TextBox 14"/>
          <p:cNvSpPr/>
          <p:nvPr/>
        </p:nvSpPr>
        <p:spPr>
          <a:xfrm>
            <a:off x="321876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Rounded Rectangle 15"/>
          <p:cNvSpPr/>
          <p:nvPr/>
        </p:nvSpPr>
        <p:spPr>
          <a:xfrm>
            <a:off x="351144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1" name="TextBox 16"/>
          <p:cNvSpPr/>
          <p:nvPr/>
        </p:nvSpPr>
        <p:spPr>
          <a:xfrm>
            <a:off x="358452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Histórico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TextBox 17"/>
          <p:cNvSpPr/>
          <p:nvPr/>
        </p:nvSpPr>
        <p:spPr>
          <a:xfrm>
            <a:off x="595260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Rounded Rectangle 18"/>
          <p:cNvSpPr/>
          <p:nvPr/>
        </p:nvSpPr>
        <p:spPr>
          <a:xfrm>
            <a:off x="624528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4" name="TextBox 19"/>
          <p:cNvSpPr/>
          <p:nvPr/>
        </p:nvSpPr>
        <p:spPr>
          <a:xfrm>
            <a:off x="631836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Colaboração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TextBox 20"/>
          <p:cNvSpPr/>
          <p:nvPr/>
        </p:nvSpPr>
        <p:spPr>
          <a:xfrm>
            <a:off x="868680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Rounded Rectangle 21"/>
          <p:cNvSpPr/>
          <p:nvPr/>
        </p:nvSpPr>
        <p:spPr>
          <a:xfrm>
            <a:off x="897948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7" name="TextBox 22"/>
          <p:cNvSpPr/>
          <p:nvPr/>
        </p:nvSpPr>
        <p:spPr>
          <a:xfrm>
            <a:off x="905256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Qualidade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TextBox 23"/>
          <p:cNvSpPr/>
          <p:nvPr/>
        </p:nvSpPr>
        <p:spPr>
          <a:xfrm>
            <a:off x="914400" y="3337560"/>
            <a:ext cx="10149120" cy="79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500" spc="-1" strike="noStrike">
                <a:solidFill>
                  <a:srgbClr val="132b42"/>
                </a:solidFill>
                <a:latin typeface="Aptos"/>
              </a:rPr>
              <a:t>Objetivo: transformar código individual em um fluxo colaborativo, rastreável e revisável, com Pull Requests e assistência crítica de IA.</a:t>
            </a:r>
            <a:endParaRPr b="0" lang="pt-BR" sz="2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Git x GitHub: Não São a Mesma Coisa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Ferramenta de versionamento e plataforma de colaboração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2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733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734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31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7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Git controla versões. GitHub organiza a colaboração em torno do repositório.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Rounded Rectangle 12"/>
          <p:cNvSpPr/>
          <p:nvPr/>
        </p:nvSpPr>
        <p:spPr>
          <a:xfrm>
            <a:off x="68580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9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0" name="TextBox 14"/>
          <p:cNvSpPr/>
          <p:nvPr/>
        </p:nvSpPr>
        <p:spPr>
          <a:xfrm>
            <a:off x="84132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Git • no computador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TextBox 15"/>
          <p:cNvSpPr/>
          <p:nvPr/>
        </p:nvSpPr>
        <p:spPr>
          <a:xfrm>
            <a:off x="84132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Histórico distribuído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Commits, branches e merges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Funciona sem GitHub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Rounded Rectangle 16"/>
          <p:cNvSpPr/>
          <p:nvPr/>
        </p:nvSpPr>
        <p:spPr>
          <a:xfrm>
            <a:off x="621792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3" name="Rectangle 17"/>
          <p:cNvSpPr/>
          <p:nvPr/>
        </p:nvSpPr>
        <p:spPr>
          <a:xfrm>
            <a:off x="621792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4" name="TextBox 18"/>
          <p:cNvSpPr/>
          <p:nvPr/>
        </p:nvSpPr>
        <p:spPr>
          <a:xfrm>
            <a:off x="637344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GitHub • remoto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TextBox 19"/>
          <p:cNvSpPr/>
          <p:nvPr/>
        </p:nvSpPr>
        <p:spPr>
          <a:xfrm>
            <a:off x="637344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Hospeda repositórios Git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PRs, Issues, Actions e Releases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Acesso e colaboração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O Fluxo Local do Git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Três áreas locais; a publicação é uma etapa separada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49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750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751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32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4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git add e git commit não enviam alterações ao GitHub.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Rounded Rectangle 12"/>
          <p:cNvSpPr/>
          <p:nvPr/>
        </p:nvSpPr>
        <p:spPr>
          <a:xfrm>
            <a:off x="77724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6" name="TextBox 13"/>
          <p:cNvSpPr/>
          <p:nvPr/>
        </p:nvSpPr>
        <p:spPr>
          <a:xfrm>
            <a:off x="850320" y="2139840"/>
            <a:ext cx="22579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Arquivos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Working directory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Box 14"/>
          <p:cNvSpPr/>
          <p:nvPr/>
        </p:nvSpPr>
        <p:spPr>
          <a:xfrm>
            <a:off x="321876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Rounded Rectangle 15"/>
          <p:cNvSpPr/>
          <p:nvPr/>
        </p:nvSpPr>
        <p:spPr>
          <a:xfrm>
            <a:off x="351144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9" name="TextBox 16"/>
          <p:cNvSpPr/>
          <p:nvPr/>
        </p:nvSpPr>
        <p:spPr>
          <a:xfrm>
            <a:off x="3584520" y="2139840"/>
            <a:ext cx="22579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Seleção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Staging area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TextBox 17"/>
          <p:cNvSpPr/>
          <p:nvPr/>
        </p:nvSpPr>
        <p:spPr>
          <a:xfrm>
            <a:off x="595260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Rounded Rectangle 18"/>
          <p:cNvSpPr/>
          <p:nvPr/>
        </p:nvSpPr>
        <p:spPr>
          <a:xfrm>
            <a:off x="624528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2" name="TextBox 19"/>
          <p:cNvSpPr/>
          <p:nvPr/>
        </p:nvSpPr>
        <p:spPr>
          <a:xfrm>
            <a:off x="6318360" y="2139840"/>
            <a:ext cx="22579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Commits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Repositório local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Box 20"/>
          <p:cNvSpPr/>
          <p:nvPr/>
        </p:nvSpPr>
        <p:spPr>
          <a:xfrm>
            <a:off x="868680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Rounded Rectangle 21"/>
          <p:cNvSpPr/>
          <p:nvPr/>
        </p:nvSpPr>
        <p:spPr>
          <a:xfrm>
            <a:off x="897948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5" name="TextBox 22"/>
          <p:cNvSpPr/>
          <p:nvPr/>
        </p:nvSpPr>
        <p:spPr>
          <a:xfrm>
            <a:off x="9052560" y="2139840"/>
            <a:ext cx="225792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Compartilhado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Remoto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TextBox 23"/>
          <p:cNvSpPr/>
          <p:nvPr/>
        </p:nvSpPr>
        <p:spPr>
          <a:xfrm>
            <a:off x="2737440" y="2929320"/>
            <a:ext cx="7342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800" spc="-1" strike="noStrike">
                <a:solidFill>
                  <a:srgbClr val="2a67a8"/>
                </a:solidFill>
                <a:latin typeface="Aptos"/>
              </a:rPr>
              <a:t>  </a:t>
            </a:r>
            <a:r>
              <a:rPr b="1" lang="pt-BR" sz="1800" spc="-1" strike="noStrike">
                <a:solidFill>
                  <a:srgbClr val="2a67a8"/>
                </a:solidFill>
                <a:latin typeface="Aptos"/>
              </a:rPr>
              <a:t>git add                              git commit                          git push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TextBox 24"/>
          <p:cNvSpPr/>
          <p:nvPr/>
        </p:nvSpPr>
        <p:spPr>
          <a:xfrm>
            <a:off x="914400" y="3840480"/>
            <a:ext cx="100576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400" spc="-1" strike="noStrike">
                <a:solidFill>
                  <a:srgbClr val="132b42"/>
                </a:solidFill>
                <a:latin typeface="Aptos"/>
              </a:rPr>
              <a:t>Edite arquivos → selecione o que entra na próxima versão → registre o commit → publique os commits.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Do Arquivo Alterado ao Commit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Inspecione antes de registrar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1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772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773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33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6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Um commit deve expressar uma mudança coerente.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2"/>
          <p:cNvSpPr/>
          <p:nvPr/>
        </p:nvSpPr>
        <p:spPr>
          <a:xfrm>
            <a:off x="685800" y="1600200"/>
            <a:ext cx="5302800" cy="2193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8" name="Rectangle 13"/>
          <p:cNvSpPr/>
          <p:nvPr/>
        </p:nvSpPr>
        <p:spPr>
          <a:xfrm>
            <a:off x="685800" y="1600200"/>
            <a:ext cx="54000" cy="21938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9" name="TextBox 14"/>
          <p:cNvSpPr/>
          <p:nvPr/>
        </p:nvSpPr>
        <p:spPr>
          <a:xfrm>
            <a:off x="84132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Antes do staging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TextBox 15"/>
          <p:cNvSpPr/>
          <p:nvPr/>
        </p:nvSpPr>
        <p:spPr>
          <a:xfrm>
            <a:off x="841320" y="2359080"/>
            <a:ext cx="4991760" cy="67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status: estado dos arquivos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diff: alterações fora do staging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Rounded Rectangle 16"/>
          <p:cNvSpPr/>
          <p:nvPr/>
        </p:nvSpPr>
        <p:spPr>
          <a:xfrm>
            <a:off x="6217920" y="1600200"/>
            <a:ext cx="5302800" cy="2193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2" name="Rectangle 17"/>
          <p:cNvSpPr/>
          <p:nvPr/>
        </p:nvSpPr>
        <p:spPr>
          <a:xfrm>
            <a:off x="6217920" y="1600200"/>
            <a:ext cx="54000" cy="219384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3" name="TextBox 18"/>
          <p:cNvSpPr/>
          <p:nvPr/>
        </p:nvSpPr>
        <p:spPr>
          <a:xfrm>
            <a:off x="637344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Antes do commit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TextBox 19"/>
          <p:cNvSpPr/>
          <p:nvPr/>
        </p:nvSpPr>
        <p:spPr>
          <a:xfrm>
            <a:off x="6373440" y="2359080"/>
            <a:ext cx="4991760" cy="94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diff --staged: revisão do staging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add: seleciona conteúdo, não move o arquivo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Rounded Rectangle 20"/>
          <p:cNvSpPr/>
          <p:nvPr/>
        </p:nvSpPr>
        <p:spPr>
          <a:xfrm>
            <a:off x="822960" y="3977640"/>
            <a:ext cx="10514880" cy="155376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6" name="TextBox 21"/>
          <p:cNvSpPr/>
          <p:nvPr/>
        </p:nvSpPr>
        <p:spPr>
          <a:xfrm>
            <a:off x="987480" y="4087440"/>
            <a:ext cx="10185840" cy="12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status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diff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add README.md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commit -m "docs: adiciona instruções"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Git Local x Git Remoto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Branches locais e referências de acompanhamento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0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791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792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34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5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origin é um apelido configurável para um remoto.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Rounded Rectangle 12"/>
          <p:cNvSpPr/>
          <p:nvPr/>
        </p:nvSpPr>
        <p:spPr>
          <a:xfrm>
            <a:off x="777240" y="1965960"/>
            <a:ext cx="331560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7" name="TextBox 13"/>
          <p:cNvSpPr/>
          <p:nvPr/>
        </p:nvSpPr>
        <p:spPr>
          <a:xfrm>
            <a:off x="850320" y="2139840"/>
            <a:ext cx="316908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Computador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main / feature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TextBox 14"/>
          <p:cNvSpPr/>
          <p:nvPr/>
        </p:nvSpPr>
        <p:spPr>
          <a:xfrm>
            <a:off x="412992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Rounded Rectangle 15"/>
          <p:cNvSpPr/>
          <p:nvPr/>
        </p:nvSpPr>
        <p:spPr>
          <a:xfrm>
            <a:off x="4422600" y="1965960"/>
            <a:ext cx="331560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0" name="TextBox 16"/>
          <p:cNvSpPr/>
          <p:nvPr/>
        </p:nvSpPr>
        <p:spPr>
          <a:xfrm>
            <a:off x="4495680" y="2139840"/>
            <a:ext cx="316908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push →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← </a:t>
            </a: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fetch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TextBox 17"/>
          <p:cNvSpPr/>
          <p:nvPr/>
        </p:nvSpPr>
        <p:spPr>
          <a:xfrm>
            <a:off x="7775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Rounded Rectangle 18"/>
          <p:cNvSpPr/>
          <p:nvPr/>
        </p:nvSpPr>
        <p:spPr>
          <a:xfrm>
            <a:off x="8067960" y="1965960"/>
            <a:ext cx="331560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3" name="TextBox 19"/>
          <p:cNvSpPr/>
          <p:nvPr/>
        </p:nvSpPr>
        <p:spPr>
          <a:xfrm>
            <a:off x="8141040" y="2139840"/>
            <a:ext cx="316908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GitHub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main / feature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Rounded Rectangle 20"/>
          <p:cNvSpPr/>
          <p:nvPr/>
        </p:nvSpPr>
        <p:spPr>
          <a:xfrm>
            <a:off x="822960" y="3520440"/>
            <a:ext cx="10514880" cy="191952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5" name="TextBox 21"/>
          <p:cNvSpPr/>
          <p:nvPr/>
        </p:nvSpPr>
        <p:spPr>
          <a:xfrm>
            <a:off x="987480" y="3630240"/>
            <a:ext cx="10185840" cy="12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remote -v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branch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branch -r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branch -a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O Que é origin/main?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O último estado conhecido do remoto está guardado localmente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09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810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811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35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4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origin/main é uma referência local; não é uma consulta ao GitHub em tempo real.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Rounded Rectangle 12"/>
          <p:cNvSpPr/>
          <p:nvPr/>
        </p:nvSpPr>
        <p:spPr>
          <a:xfrm>
            <a:off x="685800" y="1600200"/>
            <a:ext cx="5302800" cy="3382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6" name="Rectangle 13"/>
          <p:cNvSpPr/>
          <p:nvPr/>
        </p:nvSpPr>
        <p:spPr>
          <a:xfrm>
            <a:off x="685800" y="1600200"/>
            <a:ext cx="54000" cy="3382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7" name="TextBox 14"/>
          <p:cNvSpPr/>
          <p:nvPr/>
        </p:nvSpPr>
        <p:spPr>
          <a:xfrm>
            <a:off x="84132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No computador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TextBox 15"/>
          <p:cNvSpPr/>
          <p:nvPr/>
        </p:nvSpPr>
        <p:spPr>
          <a:xfrm>
            <a:off x="841320" y="2359080"/>
            <a:ext cx="499176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main → seu trabalho local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origin/main → estado conhecido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Ambas podem apontar para commits diferentes.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Rounded Rectangle 16"/>
          <p:cNvSpPr/>
          <p:nvPr/>
        </p:nvSpPr>
        <p:spPr>
          <a:xfrm>
            <a:off x="6217920" y="1600200"/>
            <a:ext cx="5302800" cy="3382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0" name="Rectangle 17"/>
          <p:cNvSpPr/>
          <p:nvPr/>
        </p:nvSpPr>
        <p:spPr>
          <a:xfrm>
            <a:off x="6217920" y="1600200"/>
            <a:ext cx="54000" cy="338256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1" name="TextBox 18"/>
          <p:cNvSpPr/>
          <p:nvPr/>
        </p:nvSpPr>
        <p:spPr>
          <a:xfrm>
            <a:off x="637344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No GitHub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TextBox 19"/>
          <p:cNvSpPr/>
          <p:nvPr/>
        </p:nvSpPr>
        <p:spPr>
          <a:xfrm>
            <a:off x="637344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main → branch do servidor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Pode avançar enquanto você está offline.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fetch atualiza a referência local.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Fetch, Pull e Push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Três ações, três efeitos diferentes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26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827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828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36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1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Antes de integrar, saiba qual branch está selecionada.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3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4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fetch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TextBox 15"/>
          <p:cNvSpPr/>
          <p:nvPr/>
        </p:nvSpPr>
        <p:spPr>
          <a:xfrm>
            <a:off x="841320" y="2359080"/>
            <a:ext cx="3147840" cy="94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Busca commits e atualiza referências remotas locais.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“</a:t>
            </a: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Veja o que mudou.”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7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8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pull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TextBox 19"/>
          <p:cNvSpPr/>
          <p:nvPr/>
        </p:nvSpPr>
        <p:spPr>
          <a:xfrm>
            <a:off x="4529160" y="2359080"/>
            <a:ext cx="3147840" cy="94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Busca e integra na branch atual.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“</a:t>
            </a: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Traga e integre comigo.”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1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2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push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extBox 23"/>
          <p:cNvSpPr/>
          <p:nvPr/>
        </p:nvSpPr>
        <p:spPr>
          <a:xfrm>
            <a:off x="8217360" y="2359080"/>
            <a:ext cx="3147840" cy="12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Envia commits e tenta atualizar referências no remoto.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“</a:t>
            </a: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Publique o que fiz.”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O Que o git fetch Faz?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Remoto avançou até C; sua main continua em B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47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848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849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37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2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fetch atualiza origin/main sem mover automaticamente a main.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53" name="Connector 12"/>
          <p:cNvCxnSpPr/>
          <p:nvPr/>
        </p:nvCxnSpPr>
        <p:spPr>
          <a:xfrm>
            <a:off x="1371600" y="2286000"/>
            <a:ext cx="146376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854" name="Connector 13"/>
          <p:cNvCxnSpPr/>
          <p:nvPr/>
        </p:nvCxnSpPr>
        <p:spPr>
          <a:xfrm>
            <a:off x="2834640" y="2286000"/>
            <a:ext cx="146376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sp>
        <p:nvSpPr>
          <p:cNvPr id="855" name="Oval 14"/>
          <p:cNvSpPr/>
          <p:nvPr/>
        </p:nvSpPr>
        <p:spPr>
          <a:xfrm>
            <a:off x="122544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6" name="TextBox 15"/>
          <p:cNvSpPr/>
          <p:nvPr/>
        </p:nvSpPr>
        <p:spPr>
          <a:xfrm>
            <a:off x="105156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Oval 16"/>
          <p:cNvSpPr/>
          <p:nvPr/>
        </p:nvSpPr>
        <p:spPr>
          <a:xfrm>
            <a:off x="268848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8" name="TextBox 17"/>
          <p:cNvSpPr/>
          <p:nvPr/>
        </p:nvSpPr>
        <p:spPr>
          <a:xfrm>
            <a:off x="251460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B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Oval 18"/>
          <p:cNvSpPr/>
          <p:nvPr/>
        </p:nvSpPr>
        <p:spPr>
          <a:xfrm>
            <a:off x="415152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0" name="TextBox 19"/>
          <p:cNvSpPr/>
          <p:nvPr/>
        </p:nvSpPr>
        <p:spPr>
          <a:xfrm>
            <a:off x="397764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TextBox 20"/>
          <p:cNvSpPr/>
          <p:nvPr/>
        </p:nvSpPr>
        <p:spPr>
          <a:xfrm>
            <a:off x="2468880" y="164592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main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TextBox 21"/>
          <p:cNvSpPr/>
          <p:nvPr/>
        </p:nvSpPr>
        <p:spPr>
          <a:xfrm>
            <a:off x="4023360" y="278892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origin/main após fetch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TextBox 22"/>
          <p:cNvSpPr/>
          <p:nvPr/>
        </p:nvSpPr>
        <p:spPr>
          <a:xfrm>
            <a:off x="6400800" y="1828800"/>
            <a:ext cx="4571280" cy="76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100" spc="-1" strike="noStrike">
                <a:solidFill>
                  <a:srgbClr val="0f172a"/>
                </a:solidFill>
                <a:latin typeface="Aptos"/>
              </a:rPr>
              <a:t>Antes: main e origin/main em B.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100" spc="-1" strike="noStrike">
                <a:solidFill>
                  <a:srgbClr val="0f172a"/>
                </a:solidFill>
                <a:latin typeface="Aptos"/>
              </a:rPr>
              <a:t>No servidor: main já está em C.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Rounded Rectangle 23"/>
          <p:cNvSpPr/>
          <p:nvPr/>
        </p:nvSpPr>
        <p:spPr>
          <a:xfrm>
            <a:off x="822960" y="4160520"/>
            <a:ext cx="10514880" cy="132516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5" name="TextBox 24"/>
          <p:cNvSpPr/>
          <p:nvPr/>
        </p:nvSpPr>
        <p:spPr>
          <a:xfrm>
            <a:off x="987480" y="4270320"/>
            <a:ext cx="10185840" cy="94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fetch origin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log main..origin/main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diff main origin/main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O Que o git pull Faz?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Busca + integração; neste exemplo, avanço fast-forward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69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870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871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38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4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--ff-only recusa a atualização se os históricos divergiram.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5" name="Connector 12"/>
          <p:cNvCxnSpPr/>
          <p:nvPr/>
        </p:nvCxnSpPr>
        <p:spPr>
          <a:xfrm>
            <a:off x="1463040" y="2377440"/>
            <a:ext cx="219528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876" name="Connector 13"/>
          <p:cNvCxnSpPr/>
          <p:nvPr/>
        </p:nvCxnSpPr>
        <p:spPr>
          <a:xfrm>
            <a:off x="3657600" y="2377440"/>
            <a:ext cx="219528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sp>
        <p:nvSpPr>
          <p:cNvPr id="877" name="Oval 14"/>
          <p:cNvSpPr/>
          <p:nvPr/>
        </p:nvSpPr>
        <p:spPr>
          <a:xfrm>
            <a:off x="1316880" y="223128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8" name="TextBox 15"/>
          <p:cNvSpPr/>
          <p:nvPr/>
        </p:nvSpPr>
        <p:spPr>
          <a:xfrm>
            <a:off x="1143000" y="257868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Oval 16"/>
          <p:cNvSpPr/>
          <p:nvPr/>
        </p:nvSpPr>
        <p:spPr>
          <a:xfrm>
            <a:off x="3511440" y="223128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0" name="TextBox 17"/>
          <p:cNvSpPr/>
          <p:nvPr/>
        </p:nvSpPr>
        <p:spPr>
          <a:xfrm>
            <a:off x="3337560" y="257868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B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Oval 18"/>
          <p:cNvSpPr/>
          <p:nvPr/>
        </p:nvSpPr>
        <p:spPr>
          <a:xfrm>
            <a:off x="5706000" y="223128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2" name="TextBox 19"/>
          <p:cNvSpPr/>
          <p:nvPr/>
        </p:nvSpPr>
        <p:spPr>
          <a:xfrm>
            <a:off x="5532120" y="257868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TextBox 20"/>
          <p:cNvSpPr/>
          <p:nvPr/>
        </p:nvSpPr>
        <p:spPr>
          <a:xfrm>
            <a:off x="3200400" y="169164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main antes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TextBox 21"/>
          <p:cNvSpPr/>
          <p:nvPr/>
        </p:nvSpPr>
        <p:spPr>
          <a:xfrm>
            <a:off x="4114800" y="3337560"/>
            <a:ext cx="37483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main e origin/main depois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Rounded Rectangle 22"/>
          <p:cNvSpPr/>
          <p:nvPr/>
        </p:nvSpPr>
        <p:spPr>
          <a:xfrm>
            <a:off x="822960" y="4206240"/>
            <a:ext cx="10514880" cy="109656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6" name="TextBox 23"/>
          <p:cNvSpPr/>
          <p:nvPr/>
        </p:nvSpPr>
        <p:spPr>
          <a:xfrm>
            <a:off x="987480" y="4316040"/>
            <a:ext cx="1018584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switch 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pull --ff-only origin 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TextBox 24"/>
          <p:cNvSpPr/>
          <p:nvPr/>
        </p:nvSpPr>
        <p:spPr>
          <a:xfrm>
            <a:off x="7680960" y="1828800"/>
            <a:ext cx="3291120" cy="13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100" spc="-1" strike="noStrike">
                <a:solidFill>
                  <a:srgbClr val="0f172a"/>
                </a:solidFill>
                <a:latin typeface="Aptos"/>
              </a:rPr>
              <a:t>pull pode integrar por merge ou rebase, conforme opções e configuração.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O Que é uma Branch?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Uma referência móvel para um commit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91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892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893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39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6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Criar uma branch não duplica todos os arquivos do projeto.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97" name="Connector 12"/>
          <p:cNvCxnSpPr/>
          <p:nvPr/>
        </p:nvCxnSpPr>
        <p:spPr>
          <a:xfrm>
            <a:off x="1463040" y="2286000"/>
            <a:ext cx="164664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898" name="Connector 13"/>
          <p:cNvCxnSpPr/>
          <p:nvPr/>
        </p:nvCxnSpPr>
        <p:spPr>
          <a:xfrm>
            <a:off x="3108960" y="2286000"/>
            <a:ext cx="164664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899" name="Connector 14"/>
          <p:cNvCxnSpPr/>
          <p:nvPr/>
        </p:nvCxnSpPr>
        <p:spPr>
          <a:xfrm>
            <a:off x="4754880" y="2286000"/>
            <a:ext cx="2012400" cy="100656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sp>
        <p:nvSpPr>
          <p:cNvPr id="900" name="Oval 15"/>
          <p:cNvSpPr/>
          <p:nvPr/>
        </p:nvSpPr>
        <p:spPr>
          <a:xfrm>
            <a:off x="131688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1" name="TextBox 16"/>
          <p:cNvSpPr/>
          <p:nvPr/>
        </p:nvSpPr>
        <p:spPr>
          <a:xfrm>
            <a:off x="114300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Oval 17"/>
          <p:cNvSpPr/>
          <p:nvPr/>
        </p:nvSpPr>
        <p:spPr>
          <a:xfrm>
            <a:off x="296280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3" name="TextBox 18"/>
          <p:cNvSpPr/>
          <p:nvPr/>
        </p:nvSpPr>
        <p:spPr>
          <a:xfrm>
            <a:off x="278892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B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Oval 19"/>
          <p:cNvSpPr/>
          <p:nvPr/>
        </p:nvSpPr>
        <p:spPr>
          <a:xfrm>
            <a:off x="460872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5" name="TextBox 20"/>
          <p:cNvSpPr/>
          <p:nvPr/>
        </p:nvSpPr>
        <p:spPr>
          <a:xfrm>
            <a:off x="443484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Oval 21"/>
          <p:cNvSpPr/>
          <p:nvPr/>
        </p:nvSpPr>
        <p:spPr>
          <a:xfrm>
            <a:off x="6620400" y="314568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7" name="TextBox 22"/>
          <p:cNvSpPr/>
          <p:nvPr/>
        </p:nvSpPr>
        <p:spPr>
          <a:xfrm>
            <a:off x="6446520" y="349308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D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TextBox 23"/>
          <p:cNvSpPr/>
          <p:nvPr/>
        </p:nvSpPr>
        <p:spPr>
          <a:xfrm>
            <a:off x="4389120" y="164592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main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TextBox 24"/>
          <p:cNvSpPr/>
          <p:nvPr/>
        </p:nvSpPr>
        <p:spPr>
          <a:xfrm>
            <a:off x="6400800" y="370332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feature/login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TextBox 25"/>
          <p:cNvSpPr/>
          <p:nvPr/>
        </p:nvSpPr>
        <p:spPr>
          <a:xfrm>
            <a:off x="8503920" y="1828800"/>
            <a:ext cx="2651040" cy="99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0f172a"/>
                </a:solidFill>
                <a:latin typeface="Aptos"/>
              </a:rPr>
              <a:t>Ao criar: ambas em C.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0f172a"/>
                </a:solidFill>
                <a:latin typeface="Aptos"/>
              </a:rPr>
              <a:t>Após commitar: só a feature avança.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Rounded Rectangle 26"/>
          <p:cNvSpPr/>
          <p:nvPr/>
        </p:nvSpPr>
        <p:spPr>
          <a:xfrm>
            <a:off x="822960" y="4663440"/>
            <a:ext cx="10514880" cy="68508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2" name="TextBox 27"/>
          <p:cNvSpPr/>
          <p:nvPr/>
        </p:nvSpPr>
        <p:spPr>
          <a:xfrm>
            <a:off x="987480" y="4773240"/>
            <a:ext cx="1018584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switch -c feature/login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O Que é HEAD?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Em uma branch, HEAD é o ponteiro que mostra onde estamos no Git neste momento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16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917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918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40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1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O asterisco em git branch identifica a branch selecionada.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Rounded Rectangle 12"/>
          <p:cNvSpPr/>
          <p:nvPr/>
        </p:nvSpPr>
        <p:spPr>
          <a:xfrm>
            <a:off x="777240" y="1965960"/>
            <a:ext cx="331560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3" name="TextBox 13"/>
          <p:cNvSpPr/>
          <p:nvPr/>
        </p:nvSpPr>
        <p:spPr>
          <a:xfrm>
            <a:off x="850320" y="2139840"/>
            <a:ext cx="3169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HEAD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TextBox 14"/>
          <p:cNvSpPr/>
          <p:nvPr/>
        </p:nvSpPr>
        <p:spPr>
          <a:xfrm>
            <a:off x="412992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Rounded Rectangle 15"/>
          <p:cNvSpPr/>
          <p:nvPr/>
        </p:nvSpPr>
        <p:spPr>
          <a:xfrm>
            <a:off x="4422600" y="1965960"/>
            <a:ext cx="331560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6" name="TextBox 16"/>
          <p:cNvSpPr/>
          <p:nvPr/>
        </p:nvSpPr>
        <p:spPr>
          <a:xfrm>
            <a:off x="4495680" y="2139840"/>
            <a:ext cx="3169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feature/login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TextBox 17"/>
          <p:cNvSpPr/>
          <p:nvPr/>
        </p:nvSpPr>
        <p:spPr>
          <a:xfrm>
            <a:off x="7775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Rounded Rectangle 18"/>
          <p:cNvSpPr/>
          <p:nvPr/>
        </p:nvSpPr>
        <p:spPr>
          <a:xfrm>
            <a:off x="8067960" y="1965960"/>
            <a:ext cx="331560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9" name="TextBox 19"/>
          <p:cNvSpPr/>
          <p:nvPr/>
        </p:nvSpPr>
        <p:spPr>
          <a:xfrm>
            <a:off x="8141040" y="2139840"/>
            <a:ext cx="3169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Commit D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Rounded Rectangle 20"/>
          <p:cNvSpPr/>
          <p:nvPr/>
        </p:nvSpPr>
        <p:spPr>
          <a:xfrm>
            <a:off x="822960" y="3383280"/>
            <a:ext cx="10514880" cy="132516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1" name="TextBox 21"/>
          <p:cNvSpPr/>
          <p:nvPr/>
        </p:nvSpPr>
        <p:spPr>
          <a:xfrm>
            <a:off x="987480" y="3493080"/>
            <a:ext cx="10185840" cy="94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branch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* feature/login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  </a:t>
            </a: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TextBox 22"/>
          <p:cNvSpPr/>
          <p:nvPr/>
        </p:nvSpPr>
        <p:spPr>
          <a:xfrm>
            <a:off x="914400" y="4983480"/>
            <a:ext cx="100576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700" spc="-1" strike="noStrike">
                <a:solidFill>
                  <a:srgbClr val="5e6c7a"/>
                </a:solidFill>
                <a:latin typeface="Aptos"/>
              </a:rPr>
              <a:t>Exceção: em detached HEAD, HEAD aponta diretamente para um commit.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Como Enxergar o Histórico do Git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Leia o hash, a intenção e as referências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36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937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938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41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1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O grafo mostra relações entre commits; os rótulos indicam referências.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Rounded Rectangle 12"/>
          <p:cNvSpPr/>
          <p:nvPr/>
        </p:nvSpPr>
        <p:spPr>
          <a:xfrm>
            <a:off x="822960" y="1645920"/>
            <a:ext cx="10514880" cy="146232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3" name="TextBox 13"/>
          <p:cNvSpPr/>
          <p:nvPr/>
        </p:nvSpPr>
        <p:spPr>
          <a:xfrm>
            <a:off x="987480" y="1755720"/>
            <a:ext cx="10185840" cy="94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log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log --oneline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log --oneline --graph --decorate --all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Rounded Rectangle 14"/>
          <p:cNvSpPr/>
          <p:nvPr/>
        </p:nvSpPr>
        <p:spPr>
          <a:xfrm>
            <a:off x="822960" y="3383280"/>
            <a:ext cx="10514880" cy="146232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5" name="TextBox 15"/>
          <p:cNvSpPr/>
          <p:nvPr/>
        </p:nvSpPr>
        <p:spPr>
          <a:xfrm>
            <a:off x="987480" y="3493080"/>
            <a:ext cx="10185840" cy="94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* 92ab341 (HEAD -&gt; feature/login) feat: adiciona login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* 73eab21 docs: atualiza README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* c82d110 (origin/main, main) chore: projeto inicial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Merge: Duas Situações Diferentes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O formato do histórico define como as linhas podem ser integradas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49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950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951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42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4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Pergunta-chave: a main está no mesmo caminho de commits da feature, sem ter avançado separadamente ?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Rounded Rectangle 12"/>
          <p:cNvSpPr/>
          <p:nvPr/>
        </p:nvSpPr>
        <p:spPr>
          <a:xfrm>
            <a:off x="68580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6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7" name="TextBox 14"/>
          <p:cNvSpPr/>
          <p:nvPr/>
        </p:nvSpPr>
        <p:spPr>
          <a:xfrm>
            <a:off x="84132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Fast-forward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TextBox 15"/>
          <p:cNvSpPr/>
          <p:nvPr/>
        </p:nvSpPr>
        <p:spPr>
          <a:xfrm>
            <a:off x="84132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main não avançou por outro caminho.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Basta mover sua referência até a feature.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Nenhum commit de junção é necessário.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Rounded Rectangle 16"/>
          <p:cNvSpPr/>
          <p:nvPr/>
        </p:nvSpPr>
        <p:spPr>
          <a:xfrm>
            <a:off x="621792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0" name="Rectangle 17"/>
          <p:cNvSpPr/>
          <p:nvPr/>
        </p:nvSpPr>
        <p:spPr>
          <a:xfrm>
            <a:off x="621792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1" name="TextBox 18"/>
          <p:cNvSpPr/>
          <p:nvPr/>
        </p:nvSpPr>
        <p:spPr>
          <a:xfrm>
            <a:off x="637344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Merge de três vias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TextBox 19"/>
          <p:cNvSpPr/>
          <p:nvPr/>
        </p:nvSpPr>
        <p:spPr>
          <a:xfrm>
            <a:off x="6373440" y="2359080"/>
            <a:ext cx="499176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As branches divergiram.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considera a base comum e as duas pontas.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 integração cria um commit com dois pais.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Fast-forward — Antes da Integração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A feature avançou; a main continua em B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66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967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968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43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1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Todos os commits da main já fazem parte do histórico da feature.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72" name="Connector 12"/>
          <p:cNvCxnSpPr/>
          <p:nvPr/>
        </p:nvCxnSpPr>
        <p:spPr>
          <a:xfrm>
            <a:off x="1554480" y="2743200"/>
            <a:ext cx="219492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973" name="Connector 13"/>
          <p:cNvCxnSpPr/>
          <p:nvPr/>
        </p:nvCxnSpPr>
        <p:spPr>
          <a:xfrm>
            <a:off x="3748680" y="2743200"/>
            <a:ext cx="219564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974" name="Connector 14"/>
          <p:cNvCxnSpPr/>
          <p:nvPr/>
        </p:nvCxnSpPr>
        <p:spPr>
          <a:xfrm>
            <a:off x="5943600" y="2743200"/>
            <a:ext cx="219528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sp>
        <p:nvSpPr>
          <p:cNvPr id="975" name="Oval 15"/>
          <p:cNvSpPr/>
          <p:nvPr/>
        </p:nvSpPr>
        <p:spPr>
          <a:xfrm>
            <a:off x="1408320" y="25970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6" name="TextBox 16"/>
          <p:cNvSpPr/>
          <p:nvPr/>
        </p:nvSpPr>
        <p:spPr>
          <a:xfrm>
            <a:off x="1234440" y="29444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Oval 17"/>
          <p:cNvSpPr/>
          <p:nvPr/>
        </p:nvSpPr>
        <p:spPr>
          <a:xfrm>
            <a:off x="3602880" y="25970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8" name="TextBox 18"/>
          <p:cNvSpPr/>
          <p:nvPr/>
        </p:nvSpPr>
        <p:spPr>
          <a:xfrm>
            <a:off x="3429000" y="29444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B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Oval 19"/>
          <p:cNvSpPr/>
          <p:nvPr/>
        </p:nvSpPr>
        <p:spPr>
          <a:xfrm>
            <a:off x="5797440" y="25970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0" name="TextBox 20"/>
          <p:cNvSpPr/>
          <p:nvPr/>
        </p:nvSpPr>
        <p:spPr>
          <a:xfrm>
            <a:off x="5623560" y="29444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Oval 21"/>
          <p:cNvSpPr/>
          <p:nvPr/>
        </p:nvSpPr>
        <p:spPr>
          <a:xfrm>
            <a:off x="7992000" y="25970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2" name="TextBox 22"/>
          <p:cNvSpPr/>
          <p:nvPr/>
        </p:nvSpPr>
        <p:spPr>
          <a:xfrm>
            <a:off x="7818120" y="29444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D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TextBox 23"/>
          <p:cNvSpPr/>
          <p:nvPr/>
        </p:nvSpPr>
        <p:spPr>
          <a:xfrm>
            <a:off x="3383280" y="201168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main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TextBox 24"/>
          <p:cNvSpPr/>
          <p:nvPr/>
        </p:nvSpPr>
        <p:spPr>
          <a:xfrm>
            <a:off x="7498080" y="333756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feature/login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Box 25"/>
          <p:cNvSpPr/>
          <p:nvPr/>
        </p:nvSpPr>
        <p:spPr>
          <a:xfrm>
            <a:off x="914400" y="4343400"/>
            <a:ext cx="10057680" cy="73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300" spc="-1" strike="noStrike">
                <a:solidFill>
                  <a:srgbClr val="132b42"/>
                </a:solidFill>
                <a:latin typeface="Aptos"/>
              </a:rPr>
              <a:t>C e D implementam login. Nenhum commit exclusivo foi adicionado à main.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Fast-forward — Depois da Integração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O conteúdo passa a incluir a feature; os commits existentes permanecem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9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990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991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44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4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Fast-forward move a referência da branch. Não cria um commit M.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95" name="Connector 12"/>
          <p:cNvCxnSpPr/>
          <p:nvPr/>
        </p:nvCxnSpPr>
        <p:spPr>
          <a:xfrm>
            <a:off x="1554480" y="2560320"/>
            <a:ext cx="219492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996" name="Connector 13"/>
          <p:cNvCxnSpPr/>
          <p:nvPr/>
        </p:nvCxnSpPr>
        <p:spPr>
          <a:xfrm>
            <a:off x="3748680" y="2560320"/>
            <a:ext cx="219564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997" name="Connector 14"/>
          <p:cNvCxnSpPr/>
          <p:nvPr/>
        </p:nvCxnSpPr>
        <p:spPr>
          <a:xfrm>
            <a:off x="5943600" y="2560320"/>
            <a:ext cx="219528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sp>
        <p:nvSpPr>
          <p:cNvPr id="998" name="Oval 15"/>
          <p:cNvSpPr/>
          <p:nvPr/>
        </p:nvSpPr>
        <p:spPr>
          <a:xfrm>
            <a:off x="1408320" y="241416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9" name="TextBox 16"/>
          <p:cNvSpPr/>
          <p:nvPr/>
        </p:nvSpPr>
        <p:spPr>
          <a:xfrm>
            <a:off x="1234440" y="276156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Oval 17"/>
          <p:cNvSpPr/>
          <p:nvPr/>
        </p:nvSpPr>
        <p:spPr>
          <a:xfrm>
            <a:off x="3602880" y="241416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1" name="TextBox 18"/>
          <p:cNvSpPr/>
          <p:nvPr/>
        </p:nvSpPr>
        <p:spPr>
          <a:xfrm>
            <a:off x="3429000" y="276156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B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Oval 19"/>
          <p:cNvSpPr/>
          <p:nvPr/>
        </p:nvSpPr>
        <p:spPr>
          <a:xfrm>
            <a:off x="5797440" y="241416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3" name="TextBox 20"/>
          <p:cNvSpPr/>
          <p:nvPr/>
        </p:nvSpPr>
        <p:spPr>
          <a:xfrm>
            <a:off x="5623560" y="276156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Oval 21"/>
          <p:cNvSpPr/>
          <p:nvPr/>
        </p:nvSpPr>
        <p:spPr>
          <a:xfrm>
            <a:off x="7992000" y="241416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5" name="TextBox 22"/>
          <p:cNvSpPr/>
          <p:nvPr/>
        </p:nvSpPr>
        <p:spPr>
          <a:xfrm>
            <a:off x="7818120" y="276156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D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TextBox 23"/>
          <p:cNvSpPr/>
          <p:nvPr/>
        </p:nvSpPr>
        <p:spPr>
          <a:xfrm>
            <a:off x="6766560" y="320040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main e feature/login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Rounded Rectangle 24"/>
          <p:cNvSpPr/>
          <p:nvPr/>
        </p:nvSpPr>
        <p:spPr>
          <a:xfrm>
            <a:off x="822960" y="4251960"/>
            <a:ext cx="10514880" cy="109656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8" name="TextBox 25"/>
          <p:cNvSpPr/>
          <p:nvPr/>
        </p:nvSpPr>
        <p:spPr>
          <a:xfrm>
            <a:off x="987480" y="4361760"/>
            <a:ext cx="1018584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switch 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merge --ff-only feature/login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Merge de Três Vias — Histórias Divergentes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A main avançou até C; a feature avançou até 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2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013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014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45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7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As três versões são: base comum B, ponta C e ponta E.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18" name="Connector 12"/>
          <p:cNvCxnSpPr/>
          <p:nvPr/>
        </p:nvCxnSpPr>
        <p:spPr>
          <a:xfrm>
            <a:off x="1463040" y="2286000"/>
            <a:ext cx="173808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019" name="Connector 13"/>
          <p:cNvCxnSpPr/>
          <p:nvPr/>
        </p:nvCxnSpPr>
        <p:spPr>
          <a:xfrm>
            <a:off x="3200400" y="2286000"/>
            <a:ext cx="228672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020" name="Connector 14"/>
          <p:cNvCxnSpPr/>
          <p:nvPr/>
        </p:nvCxnSpPr>
        <p:spPr>
          <a:xfrm>
            <a:off x="3200400" y="2286000"/>
            <a:ext cx="1829520" cy="118944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021" name="Connector 15"/>
          <p:cNvCxnSpPr/>
          <p:nvPr/>
        </p:nvCxnSpPr>
        <p:spPr>
          <a:xfrm>
            <a:off x="5029200" y="3474720"/>
            <a:ext cx="228672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sp>
        <p:nvSpPr>
          <p:cNvPr id="1022" name="Oval 16"/>
          <p:cNvSpPr/>
          <p:nvPr/>
        </p:nvSpPr>
        <p:spPr>
          <a:xfrm>
            <a:off x="131688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3" name="TextBox 17"/>
          <p:cNvSpPr/>
          <p:nvPr/>
        </p:nvSpPr>
        <p:spPr>
          <a:xfrm>
            <a:off x="114300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Oval 18"/>
          <p:cNvSpPr/>
          <p:nvPr/>
        </p:nvSpPr>
        <p:spPr>
          <a:xfrm>
            <a:off x="305424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5" name="TextBox 19"/>
          <p:cNvSpPr/>
          <p:nvPr/>
        </p:nvSpPr>
        <p:spPr>
          <a:xfrm>
            <a:off x="288036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B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Oval 20"/>
          <p:cNvSpPr/>
          <p:nvPr/>
        </p:nvSpPr>
        <p:spPr>
          <a:xfrm>
            <a:off x="534024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7" name="TextBox 21"/>
          <p:cNvSpPr/>
          <p:nvPr/>
        </p:nvSpPr>
        <p:spPr>
          <a:xfrm>
            <a:off x="516636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Oval 22"/>
          <p:cNvSpPr/>
          <p:nvPr/>
        </p:nvSpPr>
        <p:spPr>
          <a:xfrm>
            <a:off x="4883040" y="332856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9" name="TextBox 23"/>
          <p:cNvSpPr/>
          <p:nvPr/>
        </p:nvSpPr>
        <p:spPr>
          <a:xfrm>
            <a:off x="4709160" y="367596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D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Oval 24"/>
          <p:cNvSpPr/>
          <p:nvPr/>
        </p:nvSpPr>
        <p:spPr>
          <a:xfrm>
            <a:off x="7169040" y="332856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1" name="TextBox 25"/>
          <p:cNvSpPr/>
          <p:nvPr/>
        </p:nvSpPr>
        <p:spPr>
          <a:xfrm>
            <a:off x="6995160" y="367596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TextBox 26"/>
          <p:cNvSpPr/>
          <p:nvPr/>
        </p:nvSpPr>
        <p:spPr>
          <a:xfrm>
            <a:off x="5120640" y="164592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main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TextBox 27"/>
          <p:cNvSpPr/>
          <p:nvPr/>
        </p:nvSpPr>
        <p:spPr>
          <a:xfrm>
            <a:off x="7040880" y="397764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feature/login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TextBox 28"/>
          <p:cNvSpPr/>
          <p:nvPr/>
        </p:nvSpPr>
        <p:spPr>
          <a:xfrm>
            <a:off x="8595360" y="1920240"/>
            <a:ext cx="2559600" cy="12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0f172a"/>
                </a:solidFill>
                <a:latin typeface="Aptos"/>
              </a:rPr>
              <a:t>B → C: mudança na main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0f172a"/>
                </a:solidFill>
                <a:latin typeface="Aptos"/>
              </a:rPr>
              <a:t>B → E: mudança na feature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Merge de Três Vias — Commit de Junção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Git combina as mudanças relativas à base comum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8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039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040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46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3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M tem dois pais: C e E. As duas linhas continuam visíveis no histórico.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44" name="Connector 12"/>
          <p:cNvCxnSpPr/>
          <p:nvPr/>
        </p:nvCxnSpPr>
        <p:spPr>
          <a:xfrm>
            <a:off x="1280160" y="2194560"/>
            <a:ext cx="146376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045" name="Connector 13"/>
          <p:cNvCxnSpPr/>
          <p:nvPr/>
        </p:nvCxnSpPr>
        <p:spPr>
          <a:xfrm>
            <a:off x="2743200" y="2194560"/>
            <a:ext cx="182952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046" name="Connector 14"/>
          <p:cNvCxnSpPr/>
          <p:nvPr/>
        </p:nvCxnSpPr>
        <p:spPr>
          <a:xfrm>
            <a:off x="2743200" y="2194560"/>
            <a:ext cx="1463760" cy="109800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047" name="Connector 15"/>
          <p:cNvCxnSpPr/>
          <p:nvPr/>
        </p:nvCxnSpPr>
        <p:spPr>
          <a:xfrm>
            <a:off x="4206240" y="3291840"/>
            <a:ext cx="182952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048" name="Connector 16"/>
          <p:cNvCxnSpPr/>
          <p:nvPr/>
        </p:nvCxnSpPr>
        <p:spPr>
          <a:xfrm>
            <a:off x="4572000" y="2194560"/>
            <a:ext cx="338364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049" name="Connector 17"/>
          <p:cNvCxnSpPr/>
          <p:nvPr/>
        </p:nvCxnSpPr>
        <p:spPr>
          <a:xfrm flipV="1">
            <a:off x="6035040" y="2194560"/>
            <a:ext cx="1920600" cy="109800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sp>
        <p:nvSpPr>
          <p:cNvPr id="1050" name="Oval 18"/>
          <p:cNvSpPr/>
          <p:nvPr/>
        </p:nvSpPr>
        <p:spPr>
          <a:xfrm>
            <a:off x="1134000" y="204840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1" name="TextBox 19"/>
          <p:cNvSpPr/>
          <p:nvPr/>
        </p:nvSpPr>
        <p:spPr>
          <a:xfrm>
            <a:off x="960120" y="239580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Oval 20"/>
          <p:cNvSpPr/>
          <p:nvPr/>
        </p:nvSpPr>
        <p:spPr>
          <a:xfrm>
            <a:off x="2597040" y="204840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3" name="TextBox 21"/>
          <p:cNvSpPr/>
          <p:nvPr/>
        </p:nvSpPr>
        <p:spPr>
          <a:xfrm>
            <a:off x="2423160" y="239580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B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Oval 22"/>
          <p:cNvSpPr/>
          <p:nvPr/>
        </p:nvSpPr>
        <p:spPr>
          <a:xfrm>
            <a:off x="4425840" y="204840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5" name="TextBox 23"/>
          <p:cNvSpPr/>
          <p:nvPr/>
        </p:nvSpPr>
        <p:spPr>
          <a:xfrm>
            <a:off x="4251960" y="239580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Oval 24"/>
          <p:cNvSpPr/>
          <p:nvPr/>
        </p:nvSpPr>
        <p:spPr>
          <a:xfrm>
            <a:off x="4060080" y="314568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7" name="TextBox 25"/>
          <p:cNvSpPr/>
          <p:nvPr/>
        </p:nvSpPr>
        <p:spPr>
          <a:xfrm>
            <a:off x="3886200" y="349308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D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Oval 26"/>
          <p:cNvSpPr/>
          <p:nvPr/>
        </p:nvSpPr>
        <p:spPr>
          <a:xfrm>
            <a:off x="5888880" y="314568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9" name="TextBox 27"/>
          <p:cNvSpPr/>
          <p:nvPr/>
        </p:nvSpPr>
        <p:spPr>
          <a:xfrm>
            <a:off x="5715000" y="349308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Oval 28"/>
          <p:cNvSpPr/>
          <p:nvPr/>
        </p:nvSpPr>
        <p:spPr>
          <a:xfrm>
            <a:off x="7809120" y="204840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1" name="TextBox 29"/>
          <p:cNvSpPr/>
          <p:nvPr/>
        </p:nvSpPr>
        <p:spPr>
          <a:xfrm>
            <a:off x="7635240" y="239580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M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TextBox 30"/>
          <p:cNvSpPr/>
          <p:nvPr/>
        </p:nvSpPr>
        <p:spPr>
          <a:xfrm>
            <a:off x="7315200" y="155448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main após merge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Rounded Rectangle 31"/>
          <p:cNvSpPr/>
          <p:nvPr/>
        </p:nvSpPr>
        <p:spPr>
          <a:xfrm>
            <a:off x="822960" y="4389120"/>
            <a:ext cx="10514880" cy="95940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4" name="TextBox 32"/>
          <p:cNvSpPr/>
          <p:nvPr/>
        </p:nvSpPr>
        <p:spPr>
          <a:xfrm>
            <a:off x="987480" y="4498920"/>
            <a:ext cx="1018584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switch 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merge feature/login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Três Vias Não Significa Conflito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A divergência do histórico e a incompatibilidade de conteúdo são coisas distintas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68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069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070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47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3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Um merge pode ser automático e ainda introduzir um erro de comportamento.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Rounded Rectangle 12"/>
          <p:cNvSpPr/>
          <p:nvPr/>
        </p:nvSpPr>
        <p:spPr>
          <a:xfrm>
            <a:off x="68580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5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6" name="TextBox 14"/>
          <p:cNvSpPr/>
          <p:nvPr/>
        </p:nvSpPr>
        <p:spPr>
          <a:xfrm>
            <a:off x="84132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Integração automática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TextBox 15"/>
          <p:cNvSpPr/>
          <p:nvPr/>
        </p:nvSpPr>
        <p:spPr>
          <a:xfrm>
            <a:off x="84132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 altera uma instrução no README.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 adiciona testes em outro arquivo.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pode combinar sem intervenção.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Rounded Rectangle 16"/>
          <p:cNvSpPr/>
          <p:nvPr/>
        </p:nvSpPr>
        <p:spPr>
          <a:xfrm>
            <a:off x="621792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9" name="Rectangle 17"/>
          <p:cNvSpPr/>
          <p:nvPr/>
        </p:nvSpPr>
        <p:spPr>
          <a:xfrm>
            <a:off x="621792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0" name="TextBox 18"/>
          <p:cNvSpPr/>
          <p:nvPr/>
        </p:nvSpPr>
        <p:spPr>
          <a:xfrm>
            <a:off x="637344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Conflito textual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TextBox 19"/>
          <p:cNvSpPr/>
          <p:nvPr/>
        </p:nvSpPr>
        <p:spPr>
          <a:xfrm>
            <a:off x="637344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 define porta 8080.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 define porta 9090 na mesma linha.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 equipe decide o valor correto.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Fast-forward x Commit de Merge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Compare o efeito no grafo, não apenas o comando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85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086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087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48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0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A escolha também expressa a política de histórico da equipe.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Rounded Rectangle 12"/>
          <p:cNvSpPr/>
          <p:nvPr/>
        </p:nvSpPr>
        <p:spPr>
          <a:xfrm>
            <a:off x="68580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2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3" name="TextBox 14"/>
          <p:cNvSpPr/>
          <p:nvPr/>
        </p:nvSpPr>
        <p:spPr>
          <a:xfrm>
            <a:off x="84132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Fast-forward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TextBox 15"/>
          <p:cNvSpPr/>
          <p:nvPr/>
        </p:nvSpPr>
        <p:spPr>
          <a:xfrm>
            <a:off x="84132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Exige relação de ancestralidade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Não cria commit de junção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Histórico segue a mesma linha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Rounded Rectangle 16"/>
          <p:cNvSpPr/>
          <p:nvPr/>
        </p:nvSpPr>
        <p:spPr>
          <a:xfrm>
            <a:off x="621792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6" name="Rectangle 17"/>
          <p:cNvSpPr/>
          <p:nvPr/>
        </p:nvSpPr>
        <p:spPr>
          <a:xfrm>
            <a:off x="621792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7" name="TextBox 18"/>
          <p:cNvSpPr/>
          <p:nvPr/>
        </p:nvSpPr>
        <p:spPr>
          <a:xfrm>
            <a:off x="637344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Commit de merge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Box 19"/>
          <p:cNvSpPr/>
          <p:nvPr/>
        </p:nvSpPr>
        <p:spPr>
          <a:xfrm>
            <a:off x="637344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Registra uma integração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Tem dois pais no caso comum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Mantém as linhas das branches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O Que Mudam --ff-only e --no-ff?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Mesmo cenário: main em B e feature em D, sem divergência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02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103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104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49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7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--no-ff força uma junção quando há algo a integrar; --ff-only recusa divergência.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Rounded Rectangle 12"/>
          <p:cNvSpPr/>
          <p:nvPr/>
        </p:nvSpPr>
        <p:spPr>
          <a:xfrm>
            <a:off x="685800" y="1600200"/>
            <a:ext cx="5302800" cy="2468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9" name="Rectangle 13"/>
          <p:cNvSpPr/>
          <p:nvPr/>
        </p:nvSpPr>
        <p:spPr>
          <a:xfrm>
            <a:off x="685800" y="1600200"/>
            <a:ext cx="54000" cy="24681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0" name="TextBox 14"/>
          <p:cNvSpPr/>
          <p:nvPr/>
        </p:nvSpPr>
        <p:spPr>
          <a:xfrm>
            <a:off x="84132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--ff-only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TextBox 15"/>
          <p:cNvSpPr/>
          <p:nvPr/>
        </p:nvSpPr>
        <p:spPr>
          <a:xfrm>
            <a:off x="841320" y="2359080"/>
            <a:ext cx="499176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 — B — C — D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main avança até D.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Se main tivesse outro caminho, o comando falharia.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Rounded Rectangle 16"/>
          <p:cNvSpPr/>
          <p:nvPr/>
        </p:nvSpPr>
        <p:spPr>
          <a:xfrm>
            <a:off x="6217920" y="1600200"/>
            <a:ext cx="5302800" cy="2468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3" name="Rectangle 17"/>
          <p:cNvSpPr/>
          <p:nvPr/>
        </p:nvSpPr>
        <p:spPr>
          <a:xfrm>
            <a:off x="6217920" y="1600200"/>
            <a:ext cx="54000" cy="246816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4" name="TextBox 18"/>
          <p:cNvSpPr/>
          <p:nvPr/>
        </p:nvSpPr>
        <p:spPr>
          <a:xfrm>
            <a:off x="637344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--no-ff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TextBox 19"/>
          <p:cNvSpPr/>
          <p:nvPr/>
        </p:nvSpPr>
        <p:spPr>
          <a:xfrm>
            <a:off x="6373440" y="2359080"/>
            <a:ext cx="499176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Preserva C e D e cria M.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M registra explicitamente a integração da feature.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Útil para destacar a fronteira da mudança.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Rounded Rectangle 20"/>
          <p:cNvSpPr/>
          <p:nvPr/>
        </p:nvSpPr>
        <p:spPr>
          <a:xfrm>
            <a:off x="822960" y="4434840"/>
            <a:ext cx="10514880" cy="100512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7" name="TextBox 21"/>
          <p:cNvSpPr/>
          <p:nvPr/>
        </p:nvSpPr>
        <p:spPr>
          <a:xfrm>
            <a:off x="987480" y="4544640"/>
            <a:ext cx="1018584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merge --ff-only feature/login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merge --no-ff feature/login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Squash: Uma Mudança, Um Novo Commit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Não confunda condensar mudanças com preservar a junção das branches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21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122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123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50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Rectangle 10"/>
          <p:cNvSpPr/>
          <p:nvPr/>
        </p:nvSpPr>
        <p:spPr>
          <a:xfrm>
            <a:off x="720000" y="5580000"/>
            <a:ext cx="10800720" cy="609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6" name="TextBox 11"/>
          <p:cNvSpPr/>
          <p:nvPr/>
        </p:nvSpPr>
        <p:spPr>
          <a:xfrm>
            <a:off x="822960" y="5656680"/>
            <a:ext cx="1051488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O commit S não tem a ponta da feature como segundo pai. Merge normal: junta as histórias da branch – Squash merge: Junta mudanças mas não conecta as histórias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27" name="Connector 12"/>
          <p:cNvCxnSpPr/>
          <p:nvPr/>
        </p:nvCxnSpPr>
        <p:spPr>
          <a:xfrm>
            <a:off x="1463040" y="2286000"/>
            <a:ext cx="182952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128" name="Connector 13"/>
          <p:cNvCxnSpPr/>
          <p:nvPr/>
        </p:nvCxnSpPr>
        <p:spPr>
          <a:xfrm>
            <a:off x="3291840" y="2286000"/>
            <a:ext cx="384120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129" name="Connector 14"/>
          <p:cNvCxnSpPr/>
          <p:nvPr/>
        </p:nvCxnSpPr>
        <p:spPr>
          <a:xfrm>
            <a:off x="3291840" y="2286000"/>
            <a:ext cx="1463760" cy="118944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130" name="Connector 15"/>
          <p:cNvCxnSpPr/>
          <p:nvPr/>
        </p:nvCxnSpPr>
        <p:spPr>
          <a:xfrm>
            <a:off x="4754880" y="3474720"/>
            <a:ext cx="182952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sp>
        <p:nvSpPr>
          <p:cNvPr id="1131" name="Oval 16"/>
          <p:cNvSpPr/>
          <p:nvPr/>
        </p:nvSpPr>
        <p:spPr>
          <a:xfrm>
            <a:off x="131688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2" name="TextBox 17"/>
          <p:cNvSpPr/>
          <p:nvPr/>
        </p:nvSpPr>
        <p:spPr>
          <a:xfrm>
            <a:off x="114300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Oval 18"/>
          <p:cNvSpPr/>
          <p:nvPr/>
        </p:nvSpPr>
        <p:spPr>
          <a:xfrm>
            <a:off x="314568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4" name="TextBox 19"/>
          <p:cNvSpPr/>
          <p:nvPr/>
        </p:nvSpPr>
        <p:spPr>
          <a:xfrm>
            <a:off x="297180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B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Oval 20"/>
          <p:cNvSpPr/>
          <p:nvPr/>
        </p:nvSpPr>
        <p:spPr>
          <a:xfrm>
            <a:off x="6986160" y="213984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6" name="TextBox 21"/>
          <p:cNvSpPr/>
          <p:nvPr/>
        </p:nvSpPr>
        <p:spPr>
          <a:xfrm>
            <a:off x="6812280" y="248724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Oval 22"/>
          <p:cNvSpPr/>
          <p:nvPr/>
        </p:nvSpPr>
        <p:spPr>
          <a:xfrm>
            <a:off x="4608720" y="332856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8" name="TextBox 23"/>
          <p:cNvSpPr/>
          <p:nvPr/>
        </p:nvSpPr>
        <p:spPr>
          <a:xfrm>
            <a:off x="4434840" y="367596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Oval 24"/>
          <p:cNvSpPr/>
          <p:nvPr/>
        </p:nvSpPr>
        <p:spPr>
          <a:xfrm>
            <a:off x="6437520" y="332856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0" name="TextBox 25"/>
          <p:cNvSpPr/>
          <p:nvPr/>
        </p:nvSpPr>
        <p:spPr>
          <a:xfrm>
            <a:off x="6263640" y="367596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D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TextBox 26"/>
          <p:cNvSpPr/>
          <p:nvPr/>
        </p:nvSpPr>
        <p:spPr>
          <a:xfrm>
            <a:off x="6675120" y="164592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main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TextBox 27"/>
          <p:cNvSpPr/>
          <p:nvPr/>
        </p:nvSpPr>
        <p:spPr>
          <a:xfrm>
            <a:off x="6217920" y="3931920"/>
            <a:ext cx="36568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009688"/>
                </a:solidFill>
                <a:latin typeface="Aptos"/>
              </a:rPr>
              <a:t>feature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Rounded Rectangle 28"/>
          <p:cNvSpPr/>
          <p:nvPr/>
        </p:nvSpPr>
        <p:spPr>
          <a:xfrm>
            <a:off x="822960" y="4526280"/>
            <a:ext cx="10514880" cy="95940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4" name="TextBox 29"/>
          <p:cNvSpPr/>
          <p:nvPr/>
        </p:nvSpPr>
        <p:spPr>
          <a:xfrm>
            <a:off x="987480" y="4636080"/>
            <a:ext cx="1018584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merge --squash feature/login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commit -m "feat: adiciona login"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Qual Histórico Você Espera Ver?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Exemplos para discutir em sala, sem executar comandos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48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149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150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51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3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Identifique ancestralidade, forma do histórico e evidência necessária.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5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6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Cenário 1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TextBox 15"/>
          <p:cNvSpPr/>
          <p:nvPr/>
        </p:nvSpPr>
        <p:spPr>
          <a:xfrm>
            <a:off x="841320" y="2359080"/>
            <a:ext cx="3147840" cy="12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main está em B; feature em D na mesma linha.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Esperado: fast-forward é possível.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9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0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Cenário 2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TextBox 19"/>
          <p:cNvSpPr/>
          <p:nvPr/>
        </p:nvSpPr>
        <p:spPr>
          <a:xfrm>
            <a:off x="4529160" y="2359080"/>
            <a:ext cx="3147840" cy="12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main tem C; feature tem D e E a partir de B.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Esperado: merge de três vias.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3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4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Cenário 3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TextBox 23"/>
          <p:cNvSpPr/>
          <p:nvPr/>
        </p:nvSpPr>
        <p:spPr>
          <a:xfrm>
            <a:off x="8217360" y="2359080"/>
            <a:ext cx="3147840" cy="149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 equipe quer uma única mudança final para vários commits.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Esperado: avaliar squash e rastreabilidade.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Rebase: Mudando a Base da Minha História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Reaplicar commits locais sobre uma base mais recente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69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170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171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52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4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D e E viram D′ e E′: o conteúdo pode ser equivalente, mas os hashes mudam.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75" name="Connector 12"/>
          <p:cNvCxnSpPr/>
          <p:nvPr/>
        </p:nvCxnSpPr>
        <p:spPr>
          <a:xfrm>
            <a:off x="1280160" y="2103120"/>
            <a:ext cx="146376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176" name="Connector 13"/>
          <p:cNvCxnSpPr/>
          <p:nvPr/>
        </p:nvCxnSpPr>
        <p:spPr>
          <a:xfrm>
            <a:off x="2743200" y="2103120"/>
            <a:ext cx="182952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177" name="Connector 14"/>
          <p:cNvCxnSpPr/>
          <p:nvPr/>
        </p:nvCxnSpPr>
        <p:spPr>
          <a:xfrm>
            <a:off x="2743200" y="2103120"/>
            <a:ext cx="1280880" cy="100656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178" name="Connector 15"/>
          <p:cNvCxnSpPr/>
          <p:nvPr/>
        </p:nvCxnSpPr>
        <p:spPr>
          <a:xfrm>
            <a:off x="4023360" y="3108960"/>
            <a:ext cx="146376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sp>
        <p:nvSpPr>
          <p:cNvPr id="1179" name="Oval 16"/>
          <p:cNvSpPr/>
          <p:nvPr/>
        </p:nvSpPr>
        <p:spPr>
          <a:xfrm>
            <a:off x="1134000" y="195696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0" name="TextBox 17"/>
          <p:cNvSpPr/>
          <p:nvPr/>
        </p:nvSpPr>
        <p:spPr>
          <a:xfrm>
            <a:off x="960120" y="230436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Oval 18"/>
          <p:cNvSpPr/>
          <p:nvPr/>
        </p:nvSpPr>
        <p:spPr>
          <a:xfrm>
            <a:off x="2597040" y="195696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2" name="TextBox 19"/>
          <p:cNvSpPr/>
          <p:nvPr/>
        </p:nvSpPr>
        <p:spPr>
          <a:xfrm>
            <a:off x="2423160" y="230436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B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Oval 20"/>
          <p:cNvSpPr/>
          <p:nvPr/>
        </p:nvSpPr>
        <p:spPr>
          <a:xfrm>
            <a:off x="4425840" y="195696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4" name="TextBox 21"/>
          <p:cNvSpPr/>
          <p:nvPr/>
        </p:nvSpPr>
        <p:spPr>
          <a:xfrm>
            <a:off x="4251960" y="230436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Oval 22"/>
          <p:cNvSpPr/>
          <p:nvPr/>
        </p:nvSpPr>
        <p:spPr>
          <a:xfrm>
            <a:off x="3877200" y="296280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6" name="TextBox 23"/>
          <p:cNvSpPr/>
          <p:nvPr/>
        </p:nvSpPr>
        <p:spPr>
          <a:xfrm>
            <a:off x="3703320" y="331020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D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Oval 24"/>
          <p:cNvSpPr/>
          <p:nvPr/>
        </p:nvSpPr>
        <p:spPr>
          <a:xfrm>
            <a:off x="5340240" y="296280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8" name="TextBox 25"/>
          <p:cNvSpPr/>
          <p:nvPr/>
        </p:nvSpPr>
        <p:spPr>
          <a:xfrm>
            <a:off x="5166360" y="331020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89" name="Connector 26"/>
          <p:cNvCxnSpPr/>
          <p:nvPr/>
        </p:nvCxnSpPr>
        <p:spPr>
          <a:xfrm>
            <a:off x="7315200" y="2194560"/>
            <a:ext cx="137232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cxnSp>
        <p:nvCxnSpPr>
          <p:cNvPr id="1190" name="Connector 27"/>
          <p:cNvCxnSpPr/>
          <p:nvPr/>
        </p:nvCxnSpPr>
        <p:spPr>
          <a:xfrm>
            <a:off x="8686800" y="2194560"/>
            <a:ext cx="1372320" cy="720"/>
          </a:xfrm>
          <a:prstGeom prst="straightConnector1">
            <a:avLst/>
          </a:prstGeom>
          <a:ln w="31750">
            <a:solidFill>
              <a:srgbClr val="2a67a8"/>
            </a:solidFill>
            <a:round/>
          </a:ln>
        </p:spPr>
      </p:cxnSp>
      <p:sp>
        <p:nvSpPr>
          <p:cNvPr id="1191" name="Oval 28"/>
          <p:cNvSpPr/>
          <p:nvPr/>
        </p:nvSpPr>
        <p:spPr>
          <a:xfrm>
            <a:off x="7169040" y="204840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2" name="TextBox 29"/>
          <p:cNvSpPr/>
          <p:nvPr/>
        </p:nvSpPr>
        <p:spPr>
          <a:xfrm>
            <a:off x="6995160" y="239580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Oval 30"/>
          <p:cNvSpPr/>
          <p:nvPr/>
        </p:nvSpPr>
        <p:spPr>
          <a:xfrm>
            <a:off x="8540640" y="204840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4" name="TextBox 31"/>
          <p:cNvSpPr/>
          <p:nvPr/>
        </p:nvSpPr>
        <p:spPr>
          <a:xfrm>
            <a:off x="8366760" y="239580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D′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Oval 32"/>
          <p:cNvSpPr/>
          <p:nvPr/>
        </p:nvSpPr>
        <p:spPr>
          <a:xfrm>
            <a:off x="9912240" y="2048400"/>
            <a:ext cx="291960" cy="291960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6" name="TextBox 33"/>
          <p:cNvSpPr/>
          <p:nvPr/>
        </p:nvSpPr>
        <p:spPr>
          <a:xfrm>
            <a:off x="9738360" y="2395800"/>
            <a:ext cx="685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132b42"/>
                </a:solidFill>
                <a:latin typeface="Aptos"/>
              </a:rPr>
              <a:t>E′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Rounded Rectangle 34"/>
          <p:cNvSpPr/>
          <p:nvPr/>
        </p:nvSpPr>
        <p:spPr>
          <a:xfrm>
            <a:off x="822960" y="4206240"/>
            <a:ext cx="10514880" cy="127944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8" name="TextBox 35"/>
          <p:cNvSpPr/>
          <p:nvPr/>
        </p:nvSpPr>
        <p:spPr>
          <a:xfrm>
            <a:off x="987480" y="4316040"/>
            <a:ext cx="10185840" cy="94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switch feature/login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fetch origin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rebase origin/main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Merge x Rebase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Escolha consciente de como integrar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02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203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204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53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7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Rebase reescreve commits: evite aplicá-lo a histórico compartilhado.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Rounded Rectangle 12"/>
          <p:cNvSpPr/>
          <p:nvPr/>
        </p:nvSpPr>
        <p:spPr>
          <a:xfrm>
            <a:off x="68580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9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0" name="TextBox 14"/>
          <p:cNvSpPr/>
          <p:nvPr/>
        </p:nvSpPr>
        <p:spPr>
          <a:xfrm>
            <a:off x="84132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Merge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TextBox 15"/>
          <p:cNvSpPr/>
          <p:nvPr/>
        </p:nvSpPr>
        <p:spPr>
          <a:xfrm>
            <a:off x="84132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Preserva commits existentes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Pode criar commit de junção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Adequado a branches compartilhadas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Rounded Rectangle 16"/>
          <p:cNvSpPr/>
          <p:nvPr/>
        </p:nvSpPr>
        <p:spPr>
          <a:xfrm>
            <a:off x="621792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3" name="Rectangle 17"/>
          <p:cNvSpPr/>
          <p:nvPr/>
        </p:nvSpPr>
        <p:spPr>
          <a:xfrm>
            <a:off x="621792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4" name="TextBox 18"/>
          <p:cNvSpPr/>
          <p:nvPr/>
        </p:nvSpPr>
        <p:spPr>
          <a:xfrm>
            <a:off x="637344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Rebase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TextBox 19"/>
          <p:cNvSpPr/>
          <p:nvPr/>
        </p:nvSpPr>
        <p:spPr>
          <a:xfrm>
            <a:off x="637344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Reaplica commits em outra base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Produz novos hashes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Exige cuidado com histórico publicado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Quando Duas Pessoas Alteram a Mesma Região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Conflito é uma decisão de integração que precisa de contexto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19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220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221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54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4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Git aponta a incompatibilidade; a equipe decide o comportamento correto.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Rounded Rectangle 12"/>
          <p:cNvSpPr/>
          <p:nvPr/>
        </p:nvSpPr>
        <p:spPr>
          <a:xfrm>
            <a:off x="822960" y="1645920"/>
            <a:ext cx="10514880" cy="191952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6" name="TextBox 13"/>
          <p:cNvSpPr/>
          <p:nvPr/>
        </p:nvSpPr>
        <p:spPr>
          <a:xfrm>
            <a:off x="987480" y="1755720"/>
            <a:ext cx="10185840" cy="161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&lt;&lt;&lt;&lt;&lt;&lt;&lt; HEAD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Porta da aplicação: 3000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=======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Porta da aplicação: 8080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&gt;&gt;&gt;&gt;&gt;&gt;&gt; feature/config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TextBox 14"/>
          <p:cNvSpPr/>
          <p:nvPr/>
        </p:nvSpPr>
        <p:spPr>
          <a:xfrm>
            <a:off x="914400" y="3886200"/>
            <a:ext cx="10057680" cy="12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200" spc="-1" strike="noStrike">
                <a:solidFill>
                  <a:srgbClr val="0f172a"/>
                </a:solidFill>
                <a:latin typeface="Aptos"/>
              </a:rPr>
              <a:t>1. Leia os dois lados e confirme o requisito.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200" spc="-1" strike="noStrike">
                <a:solidFill>
                  <a:srgbClr val="0f172a"/>
                </a:solidFill>
                <a:latin typeface="Aptos"/>
              </a:rPr>
              <a:t>2. Edite o resultado final e remova os marcadores.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200" spc="-1" strike="noStrike">
                <a:solidFill>
                  <a:srgbClr val="0f172a"/>
                </a:solidFill>
                <a:latin typeface="Aptos"/>
              </a:rPr>
              <a:t>3. Teste o comportamento antes de continuar.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Resolver ou Cancelar um Conflito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Depois de editar e testar, registre a decisão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1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232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233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55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6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Não remova marcadores sem entender qual resultado a aplicação precisa.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Rounded Rectangle 12"/>
          <p:cNvSpPr/>
          <p:nvPr/>
        </p:nvSpPr>
        <p:spPr>
          <a:xfrm>
            <a:off x="68580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8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9" name="TextBox 14"/>
          <p:cNvSpPr/>
          <p:nvPr/>
        </p:nvSpPr>
        <p:spPr>
          <a:xfrm>
            <a:off x="84132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Merge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TextBox 15"/>
          <p:cNvSpPr/>
          <p:nvPr/>
        </p:nvSpPr>
        <p:spPr>
          <a:xfrm>
            <a:off x="841320" y="2359080"/>
            <a:ext cx="4991760" cy="14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status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add README.md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commit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Cancelar: git merge --abort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Rounded Rectangle 16"/>
          <p:cNvSpPr/>
          <p:nvPr/>
        </p:nvSpPr>
        <p:spPr>
          <a:xfrm>
            <a:off x="621792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2" name="Rectangle 17"/>
          <p:cNvSpPr/>
          <p:nvPr/>
        </p:nvSpPr>
        <p:spPr>
          <a:xfrm>
            <a:off x="621792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3" name="TextBox 18"/>
          <p:cNvSpPr/>
          <p:nvPr/>
        </p:nvSpPr>
        <p:spPr>
          <a:xfrm>
            <a:off x="637344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Rebase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TextBox 19"/>
          <p:cNvSpPr/>
          <p:nvPr/>
        </p:nvSpPr>
        <p:spPr>
          <a:xfrm>
            <a:off x="6373440" y="2359080"/>
            <a:ext cx="4991760" cy="14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status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add README.md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rebase --continue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Cancelar: git rebase --abort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Nem Tudo Deve Ir Para o Git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.gitignore evita incluir arquivos não rastreados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8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249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250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56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3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Se um segredo foi publicado, revogue-o: apagar o arquivo não apaga o histórico.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Rounded Rectangle 12"/>
          <p:cNvSpPr/>
          <p:nvPr/>
        </p:nvSpPr>
        <p:spPr>
          <a:xfrm>
            <a:off x="822960" y="1645920"/>
            <a:ext cx="4114080" cy="210240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5" name="TextBox 13"/>
          <p:cNvSpPr/>
          <p:nvPr/>
        </p:nvSpPr>
        <p:spPr>
          <a:xfrm>
            <a:off x="987480" y="1755720"/>
            <a:ext cx="3785040" cy="161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node_modules/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.env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dist/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coverage/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*.log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TextBox 14"/>
          <p:cNvSpPr/>
          <p:nvPr/>
        </p:nvSpPr>
        <p:spPr>
          <a:xfrm>
            <a:off x="5486400" y="1783080"/>
            <a:ext cx="5485680" cy="29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100" spc="-1" strike="noStrike">
                <a:solidFill>
                  <a:srgbClr val="0f172a"/>
                </a:solidFill>
                <a:latin typeface="Aptos"/>
              </a:rPr>
              <a:t>Não versionar dependências instaladas, builds locais e logs.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100" spc="-1" strike="noStrike">
                <a:solidFill>
                  <a:srgbClr val="0f172a"/>
                </a:solidFill>
                <a:latin typeface="Aptos"/>
              </a:rPr>
              <a:t>Nunca publicar tokens, senhas, chaves privadas ou credenciais.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100" spc="-1" strike="noStrike">
                <a:solidFill>
                  <a:srgbClr val="0f172a"/>
                </a:solidFill>
                <a:latin typeface="Aptos"/>
              </a:rPr>
              <a:t>.gitignore não deixa de rastrear arquivos já versionados.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Mapa Mental dos Comandos Git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Referência de consulta: agrupe por intenção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60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261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262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57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5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Primeiro identifique a intenção; depois escolha o comando.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Rounded Rectangle 12"/>
          <p:cNvSpPr/>
          <p:nvPr/>
        </p:nvSpPr>
        <p:spPr>
          <a:xfrm>
            <a:off x="685800" y="1554480"/>
            <a:ext cx="3458880" cy="1645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7" name="Rectangle 13"/>
          <p:cNvSpPr/>
          <p:nvPr/>
        </p:nvSpPr>
        <p:spPr>
          <a:xfrm>
            <a:off x="685800" y="1554480"/>
            <a:ext cx="54000" cy="1645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8" name="TextBox 14"/>
          <p:cNvSpPr/>
          <p:nvPr/>
        </p:nvSpPr>
        <p:spPr>
          <a:xfrm>
            <a:off x="841320" y="171900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Criar / obter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TextBox 15"/>
          <p:cNvSpPr/>
          <p:nvPr/>
        </p:nvSpPr>
        <p:spPr>
          <a:xfrm>
            <a:off x="841320" y="2313360"/>
            <a:ext cx="3147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init • git clone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Rounded Rectangle 16"/>
          <p:cNvSpPr/>
          <p:nvPr/>
        </p:nvSpPr>
        <p:spPr>
          <a:xfrm>
            <a:off x="4374000" y="1554480"/>
            <a:ext cx="3458880" cy="1645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1" name="Rectangle 17"/>
          <p:cNvSpPr/>
          <p:nvPr/>
        </p:nvSpPr>
        <p:spPr>
          <a:xfrm>
            <a:off x="4374000" y="1554480"/>
            <a:ext cx="54000" cy="16452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2" name="TextBox 18"/>
          <p:cNvSpPr/>
          <p:nvPr/>
        </p:nvSpPr>
        <p:spPr>
          <a:xfrm>
            <a:off x="4529160" y="171900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Inspecionar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TextBox 19"/>
          <p:cNvSpPr/>
          <p:nvPr/>
        </p:nvSpPr>
        <p:spPr>
          <a:xfrm>
            <a:off x="4529160" y="2313360"/>
            <a:ext cx="3147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status • git diff • git log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Rounded Rectangle 20"/>
          <p:cNvSpPr/>
          <p:nvPr/>
        </p:nvSpPr>
        <p:spPr>
          <a:xfrm>
            <a:off x="8061840" y="1554480"/>
            <a:ext cx="3458880" cy="1645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5" name="Rectangle 21"/>
          <p:cNvSpPr/>
          <p:nvPr/>
        </p:nvSpPr>
        <p:spPr>
          <a:xfrm>
            <a:off x="8061840" y="1554480"/>
            <a:ext cx="54000" cy="16452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6" name="TextBox 22"/>
          <p:cNvSpPr/>
          <p:nvPr/>
        </p:nvSpPr>
        <p:spPr>
          <a:xfrm>
            <a:off x="8217360" y="171900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Branches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TextBox 23"/>
          <p:cNvSpPr/>
          <p:nvPr/>
        </p:nvSpPr>
        <p:spPr>
          <a:xfrm>
            <a:off x="8217360" y="2313360"/>
            <a:ext cx="3147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branch • git switch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Rounded Rectangle 24"/>
          <p:cNvSpPr/>
          <p:nvPr/>
        </p:nvSpPr>
        <p:spPr>
          <a:xfrm>
            <a:off x="685800" y="3474720"/>
            <a:ext cx="3458880" cy="1645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9" name="Rectangle 25"/>
          <p:cNvSpPr/>
          <p:nvPr/>
        </p:nvSpPr>
        <p:spPr>
          <a:xfrm>
            <a:off x="685800" y="3474720"/>
            <a:ext cx="54000" cy="1645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0" name="TextBox 26"/>
          <p:cNvSpPr/>
          <p:nvPr/>
        </p:nvSpPr>
        <p:spPr>
          <a:xfrm>
            <a:off x="841320" y="363924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Registrar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TextBox 27"/>
          <p:cNvSpPr/>
          <p:nvPr/>
        </p:nvSpPr>
        <p:spPr>
          <a:xfrm>
            <a:off x="841320" y="4233600"/>
            <a:ext cx="3147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add • git commit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2" name="Rounded Rectangle 28"/>
          <p:cNvSpPr/>
          <p:nvPr/>
        </p:nvSpPr>
        <p:spPr>
          <a:xfrm>
            <a:off x="4374000" y="3474720"/>
            <a:ext cx="3458880" cy="1645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3" name="Rectangle 29"/>
          <p:cNvSpPr/>
          <p:nvPr/>
        </p:nvSpPr>
        <p:spPr>
          <a:xfrm>
            <a:off x="4374000" y="3474720"/>
            <a:ext cx="54000" cy="16452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4" name="TextBox 30"/>
          <p:cNvSpPr/>
          <p:nvPr/>
        </p:nvSpPr>
        <p:spPr>
          <a:xfrm>
            <a:off x="4529160" y="363924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Remoto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TextBox 31"/>
          <p:cNvSpPr/>
          <p:nvPr/>
        </p:nvSpPr>
        <p:spPr>
          <a:xfrm>
            <a:off x="4529160" y="4233600"/>
            <a:ext cx="31478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remote • fetch • pull • push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Rounded Rectangle 32"/>
          <p:cNvSpPr/>
          <p:nvPr/>
        </p:nvSpPr>
        <p:spPr>
          <a:xfrm>
            <a:off x="8061840" y="3474720"/>
            <a:ext cx="3458880" cy="1645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7" name="Rectangle 33"/>
          <p:cNvSpPr/>
          <p:nvPr/>
        </p:nvSpPr>
        <p:spPr>
          <a:xfrm>
            <a:off x="8061840" y="3474720"/>
            <a:ext cx="54000" cy="16452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8" name="TextBox 34"/>
          <p:cNvSpPr/>
          <p:nvPr/>
        </p:nvSpPr>
        <p:spPr>
          <a:xfrm>
            <a:off x="8217360" y="363924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Integrar / marcar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TextBox 35"/>
          <p:cNvSpPr/>
          <p:nvPr/>
        </p:nvSpPr>
        <p:spPr>
          <a:xfrm>
            <a:off x="8217360" y="4233600"/>
            <a:ext cx="31478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 merge • git rebase • git tag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Modelos de Branching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A disciplina adota GitHub Flow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93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294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295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58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8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GitHub Flow oferece um fluxo simples e rastreável para o tamanho das equipes.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9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0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1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Trunk-based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TextBox 15"/>
          <p:cNvSpPr/>
          <p:nvPr/>
        </p:nvSpPr>
        <p:spPr>
          <a:xfrm>
            <a:off x="841320" y="2359080"/>
            <a:ext cx="314784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Integração muito frequente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Branches muito curtas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Automação forte; flags quando necessárias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4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5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GitHub Flow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TextBox 19"/>
          <p:cNvSpPr/>
          <p:nvPr/>
        </p:nvSpPr>
        <p:spPr>
          <a:xfrm>
            <a:off x="4529160" y="2359080"/>
            <a:ext cx="314784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Branch por mudança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PR, revisão e checks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Merge na main estável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7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8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9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GitFlow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0" name="TextBox 23"/>
          <p:cNvSpPr/>
          <p:nvPr/>
        </p:nvSpPr>
        <p:spPr>
          <a:xfrm>
            <a:off x="8217360" y="2359080"/>
            <a:ext cx="314784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main e develop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feature, release e hotfix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Maior coordenação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Fluxo Git Recomendado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Após a inicialização: main estável e mudanças em branches de trabalho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3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4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315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316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59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9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Mudança relevante → PR com contexto, testes e risco → aprovação → merge.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0" name="Rounded Rectangle 12"/>
          <p:cNvSpPr/>
          <p:nvPr/>
        </p:nvSpPr>
        <p:spPr>
          <a:xfrm>
            <a:off x="77724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1" name="TextBox 13"/>
          <p:cNvSpPr/>
          <p:nvPr/>
        </p:nvSpPr>
        <p:spPr>
          <a:xfrm>
            <a:off x="85032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main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TextBox 14"/>
          <p:cNvSpPr/>
          <p:nvPr/>
        </p:nvSpPr>
        <p:spPr>
          <a:xfrm>
            <a:off x="321876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Rounded Rectangle 15"/>
          <p:cNvSpPr/>
          <p:nvPr/>
        </p:nvSpPr>
        <p:spPr>
          <a:xfrm>
            <a:off x="351144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4" name="TextBox 16"/>
          <p:cNvSpPr/>
          <p:nvPr/>
        </p:nvSpPr>
        <p:spPr>
          <a:xfrm>
            <a:off x="358452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feature/*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TextBox 17"/>
          <p:cNvSpPr/>
          <p:nvPr/>
        </p:nvSpPr>
        <p:spPr>
          <a:xfrm>
            <a:off x="595260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6" name="Rounded Rectangle 18"/>
          <p:cNvSpPr/>
          <p:nvPr/>
        </p:nvSpPr>
        <p:spPr>
          <a:xfrm>
            <a:off x="624528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7" name="TextBox 19"/>
          <p:cNvSpPr/>
          <p:nvPr/>
        </p:nvSpPr>
        <p:spPr>
          <a:xfrm>
            <a:off x="631836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Pull Request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" name="TextBox 20"/>
          <p:cNvSpPr/>
          <p:nvPr/>
        </p:nvSpPr>
        <p:spPr>
          <a:xfrm>
            <a:off x="868680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Rounded Rectangle 21"/>
          <p:cNvSpPr/>
          <p:nvPr/>
        </p:nvSpPr>
        <p:spPr>
          <a:xfrm>
            <a:off x="897948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0" name="TextBox 22"/>
          <p:cNvSpPr/>
          <p:nvPr/>
        </p:nvSpPr>
        <p:spPr>
          <a:xfrm>
            <a:off x="905256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main revisada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Rounded Rectangle 23"/>
          <p:cNvSpPr/>
          <p:nvPr/>
        </p:nvSpPr>
        <p:spPr>
          <a:xfrm>
            <a:off x="685800" y="3246120"/>
            <a:ext cx="5302800" cy="2056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2" name="Rectangle 24"/>
          <p:cNvSpPr/>
          <p:nvPr/>
        </p:nvSpPr>
        <p:spPr>
          <a:xfrm>
            <a:off x="685800" y="3246120"/>
            <a:ext cx="54000" cy="2056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3" name="TextBox 25"/>
          <p:cNvSpPr/>
          <p:nvPr/>
        </p:nvSpPr>
        <p:spPr>
          <a:xfrm>
            <a:off x="841320" y="341064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Trabalho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TextBox 26"/>
          <p:cNvSpPr/>
          <p:nvPr/>
        </p:nvSpPr>
        <p:spPr>
          <a:xfrm>
            <a:off x="841320" y="400500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feature/login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feature/readme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feature/testes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5" name="Rounded Rectangle 27"/>
          <p:cNvSpPr/>
          <p:nvPr/>
        </p:nvSpPr>
        <p:spPr>
          <a:xfrm>
            <a:off x="6217920" y="3246120"/>
            <a:ext cx="5302800" cy="2056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6" name="Rectangle 28"/>
          <p:cNvSpPr/>
          <p:nvPr/>
        </p:nvSpPr>
        <p:spPr>
          <a:xfrm>
            <a:off x="6217920" y="3246120"/>
            <a:ext cx="54000" cy="205668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7" name="TextBox 29"/>
          <p:cNvSpPr/>
          <p:nvPr/>
        </p:nvSpPr>
        <p:spPr>
          <a:xfrm>
            <a:off x="6373440" y="341064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Integração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TextBox 30"/>
          <p:cNvSpPr/>
          <p:nvPr/>
        </p:nvSpPr>
        <p:spPr>
          <a:xfrm>
            <a:off x="6373440" y="400500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Após o commit inicial: usar branch e PR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Revisar antes de integrar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Atualizar a cópia local depois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Da Tarefa ao Merge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O ciclo completo de uma mudança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42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343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344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60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7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O push publica a branch; o PR organiza sua revisão e integração.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Rounded Rectangle 12"/>
          <p:cNvSpPr/>
          <p:nvPr/>
        </p:nvSpPr>
        <p:spPr>
          <a:xfrm>
            <a:off x="777240" y="164592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9" name="TextBox 13"/>
          <p:cNvSpPr/>
          <p:nvPr/>
        </p:nvSpPr>
        <p:spPr>
          <a:xfrm>
            <a:off x="850320" y="181980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1 Atualizar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TextBox 14"/>
          <p:cNvSpPr/>
          <p:nvPr/>
        </p:nvSpPr>
        <p:spPr>
          <a:xfrm>
            <a:off x="2671920" y="186552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Rounded Rectangle 15"/>
          <p:cNvSpPr/>
          <p:nvPr/>
        </p:nvSpPr>
        <p:spPr>
          <a:xfrm>
            <a:off x="2964600" y="164592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2" name="TextBox 16"/>
          <p:cNvSpPr/>
          <p:nvPr/>
        </p:nvSpPr>
        <p:spPr>
          <a:xfrm>
            <a:off x="3037680" y="181980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2 Branch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TextBox 17"/>
          <p:cNvSpPr/>
          <p:nvPr/>
        </p:nvSpPr>
        <p:spPr>
          <a:xfrm>
            <a:off x="4859280" y="186552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Rounded Rectangle 18"/>
          <p:cNvSpPr/>
          <p:nvPr/>
        </p:nvSpPr>
        <p:spPr>
          <a:xfrm>
            <a:off x="5151600" y="164592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5" name="TextBox 19"/>
          <p:cNvSpPr/>
          <p:nvPr/>
        </p:nvSpPr>
        <p:spPr>
          <a:xfrm>
            <a:off x="5225040" y="181980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3 Editar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TextBox 20"/>
          <p:cNvSpPr/>
          <p:nvPr/>
        </p:nvSpPr>
        <p:spPr>
          <a:xfrm>
            <a:off x="7046280" y="186552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Rounded Rectangle 21"/>
          <p:cNvSpPr/>
          <p:nvPr/>
        </p:nvSpPr>
        <p:spPr>
          <a:xfrm>
            <a:off x="7338960" y="164592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8" name="TextBox 22"/>
          <p:cNvSpPr/>
          <p:nvPr/>
        </p:nvSpPr>
        <p:spPr>
          <a:xfrm>
            <a:off x="7412040" y="181980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4 add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TextBox 23"/>
          <p:cNvSpPr/>
          <p:nvPr/>
        </p:nvSpPr>
        <p:spPr>
          <a:xfrm>
            <a:off x="9233640" y="186552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Rounded Rectangle 24"/>
          <p:cNvSpPr/>
          <p:nvPr/>
        </p:nvSpPr>
        <p:spPr>
          <a:xfrm>
            <a:off x="9526320" y="164592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1" name="TextBox 25"/>
          <p:cNvSpPr/>
          <p:nvPr/>
        </p:nvSpPr>
        <p:spPr>
          <a:xfrm>
            <a:off x="9599400" y="181980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5 commit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Rounded Rectangle 26"/>
          <p:cNvSpPr/>
          <p:nvPr/>
        </p:nvSpPr>
        <p:spPr>
          <a:xfrm>
            <a:off x="777240" y="292608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3" name="TextBox 27"/>
          <p:cNvSpPr/>
          <p:nvPr/>
        </p:nvSpPr>
        <p:spPr>
          <a:xfrm>
            <a:off x="850320" y="309996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6 push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TextBox 28"/>
          <p:cNvSpPr/>
          <p:nvPr/>
        </p:nvSpPr>
        <p:spPr>
          <a:xfrm>
            <a:off x="2671920" y="314568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Rounded Rectangle 29"/>
          <p:cNvSpPr/>
          <p:nvPr/>
        </p:nvSpPr>
        <p:spPr>
          <a:xfrm>
            <a:off x="2964600" y="292608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6" name="TextBox 30"/>
          <p:cNvSpPr/>
          <p:nvPr/>
        </p:nvSpPr>
        <p:spPr>
          <a:xfrm>
            <a:off x="3037680" y="309996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7 PR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TextBox 31"/>
          <p:cNvSpPr/>
          <p:nvPr/>
        </p:nvSpPr>
        <p:spPr>
          <a:xfrm>
            <a:off x="4859280" y="314568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Rounded Rectangle 32"/>
          <p:cNvSpPr/>
          <p:nvPr/>
        </p:nvSpPr>
        <p:spPr>
          <a:xfrm>
            <a:off x="5151600" y="292608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9" name="TextBox 33"/>
          <p:cNvSpPr/>
          <p:nvPr/>
        </p:nvSpPr>
        <p:spPr>
          <a:xfrm>
            <a:off x="5225040" y="309996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8 Review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TextBox 34"/>
          <p:cNvSpPr/>
          <p:nvPr/>
        </p:nvSpPr>
        <p:spPr>
          <a:xfrm>
            <a:off x="7046280" y="314568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Rounded Rectangle 35"/>
          <p:cNvSpPr/>
          <p:nvPr/>
        </p:nvSpPr>
        <p:spPr>
          <a:xfrm>
            <a:off x="7338960" y="292608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2" name="TextBox 36"/>
          <p:cNvSpPr/>
          <p:nvPr/>
        </p:nvSpPr>
        <p:spPr>
          <a:xfrm>
            <a:off x="7412040" y="309996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9 Merge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TextBox 37"/>
          <p:cNvSpPr/>
          <p:nvPr/>
        </p:nvSpPr>
        <p:spPr>
          <a:xfrm>
            <a:off x="9233640" y="314568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Rounded Rectangle 38"/>
          <p:cNvSpPr/>
          <p:nvPr/>
        </p:nvSpPr>
        <p:spPr>
          <a:xfrm>
            <a:off x="9526320" y="292608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5" name="TextBox 39"/>
          <p:cNvSpPr/>
          <p:nvPr/>
        </p:nvSpPr>
        <p:spPr>
          <a:xfrm>
            <a:off x="9599400" y="309996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10 Atualizar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Rounded Rectangle 40"/>
          <p:cNvSpPr/>
          <p:nvPr/>
        </p:nvSpPr>
        <p:spPr>
          <a:xfrm>
            <a:off x="822960" y="4206240"/>
            <a:ext cx="10514880" cy="127944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7" name="TextBox 41"/>
          <p:cNvSpPr/>
          <p:nvPr/>
        </p:nvSpPr>
        <p:spPr>
          <a:xfrm>
            <a:off x="987480" y="4316040"/>
            <a:ext cx="10185840" cy="94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switch 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pull --ff-only origin 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switch -c feature/login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Commits Que Contam a História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Tipo + descrição da intenção da mudança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81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382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383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61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6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Evite mensagens como “ajustes”, “fix”, “teste” e “agora vai”.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Rounded Rectangle 12"/>
          <p:cNvSpPr/>
          <p:nvPr/>
        </p:nvSpPr>
        <p:spPr>
          <a:xfrm>
            <a:off x="68580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8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9" name="TextBox 14"/>
          <p:cNvSpPr/>
          <p:nvPr/>
        </p:nvSpPr>
        <p:spPr>
          <a:xfrm>
            <a:off x="84132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Exemplos claros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TextBox 15"/>
          <p:cNvSpPr/>
          <p:nvPr/>
        </p:nvSpPr>
        <p:spPr>
          <a:xfrm>
            <a:off x="84132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feat: adiciona autenticação JWT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fix: corrige validação do CPF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docs: explica execução local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" name="Rounded Rectangle 16"/>
          <p:cNvSpPr/>
          <p:nvPr/>
        </p:nvSpPr>
        <p:spPr>
          <a:xfrm>
            <a:off x="6217920" y="1600200"/>
            <a:ext cx="530280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2" name="Rectangle 17"/>
          <p:cNvSpPr/>
          <p:nvPr/>
        </p:nvSpPr>
        <p:spPr>
          <a:xfrm>
            <a:off x="621792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3" name="TextBox 18"/>
          <p:cNvSpPr/>
          <p:nvPr/>
        </p:nvSpPr>
        <p:spPr>
          <a:xfrm>
            <a:off x="6373440" y="17647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Outras intenções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TextBox 19"/>
          <p:cNvSpPr/>
          <p:nvPr/>
        </p:nvSpPr>
        <p:spPr>
          <a:xfrm>
            <a:off x="6373440" y="23590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test: cobre entrada inválida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refactor: extrai validação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Um propósito por commit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Anatomia de um Bom Pull Request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Dê ao revisor contexto e evidência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98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399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400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62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3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PR pequeno é mais fácil de revisar, compreender e reverter.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5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6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Contexto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TextBox 15"/>
          <p:cNvSpPr/>
          <p:nvPr/>
        </p:nvSpPr>
        <p:spPr>
          <a:xfrm>
            <a:off x="841320" y="2359080"/>
            <a:ext cx="314784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Problema e objetivo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Solução proposta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Arquivos e áreas afetadas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9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0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TextBox 19"/>
          <p:cNvSpPr/>
          <p:nvPr/>
        </p:nvSpPr>
        <p:spPr>
          <a:xfrm>
            <a:off x="4529160" y="2359080"/>
            <a:ext cx="314784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Comandos executados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Resultados dos testes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Como reproduzir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3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4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Risco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5" name="TextBox 23"/>
          <p:cNvSpPr/>
          <p:nvPr/>
        </p:nvSpPr>
        <p:spPr>
          <a:xfrm>
            <a:off x="8217360" y="2359080"/>
            <a:ext cx="314784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Regressões possíveis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Limitações conhecidas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Pontos de atenção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Protegendo a Branch Principal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Após publicar a base inicial: branch protection e quality gates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9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420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421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63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4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Proteções transformam o acordo da equipe em regras verificáveis.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Rounded Rectangle 12"/>
          <p:cNvSpPr/>
          <p:nvPr/>
        </p:nvSpPr>
        <p:spPr>
          <a:xfrm>
            <a:off x="77724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6" name="TextBox 13"/>
          <p:cNvSpPr/>
          <p:nvPr/>
        </p:nvSpPr>
        <p:spPr>
          <a:xfrm>
            <a:off x="85032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feature/*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TextBox 14"/>
          <p:cNvSpPr/>
          <p:nvPr/>
        </p:nvSpPr>
        <p:spPr>
          <a:xfrm>
            <a:off x="267192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8" name="Rounded Rectangle 15"/>
          <p:cNvSpPr/>
          <p:nvPr/>
        </p:nvSpPr>
        <p:spPr>
          <a:xfrm>
            <a:off x="2964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9" name="TextBox 16"/>
          <p:cNvSpPr/>
          <p:nvPr/>
        </p:nvSpPr>
        <p:spPr>
          <a:xfrm>
            <a:off x="303768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PR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TextBox 17"/>
          <p:cNvSpPr/>
          <p:nvPr/>
        </p:nvSpPr>
        <p:spPr>
          <a:xfrm>
            <a:off x="4859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Rounded Rectangle 18"/>
          <p:cNvSpPr/>
          <p:nvPr/>
        </p:nvSpPr>
        <p:spPr>
          <a:xfrm>
            <a:off x="5151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2" name="TextBox 19"/>
          <p:cNvSpPr/>
          <p:nvPr/>
        </p:nvSpPr>
        <p:spPr>
          <a:xfrm>
            <a:off x="5225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Testes / lint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3" name="TextBox 20"/>
          <p:cNvSpPr/>
          <p:nvPr/>
        </p:nvSpPr>
        <p:spPr>
          <a:xfrm>
            <a:off x="7046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Rounded Rectangle 21"/>
          <p:cNvSpPr/>
          <p:nvPr/>
        </p:nvSpPr>
        <p:spPr>
          <a:xfrm>
            <a:off x="733896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5" name="TextBox 22"/>
          <p:cNvSpPr/>
          <p:nvPr/>
        </p:nvSpPr>
        <p:spPr>
          <a:xfrm>
            <a:off x="7412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Review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TextBox 23"/>
          <p:cNvSpPr/>
          <p:nvPr/>
        </p:nvSpPr>
        <p:spPr>
          <a:xfrm>
            <a:off x="923364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Rounded Rectangle 24"/>
          <p:cNvSpPr/>
          <p:nvPr/>
        </p:nvSpPr>
        <p:spPr>
          <a:xfrm>
            <a:off x="952632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8" name="TextBox 25"/>
          <p:cNvSpPr/>
          <p:nvPr/>
        </p:nvSpPr>
        <p:spPr>
          <a:xfrm>
            <a:off x="959940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main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Rounded Rectangle 26"/>
          <p:cNvSpPr/>
          <p:nvPr/>
        </p:nvSpPr>
        <p:spPr>
          <a:xfrm>
            <a:off x="685800" y="3246120"/>
            <a:ext cx="5302800" cy="2010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0" name="Rectangle 27"/>
          <p:cNvSpPr/>
          <p:nvPr/>
        </p:nvSpPr>
        <p:spPr>
          <a:xfrm>
            <a:off x="685800" y="3246120"/>
            <a:ext cx="54000" cy="20109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1" name="TextBox 28"/>
          <p:cNvSpPr/>
          <p:nvPr/>
        </p:nvSpPr>
        <p:spPr>
          <a:xfrm>
            <a:off x="841320" y="341064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Regras possíveis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TextBox 29"/>
          <p:cNvSpPr/>
          <p:nvPr/>
        </p:nvSpPr>
        <p:spPr>
          <a:xfrm>
            <a:off x="841320" y="400500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Exigir PR e aprovação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Exigir status checks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Impedir merge com checks falhando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Rounded Rectangle 30"/>
          <p:cNvSpPr/>
          <p:nvPr/>
        </p:nvSpPr>
        <p:spPr>
          <a:xfrm>
            <a:off x="6217920" y="3246120"/>
            <a:ext cx="5302800" cy="2010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4" name="Rectangle 31"/>
          <p:cNvSpPr/>
          <p:nvPr/>
        </p:nvSpPr>
        <p:spPr>
          <a:xfrm>
            <a:off x="6217920" y="3246120"/>
            <a:ext cx="54000" cy="201096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5" name="TextBox 32"/>
          <p:cNvSpPr/>
          <p:nvPr/>
        </p:nvSpPr>
        <p:spPr>
          <a:xfrm>
            <a:off x="6373440" y="341064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Integridade do histórico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TextBox 33"/>
          <p:cNvSpPr/>
          <p:nvPr/>
        </p:nvSpPr>
        <p:spPr>
          <a:xfrm>
            <a:off x="6373440" y="400500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Restringir force push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Impedir exclusão da main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Definir quem pode contornar regras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Definition of Done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Concluído significa verificável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50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451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452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64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5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O checklist deve ser adequado à aplicação e explícito para todos.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6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7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8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Código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TextBox 15"/>
          <p:cNvSpPr/>
          <p:nvPr/>
        </p:nvSpPr>
        <p:spPr>
          <a:xfrm>
            <a:off x="841320" y="2359080"/>
            <a:ext cx="314784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Revisado por outra pessoa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Testes relevantes passando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Lint e build funcionando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1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2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TextBox 19"/>
          <p:cNvSpPr/>
          <p:nvPr/>
        </p:nvSpPr>
        <p:spPr>
          <a:xfrm>
            <a:off x="4529160" y="2359080"/>
            <a:ext cx="314784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Sem segredo exposto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README atualizado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Executa após clone limpo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5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6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Evidência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TextBox 23"/>
          <p:cNvSpPr/>
          <p:nvPr/>
        </p:nvSpPr>
        <p:spPr>
          <a:xfrm>
            <a:off x="8217360" y="2359080"/>
            <a:ext cx="314784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 com contexto e risco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Validação reproduzível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Sugestões de IA verificadas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Revisão de PR com IA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9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Preparar contexto → pedir análise → validar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71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472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473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65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6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Toda saída de IA é hipótese até ser validada por teste, execução ou revisão humana.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8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9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Contexto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" name="TextBox 15"/>
          <p:cNvSpPr/>
          <p:nvPr/>
        </p:nvSpPr>
        <p:spPr>
          <a:xfrm>
            <a:off x="841320" y="2359080"/>
            <a:ext cx="314784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Objetivo e diff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Stack e critérios de aceite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Testes existentes; sem segredos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2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3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Análise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4" name="TextBox 19"/>
          <p:cNvSpPr/>
          <p:nvPr/>
        </p:nvSpPr>
        <p:spPr>
          <a:xfrm>
            <a:off x="4529160" y="2359080"/>
            <a:ext cx="314784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Bugs e regressões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Segurança e tratamento de erros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Testes faltantes e legibilidade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6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7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Validação humana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TextBox 23"/>
          <p:cNvSpPr/>
          <p:nvPr/>
        </p:nvSpPr>
        <p:spPr>
          <a:xfrm>
            <a:off x="8217360" y="2359080"/>
            <a:ext cx="314784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Conferir a sugestão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Executar teste, lint e build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Rejeitar mudanças incorretas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Ferramentas de IA para Revisão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Exemplos para explorar; recursos e acesso variam por produto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92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493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494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66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7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A IA pode ser o primeiro leitor do PR; a decisão continua humana.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9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0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Ferramentas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TextBox 15"/>
          <p:cNvSpPr/>
          <p:nvPr/>
        </p:nvSpPr>
        <p:spPr>
          <a:xfrm>
            <a:off x="841320" y="2359080"/>
            <a:ext cx="314784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GitHub Copilot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CodeRabbit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Qodo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3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4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Outras opções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TextBox 19"/>
          <p:cNvSpPr/>
          <p:nvPr/>
        </p:nvSpPr>
        <p:spPr>
          <a:xfrm>
            <a:off x="4529160" y="2359080"/>
            <a:ext cx="314784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Greptile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Graphite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Avaliar integração e contexto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7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8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Na prática da turma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TextBox 23"/>
          <p:cNvSpPr/>
          <p:nvPr/>
        </p:nvSpPr>
        <p:spPr>
          <a:xfrm>
            <a:off x="8217360" y="2359080"/>
            <a:ext cx="314784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CodeRabbit no PR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Comparar diagnóstico com teste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Registrar decisão da equipe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Qualidade Além do Olho Humano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Cada camada encontra classes diferentes de problemas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13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514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515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67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8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Nenhuma camada substitui todas as outras.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Rounded Rectangle 12"/>
          <p:cNvSpPr/>
          <p:nvPr/>
        </p:nvSpPr>
        <p:spPr>
          <a:xfrm>
            <a:off x="77724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0" name="TextBox 13"/>
          <p:cNvSpPr/>
          <p:nvPr/>
        </p:nvSpPr>
        <p:spPr>
          <a:xfrm>
            <a:off x="85032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Lint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TextBox 14"/>
          <p:cNvSpPr/>
          <p:nvPr/>
        </p:nvSpPr>
        <p:spPr>
          <a:xfrm>
            <a:off x="267192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Rounded Rectangle 15"/>
          <p:cNvSpPr/>
          <p:nvPr/>
        </p:nvSpPr>
        <p:spPr>
          <a:xfrm>
            <a:off x="2964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3" name="TextBox 16"/>
          <p:cNvSpPr/>
          <p:nvPr/>
        </p:nvSpPr>
        <p:spPr>
          <a:xfrm>
            <a:off x="3037680" y="2139840"/>
            <a:ext cx="171108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Análise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estática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TextBox 17"/>
          <p:cNvSpPr/>
          <p:nvPr/>
        </p:nvSpPr>
        <p:spPr>
          <a:xfrm>
            <a:off x="4859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5" name="Rounded Rectangle 18"/>
          <p:cNvSpPr/>
          <p:nvPr/>
        </p:nvSpPr>
        <p:spPr>
          <a:xfrm>
            <a:off x="5151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6" name="TextBox 19"/>
          <p:cNvSpPr/>
          <p:nvPr/>
        </p:nvSpPr>
        <p:spPr>
          <a:xfrm>
            <a:off x="5225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Testes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TextBox 20"/>
          <p:cNvSpPr/>
          <p:nvPr/>
        </p:nvSpPr>
        <p:spPr>
          <a:xfrm>
            <a:off x="7046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Rounded Rectangle 21"/>
          <p:cNvSpPr/>
          <p:nvPr/>
        </p:nvSpPr>
        <p:spPr>
          <a:xfrm>
            <a:off x="733896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9" name="TextBox 22"/>
          <p:cNvSpPr/>
          <p:nvPr/>
        </p:nvSpPr>
        <p:spPr>
          <a:xfrm>
            <a:off x="7412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IA no diff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TextBox 23"/>
          <p:cNvSpPr/>
          <p:nvPr/>
        </p:nvSpPr>
        <p:spPr>
          <a:xfrm>
            <a:off x="923364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Rounded Rectangle 24"/>
          <p:cNvSpPr/>
          <p:nvPr/>
        </p:nvSpPr>
        <p:spPr>
          <a:xfrm>
            <a:off x="952632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2" name="TextBox 25"/>
          <p:cNvSpPr/>
          <p:nvPr/>
        </p:nvSpPr>
        <p:spPr>
          <a:xfrm>
            <a:off x="9599400" y="2139840"/>
            <a:ext cx="1711080" cy="64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Review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humano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TextBox 26"/>
          <p:cNvSpPr/>
          <p:nvPr/>
        </p:nvSpPr>
        <p:spPr>
          <a:xfrm>
            <a:off x="914400" y="3429000"/>
            <a:ext cx="10057680" cy="73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300" spc="-1" strike="noStrike">
                <a:solidFill>
                  <a:srgbClr val="132b42"/>
                </a:solidFill>
                <a:latin typeface="Aptos"/>
              </a:rPr>
              <a:t>Estilo e convenções → padrões de risco → comportamento executável → hipóteses sobre a mudança → contexto e decisão de negócio.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Exemplo Comentado — Da Mudança à Revisão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Apresenta uma mudança posterior à inicialização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37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538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539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0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68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2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Exemplo de evolução: compreender a revisão antes de aplicá-la às próximas mudanças.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Rounded Rectangle 12"/>
          <p:cNvSpPr/>
          <p:nvPr/>
        </p:nvSpPr>
        <p:spPr>
          <a:xfrm>
            <a:off x="77724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4" name="TextBox 13"/>
          <p:cNvSpPr/>
          <p:nvPr/>
        </p:nvSpPr>
        <p:spPr>
          <a:xfrm>
            <a:off x="85032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Tarefa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" name="TextBox 14"/>
          <p:cNvSpPr/>
          <p:nvPr/>
        </p:nvSpPr>
        <p:spPr>
          <a:xfrm>
            <a:off x="267192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" name="Rounded Rectangle 15"/>
          <p:cNvSpPr/>
          <p:nvPr/>
        </p:nvSpPr>
        <p:spPr>
          <a:xfrm>
            <a:off x="2964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7" name="TextBox 16"/>
          <p:cNvSpPr/>
          <p:nvPr/>
        </p:nvSpPr>
        <p:spPr>
          <a:xfrm>
            <a:off x="303768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Branch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TextBox 17"/>
          <p:cNvSpPr/>
          <p:nvPr/>
        </p:nvSpPr>
        <p:spPr>
          <a:xfrm>
            <a:off x="4859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Rounded Rectangle 18"/>
          <p:cNvSpPr/>
          <p:nvPr/>
        </p:nvSpPr>
        <p:spPr>
          <a:xfrm>
            <a:off x="5151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0" name="TextBox 19"/>
          <p:cNvSpPr/>
          <p:nvPr/>
        </p:nvSpPr>
        <p:spPr>
          <a:xfrm>
            <a:off x="5225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Commit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1" name="TextBox 20"/>
          <p:cNvSpPr/>
          <p:nvPr/>
        </p:nvSpPr>
        <p:spPr>
          <a:xfrm>
            <a:off x="7046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Rounded Rectangle 21"/>
          <p:cNvSpPr/>
          <p:nvPr/>
        </p:nvSpPr>
        <p:spPr>
          <a:xfrm>
            <a:off x="733896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3" name="TextBox 22"/>
          <p:cNvSpPr/>
          <p:nvPr/>
        </p:nvSpPr>
        <p:spPr>
          <a:xfrm>
            <a:off x="7412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PR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" name="TextBox 23"/>
          <p:cNvSpPr/>
          <p:nvPr/>
        </p:nvSpPr>
        <p:spPr>
          <a:xfrm>
            <a:off x="923364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Rounded Rectangle 24"/>
          <p:cNvSpPr/>
          <p:nvPr/>
        </p:nvSpPr>
        <p:spPr>
          <a:xfrm>
            <a:off x="952632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6" name="TextBox 25"/>
          <p:cNvSpPr/>
          <p:nvPr/>
        </p:nvSpPr>
        <p:spPr>
          <a:xfrm>
            <a:off x="959940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Revisão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Rounded Rectangle 26"/>
          <p:cNvSpPr/>
          <p:nvPr/>
        </p:nvSpPr>
        <p:spPr>
          <a:xfrm>
            <a:off x="685800" y="3200400"/>
            <a:ext cx="5302800" cy="210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8" name="Rectangle 27"/>
          <p:cNvSpPr/>
          <p:nvPr/>
        </p:nvSpPr>
        <p:spPr>
          <a:xfrm>
            <a:off x="685800" y="3200400"/>
            <a:ext cx="54000" cy="21024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9" name="TextBox 28"/>
          <p:cNvSpPr/>
          <p:nvPr/>
        </p:nvSpPr>
        <p:spPr>
          <a:xfrm>
            <a:off x="841320" y="33649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O que observar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TextBox 29"/>
          <p:cNvSpPr/>
          <p:nvPr/>
        </p:nvSpPr>
        <p:spPr>
          <a:xfrm>
            <a:off x="841320" y="39592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Qual problema a mudança resolve?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Por que o trabalho está isolado?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O diff é pequeno e compreensível?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Rounded Rectangle 30"/>
          <p:cNvSpPr/>
          <p:nvPr/>
        </p:nvSpPr>
        <p:spPr>
          <a:xfrm>
            <a:off x="6217920" y="3200400"/>
            <a:ext cx="5302800" cy="210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2" name="Rectangle 31"/>
          <p:cNvSpPr/>
          <p:nvPr/>
        </p:nvSpPr>
        <p:spPr>
          <a:xfrm>
            <a:off x="6217920" y="3200400"/>
            <a:ext cx="54000" cy="21024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3" name="TextBox 32"/>
          <p:cNvSpPr/>
          <p:nvPr/>
        </p:nvSpPr>
        <p:spPr>
          <a:xfrm>
            <a:off x="6373440" y="33649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O que pedir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" name="TextBox 33"/>
          <p:cNvSpPr/>
          <p:nvPr/>
        </p:nvSpPr>
        <p:spPr>
          <a:xfrm>
            <a:off x="6373440" y="39592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Teste que reproduza o comportamento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Risco conhecido e contexto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Decisão explícita de um revisor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Demonstração — CodeRabbit no PR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Use o PR preparado pelo professor para observar a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68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569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570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69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3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A IA propõe hipóteses; testes e revisão humana sustentam a decisão.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Rounded Rectangle 12"/>
          <p:cNvSpPr/>
          <p:nvPr/>
        </p:nvSpPr>
        <p:spPr>
          <a:xfrm>
            <a:off x="77724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5" name="TextBox 13"/>
          <p:cNvSpPr/>
          <p:nvPr/>
        </p:nvSpPr>
        <p:spPr>
          <a:xfrm>
            <a:off x="85032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Diff com erro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TextBox 14"/>
          <p:cNvSpPr/>
          <p:nvPr/>
        </p:nvSpPr>
        <p:spPr>
          <a:xfrm>
            <a:off x="267192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Rounded Rectangle 15"/>
          <p:cNvSpPr/>
          <p:nvPr/>
        </p:nvSpPr>
        <p:spPr>
          <a:xfrm>
            <a:off x="2964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8" name="TextBox 16"/>
          <p:cNvSpPr/>
          <p:nvPr/>
        </p:nvSpPr>
        <p:spPr>
          <a:xfrm>
            <a:off x="303768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Revisão IA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TextBox 17"/>
          <p:cNvSpPr/>
          <p:nvPr/>
        </p:nvSpPr>
        <p:spPr>
          <a:xfrm>
            <a:off x="4859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Rounded Rectangle 18"/>
          <p:cNvSpPr/>
          <p:nvPr/>
        </p:nvSpPr>
        <p:spPr>
          <a:xfrm>
            <a:off x="5151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1" name="TextBox 19"/>
          <p:cNvSpPr/>
          <p:nvPr/>
        </p:nvSpPr>
        <p:spPr>
          <a:xfrm>
            <a:off x="5225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Reprodução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TextBox 20"/>
          <p:cNvSpPr/>
          <p:nvPr/>
        </p:nvSpPr>
        <p:spPr>
          <a:xfrm>
            <a:off x="7046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Rounded Rectangle 21"/>
          <p:cNvSpPr/>
          <p:nvPr/>
        </p:nvSpPr>
        <p:spPr>
          <a:xfrm>
            <a:off x="733896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4" name="TextBox 22"/>
          <p:cNvSpPr/>
          <p:nvPr/>
        </p:nvSpPr>
        <p:spPr>
          <a:xfrm>
            <a:off x="7412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Correção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TextBox 23"/>
          <p:cNvSpPr/>
          <p:nvPr/>
        </p:nvSpPr>
        <p:spPr>
          <a:xfrm>
            <a:off x="923364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Rounded Rectangle 24"/>
          <p:cNvSpPr/>
          <p:nvPr/>
        </p:nvSpPr>
        <p:spPr>
          <a:xfrm>
            <a:off x="952632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7" name="TextBox 25"/>
          <p:cNvSpPr/>
          <p:nvPr/>
        </p:nvSpPr>
        <p:spPr>
          <a:xfrm>
            <a:off x="959940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Nova revisão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TextBox 26"/>
          <p:cNvSpPr/>
          <p:nvPr/>
        </p:nvSpPr>
        <p:spPr>
          <a:xfrm>
            <a:off x="914400" y="3337560"/>
            <a:ext cx="10057680" cy="12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300" spc="-1" strike="noStrike">
                <a:solidFill>
                  <a:srgbClr val="0f172a"/>
                </a:solidFill>
                <a:latin typeface="Aptos"/>
              </a:rPr>
              <a:t>Exemplo: 10% de desconto em 2000 centavos deve resultar em 1800.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300" spc="-1" strike="noStrike">
                <a:solidFill>
                  <a:srgbClr val="0f172a"/>
                </a:solidFill>
                <a:latin typeface="Aptos"/>
              </a:rPr>
              <a:t>O código retorna 1990, embora os testes iniciais passem.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300" spc="-1" strike="noStrike">
                <a:solidFill>
                  <a:srgbClr val="0f172a"/>
                </a:solidFill>
                <a:latin typeface="Aptos"/>
              </a:rPr>
              <a:t>Discuta o que a revisão encontrou e qual teste faltava.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Discussão Orientada — Aceitar ou Rejeitar?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Analise a revisão apresentada, sem criar branches ou commits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92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593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594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70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7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Entregável da discussão: diagnóstico, evidência e justificativa da decisão.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9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0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Analisar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TextBox 15"/>
          <p:cNvSpPr/>
          <p:nvPr/>
        </p:nvSpPr>
        <p:spPr>
          <a:xfrm>
            <a:off x="841320" y="2359080"/>
            <a:ext cx="314784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Leia o contrato e o trecho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Identifique a entrada problemática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Compare esperado e observado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3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4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Decidir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TextBox 19"/>
          <p:cNvSpPr/>
          <p:nvPr/>
        </p:nvSpPr>
        <p:spPr>
          <a:xfrm>
            <a:off x="4529160" y="2359080"/>
            <a:ext cx="3147840" cy="186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 sugestão resolve o problema?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Que regressão ela pode introduzir?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Qual teste comprova a correção?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7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8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Registrar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TextBox 23"/>
          <p:cNvSpPr/>
          <p:nvPr/>
        </p:nvSpPr>
        <p:spPr>
          <a:xfrm>
            <a:off x="8217360" y="2359080"/>
            <a:ext cx="314784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Prompt e resposta apresentados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Sugestão aceita ou rejeitada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Justificativa e validação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Atividade 2 — Iniciar o Projeto da Equipe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Incremento do projeto integrador: do diagnóstico à primeira base executável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3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614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615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71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8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Um único projeto evolui: E1 diagnóstico → E2 base publicada → E3 integração contínua.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9" name="Rounded Rectangle 12"/>
          <p:cNvSpPr/>
          <p:nvPr/>
        </p:nvSpPr>
        <p:spPr>
          <a:xfrm>
            <a:off x="77724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0" name="TextBox 13"/>
          <p:cNvSpPr/>
          <p:nvPr/>
        </p:nvSpPr>
        <p:spPr>
          <a:xfrm>
            <a:off x="85032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Organização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TextBox 14"/>
          <p:cNvSpPr/>
          <p:nvPr/>
        </p:nvSpPr>
        <p:spPr>
          <a:xfrm>
            <a:off x="267192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Rounded Rectangle 15"/>
          <p:cNvSpPr/>
          <p:nvPr/>
        </p:nvSpPr>
        <p:spPr>
          <a:xfrm>
            <a:off x="2964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3" name="TextBox 16"/>
          <p:cNvSpPr/>
          <p:nvPr/>
        </p:nvSpPr>
        <p:spPr>
          <a:xfrm>
            <a:off x="303768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Repositório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" name="TextBox 17"/>
          <p:cNvSpPr/>
          <p:nvPr/>
        </p:nvSpPr>
        <p:spPr>
          <a:xfrm>
            <a:off x="4859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Rounded Rectangle 18"/>
          <p:cNvSpPr/>
          <p:nvPr/>
        </p:nvSpPr>
        <p:spPr>
          <a:xfrm>
            <a:off x="5151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6" name="TextBox 19"/>
          <p:cNvSpPr/>
          <p:nvPr/>
        </p:nvSpPr>
        <p:spPr>
          <a:xfrm>
            <a:off x="5225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Integrantes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TextBox 20"/>
          <p:cNvSpPr/>
          <p:nvPr/>
        </p:nvSpPr>
        <p:spPr>
          <a:xfrm>
            <a:off x="7046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8" name="Rounded Rectangle 21"/>
          <p:cNvSpPr/>
          <p:nvPr/>
        </p:nvSpPr>
        <p:spPr>
          <a:xfrm>
            <a:off x="733896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9" name="TextBox 22"/>
          <p:cNvSpPr/>
          <p:nvPr/>
        </p:nvSpPr>
        <p:spPr>
          <a:xfrm>
            <a:off x="7412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Código-base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TextBox 23"/>
          <p:cNvSpPr/>
          <p:nvPr/>
        </p:nvSpPr>
        <p:spPr>
          <a:xfrm>
            <a:off x="923364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Rounded Rectangle 24"/>
          <p:cNvSpPr/>
          <p:nvPr/>
        </p:nvSpPr>
        <p:spPr>
          <a:xfrm>
            <a:off x="952632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2" name="TextBox 25"/>
          <p:cNvSpPr/>
          <p:nvPr/>
        </p:nvSpPr>
        <p:spPr>
          <a:xfrm>
            <a:off x="959940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main inicial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TextBox 26"/>
          <p:cNvSpPr/>
          <p:nvPr/>
        </p:nvSpPr>
        <p:spPr>
          <a:xfrm>
            <a:off x="914400" y="3291840"/>
            <a:ext cx="10057680" cy="12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300" spc="-1" strike="noStrike">
                <a:solidFill>
                  <a:srgbClr val="0f172a"/>
                </a:solidFill>
                <a:latin typeface="Aptos"/>
              </a:rPr>
              <a:t>Um integrante cria a organização e o repositório do grupo.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300" spc="-1" strike="noStrike">
                <a:solidFill>
                  <a:srgbClr val="0f172a"/>
                </a:solidFill>
                <a:latin typeface="Aptos"/>
              </a:rPr>
              <a:t>Todos aceitam o convite e confirmam acesso.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300" spc="-1" strike="noStrike">
                <a:solidFill>
                  <a:srgbClr val="0f172a"/>
                </a:solidFill>
                <a:latin typeface="Aptos"/>
              </a:rPr>
              <a:t>A equipe constrói a base da aplicação e publica o primeiro commit.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Atividade 2 — Organização e Repositório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Etapa 1 • Um responsável prepara o espaço compartilhado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6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7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638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639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72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2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O repositório pertence à organização da equipe, não à conta pessoal do criador.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4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5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Organização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TextBox 15"/>
          <p:cNvSpPr/>
          <p:nvPr/>
        </p:nvSpPr>
        <p:spPr>
          <a:xfrm>
            <a:off x="841320" y="2359080"/>
            <a:ext cx="314784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Definir nome da equipe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Um integrante cria a organização no GitHub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Usar contas pessoais individuais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8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9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Repositório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TextBox 19"/>
          <p:cNvSpPr/>
          <p:nvPr/>
        </p:nvSpPr>
        <p:spPr>
          <a:xfrm>
            <a:off x="4529160" y="2359080"/>
            <a:ext cx="314784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Criar o repo do projeto na organização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Definir nome e descrição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Criar vazio, sem README automático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2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3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Responsabilidade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TextBox 23"/>
          <p:cNvSpPr/>
          <p:nvPr/>
        </p:nvSpPr>
        <p:spPr>
          <a:xfrm>
            <a:off x="8217360" y="2359080"/>
            <a:ext cx="314784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Criador assume administração inicial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Registrar quem administra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Garantir acesso do professor à entrega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Atividade 2 — Convidar e Confirmar Acessos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6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Etapa 2 • Convite enviado ainda não significa participação ativa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58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659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660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73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3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Pertencer à organização não garante, sozinho, permissão de escrita no repositório.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Rounded Rectangle 12"/>
          <p:cNvSpPr/>
          <p:nvPr/>
        </p:nvSpPr>
        <p:spPr>
          <a:xfrm>
            <a:off x="77724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5" name="TextBox 13"/>
          <p:cNvSpPr/>
          <p:nvPr/>
        </p:nvSpPr>
        <p:spPr>
          <a:xfrm>
            <a:off x="85032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Convidar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TextBox 14"/>
          <p:cNvSpPr/>
          <p:nvPr/>
        </p:nvSpPr>
        <p:spPr>
          <a:xfrm>
            <a:off x="321876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Rounded Rectangle 15"/>
          <p:cNvSpPr/>
          <p:nvPr/>
        </p:nvSpPr>
        <p:spPr>
          <a:xfrm>
            <a:off x="351144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8" name="TextBox 16"/>
          <p:cNvSpPr/>
          <p:nvPr/>
        </p:nvSpPr>
        <p:spPr>
          <a:xfrm>
            <a:off x="358452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Aceitar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TextBox 17"/>
          <p:cNvSpPr/>
          <p:nvPr/>
        </p:nvSpPr>
        <p:spPr>
          <a:xfrm>
            <a:off x="595260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Rounded Rectangle 18"/>
          <p:cNvSpPr/>
          <p:nvPr/>
        </p:nvSpPr>
        <p:spPr>
          <a:xfrm>
            <a:off x="624528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1" name="TextBox 19"/>
          <p:cNvSpPr/>
          <p:nvPr/>
        </p:nvSpPr>
        <p:spPr>
          <a:xfrm>
            <a:off x="631836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Dar acesso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TextBox 20"/>
          <p:cNvSpPr/>
          <p:nvPr/>
        </p:nvSpPr>
        <p:spPr>
          <a:xfrm>
            <a:off x="868680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3" name="Rounded Rectangle 21"/>
          <p:cNvSpPr/>
          <p:nvPr/>
        </p:nvSpPr>
        <p:spPr>
          <a:xfrm>
            <a:off x="8979480" y="1965960"/>
            <a:ext cx="240408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4" name="TextBox 22"/>
          <p:cNvSpPr/>
          <p:nvPr/>
        </p:nvSpPr>
        <p:spPr>
          <a:xfrm>
            <a:off x="9052560" y="2139840"/>
            <a:ext cx="225792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Confirmar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Rounded Rectangle 23"/>
          <p:cNvSpPr/>
          <p:nvPr/>
        </p:nvSpPr>
        <p:spPr>
          <a:xfrm>
            <a:off x="685800" y="3200400"/>
            <a:ext cx="5302800" cy="2148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6" name="Rectangle 24"/>
          <p:cNvSpPr/>
          <p:nvPr/>
        </p:nvSpPr>
        <p:spPr>
          <a:xfrm>
            <a:off x="685800" y="3200400"/>
            <a:ext cx="54000" cy="2148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7" name="TextBox 25"/>
          <p:cNvSpPr/>
          <p:nvPr/>
        </p:nvSpPr>
        <p:spPr>
          <a:xfrm>
            <a:off x="841320" y="33649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Responsável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8" name="TextBox 26"/>
          <p:cNvSpPr/>
          <p:nvPr/>
        </p:nvSpPr>
        <p:spPr>
          <a:xfrm>
            <a:off x="841320" y="39592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Convidar todos os integrantes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Conceder acesso de escrita ao repo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Usar equipe do GitHub ou acesso individual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Rounded Rectangle 27"/>
          <p:cNvSpPr/>
          <p:nvPr/>
        </p:nvSpPr>
        <p:spPr>
          <a:xfrm>
            <a:off x="6217920" y="3200400"/>
            <a:ext cx="5302800" cy="2148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0" name="Rectangle 28"/>
          <p:cNvSpPr/>
          <p:nvPr/>
        </p:nvSpPr>
        <p:spPr>
          <a:xfrm>
            <a:off x="6217920" y="3200400"/>
            <a:ext cx="54000" cy="21481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1" name="TextBox 29"/>
          <p:cNvSpPr/>
          <p:nvPr/>
        </p:nvSpPr>
        <p:spPr>
          <a:xfrm>
            <a:off x="6373440" y="3364920"/>
            <a:ext cx="4991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Cada integrante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2" name="TextBox 30"/>
          <p:cNvSpPr/>
          <p:nvPr/>
        </p:nvSpPr>
        <p:spPr>
          <a:xfrm>
            <a:off x="6373440" y="3959280"/>
            <a:ext cx="499176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Aceitar com a própria conta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Confirmar que enxerga o repositório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Verificar que poderá contribuir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3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Atividade 2 — Construir o Código-base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Etapa 3 • Implementar o menor comportamento executável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86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687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688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74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0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1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Escolha livre da aplicação; o exemplo CodeRabbit não substitui o projeto do grupo.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3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4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Aplicação mínima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5" name="TextBox 15"/>
          <p:cNvSpPr/>
          <p:nvPr/>
        </p:nvSpPr>
        <p:spPr>
          <a:xfrm>
            <a:off x="841320" y="2359080"/>
            <a:ext cx="314784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Stack já escolhida pela equipe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Uma funcionalidade ou endpoint simples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Execução local comprovada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6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7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8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Arquivos da base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TextBox 19"/>
          <p:cNvSpPr/>
          <p:nvPr/>
        </p:nvSpPr>
        <p:spPr>
          <a:xfrm>
            <a:off x="4529160" y="2359080"/>
            <a:ext cx="314784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Código-fonte e dependências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README com execução e teste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.gitignore adequado à stack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1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2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TextBox 23"/>
          <p:cNvSpPr/>
          <p:nvPr/>
        </p:nvSpPr>
        <p:spPr>
          <a:xfrm>
            <a:off x="8217360" y="2359080"/>
            <a:ext cx="314784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Executar antes de publicar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Incluir um teste simples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Registrar resultado esperado e obtido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Atividade 2 — Primeiro Commit na main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Etapa 4 • Exceção de inicialização: publicar a primeira base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07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708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709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0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75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2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Somente esta inicialização vai direto à main. As próximas mudanças seguem por branch e PR.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Rounded Rectangle 12"/>
          <p:cNvSpPr/>
          <p:nvPr/>
        </p:nvSpPr>
        <p:spPr>
          <a:xfrm>
            <a:off x="822960" y="1645920"/>
            <a:ext cx="10514880" cy="164520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4" name="TextBox 13"/>
          <p:cNvSpPr/>
          <p:nvPr/>
        </p:nvSpPr>
        <p:spPr>
          <a:xfrm>
            <a:off x="987480" y="1755720"/>
            <a:ext cx="10185840" cy="12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init -b 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status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add 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diff --staged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Rounded Rectangle 14"/>
          <p:cNvSpPr/>
          <p:nvPr/>
        </p:nvSpPr>
        <p:spPr>
          <a:xfrm>
            <a:off x="822960" y="3520440"/>
            <a:ext cx="10514880" cy="141660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6" name="TextBox 15"/>
          <p:cNvSpPr/>
          <p:nvPr/>
        </p:nvSpPr>
        <p:spPr>
          <a:xfrm>
            <a:off x="987480" y="3630240"/>
            <a:ext cx="10185840" cy="94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commit -m "chore: inicia base do projeto"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remote add origin &lt;url-do-repositorio-vazio&gt;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ffffff"/>
                </a:solidFill>
                <a:latin typeface="DejaVu Sans Mono"/>
              </a:rPr>
              <a:t>git push -u origin main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TextBox 16"/>
          <p:cNvSpPr/>
          <p:nvPr/>
        </p:nvSpPr>
        <p:spPr>
          <a:xfrm>
            <a:off x="914400" y="5139000"/>
            <a:ext cx="1005768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600" spc="-1" strike="noStrike">
                <a:solidFill>
                  <a:srgbClr val="0f172a"/>
                </a:solidFill>
                <a:latin typeface="Aptos"/>
              </a:rPr>
              <a:t>Antes do commit: revisar arquivos selecionados e excluir segredos e artefatos locais.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Atividade 2 — Validar a Base Compartilhada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Etapa 5 • Outro integrante confirma a execução em um clone limpo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0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21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722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723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76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6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Publicar código não basta: a base precisa ser reproduzível por outra pessoa.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7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8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9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Segundo integrante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TextBox 15"/>
          <p:cNvSpPr/>
          <p:nvPr/>
        </p:nvSpPr>
        <p:spPr>
          <a:xfrm>
            <a:off x="841320" y="2359080"/>
            <a:ext cx="314784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Obter o projeto em pasta nova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Seguir apenas o README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Executar a aplicação e o teste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2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3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Equipe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TextBox 19"/>
          <p:cNvSpPr/>
          <p:nvPr/>
        </p:nvSpPr>
        <p:spPr>
          <a:xfrm>
            <a:off x="4529160" y="2359080"/>
            <a:ext cx="3147840" cy="186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Corrigir instruções insuficientes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Registrar evidência de execução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Relacionar código ao diagnóstico do E1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6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7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Próximas mudanças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" name="TextBox 23"/>
          <p:cNvSpPr/>
          <p:nvPr/>
        </p:nvSpPr>
        <p:spPr>
          <a:xfrm>
            <a:off x="8217360" y="2359080"/>
            <a:ext cx="3147840" cy="13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Branch de trabalho → PR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Revisão e validação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Proteções da main após inicialização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Atividade 2 — Critérios de Aceite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0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Entrega ao final do encontro: link do repositório do projeto integrador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42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743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744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5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77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6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7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Não é necessário PR ou tag nesta inicialização; eles serão usados na evolução do projeto.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9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0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Equipe organizada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1" name="TextBox 15"/>
          <p:cNvSpPr/>
          <p:nvPr/>
        </p:nvSpPr>
        <p:spPr>
          <a:xfrm>
            <a:off x="841320" y="2359080"/>
            <a:ext cx="314784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Organização criada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Repositório do projeto criado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Convites aceitos e escrita confirmada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3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4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Base publicada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TextBox 19"/>
          <p:cNvSpPr/>
          <p:nvPr/>
        </p:nvSpPr>
        <p:spPr>
          <a:xfrm>
            <a:off x="4529160" y="2359080"/>
            <a:ext cx="314784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Código-base na main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Primeiro commit identificável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README e .gitignore incluídos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7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8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Execução comprovada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TextBox 23"/>
          <p:cNvSpPr/>
          <p:nvPr/>
        </p:nvSpPr>
        <p:spPr>
          <a:xfrm>
            <a:off x="8217360" y="2359080"/>
            <a:ext cx="314784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Aplicação e teste executam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Outro integrante valida o clone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Evidência e uso de IA registrados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0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Prompts Úteis — Revisão e Qualidade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Forneça contexto suficiente e peça resultados verificáveis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63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764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765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78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8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Registre prompt, resposta, decisão e evidência de validação.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0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1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Revisar diff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TextBox 15"/>
          <p:cNvSpPr/>
          <p:nvPr/>
        </p:nvSpPr>
        <p:spPr>
          <a:xfrm>
            <a:off x="841320" y="2359080"/>
            <a:ext cx="3147840" cy="14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“</a:t>
            </a: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Com estes critérios de aceite, encontre bugs e regressões. Cite a linha e uma entrada de reprodução.”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4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5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Sugerir testes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TextBox 19"/>
          <p:cNvSpPr/>
          <p:nvPr/>
        </p:nvSpPr>
        <p:spPr>
          <a:xfrm>
            <a:off x="4529160" y="2359080"/>
            <a:ext cx="3147840" cy="11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“</a:t>
            </a: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Quais casos faltam para os limites e erros desta função? Explique o que cada teste comprova.”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7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8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9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Avaliar risco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TextBox 23"/>
          <p:cNvSpPr/>
          <p:nvPr/>
        </p:nvSpPr>
        <p:spPr>
          <a:xfrm>
            <a:off x="8217360" y="2359080"/>
            <a:ext cx="3147840" cy="11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“</a:t>
            </a: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Que hipótese sua depende de contexto ausente? Como validá-la antes de alterar o código?”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Depois do Encontro 2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O mesmo repositório recebe o pipeline no Encontro 3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3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84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1785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1786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7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79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9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E2: execução local reproduzível → E3: execução automatizada e status check.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Rounded Rectangle 12"/>
          <p:cNvSpPr/>
          <p:nvPr/>
        </p:nvSpPr>
        <p:spPr>
          <a:xfrm>
            <a:off x="77724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1" name="TextBox 13"/>
          <p:cNvSpPr/>
          <p:nvPr/>
        </p:nvSpPr>
        <p:spPr>
          <a:xfrm>
            <a:off x="850320" y="2139840"/>
            <a:ext cx="171108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Equipe com acesso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TextBox 14"/>
          <p:cNvSpPr/>
          <p:nvPr/>
        </p:nvSpPr>
        <p:spPr>
          <a:xfrm>
            <a:off x="267192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Rounded Rectangle 15"/>
          <p:cNvSpPr/>
          <p:nvPr/>
        </p:nvSpPr>
        <p:spPr>
          <a:xfrm>
            <a:off x="2964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4" name="TextBox 16"/>
          <p:cNvSpPr/>
          <p:nvPr/>
        </p:nvSpPr>
        <p:spPr>
          <a:xfrm>
            <a:off x="3037680" y="2139840"/>
            <a:ext cx="171108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Código na main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TextBox 17"/>
          <p:cNvSpPr/>
          <p:nvPr/>
        </p:nvSpPr>
        <p:spPr>
          <a:xfrm>
            <a:off x="4859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6" name="Rounded Rectangle 18"/>
          <p:cNvSpPr/>
          <p:nvPr/>
        </p:nvSpPr>
        <p:spPr>
          <a:xfrm>
            <a:off x="515160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7" name="TextBox 19"/>
          <p:cNvSpPr/>
          <p:nvPr/>
        </p:nvSpPr>
        <p:spPr>
          <a:xfrm>
            <a:off x="5225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README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TextBox 20"/>
          <p:cNvSpPr/>
          <p:nvPr/>
        </p:nvSpPr>
        <p:spPr>
          <a:xfrm>
            <a:off x="704628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Rounded Rectangle 21"/>
          <p:cNvSpPr/>
          <p:nvPr/>
        </p:nvSpPr>
        <p:spPr>
          <a:xfrm>
            <a:off x="733896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0" name="TextBox 22"/>
          <p:cNvSpPr/>
          <p:nvPr/>
        </p:nvSpPr>
        <p:spPr>
          <a:xfrm>
            <a:off x="741204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Teste local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TextBox 23"/>
          <p:cNvSpPr/>
          <p:nvPr/>
        </p:nvSpPr>
        <p:spPr>
          <a:xfrm>
            <a:off x="9233640" y="2185560"/>
            <a:ext cx="273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900" spc="-1" strike="noStrike">
                <a:solidFill>
                  <a:srgbClr val="5e6c7a"/>
                </a:solidFill>
                <a:latin typeface="Aptos"/>
              </a:rPr>
              <a:t>→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Rounded Rectangle 24"/>
          <p:cNvSpPr/>
          <p:nvPr/>
        </p:nvSpPr>
        <p:spPr>
          <a:xfrm>
            <a:off x="9526320" y="1965960"/>
            <a:ext cx="1857240" cy="82224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3" name="TextBox 25"/>
          <p:cNvSpPr/>
          <p:nvPr/>
        </p:nvSpPr>
        <p:spPr>
          <a:xfrm>
            <a:off x="9599400" y="2139840"/>
            <a:ext cx="1711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700" spc="-1" strike="noStrike">
                <a:solidFill>
                  <a:srgbClr val="ffffff"/>
                </a:solidFill>
                <a:latin typeface="Aptos"/>
              </a:rPr>
              <a:t>CI no E3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TextBox 26"/>
          <p:cNvSpPr/>
          <p:nvPr/>
        </p:nvSpPr>
        <p:spPr>
          <a:xfrm>
            <a:off x="914400" y="3246120"/>
            <a:ext cx="10057680" cy="12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300" spc="-1" strike="noStrike">
                <a:solidFill>
                  <a:srgbClr val="0f172a"/>
                </a:solidFill>
                <a:latin typeface="Aptos"/>
              </a:rPr>
              <a:t>Levar pronto: link do repo, código-base, comandos de execução e teste.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300" spc="-1" strike="noStrike">
                <a:solidFill>
                  <a:srgbClr val="0f172a"/>
                </a:solidFill>
                <a:latin typeface="Aptos"/>
              </a:rPr>
              <a:t>Próxima mudança: adicionar o pipeline em branch e abrir PR.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2300" spc="-1" strike="noStrike">
                <a:solidFill>
                  <a:srgbClr val="0f172a"/>
                </a:solidFill>
                <a:latin typeface="Aptos"/>
              </a:rPr>
              <a:t>A CI automatiza a validação que a equipe já executou localmente.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TextBox 1"/>
          <p:cNvSpPr/>
          <p:nvPr/>
        </p:nvSpPr>
        <p:spPr>
          <a:xfrm>
            <a:off x="777240" y="228600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3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1920240" y="3090600"/>
            <a:ext cx="83188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12/09/2026 | Integração contínua, testes e IA para automação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532120" y="6263640"/>
            <a:ext cx="1186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80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08" name="Picture 4" descr="e3_refresh.png"/>
          <p:cNvPicPr/>
          <p:nvPr/>
        </p:nvPicPr>
        <p:blipFill>
          <a:blip r:embed="rId1"/>
          <a:stretch/>
        </p:blipFill>
        <p:spPr>
          <a:xfrm>
            <a:off x="5615640" y="914400"/>
            <a:ext cx="957960" cy="957960"/>
          </a:xfrm>
          <a:prstGeom prst="rect">
            <a:avLst/>
          </a:prstGeom>
          <a:ln w="0">
            <a:noFill/>
          </a:ln>
        </p:spPr>
      </p:pic>
      <p:pic>
        <p:nvPicPr>
          <p:cNvPr id="1809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Shape 0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11" name="Image 2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9966960" y="320040"/>
            <a:ext cx="1142640" cy="328680"/>
          </a:xfrm>
          <a:prstGeom prst="rect">
            <a:avLst/>
          </a:prstGeom>
          <a:ln w="0">
            <a:noFill/>
          </a:ln>
        </p:spPr>
      </p:pic>
      <p:sp>
        <p:nvSpPr>
          <p:cNvPr id="1812" name="Text 2"/>
          <p:cNvSpPr/>
          <p:nvPr/>
        </p:nvSpPr>
        <p:spPr>
          <a:xfrm>
            <a:off x="685800" y="1207080"/>
            <a:ext cx="8961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f2a44"/>
                </a:solidFill>
                <a:latin typeface="Aptos Display"/>
                <a:ea typeface="Aptos Display"/>
              </a:rPr>
              <a:t>Integração Contínua, Testes e IA para Automação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3" name="Text 3"/>
          <p:cNvSpPr/>
          <p:nvPr/>
        </p:nvSpPr>
        <p:spPr>
          <a:xfrm>
            <a:off x="713160" y="1984320"/>
            <a:ext cx="7863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64748b"/>
                </a:solidFill>
                <a:latin typeface="Aptos"/>
                <a:ea typeface="Aptos"/>
              </a:rPr>
              <a:t>12/09/2026 • Feedback rápido para reduzir risco de integração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Text 4"/>
          <p:cNvSpPr/>
          <p:nvPr/>
        </p:nvSpPr>
        <p:spPr>
          <a:xfrm>
            <a:off x="777240" y="2880360"/>
            <a:ext cx="1416960" cy="52992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ptos"/>
                <a:ea typeface="Aptos"/>
              </a:rPr>
              <a:t>Trigger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5" name="Shape 5"/>
          <p:cNvSpPr/>
          <p:nvPr/>
        </p:nvSpPr>
        <p:spPr>
          <a:xfrm>
            <a:off x="2221920" y="3145320"/>
            <a:ext cx="310680" cy="360"/>
          </a:xfrm>
          <a:prstGeom prst="line">
            <a:avLst/>
          </a:prstGeom>
          <a:ln w="2032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6" name="Text 6"/>
          <p:cNvSpPr/>
          <p:nvPr/>
        </p:nvSpPr>
        <p:spPr>
          <a:xfrm>
            <a:off x="2606040" y="2880360"/>
            <a:ext cx="1416960" cy="52992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ptos"/>
                <a:ea typeface="Aptos"/>
              </a:rPr>
              <a:t>Build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7" name="Shape 6"/>
          <p:cNvSpPr/>
          <p:nvPr/>
        </p:nvSpPr>
        <p:spPr>
          <a:xfrm>
            <a:off x="4050720" y="3145320"/>
            <a:ext cx="310680" cy="360"/>
          </a:xfrm>
          <a:prstGeom prst="line">
            <a:avLst/>
          </a:prstGeom>
          <a:ln w="2032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Text 8"/>
          <p:cNvSpPr/>
          <p:nvPr/>
        </p:nvSpPr>
        <p:spPr>
          <a:xfrm>
            <a:off x="4434840" y="2880360"/>
            <a:ext cx="1416960" cy="52992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ptos"/>
                <a:ea typeface="Aptos"/>
              </a:rPr>
              <a:t>Testes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9" name="Shape 7"/>
          <p:cNvSpPr/>
          <p:nvPr/>
        </p:nvSpPr>
        <p:spPr>
          <a:xfrm>
            <a:off x="5879520" y="3145320"/>
            <a:ext cx="310680" cy="360"/>
          </a:xfrm>
          <a:prstGeom prst="line">
            <a:avLst/>
          </a:prstGeom>
          <a:ln w="2032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0" name="Text 10"/>
          <p:cNvSpPr/>
          <p:nvPr/>
        </p:nvSpPr>
        <p:spPr>
          <a:xfrm>
            <a:off x="6263640" y="2880360"/>
            <a:ext cx="1416960" cy="52992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ptos"/>
                <a:ea typeface="Aptos"/>
              </a:rPr>
              <a:t>Qualidade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1" name="Shape 8"/>
          <p:cNvSpPr/>
          <p:nvPr/>
        </p:nvSpPr>
        <p:spPr>
          <a:xfrm>
            <a:off x="7708320" y="3145320"/>
            <a:ext cx="310680" cy="360"/>
          </a:xfrm>
          <a:prstGeom prst="line">
            <a:avLst/>
          </a:prstGeom>
          <a:ln w="2032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" name="Text 12"/>
          <p:cNvSpPr/>
          <p:nvPr/>
        </p:nvSpPr>
        <p:spPr>
          <a:xfrm>
            <a:off x="8092440" y="2880360"/>
            <a:ext cx="1416960" cy="52992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ptos"/>
                <a:ea typeface="Aptos"/>
              </a:rPr>
              <a:t>Artefato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3" name="Text 13"/>
          <p:cNvSpPr/>
          <p:nvPr/>
        </p:nvSpPr>
        <p:spPr>
          <a:xfrm>
            <a:off x="777240" y="4160520"/>
            <a:ext cx="9601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f2a44"/>
                </a:solidFill>
                <a:latin typeface="Aptos"/>
                <a:ea typeface="Aptos"/>
              </a:rPr>
              <a:t>Objetivo: transformar a validação local em validação automática, rastreável e reproduzível a cada PR/push.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4" name="Text 14"/>
          <p:cNvSpPr/>
          <p:nvPr/>
        </p:nvSpPr>
        <p:spPr>
          <a:xfrm>
            <a:off x="777240" y="5715000"/>
            <a:ext cx="9875520" cy="328680"/>
          </a:xfrm>
          <a:prstGeom prst="rect">
            <a:avLst/>
          </a:prstGeom>
          <a:solidFill>
            <a:srgbClr val="ddefea"/>
          </a:solidFill>
          <a:ln w="0">
            <a:solidFill>
              <a:srgbClr val="ddefea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2a44"/>
                </a:solidFill>
                <a:latin typeface="Aptos"/>
                <a:ea typeface="Aptos"/>
              </a:rPr>
              <a:t>Entender → montar → quebrar → corrigir → evidenciar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Text 15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Text 16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1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Shap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Text 5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CI em uma frase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9" name="Text 7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Integração Contínua é validação automática e frequente do código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0" name="Image 1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1831" name="Shape 2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2" name="Text 9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Text 11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2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4" name="Text 17"/>
          <p:cNvSpPr/>
          <p:nvPr/>
        </p:nvSpPr>
        <p:spPr>
          <a:xfrm>
            <a:off x="640080" y="1234440"/>
            <a:ext cx="5211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CI responde uma pergunta simples: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Text 18"/>
          <p:cNvSpPr/>
          <p:nvPr/>
        </p:nvSpPr>
        <p:spPr>
          <a:xfrm>
            <a:off x="640080" y="1627560"/>
            <a:ext cx="6217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079e8d"/>
                </a:solidFill>
                <a:latin typeface="Aptos Display"/>
                <a:ea typeface="Aptos Display"/>
              </a:rPr>
              <a:t>“</a:t>
            </a:r>
            <a:r>
              <a:rPr b="1" lang="en-US" sz="2400" spc="-1" strike="noStrike">
                <a:solidFill>
                  <a:srgbClr val="079e8d"/>
                </a:solidFill>
                <a:latin typeface="Aptos Display"/>
                <a:ea typeface="Aptos Display"/>
              </a:rPr>
              <a:t>Essa mudança ainda deixa o projeto funcionando?”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6" name="Text 19"/>
          <p:cNvSpPr/>
          <p:nvPr/>
        </p:nvSpPr>
        <p:spPr>
          <a:xfrm>
            <a:off x="685800" y="2834640"/>
            <a:ext cx="1234080" cy="50256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Aptos"/>
                <a:ea typeface="Aptos"/>
              </a:rPr>
              <a:t>push / PR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7" name="Shape 3"/>
          <p:cNvSpPr/>
          <p:nvPr/>
        </p:nvSpPr>
        <p:spPr>
          <a:xfrm>
            <a:off x="1929240" y="3090600"/>
            <a:ext cx="438840" cy="360"/>
          </a:xfrm>
          <a:prstGeom prst="line">
            <a:avLst/>
          </a:prstGeom>
          <a:ln w="1651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8" name="Text 20"/>
          <p:cNvSpPr/>
          <p:nvPr/>
        </p:nvSpPr>
        <p:spPr>
          <a:xfrm>
            <a:off x="2441520" y="2834640"/>
            <a:ext cx="1234080" cy="50256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Aptos"/>
                <a:ea typeface="Aptos"/>
              </a:rPr>
              <a:t>pipeline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9" name="Shape 4"/>
          <p:cNvSpPr/>
          <p:nvPr/>
        </p:nvSpPr>
        <p:spPr>
          <a:xfrm>
            <a:off x="3684960" y="3090600"/>
            <a:ext cx="438840" cy="360"/>
          </a:xfrm>
          <a:prstGeom prst="line">
            <a:avLst/>
          </a:prstGeom>
          <a:ln w="1651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Text 21"/>
          <p:cNvSpPr/>
          <p:nvPr/>
        </p:nvSpPr>
        <p:spPr>
          <a:xfrm>
            <a:off x="4197240" y="2834640"/>
            <a:ext cx="1234080" cy="50256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Aptos"/>
                <a:ea typeface="Aptos"/>
              </a:rPr>
              <a:t>dependências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1" name="Shape 9"/>
          <p:cNvSpPr/>
          <p:nvPr/>
        </p:nvSpPr>
        <p:spPr>
          <a:xfrm>
            <a:off x="5440680" y="3090600"/>
            <a:ext cx="438840" cy="360"/>
          </a:xfrm>
          <a:prstGeom prst="line">
            <a:avLst/>
          </a:prstGeom>
          <a:ln w="1651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Text 22"/>
          <p:cNvSpPr/>
          <p:nvPr/>
        </p:nvSpPr>
        <p:spPr>
          <a:xfrm>
            <a:off x="5952600" y="2834640"/>
            <a:ext cx="1234080" cy="50256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Aptos"/>
                <a:ea typeface="Aptos"/>
              </a:rPr>
              <a:t>testes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3" name="Shape 11"/>
          <p:cNvSpPr/>
          <p:nvPr/>
        </p:nvSpPr>
        <p:spPr>
          <a:xfrm>
            <a:off x="7196040" y="3090600"/>
            <a:ext cx="439200" cy="360"/>
          </a:xfrm>
          <a:prstGeom prst="line">
            <a:avLst/>
          </a:prstGeom>
          <a:ln w="1651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" name="Text 23"/>
          <p:cNvSpPr/>
          <p:nvPr/>
        </p:nvSpPr>
        <p:spPr>
          <a:xfrm>
            <a:off x="7708320" y="2834640"/>
            <a:ext cx="1234080" cy="50256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Aptos"/>
                <a:ea typeface="Aptos"/>
              </a:rPr>
              <a:t>build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5" name="Shape 13"/>
          <p:cNvSpPr/>
          <p:nvPr/>
        </p:nvSpPr>
        <p:spPr>
          <a:xfrm>
            <a:off x="8951760" y="3090600"/>
            <a:ext cx="438840" cy="360"/>
          </a:xfrm>
          <a:prstGeom prst="line">
            <a:avLst/>
          </a:prstGeom>
          <a:ln w="1651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Text 24"/>
          <p:cNvSpPr/>
          <p:nvPr/>
        </p:nvSpPr>
        <p:spPr>
          <a:xfrm>
            <a:off x="9464040" y="2834640"/>
            <a:ext cx="1234080" cy="50256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Aptos"/>
                <a:ea typeface="Aptos"/>
              </a:rPr>
              <a:t>status</a:t>
            </a:r>
            <a:endParaRPr b="0" lang="pt-BR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7" name="Text 40"/>
          <p:cNvSpPr/>
          <p:nvPr/>
        </p:nvSpPr>
        <p:spPr>
          <a:xfrm>
            <a:off x="777240" y="3977640"/>
            <a:ext cx="3245760" cy="32868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Antes da CI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8" name="Text 41"/>
          <p:cNvSpPr/>
          <p:nvPr/>
        </p:nvSpPr>
        <p:spPr>
          <a:xfrm>
            <a:off x="777240" y="4306680"/>
            <a:ext cx="3245760" cy="9964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A validação dependia da máquina e disciplina de cada pessoa.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Resultado: “funciona na minha máquina”.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Text 42"/>
          <p:cNvSpPr/>
          <p:nvPr/>
        </p:nvSpPr>
        <p:spPr>
          <a:xfrm>
            <a:off x="4343400" y="3977640"/>
            <a:ext cx="324576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Com CI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0" name="Text 43"/>
          <p:cNvSpPr/>
          <p:nvPr/>
        </p:nvSpPr>
        <p:spPr>
          <a:xfrm>
            <a:off x="4343400" y="4306680"/>
            <a:ext cx="3245760" cy="9964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A validação roda em ambiente padronizado, vinculada ao commit e ao PR.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Resultado: evidência objetiva.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1" name="Text 44"/>
          <p:cNvSpPr/>
          <p:nvPr/>
        </p:nvSpPr>
        <p:spPr>
          <a:xfrm>
            <a:off x="7909560" y="3977640"/>
            <a:ext cx="2971440" cy="32868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Regra da aula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2" name="Text 45"/>
          <p:cNvSpPr/>
          <p:nvPr/>
        </p:nvSpPr>
        <p:spPr>
          <a:xfrm>
            <a:off x="7909560" y="4306680"/>
            <a:ext cx="2971440" cy="9964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Pipeline vermelho é feedback; pipeline ignorado é risco.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Shape 15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Text 25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Onde a CI entra no fluxo DevOps?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Text 26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Ela fecha o caminho entre Code, Build e Test com feedback rápido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56" name="Image 4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1857" name="Shape 10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Text 27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" name="Text 28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3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0" name="Text 29"/>
          <p:cNvSpPr/>
          <p:nvPr/>
        </p:nvSpPr>
        <p:spPr>
          <a:xfrm>
            <a:off x="914400" y="1417320"/>
            <a:ext cx="1325520" cy="50256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Plan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1" name="Shape 12"/>
          <p:cNvSpPr/>
          <p:nvPr/>
        </p:nvSpPr>
        <p:spPr>
          <a:xfrm>
            <a:off x="2286000" y="1673280"/>
            <a:ext cx="54864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2" name="Text 30"/>
          <p:cNvSpPr/>
          <p:nvPr/>
        </p:nvSpPr>
        <p:spPr>
          <a:xfrm>
            <a:off x="2926080" y="1417320"/>
            <a:ext cx="1325520" cy="50256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Code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3" name="Shape 14"/>
          <p:cNvSpPr/>
          <p:nvPr/>
        </p:nvSpPr>
        <p:spPr>
          <a:xfrm>
            <a:off x="4297680" y="1673280"/>
            <a:ext cx="54864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4" name="Text 31"/>
          <p:cNvSpPr/>
          <p:nvPr/>
        </p:nvSpPr>
        <p:spPr>
          <a:xfrm>
            <a:off x="4937760" y="1417320"/>
            <a:ext cx="1325520" cy="50256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Build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5" name="Shape 17"/>
          <p:cNvSpPr/>
          <p:nvPr/>
        </p:nvSpPr>
        <p:spPr>
          <a:xfrm>
            <a:off x="6309360" y="1673280"/>
            <a:ext cx="54864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6" name="Text 32"/>
          <p:cNvSpPr/>
          <p:nvPr/>
        </p:nvSpPr>
        <p:spPr>
          <a:xfrm>
            <a:off x="6949440" y="1417320"/>
            <a:ext cx="1325520" cy="50256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Test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7" name="Shape 23"/>
          <p:cNvSpPr/>
          <p:nvPr/>
        </p:nvSpPr>
        <p:spPr>
          <a:xfrm>
            <a:off x="8321040" y="1673280"/>
            <a:ext cx="54864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8" name="Text 33"/>
          <p:cNvSpPr/>
          <p:nvPr/>
        </p:nvSpPr>
        <p:spPr>
          <a:xfrm>
            <a:off x="8961120" y="1417320"/>
            <a:ext cx="1325520" cy="50256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Release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9" name="Text 34"/>
          <p:cNvSpPr/>
          <p:nvPr/>
        </p:nvSpPr>
        <p:spPr>
          <a:xfrm>
            <a:off x="914400" y="2514600"/>
            <a:ext cx="4754520" cy="685440"/>
          </a:xfrm>
          <a:prstGeom prst="rect">
            <a:avLst/>
          </a:prstGeom>
          <a:solidFill>
            <a:srgbClr val="fdecec"/>
          </a:solidFill>
          <a:ln w="12700">
            <a:solidFill>
              <a:srgbClr val="f4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0f2a44"/>
                </a:solidFill>
                <a:latin typeface="Aptos"/>
                <a:ea typeface="Aptos"/>
              </a:rPr>
              <a:t>Sem CI: o erro pode ser descoberto tarde, depois que várias mudanças já foram misturadas.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Text 35"/>
          <p:cNvSpPr/>
          <p:nvPr/>
        </p:nvSpPr>
        <p:spPr>
          <a:xfrm>
            <a:off x="6400800" y="2514600"/>
            <a:ext cx="4525920" cy="685440"/>
          </a:xfrm>
          <a:prstGeom prst="rect">
            <a:avLst/>
          </a:prstGeom>
          <a:solidFill>
            <a:srgbClr val="e6f4ea"/>
          </a:solidFill>
          <a:ln w="12700">
            <a:solidFill>
              <a:srgbClr val="cfe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0f2a44"/>
                </a:solidFill>
                <a:latin typeface="Aptos"/>
                <a:ea typeface="Aptos"/>
              </a:rPr>
              <a:t>Com CI: cada alteração recebe um sinal rápido, reproduzível e ligado ao commit.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1" name="Shape 24"/>
          <p:cNvSpPr/>
          <p:nvPr/>
        </p:nvSpPr>
        <p:spPr>
          <a:xfrm>
            <a:off x="5806440" y="2834640"/>
            <a:ext cx="457200" cy="360"/>
          </a:xfrm>
          <a:prstGeom prst="line">
            <a:avLst/>
          </a:prstGeom>
          <a:ln w="2540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2" name="Text 36"/>
          <p:cNvSpPr/>
          <p:nvPr/>
        </p:nvSpPr>
        <p:spPr>
          <a:xfrm>
            <a:off x="1005840" y="3840480"/>
            <a:ext cx="292572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O que a CI protege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3" name="Text 37"/>
          <p:cNvSpPr/>
          <p:nvPr/>
        </p:nvSpPr>
        <p:spPr>
          <a:xfrm>
            <a:off x="1005840" y="4169520"/>
            <a:ext cx="2925720" cy="12708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Integração entre mudanças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Comandos de build/teste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Confiança no Pull Request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Evidência para revisão e release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" name="Text 38"/>
          <p:cNvSpPr/>
          <p:nvPr/>
        </p:nvSpPr>
        <p:spPr>
          <a:xfrm>
            <a:off x="4572000" y="3840480"/>
            <a:ext cx="2925720" cy="32868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O que a CI não garante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5" name="Text 39"/>
          <p:cNvSpPr/>
          <p:nvPr/>
        </p:nvSpPr>
        <p:spPr>
          <a:xfrm>
            <a:off x="4572000" y="4169520"/>
            <a:ext cx="2925720" cy="12708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Que a regra de negócio está correta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Que há teste suficiente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Que o design está bom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Que não existe risco operacional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Text 57"/>
          <p:cNvSpPr/>
          <p:nvPr/>
        </p:nvSpPr>
        <p:spPr>
          <a:xfrm>
            <a:off x="8138160" y="3840480"/>
            <a:ext cx="274284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Mensagem central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7" name="Text 58"/>
          <p:cNvSpPr/>
          <p:nvPr/>
        </p:nvSpPr>
        <p:spPr>
          <a:xfrm>
            <a:off x="8138160" y="4169520"/>
            <a:ext cx="2742840" cy="12708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CI não substitui engenharia. Ela acelera feedback e aumenta rastreabilidade.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8" name="Shape 16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9" name="Text 46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Validação local x Validação no pipeline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0" name="Text 47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As duas são necessárias, mas respondem perguntas diferentes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81" name="Image 3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1882" name="Shape 18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Text 48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4" name="Text 49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4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5" name="Text 50"/>
          <p:cNvSpPr/>
          <p:nvPr/>
        </p:nvSpPr>
        <p:spPr>
          <a:xfrm>
            <a:off x="822960" y="1325880"/>
            <a:ext cx="324576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Local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6" name="Text 51"/>
          <p:cNvSpPr/>
          <p:nvPr/>
        </p:nvSpPr>
        <p:spPr>
          <a:xfrm>
            <a:off x="822960" y="1654920"/>
            <a:ext cx="3245760" cy="27795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Pergunta: “na minha máquina está funcionando?”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Comandos típicos: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npm test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npm run build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execução manual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Risco: depende do ambiente local.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7" name="Text 52"/>
          <p:cNvSpPr/>
          <p:nvPr/>
        </p:nvSpPr>
        <p:spPr>
          <a:xfrm>
            <a:off x="4480560" y="1325880"/>
            <a:ext cx="324576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CI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8" name="Text 53"/>
          <p:cNvSpPr/>
          <p:nvPr/>
        </p:nvSpPr>
        <p:spPr>
          <a:xfrm>
            <a:off x="4480560" y="1654920"/>
            <a:ext cx="3245760" cy="27795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Pergunta: “funciona em ambiente limpo e rastreável?”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Comandos típicos: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npm ci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npm test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npm run build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Vantagem: gera log e status vinculados ao commit.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Text 54"/>
          <p:cNvSpPr/>
          <p:nvPr/>
        </p:nvSpPr>
        <p:spPr>
          <a:xfrm>
            <a:off x="8138160" y="1325880"/>
            <a:ext cx="3062880" cy="32868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Produção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0" name="Text 55"/>
          <p:cNvSpPr/>
          <p:nvPr/>
        </p:nvSpPr>
        <p:spPr>
          <a:xfrm>
            <a:off x="8138160" y="1654920"/>
            <a:ext cx="3062880" cy="27795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Pergunta: “o usuário real está bem atendido?”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Sinais: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logs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métricas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health checks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incidentes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Entrará com mais força nos encontros 4, 5 e 6.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1" name="Text 56"/>
          <p:cNvSpPr/>
          <p:nvPr/>
        </p:nvSpPr>
        <p:spPr>
          <a:xfrm>
            <a:off x="868680" y="5257800"/>
            <a:ext cx="9784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0f2a44"/>
                </a:solidFill>
                <a:latin typeface="Aptos Display"/>
                <a:ea typeface="Aptos Display"/>
              </a:rPr>
              <a:t>Boa prática: rode localmente antes de abrir PR; deixe a CI confirmar em ambiente padronizado.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Shape 19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3" name="Text 59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Modelo mental de um pipeline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4" name="Text 60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Um pipeline é uma sequência rastreável de verificações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95" name="Image 6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1896" name="Shape 20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7" name="Text 61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8" name="Text 62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5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9" name="Text 63"/>
          <p:cNvSpPr/>
          <p:nvPr/>
        </p:nvSpPr>
        <p:spPr>
          <a:xfrm>
            <a:off x="502920" y="1417320"/>
            <a:ext cx="1325520" cy="41112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Aptos"/>
              </a:rPr>
              <a:t>Evento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0" name="Text 64"/>
          <p:cNvSpPr/>
          <p:nvPr/>
        </p:nvSpPr>
        <p:spPr>
          <a:xfrm>
            <a:off x="502920" y="1847160"/>
            <a:ext cx="1325520" cy="73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push, PR, agenda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ou execução manual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1" name="Shape 21"/>
          <p:cNvSpPr/>
          <p:nvPr/>
        </p:nvSpPr>
        <p:spPr>
          <a:xfrm>
            <a:off x="1856160" y="1627560"/>
            <a:ext cx="402120" cy="360"/>
          </a:xfrm>
          <a:prstGeom prst="line">
            <a:avLst/>
          </a:prstGeom>
          <a:ln w="1524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2" name="Text 65"/>
          <p:cNvSpPr/>
          <p:nvPr/>
        </p:nvSpPr>
        <p:spPr>
          <a:xfrm>
            <a:off x="2404800" y="1417320"/>
            <a:ext cx="1325520" cy="41112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Aptos"/>
              </a:rPr>
              <a:t>Runner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3" name="Text 86"/>
          <p:cNvSpPr/>
          <p:nvPr/>
        </p:nvSpPr>
        <p:spPr>
          <a:xfrm>
            <a:off x="2404800" y="1847160"/>
            <a:ext cx="1325520" cy="73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máquina efêmera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ou self-hosted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4" name="Shape 22"/>
          <p:cNvSpPr/>
          <p:nvPr/>
        </p:nvSpPr>
        <p:spPr>
          <a:xfrm>
            <a:off x="3758040" y="1627560"/>
            <a:ext cx="402480" cy="360"/>
          </a:xfrm>
          <a:prstGeom prst="line">
            <a:avLst/>
          </a:prstGeom>
          <a:ln w="1524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" name="Text 87"/>
          <p:cNvSpPr/>
          <p:nvPr/>
        </p:nvSpPr>
        <p:spPr>
          <a:xfrm>
            <a:off x="4306680" y="1417320"/>
            <a:ext cx="1325520" cy="41112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Aptos"/>
              </a:rPr>
              <a:t>Job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6" name="Text 88"/>
          <p:cNvSpPr/>
          <p:nvPr/>
        </p:nvSpPr>
        <p:spPr>
          <a:xfrm>
            <a:off x="4306680" y="1847160"/>
            <a:ext cx="1325520" cy="73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unidade de trabalho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com steps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7" name="Shape 29"/>
          <p:cNvSpPr/>
          <p:nvPr/>
        </p:nvSpPr>
        <p:spPr>
          <a:xfrm>
            <a:off x="5659920" y="1627560"/>
            <a:ext cx="402480" cy="360"/>
          </a:xfrm>
          <a:prstGeom prst="line">
            <a:avLst/>
          </a:prstGeom>
          <a:ln w="1524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" name="Text 89"/>
          <p:cNvSpPr/>
          <p:nvPr/>
        </p:nvSpPr>
        <p:spPr>
          <a:xfrm>
            <a:off x="6208920" y="1417320"/>
            <a:ext cx="1325520" cy="41112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Aptos"/>
              </a:rPr>
              <a:t>Steps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9" name="Text 90"/>
          <p:cNvSpPr/>
          <p:nvPr/>
        </p:nvSpPr>
        <p:spPr>
          <a:xfrm>
            <a:off x="6208920" y="1847160"/>
            <a:ext cx="1325520" cy="73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ações e comandos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sequenciais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0" name="Shape 30"/>
          <p:cNvSpPr/>
          <p:nvPr/>
        </p:nvSpPr>
        <p:spPr>
          <a:xfrm>
            <a:off x="7561800" y="1627560"/>
            <a:ext cx="402480" cy="360"/>
          </a:xfrm>
          <a:prstGeom prst="line">
            <a:avLst/>
          </a:prstGeom>
          <a:ln w="1524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1" name="Text 91"/>
          <p:cNvSpPr/>
          <p:nvPr/>
        </p:nvSpPr>
        <p:spPr>
          <a:xfrm>
            <a:off x="8110800" y="1417320"/>
            <a:ext cx="1325520" cy="41112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Aptos"/>
              </a:rPr>
              <a:t>Log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2" name="Text 92"/>
          <p:cNvSpPr/>
          <p:nvPr/>
        </p:nvSpPr>
        <p:spPr>
          <a:xfrm>
            <a:off x="8110800" y="1847160"/>
            <a:ext cx="1325520" cy="73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evidência do que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foi executado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3" name="Shape 31"/>
          <p:cNvSpPr/>
          <p:nvPr/>
        </p:nvSpPr>
        <p:spPr>
          <a:xfrm>
            <a:off x="9464040" y="1627560"/>
            <a:ext cx="402120" cy="360"/>
          </a:xfrm>
          <a:prstGeom prst="line">
            <a:avLst/>
          </a:prstGeom>
          <a:ln w="1524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4" name="Text 93"/>
          <p:cNvSpPr/>
          <p:nvPr/>
        </p:nvSpPr>
        <p:spPr>
          <a:xfrm>
            <a:off x="10012680" y="1417320"/>
            <a:ext cx="1325520" cy="41112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Aptos"/>
              </a:rPr>
              <a:t>Status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5" name="Text 94"/>
          <p:cNvSpPr/>
          <p:nvPr/>
        </p:nvSpPr>
        <p:spPr>
          <a:xfrm>
            <a:off x="10012680" y="1847160"/>
            <a:ext cx="1325520" cy="73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verde/vermelho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0f2a44"/>
                </a:solidFill>
                <a:latin typeface="Aptos"/>
                <a:ea typeface="Aptos"/>
              </a:rPr>
              <a:t>no commit/PR</a:t>
            </a:r>
            <a:endParaRPr b="0" lang="pt-BR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Text 95"/>
          <p:cNvSpPr/>
          <p:nvPr/>
        </p:nvSpPr>
        <p:spPr>
          <a:xfrm>
            <a:off x="777240" y="3200400"/>
            <a:ext cx="4571640" cy="223992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name: ci</a:t>
            </a:r>
            <a:endParaRPr b="0" lang="pt-B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on: [push, pull_request]</a:t>
            </a:r>
            <a:endParaRPr b="0" lang="pt-B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jobs:</a:t>
            </a:r>
            <a:endParaRPr b="0" lang="pt-B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build-test:</a:t>
            </a:r>
            <a:endParaRPr b="0" lang="pt-B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</a:t>
            </a: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runs-on: ubuntu-latest</a:t>
            </a:r>
            <a:endParaRPr b="0" lang="pt-B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</a:t>
            </a: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steps:</a:t>
            </a:r>
            <a:endParaRPr b="0" lang="pt-B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uses: actions/checkout@v4</a:t>
            </a:r>
            <a:endParaRPr b="0" lang="pt-B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run: npm ci</a:t>
            </a:r>
            <a:endParaRPr b="0" lang="pt-B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run: npm test</a:t>
            </a:r>
            <a:endParaRPr b="0" lang="pt-BR" sz="9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9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run: npm run build</a:t>
            </a:r>
            <a:endParaRPr b="0" lang="pt-BR" sz="9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7" name="Text 96"/>
          <p:cNvSpPr/>
          <p:nvPr/>
        </p:nvSpPr>
        <p:spPr>
          <a:xfrm>
            <a:off x="5806440" y="3310200"/>
            <a:ext cx="475452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Como explicar em sala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8" name="Text 97"/>
          <p:cNvSpPr/>
          <p:nvPr/>
        </p:nvSpPr>
        <p:spPr>
          <a:xfrm>
            <a:off x="5806440" y="3639240"/>
            <a:ext cx="4754520" cy="5850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O YAML não é “código mágico”. Ele declara quando executar, onde executar e quais comandos comprovam que o projeto continua íntegro.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" name="Text 98"/>
          <p:cNvSpPr/>
          <p:nvPr/>
        </p:nvSpPr>
        <p:spPr>
          <a:xfrm>
            <a:off x="5806440" y="4498920"/>
            <a:ext cx="4754520" cy="32868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A pergunta que guia o desenho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0" name="Text 99"/>
          <p:cNvSpPr/>
          <p:nvPr/>
        </p:nvSpPr>
        <p:spPr>
          <a:xfrm>
            <a:off x="5806440" y="4827960"/>
            <a:ext cx="4754520" cy="5850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f2a44"/>
                </a:solidFill>
                <a:latin typeface="Aptos"/>
                <a:ea typeface="Aptos"/>
              </a:rPr>
              <a:t>Que validação mínima precisa falhar se alguém quebrar o projeto?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1" name="Shape 25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2" name="Text 66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Anatomia de um workflow GitHub Actions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" name="Text 67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Ler o YAML de cima para baixo ajuda a entender o pipeline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4" name="Image 5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1925" name="Shape 26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6" name="Text 68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7" name="Text 69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6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Text 70"/>
          <p:cNvSpPr/>
          <p:nvPr/>
        </p:nvSpPr>
        <p:spPr>
          <a:xfrm>
            <a:off x="640080" y="1234440"/>
            <a:ext cx="4663080" cy="452592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name: ci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on: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pull_request: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push: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branches: [main]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jobs: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build-test: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runs-on: ubuntu-latest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steps: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uses: actions/checkout@v4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uses: actions/setup-node@v4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with: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  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node-version: 22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  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cache: npm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run: npm ci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run: npm test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72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run: npm run build</a:t>
            </a:r>
            <a:endParaRPr b="0" lang="pt-BR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9" name="Text 71"/>
          <p:cNvSpPr/>
          <p:nvPr/>
        </p:nvSpPr>
        <p:spPr>
          <a:xfrm>
            <a:off x="5669280" y="1234440"/>
            <a:ext cx="242280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1. name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0" name="Text 72"/>
          <p:cNvSpPr/>
          <p:nvPr/>
        </p:nvSpPr>
        <p:spPr>
          <a:xfrm>
            <a:off x="5669280" y="1563480"/>
            <a:ext cx="2422800" cy="4935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2a44"/>
                </a:solidFill>
                <a:latin typeface="Aptos"/>
                <a:ea typeface="Aptos"/>
              </a:rPr>
              <a:t>Nome do workflow exibido na aba Actions.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1" name="Text 73"/>
          <p:cNvSpPr/>
          <p:nvPr/>
        </p:nvSpPr>
        <p:spPr>
          <a:xfrm>
            <a:off x="8366760" y="1234440"/>
            <a:ext cx="242280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2. on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2" name="Text 74"/>
          <p:cNvSpPr/>
          <p:nvPr/>
        </p:nvSpPr>
        <p:spPr>
          <a:xfrm>
            <a:off x="8366760" y="1563480"/>
            <a:ext cx="2422800" cy="4935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2a44"/>
                </a:solidFill>
                <a:latin typeface="Aptos"/>
                <a:ea typeface="Aptos"/>
              </a:rPr>
              <a:t>Define os gatilhos: PR, push, agenda ou manual.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3" name="Text 75"/>
          <p:cNvSpPr/>
          <p:nvPr/>
        </p:nvSpPr>
        <p:spPr>
          <a:xfrm>
            <a:off x="5669280" y="2331720"/>
            <a:ext cx="2422800" cy="32868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3. jobs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4" name="Text 76"/>
          <p:cNvSpPr/>
          <p:nvPr/>
        </p:nvSpPr>
        <p:spPr>
          <a:xfrm>
            <a:off x="5669280" y="2660760"/>
            <a:ext cx="2422800" cy="4935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2a44"/>
                </a:solidFill>
                <a:latin typeface="Aptos"/>
                <a:ea typeface="Aptos"/>
              </a:rPr>
              <a:t>Agrupa as unidades de execução do pipeline.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5" name="Text 77"/>
          <p:cNvSpPr/>
          <p:nvPr/>
        </p:nvSpPr>
        <p:spPr>
          <a:xfrm>
            <a:off x="8366760" y="2331720"/>
            <a:ext cx="2422800" cy="32868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4. runs-on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6" name="Text 78"/>
          <p:cNvSpPr/>
          <p:nvPr/>
        </p:nvSpPr>
        <p:spPr>
          <a:xfrm>
            <a:off x="8366760" y="2660760"/>
            <a:ext cx="2422800" cy="4935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2a44"/>
                </a:solidFill>
                <a:latin typeface="Aptos"/>
                <a:ea typeface="Aptos"/>
              </a:rPr>
              <a:t>Escolhe o runner: exemplo ubuntu-latest.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7" name="Text 79"/>
          <p:cNvSpPr/>
          <p:nvPr/>
        </p:nvSpPr>
        <p:spPr>
          <a:xfrm>
            <a:off x="5669280" y="3429000"/>
            <a:ext cx="242280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5. steps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8" name="Text 80"/>
          <p:cNvSpPr/>
          <p:nvPr/>
        </p:nvSpPr>
        <p:spPr>
          <a:xfrm>
            <a:off x="5669280" y="3758040"/>
            <a:ext cx="2422800" cy="4935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2a44"/>
                </a:solidFill>
                <a:latin typeface="Aptos"/>
                <a:ea typeface="Aptos"/>
              </a:rPr>
              <a:t>Executa ações e comandos em sequência.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9" name="Text 81"/>
          <p:cNvSpPr/>
          <p:nvPr/>
        </p:nvSpPr>
        <p:spPr>
          <a:xfrm>
            <a:off x="8366760" y="3429000"/>
            <a:ext cx="2422800" cy="32868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6. run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0" name="Text 82"/>
          <p:cNvSpPr/>
          <p:nvPr/>
        </p:nvSpPr>
        <p:spPr>
          <a:xfrm>
            <a:off x="8366760" y="3758040"/>
            <a:ext cx="2422800" cy="4935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2a44"/>
                </a:solidFill>
                <a:latin typeface="Aptos"/>
                <a:ea typeface="Aptos"/>
              </a:rPr>
              <a:t>Comandos reais do projeto: instalar, testar e gerar build.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1" name="Shape 27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2" name="Text 84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Trigger: quando o pipeline deve rodar?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" name="Text 85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O gatilho errado gera desperdício ou deixa risco passar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4" name="Image 8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1945" name="Shape 28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Text 100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7" name="Text 101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7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8" name="Text 102"/>
          <p:cNvSpPr/>
          <p:nvPr/>
        </p:nvSpPr>
        <p:spPr>
          <a:xfrm>
            <a:off x="777240" y="1298520"/>
            <a:ext cx="292572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pull_request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9" name="Text 103"/>
          <p:cNvSpPr/>
          <p:nvPr/>
        </p:nvSpPr>
        <p:spPr>
          <a:xfrm>
            <a:off x="777240" y="1627560"/>
            <a:ext cx="2925720" cy="108792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Roda antes do merge.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Uso na disciplina: validar mudanças propostas antes de entrar na main.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0" name="Text 117"/>
          <p:cNvSpPr/>
          <p:nvPr/>
        </p:nvSpPr>
        <p:spPr>
          <a:xfrm>
            <a:off x="3977640" y="1298520"/>
            <a:ext cx="292572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push na main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1" name="Text 118"/>
          <p:cNvSpPr/>
          <p:nvPr/>
        </p:nvSpPr>
        <p:spPr>
          <a:xfrm>
            <a:off x="3977640" y="1627560"/>
            <a:ext cx="2925720" cy="108792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Roda depois que a main recebeu mudança.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Uso: gerar evidência da versão integrada.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Text 119"/>
          <p:cNvSpPr/>
          <p:nvPr/>
        </p:nvSpPr>
        <p:spPr>
          <a:xfrm>
            <a:off x="7178040" y="1298520"/>
            <a:ext cx="2925720" cy="32868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workflow_dispatch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3" name="Text 120"/>
          <p:cNvSpPr/>
          <p:nvPr/>
        </p:nvSpPr>
        <p:spPr>
          <a:xfrm>
            <a:off x="7178040" y="1627560"/>
            <a:ext cx="2925720" cy="108792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Roda manualmente.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Uso: reexecutar uma validação ou demonstrar o pipeline em sala.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4" name="Text 121"/>
          <p:cNvSpPr/>
          <p:nvPr/>
        </p:nvSpPr>
        <p:spPr>
          <a:xfrm>
            <a:off x="868680" y="3246120"/>
            <a:ext cx="4023000" cy="132552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on: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pull_request: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push: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</a:t>
            </a: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branches: [main]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workflow_dispatch: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5" name="Text 122"/>
          <p:cNvSpPr/>
          <p:nvPr/>
        </p:nvSpPr>
        <p:spPr>
          <a:xfrm>
            <a:off x="5212080" y="3291840"/>
            <a:ext cx="5303160" cy="685440"/>
          </a:xfrm>
          <a:prstGeom prst="rect">
            <a:avLst/>
          </a:prstGeom>
          <a:solidFill>
            <a:srgbClr val="eaf3ff"/>
          </a:solidFill>
          <a:ln w="12700">
            <a:solidFill>
              <a:srgbClr val="b7d0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f2a44"/>
                </a:solidFill>
                <a:latin typeface="Aptos"/>
                <a:ea typeface="Aptos"/>
              </a:rPr>
              <a:t>Pergunta de arquitetura: qual evento entrega feedback cedo sem gastar execução à toa?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6" name="Text 123"/>
          <p:cNvSpPr/>
          <p:nvPr/>
        </p:nvSpPr>
        <p:spPr>
          <a:xfrm>
            <a:off x="5212080" y="4343400"/>
            <a:ext cx="5303160" cy="475200"/>
          </a:xfrm>
          <a:prstGeom prst="rect">
            <a:avLst/>
          </a:prstGeom>
          <a:solidFill>
            <a:srgbClr val="e6f4ea"/>
          </a:solidFill>
          <a:ln w="12700">
            <a:solidFill>
              <a:srgbClr val="cfe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0f2a44"/>
                </a:solidFill>
                <a:latin typeface="Aptos"/>
                <a:ea typeface="Aptos"/>
              </a:rPr>
              <a:t>Para o projeto integrador: comece com pull_request + push na main.</a:t>
            </a:r>
            <a:endParaRPr b="0" lang="pt-BR" sz="15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7" name="Shape 3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8" name="Text 104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Runner, job e step sem complicar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9" name="Text 105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Três conceitos que aparecem em quase todo pipeline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60" name="Image 7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1961" name="Shape 36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2" name="Text 106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3" name="Text 107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8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4" name="Text 108"/>
          <p:cNvSpPr/>
          <p:nvPr/>
        </p:nvSpPr>
        <p:spPr>
          <a:xfrm>
            <a:off x="777240" y="1353240"/>
            <a:ext cx="297144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Runner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5" name="Text 109"/>
          <p:cNvSpPr/>
          <p:nvPr/>
        </p:nvSpPr>
        <p:spPr>
          <a:xfrm>
            <a:off x="777240" y="1682640"/>
            <a:ext cx="2971440" cy="14994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É a máquina que executa o job.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Exemplo: ubuntu-latest.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Pode ser hospedado pelo GitHub ou self-hosted.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6" name="Text 110"/>
          <p:cNvSpPr/>
          <p:nvPr/>
        </p:nvSpPr>
        <p:spPr>
          <a:xfrm>
            <a:off x="4526280" y="1353240"/>
            <a:ext cx="297144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Job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7" name="Text 111"/>
          <p:cNvSpPr/>
          <p:nvPr/>
        </p:nvSpPr>
        <p:spPr>
          <a:xfrm>
            <a:off x="4526280" y="1682640"/>
            <a:ext cx="2971440" cy="14994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É uma unidade de trabalho.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Pode rodar build, testes, análise de qualidade ou publicação de artefato.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8" name="Text 112"/>
          <p:cNvSpPr/>
          <p:nvPr/>
        </p:nvSpPr>
        <p:spPr>
          <a:xfrm>
            <a:off x="8275320" y="1353240"/>
            <a:ext cx="2788560" cy="32868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Step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9" name="Text 113"/>
          <p:cNvSpPr/>
          <p:nvPr/>
        </p:nvSpPr>
        <p:spPr>
          <a:xfrm>
            <a:off x="8275320" y="1682640"/>
            <a:ext cx="2788560" cy="14994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É uma ação ou comando dentro do job.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Exemplo: checkout, setup-node, npm ci, npm test.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0" name="Shape 37"/>
          <p:cNvSpPr/>
          <p:nvPr/>
        </p:nvSpPr>
        <p:spPr>
          <a:xfrm>
            <a:off x="3749040" y="2249280"/>
            <a:ext cx="68580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1" name="Shape 38"/>
          <p:cNvSpPr/>
          <p:nvPr/>
        </p:nvSpPr>
        <p:spPr>
          <a:xfrm>
            <a:off x="7498080" y="2249280"/>
            <a:ext cx="68580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" name="Text 114"/>
          <p:cNvSpPr/>
          <p:nvPr/>
        </p:nvSpPr>
        <p:spPr>
          <a:xfrm>
            <a:off x="1051560" y="3822120"/>
            <a:ext cx="4205880" cy="164556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jobs:</a:t>
            </a:r>
            <a:endParaRPr b="0" lang="pt-BR" sz="96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build-test:</a:t>
            </a:r>
            <a:endParaRPr b="0" lang="pt-BR" sz="96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</a:t>
            </a: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runs-on: ubuntu-latest</a:t>
            </a:r>
            <a:endParaRPr b="0" lang="pt-BR" sz="96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</a:t>
            </a: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steps:</a:t>
            </a:r>
            <a:endParaRPr b="0" lang="pt-BR" sz="96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uses: actions/checkout@v4</a:t>
            </a:r>
            <a:endParaRPr b="0" lang="pt-BR" sz="96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run: npm ci</a:t>
            </a:r>
            <a:endParaRPr b="0" lang="pt-BR" sz="96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960" spc="-1" strike="noStrike">
                <a:solidFill>
                  <a:srgbClr val="f8fafc"/>
                </a:solidFill>
                <a:latin typeface="Cascadia Mono"/>
                <a:ea typeface="Cascadia Mono"/>
              </a:rPr>
              <a:t>- run: npm test</a:t>
            </a:r>
            <a:endParaRPr b="0" lang="pt-BR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3" name="Text 115"/>
          <p:cNvSpPr/>
          <p:nvPr/>
        </p:nvSpPr>
        <p:spPr>
          <a:xfrm>
            <a:off x="5623560" y="4005000"/>
            <a:ext cx="4525920" cy="731160"/>
          </a:xfrm>
          <a:prstGeom prst="rect">
            <a:avLst/>
          </a:prstGeom>
          <a:solidFill>
            <a:srgbClr val="fff8e8"/>
          </a:solidFill>
          <a:ln w="12700">
            <a:solidFill>
              <a:srgbClr val="f4d2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Leia assim: “No job build-test, rode em Ubuntu e execute estes passos.”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4" name="Shape 33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5" name="Text 116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Os comandos Node.js dentro da CI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6" name="Text 124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O pipeline executa comandos que já devem existir no projeto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7" name="Image 10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1978" name="Shape 34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9" name="Text 125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0" name="Text 126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9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1" name="Text 127"/>
          <p:cNvSpPr/>
          <p:nvPr/>
        </p:nvSpPr>
        <p:spPr>
          <a:xfrm>
            <a:off x="777240" y="1234440"/>
            <a:ext cx="306288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npm ci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2" name="Text 140"/>
          <p:cNvSpPr/>
          <p:nvPr/>
        </p:nvSpPr>
        <p:spPr>
          <a:xfrm>
            <a:off x="777240" y="1563480"/>
            <a:ext cx="3062880" cy="16822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Instala dependências exatamente conforme package-lock.json.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Ideal para CI porque não altera o lockfile e falha se houver inconsistência.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3" name="Text 141"/>
          <p:cNvSpPr/>
          <p:nvPr/>
        </p:nvSpPr>
        <p:spPr>
          <a:xfrm>
            <a:off x="4297680" y="1234440"/>
            <a:ext cx="306288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npm test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4" name="Text 142"/>
          <p:cNvSpPr/>
          <p:nvPr/>
        </p:nvSpPr>
        <p:spPr>
          <a:xfrm>
            <a:off x="4297680" y="1563480"/>
            <a:ext cx="3062880" cy="16822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Executa o script de testes configurado no package.json.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Exemplo: Jest, Vitest, Mocha ou outro runner.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Text 143"/>
          <p:cNvSpPr/>
          <p:nvPr/>
        </p:nvSpPr>
        <p:spPr>
          <a:xfrm>
            <a:off x="7818120" y="1234440"/>
            <a:ext cx="3062880" cy="32868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npm run build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6" name="Text 144"/>
          <p:cNvSpPr/>
          <p:nvPr/>
        </p:nvSpPr>
        <p:spPr>
          <a:xfrm>
            <a:off x="7818120" y="1563480"/>
            <a:ext cx="3062880" cy="16822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Executa o script build.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Serve para provar que a aplicação compila, empacota ou gera artefato.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" name="Text 145"/>
          <p:cNvSpPr/>
          <p:nvPr/>
        </p:nvSpPr>
        <p:spPr>
          <a:xfrm>
            <a:off x="960120" y="3886200"/>
            <a:ext cx="3977280" cy="132552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{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"scripts": {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</a:t>
            </a: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"test": "vitest run",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</a:t>
            </a: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"build": "vite build"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}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}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8" name="Text 146"/>
          <p:cNvSpPr/>
          <p:nvPr/>
        </p:nvSpPr>
        <p:spPr>
          <a:xfrm>
            <a:off x="5257800" y="4069080"/>
            <a:ext cx="5394600" cy="776880"/>
          </a:xfrm>
          <a:prstGeom prst="rect">
            <a:avLst/>
          </a:prstGeom>
          <a:solidFill>
            <a:srgbClr val="fdecec"/>
          </a:solidFill>
          <a:ln w="12700">
            <a:solidFill>
              <a:srgbClr val="f4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50" spc="-1" strike="noStrike">
                <a:solidFill>
                  <a:srgbClr val="0f2a44"/>
                </a:solidFill>
                <a:latin typeface="Aptos"/>
                <a:ea typeface="Aptos"/>
              </a:rPr>
              <a:t>Se o script não existe no package.json, o pipeline falha. Isso é bom: o erro aparece cedo.</a:t>
            </a:r>
            <a:endParaRPr b="0" lang="pt-BR" sz="1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Shape 35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" name="Text 128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Por que usar npm ci no pipeline?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1" name="Text 129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CI precisa de instalação limpa e reproduzível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92" name="Image 9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1993" name="Shape 40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4" name="Text 130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5" name="Text 131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10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6" name="Text 132"/>
          <p:cNvSpPr/>
          <p:nvPr/>
        </p:nvSpPr>
        <p:spPr>
          <a:xfrm>
            <a:off x="868680" y="1371600"/>
            <a:ext cx="3382920" cy="237708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package.json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package-lock.json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|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v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npm ci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|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    </a:t>
            </a: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v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node_modules limpo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7" name="Text 133"/>
          <p:cNvSpPr/>
          <p:nvPr/>
        </p:nvSpPr>
        <p:spPr>
          <a:xfrm>
            <a:off x="4754880" y="1234440"/>
            <a:ext cx="278856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Comportamento importante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8" name="Text 134"/>
          <p:cNvSpPr/>
          <p:nvPr/>
        </p:nvSpPr>
        <p:spPr>
          <a:xfrm>
            <a:off x="4754880" y="1563480"/>
            <a:ext cx="2788560" cy="19108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6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60" spc="-1" strike="noStrike">
                <a:solidFill>
                  <a:srgbClr val="0f2a44"/>
                </a:solidFill>
                <a:latin typeface="Aptos"/>
                <a:ea typeface="Aptos"/>
              </a:rPr>
              <a:t>exige package-lock.json</a:t>
            </a:r>
            <a:endParaRPr b="0" lang="pt-BR" sz="10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6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60" spc="-1" strike="noStrike">
                <a:solidFill>
                  <a:srgbClr val="0f2a44"/>
                </a:solidFill>
                <a:latin typeface="Aptos"/>
                <a:ea typeface="Aptos"/>
              </a:rPr>
              <a:t>remove node_modules existente</a:t>
            </a:r>
            <a:endParaRPr b="0" lang="pt-BR" sz="10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6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60" spc="-1" strike="noStrike">
                <a:solidFill>
                  <a:srgbClr val="0f2a44"/>
                </a:solidFill>
                <a:latin typeface="Aptos"/>
                <a:ea typeface="Aptos"/>
              </a:rPr>
              <a:t>não altera package.json</a:t>
            </a:r>
            <a:endParaRPr b="0" lang="pt-BR" sz="10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6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60" spc="-1" strike="noStrike">
                <a:solidFill>
                  <a:srgbClr val="0f2a44"/>
                </a:solidFill>
                <a:latin typeface="Aptos"/>
                <a:ea typeface="Aptos"/>
              </a:rPr>
              <a:t>não altera package-lock.json</a:t>
            </a:r>
            <a:endParaRPr b="0" lang="pt-BR" sz="10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6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60" spc="-1" strike="noStrike">
                <a:solidFill>
                  <a:srgbClr val="0f2a44"/>
                </a:solidFill>
                <a:latin typeface="Aptos"/>
                <a:ea typeface="Aptos"/>
              </a:rPr>
              <a:t>falha se lock e package divergem</a:t>
            </a:r>
            <a:endParaRPr b="0" lang="pt-BR" sz="10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Text 135"/>
          <p:cNvSpPr/>
          <p:nvPr/>
        </p:nvSpPr>
        <p:spPr>
          <a:xfrm>
            <a:off x="8092440" y="1234440"/>
            <a:ext cx="278856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Por que isso importa?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0" name="Text 136"/>
          <p:cNvSpPr/>
          <p:nvPr/>
        </p:nvSpPr>
        <p:spPr>
          <a:xfrm>
            <a:off x="8092440" y="1563480"/>
            <a:ext cx="2788560" cy="19108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Na CI, você quer descobrir se o projeto funciona a partir de um clone limpo, não se ele funciona por acidente na máquina de alguém.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" name="Text 137"/>
          <p:cNvSpPr/>
          <p:nvPr/>
        </p:nvSpPr>
        <p:spPr>
          <a:xfrm>
            <a:off x="914400" y="4206240"/>
            <a:ext cx="9692640" cy="548280"/>
          </a:xfrm>
          <a:prstGeom prst="rect">
            <a:avLst/>
          </a:prstGeom>
          <a:solidFill>
            <a:srgbClr val="e6f4ea"/>
          </a:solidFill>
          <a:ln w="12700">
            <a:solidFill>
              <a:srgbClr val="cfe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f2a44"/>
                </a:solidFill>
                <a:latin typeface="Aptos"/>
                <a:ea typeface="Aptos"/>
              </a:rPr>
              <a:t>Frase para memorizar: npm install é para evoluir dependências; npm ci é para reproduzir dependências.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2" name="Shape 39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3" name="Text 138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Status check: o pipeline vira regra de qualidade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4" name="Text 139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O resultado da CI aparece no commit e no Pull Request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05" name="Image 12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006" name="Shape 46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7" name="Text 147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8" name="Text 148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11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9" name="Text 149"/>
          <p:cNvSpPr/>
          <p:nvPr/>
        </p:nvSpPr>
        <p:spPr>
          <a:xfrm>
            <a:off x="822960" y="1417320"/>
            <a:ext cx="1234080" cy="50256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Feature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0" name="Shape 47"/>
          <p:cNvSpPr/>
          <p:nvPr/>
        </p:nvSpPr>
        <p:spPr>
          <a:xfrm>
            <a:off x="2084760" y="1673280"/>
            <a:ext cx="61272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1" name="Text 166"/>
          <p:cNvSpPr/>
          <p:nvPr/>
        </p:nvSpPr>
        <p:spPr>
          <a:xfrm>
            <a:off x="2788920" y="1417320"/>
            <a:ext cx="1234080" cy="50256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PR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2" name="Shape 48"/>
          <p:cNvSpPr/>
          <p:nvPr/>
        </p:nvSpPr>
        <p:spPr>
          <a:xfrm>
            <a:off x="4050720" y="1673280"/>
            <a:ext cx="61272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3" name="Text 167"/>
          <p:cNvSpPr/>
          <p:nvPr/>
        </p:nvSpPr>
        <p:spPr>
          <a:xfrm>
            <a:off x="4754880" y="1417320"/>
            <a:ext cx="1234080" cy="50256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CI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4" name="Shape 49"/>
          <p:cNvSpPr/>
          <p:nvPr/>
        </p:nvSpPr>
        <p:spPr>
          <a:xfrm>
            <a:off x="6016680" y="1673280"/>
            <a:ext cx="61272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5" name="Text 168"/>
          <p:cNvSpPr/>
          <p:nvPr/>
        </p:nvSpPr>
        <p:spPr>
          <a:xfrm>
            <a:off x="6720840" y="1417320"/>
            <a:ext cx="1234080" cy="50256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Checks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6" name="Shape 50"/>
          <p:cNvSpPr/>
          <p:nvPr/>
        </p:nvSpPr>
        <p:spPr>
          <a:xfrm>
            <a:off x="7982640" y="1673280"/>
            <a:ext cx="61272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7" name="Text 169"/>
          <p:cNvSpPr/>
          <p:nvPr/>
        </p:nvSpPr>
        <p:spPr>
          <a:xfrm>
            <a:off x="8686800" y="1417320"/>
            <a:ext cx="1234080" cy="50256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Merge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8" name="Text 170"/>
          <p:cNvSpPr/>
          <p:nvPr/>
        </p:nvSpPr>
        <p:spPr>
          <a:xfrm>
            <a:off x="868680" y="2743200"/>
            <a:ext cx="3062880" cy="32868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Sem checks obrigatórios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9" name="Text 171"/>
          <p:cNvSpPr/>
          <p:nvPr/>
        </p:nvSpPr>
        <p:spPr>
          <a:xfrm>
            <a:off x="868680" y="3072240"/>
            <a:ext cx="3062880" cy="12250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O time pode fazer merge mesmo quando testes falham ou nem foram executados.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" name="Text 172"/>
          <p:cNvSpPr/>
          <p:nvPr/>
        </p:nvSpPr>
        <p:spPr>
          <a:xfrm>
            <a:off x="4389120" y="2743200"/>
            <a:ext cx="306288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Com checks obrigatórios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1" name="Text 173"/>
          <p:cNvSpPr/>
          <p:nvPr/>
        </p:nvSpPr>
        <p:spPr>
          <a:xfrm>
            <a:off x="4389120" y="3072240"/>
            <a:ext cx="3062880" cy="12250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A main só recebe mudanças se o pipeline passar. A regra deixa de ser verbal e vira automatizada.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2" name="Text 174"/>
          <p:cNvSpPr/>
          <p:nvPr/>
        </p:nvSpPr>
        <p:spPr>
          <a:xfrm>
            <a:off x="7909560" y="2743200"/>
            <a:ext cx="306288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Conexão com Encontro 2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3" name="Text 175"/>
          <p:cNvSpPr/>
          <p:nvPr/>
        </p:nvSpPr>
        <p:spPr>
          <a:xfrm>
            <a:off x="7909560" y="3072240"/>
            <a:ext cx="3062880" cy="12250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Branch protection + PR + CI transforma colaboração em fluxo controlado.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4" name="Text 176"/>
          <p:cNvSpPr/>
          <p:nvPr/>
        </p:nvSpPr>
        <p:spPr>
          <a:xfrm>
            <a:off x="896040" y="5120640"/>
            <a:ext cx="9875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Na disciplina: a CI do Encontro 3 prepara a main para receber quality gates nos próximos incrementos.</a:t>
            </a:r>
            <a:endParaRPr b="0" lang="pt-BR" sz="15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5" name="Shape 4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6" name="Text 150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Pipeline vermelho é feedback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7" name="Text 151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Falhar cedo é uma das ideias mais importantes de DevOps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28" name="Image 11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029" name="Shape 42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0" name="Text 152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1" name="Text 153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12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2" name="Text 154"/>
          <p:cNvSpPr/>
          <p:nvPr/>
        </p:nvSpPr>
        <p:spPr>
          <a:xfrm>
            <a:off x="777240" y="1353240"/>
            <a:ext cx="2925720" cy="502560"/>
          </a:xfrm>
          <a:prstGeom prst="rect">
            <a:avLst/>
          </a:prstGeom>
          <a:solidFill>
            <a:srgbClr val="e6f4ea"/>
          </a:solidFill>
          <a:ln w="12700">
            <a:solidFill>
              <a:srgbClr val="cfe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f2a44"/>
                </a:solidFill>
                <a:latin typeface="Aptos"/>
                <a:ea typeface="Aptos"/>
              </a:rPr>
              <a:t>Falhou no computador do dev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3" name="Text 155"/>
          <p:cNvSpPr/>
          <p:nvPr/>
        </p:nvSpPr>
        <p:spPr>
          <a:xfrm>
            <a:off x="4251960" y="1353240"/>
            <a:ext cx="2925720" cy="502560"/>
          </a:xfrm>
          <a:prstGeom prst="rect">
            <a:avLst/>
          </a:prstGeom>
          <a:solidFill>
            <a:srgbClr val="fff8e8"/>
          </a:solidFill>
          <a:ln w="12700">
            <a:solidFill>
              <a:srgbClr val="f4d2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f2a44"/>
                </a:solidFill>
                <a:latin typeface="Aptos"/>
                <a:ea typeface="Aptos"/>
              </a:rPr>
              <a:t>Falhou no Pull Request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" name="Text 156"/>
          <p:cNvSpPr/>
          <p:nvPr/>
        </p:nvSpPr>
        <p:spPr>
          <a:xfrm>
            <a:off x="7726680" y="1353240"/>
            <a:ext cx="2925720" cy="502560"/>
          </a:xfrm>
          <a:prstGeom prst="rect">
            <a:avLst/>
          </a:prstGeom>
          <a:solidFill>
            <a:srgbClr val="fdecec"/>
          </a:solidFill>
          <a:ln w="12700">
            <a:solidFill>
              <a:srgbClr val="f4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f2a44"/>
                </a:solidFill>
                <a:latin typeface="Aptos"/>
                <a:ea typeface="Aptos"/>
              </a:rPr>
              <a:t>Falhou em produção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5" name="Text 157"/>
          <p:cNvSpPr/>
          <p:nvPr/>
        </p:nvSpPr>
        <p:spPr>
          <a:xfrm>
            <a:off x="777240" y="2103120"/>
            <a:ext cx="2925720" cy="123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Barato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rápido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baixo impacto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6" name="Text 158"/>
          <p:cNvSpPr/>
          <p:nvPr/>
        </p:nvSpPr>
        <p:spPr>
          <a:xfrm>
            <a:off x="4251960" y="2103120"/>
            <a:ext cx="2925720" cy="123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Visível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aceitável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antes do merge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7" name="Text 159"/>
          <p:cNvSpPr/>
          <p:nvPr/>
        </p:nvSpPr>
        <p:spPr>
          <a:xfrm>
            <a:off x="7726680" y="2103120"/>
            <a:ext cx="2925720" cy="123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Caro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usuário afetado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incidente real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8" name="Shape 43"/>
          <p:cNvSpPr/>
          <p:nvPr/>
        </p:nvSpPr>
        <p:spPr>
          <a:xfrm>
            <a:off x="3703320" y="2724840"/>
            <a:ext cx="45720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9" name="Shape 44"/>
          <p:cNvSpPr/>
          <p:nvPr/>
        </p:nvSpPr>
        <p:spPr>
          <a:xfrm>
            <a:off x="7178040" y="2724840"/>
            <a:ext cx="45720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0" name="Text 160"/>
          <p:cNvSpPr/>
          <p:nvPr/>
        </p:nvSpPr>
        <p:spPr>
          <a:xfrm>
            <a:off x="914400" y="4251960"/>
            <a:ext cx="9692640" cy="529920"/>
          </a:xfrm>
          <a:prstGeom prst="rect">
            <a:avLst/>
          </a:prstGeom>
          <a:solidFill>
            <a:srgbClr val="eaf3ff"/>
          </a:solidFill>
          <a:ln w="12700">
            <a:solidFill>
              <a:srgbClr val="b7d0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f2a44"/>
                </a:solidFill>
                <a:latin typeface="Aptos"/>
                <a:ea typeface="Aptos"/>
              </a:rPr>
              <a:t>Objetivo da CI: empurrar a descoberta de falhas para a esquerda, antes da entrega.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Shape 45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2" name="Text 161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Pirâmide de testes com exemplos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3" name="Text 162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Escolha testes que dão feedback rápido e comprovam comportamento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44" name="Image 14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045" name="Shape 55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6" name="Text 163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7" name="Text 164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13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8" name="Shape 56"/>
          <p:cNvSpPr/>
          <p:nvPr/>
        </p:nvSpPr>
        <p:spPr>
          <a:xfrm>
            <a:off x="1005840" y="3977640"/>
            <a:ext cx="2834280" cy="914040"/>
          </a:xfrm>
          <a:prstGeom prst="trapezoid">
            <a:avLst>
              <a:gd name="adj" fmla="val 25000"/>
            </a:avLst>
          </a:prstGeom>
          <a:solidFill>
            <a:srgbClr val="079e8d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9" name="Shape 57"/>
          <p:cNvSpPr/>
          <p:nvPr/>
        </p:nvSpPr>
        <p:spPr>
          <a:xfrm>
            <a:off x="1307520" y="2971800"/>
            <a:ext cx="2239920" cy="914040"/>
          </a:xfrm>
          <a:prstGeom prst="trapezoid">
            <a:avLst>
              <a:gd name="adj" fmla="val 25000"/>
            </a:avLst>
          </a:prstGeom>
          <a:solidFill>
            <a:srgbClr val="2d6ea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0" name="Shape 58"/>
          <p:cNvSpPr/>
          <p:nvPr/>
        </p:nvSpPr>
        <p:spPr>
          <a:xfrm>
            <a:off x="1618560" y="1828800"/>
            <a:ext cx="1599840" cy="1078560"/>
          </a:xfrm>
          <a:prstGeom prst="triangle">
            <a:avLst>
              <a:gd name="adj" fmla="val 50000"/>
            </a:avLst>
          </a:prstGeom>
          <a:solidFill>
            <a:srgbClr val="6c4fa3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1" name="Text 165"/>
          <p:cNvSpPr/>
          <p:nvPr/>
        </p:nvSpPr>
        <p:spPr>
          <a:xfrm>
            <a:off x="1170360" y="424296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Aptos"/>
              </a:rPr>
              <a:t>Unitários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Aptos"/>
              </a:rPr>
              <a:t>muitos e rápidos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2" name="Text 191"/>
          <p:cNvSpPr/>
          <p:nvPr/>
        </p:nvSpPr>
        <p:spPr>
          <a:xfrm>
            <a:off x="1600200" y="3273480"/>
            <a:ext cx="1645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Aptos"/>
              </a:rPr>
              <a:t>Integração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3" name="Text 192"/>
          <p:cNvSpPr/>
          <p:nvPr/>
        </p:nvSpPr>
        <p:spPr>
          <a:xfrm>
            <a:off x="1691640" y="2322720"/>
            <a:ext cx="1416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Aptos"/>
                <a:ea typeface="Aptos"/>
              </a:rPr>
              <a:t>E2E / Smoke</a:t>
            </a:r>
            <a:endParaRPr b="0" lang="pt-B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4" name="Text 193"/>
          <p:cNvSpPr/>
          <p:nvPr/>
        </p:nvSpPr>
        <p:spPr>
          <a:xfrm>
            <a:off x="4572000" y="1417320"/>
            <a:ext cx="283428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Unitário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5" name="Text 194"/>
          <p:cNvSpPr/>
          <p:nvPr/>
        </p:nvSpPr>
        <p:spPr>
          <a:xfrm>
            <a:off x="4572000" y="1746360"/>
            <a:ext cx="2834280" cy="85932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Exemplo: calcular desconto, validar CPF, regra de frete.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Feedback: segundos.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" name="Text 195"/>
          <p:cNvSpPr/>
          <p:nvPr/>
        </p:nvSpPr>
        <p:spPr>
          <a:xfrm>
            <a:off x="7818120" y="1417320"/>
            <a:ext cx="283428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Integração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7" name="Text 196"/>
          <p:cNvSpPr/>
          <p:nvPr/>
        </p:nvSpPr>
        <p:spPr>
          <a:xfrm>
            <a:off x="7818120" y="1746360"/>
            <a:ext cx="2834280" cy="85932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Exemplo: API grava pedido no banco ou consulta serviço fake.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Feedback: mais lento.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8" name="Text 197"/>
          <p:cNvSpPr/>
          <p:nvPr/>
        </p:nvSpPr>
        <p:spPr>
          <a:xfrm>
            <a:off x="4572000" y="3154680"/>
            <a:ext cx="2834280" cy="32868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Smoke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9" name="Text 198"/>
          <p:cNvSpPr/>
          <p:nvPr/>
        </p:nvSpPr>
        <p:spPr>
          <a:xfrm>
            <a:off x="4572000" y="3483720"/>
            <a:ext cx="2834280" cy="85932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Exemplo: aplicação sobe e /health retorna 200.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Feedback: prova mínima de vida.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0" name="Text 199"/>
          <p:cNvSpPr/>
          <p:nvPr/>
        </p:nvSpPr>
        <p:spPr>
          <a:xfrm>
            <a:off x="7818120" y="3154680"/>
            <a:ext cx="2834280" cy="32868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Decisão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1" name="Text 200"/>
          <p:cNvSpPr/>
          <p:nvPr/>
        </p:nvSpPr>
        <p:spPr>
          <a:xfrm>
            <a:off x="7818120" y="3483720"/>
            <a:ext cx="2834280" cy="85932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No projeto de 24h, não tente cobrir tudo. Prove o fluxo crítico e gere evidência.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2" name="Shape 5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3" name="Text 177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Exemplo de teste unitário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4" name="Text 178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Testa uma função ou regra isolada, sem depender de banco ou rede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65" name="Image 13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066" name="Shape 52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7" name="Text 179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8" name="Text 180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14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9" name="Text 181"/>
          <p:cNvSpPr/>
          <p:nvPr/>
        </p:nvSpPr>
        <p:spPr>
          <a:xfrm>
            <a:off x="731520" y="1325880"/>
            <a:ext cx="5257440" cy="210276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export function applyDiscount(total, percent) {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return total - total * percent / 100;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}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test("10% de 2000 centavos = 1800", () =&gt; {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expect(applyDiscount(2000, 10)).toBe(1800);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});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0" name="Text 182"/>
          <p:cNvSpPr/>
          <p:nvPr/>
        </p:nvSpPr>
        <p:spPr>
          <a:xfrm>
            <a:off x="6400800" y="1325880"/>
            <a:ext cx="388584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O que esse teste comprova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1" name="Text 183"/>
          <p:cNvSpPr/>
          <p:nvPr/>
        </p:nvSpPr>
        <p:spPr>
          <a:xfrm>
            <a:off x="6400800" y="1654920"/>
            <a:ext cx="3885840" cy="9964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entrada conhecida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saída esperada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regra de negócio isolada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execução rápida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2" name="Text 184"/>
          <p:cNvSpPr/>
          <p:nvPr/>
        </p:nvSpPr>
        <p:spPr>
          <a:xfrm>
            <a:off x="6400800" y="3063240"/>
            <a:ext cx="388584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Por que cabe na CI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3" name="Text 185"/>
          <p:cNvSpPr/>
          <p:nvPr/>
        </p:nvSpPr>
        <p:spPr>
          <a:xfrm>
            <a:off x="6400800" y="3392280"/>
            <a:ext cx="3885840" cy="7221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Teste unitário é barato. Ele deve rodar em todo Pull Request porque dá feedback rápido.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4" name="Text 186"/>
          <p:cNvSpPr/>
          <p:nvPr/>
        </p:nvSpPr>
        <p:spPr>
          <a:xfrm>
            <a:off x="914400" y="4983480"/>
            <a:ext cx="9601200" cy="456840"/>
          </a:xfrm>
          <a:prstGeom prst="rect">
            <a:avLst/>
          </a:prstGeom>
          <a:solidFill>
            <a:srgbClr val="fff8e8"/>
          </a:solidFill>
          <a:ln w="12700">
            <a:solidFill>
              <a:srgbClr val="f4d2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0f2a44"/>
                </a:solidFill>
                <a:latin typeface="Aptos"/>
                <a:ea typeface="Aptos"/>
              </a:rPr>
              <a:t>Pergunta para a turma: que entrada quebraria essa função? E se percent vier negativo?</a:t>
            </a:r>
            <a:endParaRPr b="0" lang="pt-BR" sz="1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5" name="Shape 53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" name="Text 187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Exemplo de teste de integração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7" name="Text 188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Testa colaboração entre partes da aplicação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78" name="Image 16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079" name="Shape 54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0" name="Text 189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" name="Text 190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15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2" name="Text 214"/>
          <p:cNvSpPr/>
          <p:nvPr/>
        </p:nvSpPr>
        <p:spPr>
          <a:xfrm>
            <a:off x="914400" y="2194560"/>
            <a:ext cx="1096920" cy="502560"/>
          </a:xfrm>
          <a:prstGeom prst="rect">
            <a:avLst/>
          </a:prstGeom>
          <a:solidFill>
            <a:srgbClr val="2d6eaf"/>
          </a:solidFill>
          <a:ln w="12700">
            <a:solidFill>
              <a:srgbClr val="2d6e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ptos"/>
                <a:ea typeface="Aptos"/>
              </a:rPr>
              <a:t>API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3" name="Shape 61"/>
          <p:cNvSpPr/>
          <p:nvPr/>
        </p:nvSpPr>
        <p:spPr>
          <a:xfrm>
            <a:off x="2057400" y="2450520"/>
            <a:ext cx="1280160" cy="360"/>
          </a:xfrm>
          <a:prstGeom prst="line">
            <a:avLst/>
          </a:prstGeom>
          <a:ln w="2540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4" name="Text 215"/>
          <p:cNvSpPr/>
          <p:nvPr/>
        </p:nvSpPr>
        <p:spPr>
          <a:xfrm>
            <a:off x="3429000" y="2194560"/>
            <a:ext cx="1416960" cy="502560"/>
          </a:xfrm>
          <a:prstGeom prst="rect">
            <a:avLst/>
          </a:prstGeom>
          <a:solidFill>
            <a:srgbClr val="079e8d"/>
          </a:solidFill>
          <a:ln w="1270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ptos"/>
                <a:ea typeface="Aptos"/>
              </a:rPr>
              <a:t>Service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5" name="Shape 62"/>
          <p:cNvSpPr/>
          <p:nvPr/>
        </p:nvSpPr>
        <p:spPr>
          <a:xfrm>
            <a:off x="4892040" y="2450520"/>
            <a:ext cx="1280160" cy="360"/>
          </a:xfrm>
          <a:prstGeom prst="line">
            <a:avLst/>
          </a:prstGeom>
          <a:ln w="2540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6" name="Text 216"/>
          <p:cNvSpPr/>
          <p:nvPr/>
        </p:nvSpPr>
        <p:spPr>
          <a:xfrm>
            <a:off x="6263640" y="2194560"/>
            <a:ext cx="1234080" cy="502560"/>
          </a:xfrm>
          <a:prstGeom prst="rect">
            <a:avLst/>
          </a:prstGeom>
          <a:solidFill>
            <a:srgbClr val="6c4fa3"/>
          </a:solidFill>
          <a:ln w="12700">
            <a:solidFill>
              <a:srgbClr val="6c4fa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ptos"/>
                <a:ea typeface="Aptos"/>
              </a:rPr>
              <a:t>Banco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7" name="Text 217"/>
          <p:cNvSpPr/>
          <p:nvPr/>
        </p:nvSpPr>
        <p:spPr>
          <a:xfrm>
            <a:off x="868680" y="3520440"/>
            <a:ext cx="4480200" cy="132552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POST /orders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{ "customerId": 10, "items": [...] }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expect(response.status).toBe(201)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expect(order).toExistInDatabase()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8" name="Text 218"/>
          <p:cNvSpPr/>
          <p:nvPr/>
        </p:nvSpPr>
        <p:spPr>
          <a:xfrm>
            <a:off x="5897880" y="3474720"/>
            <a:ext cx="242280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O que comprova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9" name="Text 219"/>
          <p:cNvSpPr/>
          <p:nvPr/>
        </p:nvSpPr>
        <p:spPr>
          <a:xfrm>
            <a:off x="5897880" y="3803760"/>
            <a:ext cx="2422800" cy="7678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A rota, a regra e a persistência trabalham juntas.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0" name="Text 220"/>
          <p:cNvSpPr/>
          <p:nvPr/>
        </p:nvSpPr>
        <p:spPr>
          <a:xfrm>
            <a:off x="8549640" y="3474720"/>
            <a:ext cx="2422800" cy="32868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Cuidado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1" name="Text 221"/>
          <p:cNvSpPr/>
          <p:nvPr/>
        </p:nvSpPr>
        <p:spPr>
          <a:xfrm>
            <a:off x="8549640" y="3803760"/>
            <a:ext cx="2422800" cy="7678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Pode ficar lento ou frágil se depender de rede real ou dados compartilhados.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2" name="Text 222"/>
          <p:cNvSpPr/>
          <p:nvPr/>
        </p:nvSpPr>
        <p:spPr>
          <a:xfrm>
            <a:off x="914400" y="5166360"/>
            <a:ext cx="9692640" cy="411120"/>
          </a:xfrm>
          <a:prstGeom prst="rect">
            <a:avLst/>
          </a:prstGeom>
          <a:solidFill>
            <a:srgbClr val="e6f4ea"/>
          </a:solidFill>
          <a:ln w="12700">
            <a:solidFill>
              <a:srgbClr val="cfe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0f2a44"/>
                </a:solidFill>
                <a:latin typeface="Aptos"/>
                <a:ea typeface="Aptos"/>
              </a:rPr>
              <a:t>Na disciplina: use integração quando isso provar o fluxo principal do projeto.</a:t>
            </a:r>
            <a:endParaRPr b="0" lang="pt-BR" sz="1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3" name="Shape 59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4" name="Text 201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Exemplo de smoke test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5" name="Text 202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Prova mínima: a aplicação sobe e responde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6" name="Image 15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097" name="Shape 60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8" name="Text 203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9" name="Text 204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16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0" name="Text 205"/>
          <p:cNvSpPr/>
          <p:nvPr/>
        </p:nvSpPr>
        <p:spPr>
          <a:xfrm>
            <a:off x="822960" y="1463040"/>
            <a:ext cx="4845960" cy="155412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# depois do build ou container subir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curl -f http://localhost:3000/health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# esperado: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{ "status": "ok" }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1" name="Text 206"/>
          <p:cNvSpPr/>
          <p:nvPr/>
        </p:nvSpPr>
        <p:spPr>
          <a:xfrm>
            <a:off x="6126480" y="1508760"/>
            <a:ext cx="4480200" cy="914040"/>
          </a:xfrm>
          <a:prstGeom prst="rect">
            <a:avLst/>
          </a:prstGeom>
          <a:solidFill>
            <a:srgbClr val="eaf3ff"/>
          </a:solidFill>
          <a:ln w="12700">
            <a:solidFill>
              <a:srgbClr val="b7d0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 fontScale="93333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0f2a44"/>
                </a:solidFill>
                <a:latin typeface="Aptos"/>
                <a:ea typeface="Aptos"/>
              </a:rPr>
              <a:t>Smoke test não prova todos os comportamentos. Ele prova que o sistema está vivo o suficiente para continuar a validação.</a:t>
            </a:r>
            <a:endParaRPr b="0" lang="pt-BR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2" name="Text 207"/>
          <p:cNvSpPr/>
          <p:nvPr/>
        </p:nvSpPr>
        <p:spPr>
          <a:xfrm>
            <a:off x="914400" y="3886200"/>
            <a:ext cx="1599840" cy="47520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Rápido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3" name="Text 208"/>
          <p:cNvSpPr/>
          <p:nvPr/>
        </p:nvSpPr>
        <p:spPr>
          <a:xfrm>
            <a:off x="3246120" y="3886200"/>
            <a:ext cx="1599840" cy="47520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Poucos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4" name="Text 209"/>
          <p:cNvSpPr/>
          <p:nvPr/>
        </p:nvSpPr>
        <p:spPr>
          <a:xfrm>
            <a:off x="5577840" y="3886200"/>
            <a:ext cx="1599840" cy="47520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Críticos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5" name="Text 210"/>
          <p:cNvSpPr/>
          <p:nvPr/>
        </p:nvSpPr>
        <p:spPr>
          <a:xfrm>
            <a:off x="7909560" y="3886200"/>
            <a:ext cx="1599840" cy="47520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  <a:ea typeface="Aptos"/>
              </a:rPr>
              <a:t>Úteis para deploy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6" name="Text 211"/>
          <p:cNvSpPr/>
          <p:nvPr/>
        </p:nvSpPr>
        <p:spPr>
          <a:xfrm>
            <a:off x="914400" y="4983480"/>
            <a:ext cx="9875520" cy="456840"/>
          </a:xfrm>
          <a:prstGeom prst="rect">
            <a:avLst/>
          </a:prstGeom>
          <a:solidFill>
            <a:srgbClr val="e6f4ea"/>
          </a:solidFill>
          <a:ln w="12700">
            <a:solidFill>
              <a:srgbClr val="cfe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0f2a44"/>
                </a:solidFill>
                <a:latin typeface="Aptos"/>
                <a:ea typeface="Aptos"/>
              </a:rPr>
              <a:t>Exemplo no projeto final: endpoint /health + comando documentado no README.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Shape 63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8" name="Text 212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Teste ruim x teste útil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9" name="Text 213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Um pipeline verde só tem valor se os testes realmente protegem comportamento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10" name="Image 18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111" name="Shape 65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2" name="Text 223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3" name="Text 224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17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4" name="Text 234"/>
          <p:cNvSpPr/>
          <p:nvPr/>
        </p:nvSpPr>
        <p:spPr>
          <a:xfrm>
            <a:off x="822960" y="1325880"/>
            <a:ext cx="4480200" cy="32868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Teste ruim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5" name="Text 235"/>
          <p:cNvSpPr/>
          <p:nvPr/>
        </p:nvSpPr>
        <p:spPr>
          <a:xfrm>
            <a:off x="822960" y="1654920"/>
            <a:ext cx="4480200" cy="18194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test("existe", () =&gt; {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 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expect(service).toBeDefined();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});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Problema: quase não prova comportamento real.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6" name="Text 236"/>
          <p:cNvSpPr/>
          <p:nvPr/>
        </p:nvSpPr>
        <p:spPr>
          <a:xfrm>
            <a:off x="5806440" y="1325880"/>
            <a:ext cx="448020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Teste útil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7" name="Text 237"/>
          <p:cNvSpPr/>
          <p:nvPr/>
        </p:nvSpPr>
        <p:spPr>
          <a:xfrm>
            <a:off x="5806440" y="1654920"/>
            <a:ext cx="4480200" cy="18194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test("calcula desconto", () =&gt; {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 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expect(applyDiscount(2000, 10))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   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.toBe(1800);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});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Valor: protege uma regra esperada.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8" name="Text 238"/>
          <p:cNvSpPr/>
          <p:nvPr/>
        </p:nvSpPr>
        <p:spPr>
          <a:xfrm>
            <a:off x="914400" y="4297680"/>
            <a:ext cx="9875520" cy="502560"/>
          </a:xfrm>
          <a:prstGeom prst="rect">
            <a:avLst/>
          </a:prstGeom>
          <a:solidFill>
            <a:srgbClr val="fff8e8"/>
          </a:solidFill>
          <a:ln w="12700">
            <a:solidFill>
              <a:srgbClr val="f4d2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f2a44"/>
                </a:solidFill>
                <a:latin typeface="Aptos"/>
                <a:ea typeface="Aptos"/>
              </a:rPr>
              <a:t>Pergunte sempre: “Que bug esse teste conseguiria encontrar?”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" name="Shape 64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0" name="Text 225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Testes frágeis: quando o pipeline perde credibilidade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1" name="Text 226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Flaky test falha de forma intermitente e destrói confiança na CI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2" name="Image 17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123" name="Shape 67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4" name="Text 227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5" name="Text 228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18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6" name="Text 229"/>
          <p:cNvSpPr/>
          <p:nvPr/>
        </p:nvSpPr>
        <p:spPr>
          <a:xfrm>
            <a:off x="822960" y="1325880"/>
            <a:ext cx="2925720" cy="32868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Causas comuns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7" name="Text 230"/>
          <p:cNvSpPr/>
          <p:nvPr/>
        </p:nvSpPr>
        <p:spPr>
          <a:xfrm>
            <a:off x="822960" y="1654920"/>
            <a:ext cx="2925720" cy="15908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dependência de horário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ordem de execução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rede real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dados compartilhados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condições de corrida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8" name="Text 231"/>
          <p:cNvSpPr/>
          <p:nvPr/>
        </p:nvSpPr>
        <p:spPr>
          <a:xfrm>
            <a:off x="4526280" y="1325880"/>
            <a:ext cx="292572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Como tratar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9" name="Text 232"/>
          <p:cNvSpPr/>
          <p:nvPr/>
        </p:nvSpPr>
        <p:spPr>
          <a:xfrm>
            <a:off x="4526280" y="1654920"/>
            <a:ext cx="2925720" cy="15908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isolar estado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usar mocks/fakes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limpar dados entre testes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remover dependência de sorte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investigar como bug real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0" name="Text 233"/>
          <p:cNvSpPr/>
          <p:nvPr/>
        </p:nvSpPr>
        <p:spPr>
          <a:xfrm>
            <a:off x="8229600" y="1325880"/>
            <a:ext cx="2742840" cy="32868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O que não fazer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1" name="Text 245"/>
          <p:cNvSpPr/>
          <p:nvPr/>
        </p:nvSpPr>
        <p:spPr>
          <a:xfrm>
            <a:off x="8229600" y="1654920"/>
            <a:ext cx="2742840" cy="15908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reexecutar infinitamente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ignorar falha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marcar como “normal”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esconder erro para passar entrega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2" name="Text 246"/>
          <p:cNvSpPr/>
          <p:nvPr/>
        </p:nvSpPr>
        <p:spPr>
          <a:xfrm>
            <a:off x="868680" y="4343400"/>
            <a:ext cx="9875520" cy="502560"/>
          </a:xfrm>
          <a:prstGeom prst="rect">
            <a:avLst/>
          </a:prstGeom>
          <a:solidFill>
            <a:srgbClr val="eaf3ff"/>
          </a:solidFill>
          <a:ln w="12700">
            <a:solidFill>
              <a:srgbClr val="b7d0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f2a44"/>
                </a:solidFill>
                <a:latin typeface="Aptos"/>
                <a:ea typeface="Aptos"/>
              </a:rPr>
              <a:t>Discussão: um teste que falha 1 vez a cada 20 execuções deve bloquear a main?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3" name="Shape 66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4" name="Text 239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Métricas de CI que contam a verdade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" name="Text 240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Medir o pipeline ajuda a melhorar o fluxo de entrega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6" name="Image 20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137" name="Shape 69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8" name="Text 241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9" name="Text 242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19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0" name="Text 243"/>
          <p:cNvSpPr/>
          <p:nvPr/>
        </p:nvSpPr>
        <p:spPr>
          <a:xfrm>
            <a:off x="777240" y="1325880"/>
            <a:ext cx="306288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Tempo de build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1" name="Text 244"/>
          <p:cNvSpPr/>
          <p:nvPr/>
        </p:nvSpPr>
        <p:spPr>
          <a:xfrm>
            <a:off x="777240" y="1654920"/>
            <a:ext cx="3062880" cy="13622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Quanto tempo o time espera pelo feedback?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Sinal ruim: builds longos demais fazem a equipe evitar integração frequente.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2" name="Text 259"/>
          <p:cNvSpPr/>
          <p:nvPr/>
        </p:nvSpPr>
        <p:spPr>
          <a:xfrm>
            <a:off x="4343400" y="1325880"/>
            <a:ext cx="3062880" cy="32868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Taxa de falha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3" name="Text 260"/>
          <p:cNvSpPr/>
          <p:nvPr/>
        </p:nvSpPr>
        <p:spPr>
          <a:xfrm>
            <a:off x="4343400" y="1654920"/>
            <a:ext cx="3062880" cy="13622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Quantos pipelines quebram?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Sinal útil quando aponta regressão, falta de teste local ou instabilidade do projeto.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4" name="Text 261"/>
          <p:cNvSpPr/>
          <p:nvPr/>
        </p:nvSpPr>
        <p:spPr>
          <a:xfrm>
            <a:off x="7909560" y="1325880"/>
            <a:ext cx="3062880" cy="32868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Flakiness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5" name="Text 262"/>
          <p:cNvSpPr/>
          <p:nvPr/>
        </p:nvSpPr>
        <p:spPr>
          <a:xfrm>
            <a:off x="7909560" y="1654920"/>
            <a:ext cx="3062880" cy="13622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Quantas falhas são intermitentes?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Sinal crítico: destrói confiança e leva o time a ignorar o pipeline.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6" name="Text 263"/>
          <p:cNvSpPr/>
          <p:nvPr/>
        </p:nvSpPr>
        <p:spPr>
          <a:xfrm>
            <a:off x="2423160" y="3749040"/>
            <a:ext cx="3154320" cy="32868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Cobertura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7" name="Text 264"/>
          <p:cNvSpPr/>
          <p:nvPr/>
        </p:nvSpPr>
        <p:spPr>
          <a:xfrm>
            <a:off x="2423160" y="4078080"/>
            <a:ext cx="3154320" cy="9050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Útil como sinal de risco, perigosa como meta isolada.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100% de cobertura não garante ausência de bugs.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8" name="Text 265"/>
          <p:cNvSpPr/>
          <p:nvPr/>
        </p:nvSpPr>
        <p:spPr>
          <a:xfrm>
            <a:off x="6492240" y="3749040"/>
            <a:ext cx="315432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Taxa de sucesso na main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9" name="Text 266"/>
          <p:cNvSpPr/>
          <p:nvPr/>
        </p:nvSpPr>
        <p:spPr>
          <a:xfrm>
            <a:off x="6492240" y="4078080"/>
            <a:ext cx="3154320" cy="9050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A main deve estar saudável.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Pipeline vermelho na main é prioridade de correção.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" name="Shape 68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1" name="Text 247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Como ler um log de pipeline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2" name="Text 248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O log é a evidência técnica da falha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53" name="Image 19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154" name="Shape 71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5" name="Text 249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6" name="Text 250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20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7" name="Text 251"/>
          <p:cNvSpPr/>
          <p:nvPr/>
        </p:nvSpPr>
        <p:spPr>
          <a:xfrm>
            <a:off x="777240" y="1234440"/>
            <a:ext cx="5120280" cy="201132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Run npm test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FAIL  src/discount.test.ts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Expected: 1800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Received: 1990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  </a:t>
            </a: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at discount.test.ts:8:32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Error: Process completed with exit code 1.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8" name="Text 252"/>
          <p:cNvSpPr/>
          <p:nvPr/>
        </p:nvSpPr>
        <p:spPr>
          <a:xfrm>
            <a:off x="6400800" y="1143000"/>
            <a:ext cx="374868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1. Onde falhou?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9" name="Text 253"/>
          <p:cNvSpPr/>
          <p:nvPr/>
        </p:nvSpPr>
        <p:spPr>
          <a:xfrm>
            <a:off x="6400800" y="1472040"/>
            <a:ext cx="3748680" cy="5392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Identifique job, step e comando.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Exemplo: step npm test.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0" name="Text 254"/>
          <p:cNvSpPr/>
          <p:nvPr/>
        </p:nvSpPr>
        <p:spPr>
          <a:xfrm>
            <a:off x="6400800" y="2240280"/>
            <a:ext cx="3748680" cy="32868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2. Qual evidência?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1" name="Text 255"/>
          <p:cNvSpPr/>
          <p:nvPr/>
        </p:nvSpPr>
        <p:spPr>
          <a:xfrm>
            <a:off x="6400800" y="2569320"/>
            <a:ext cx="3748680" cy="5392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Compare esperado e obtido.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Exemplo: esperado 1800, recebido 1990.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Text 256"/>
          <p:cNvSpPr/>
          <p:nvPr/>
        </p:nvSpPr>
        <p:spPr>
          <a:xfrm>
            <a:off x="6400800" y="3337560"/>
            <a:ext cx="374868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3. Qual próxima ação?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3" name="Text 257"/>
          <p:cNvSpPr/>
          <p:nvPr/>
        </p:nvSpPr>
        <p:spPr>
          <a:xfrm>
            <a:off x="6400800" y="3666600"/>
            <a:ext cx="3748680" cy="53928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Reproduzir localmente, escrever teste mínimo e corrigir causa.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4" name="Text 258"/>
          <p:cNvSpPr/>
          <p:nvPr/>
        </p:nvSpPr>
        <p:spPr>
          <a:xfrm>
            <a:off x="868680" y="5074920"/>
            <a:ext cx="9875520" cy="456840"/>
          </a:xfrm>
          <a:prstGeom prst="rect">
            <a:avLst/>
          </a:prstGeom>
          <a:solidFill>
            <a:srgbClr val="fff8e8"/>
          </a:solidFill>
          <a:ln w="12700">
            <a:solidFill>
              <a:srgbClr val="f4d2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f2a44"/>
                </a:solidFill>
                <a:latin typeface="Aptos"/>
                <a:ea typeface="Aptos"/>
              </a:rPr>
              <a:t>Não corrija “no escuro”: primeiro transforme log em hipótese verificável.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5" name="Shape 70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6" name="Text 267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IA para investigar falhas de CI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7" name="Text 268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Use IA para levantar hipóteses, não para pular validação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68" name="Image 22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169" name="Shape 73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0" name="Text 269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1" name="Text 270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21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2" name="Text 283"/>
          <p:cNvSpPr/>
          <p:nvPr/>
        </p:nvSpPr>
        <p:spPr>
          <a:xfrm>
            <a:off x="777240" y="1234440"/>
            <a:ext cx="306288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Contexto seguro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3" name="Text 284"/>
          <p:cNvSpPr/>
          <p:nvPr/>
        </p:nvSpPr>
        <p:spPr>
          <a:xfrm>
            <a:off x="777240" y="1563480"/>
            <a:ext cx="3062880" cy="11793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Cole apenas trechos relevantes do log.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Remova tokens, URLs internas sensíveis e dados pessoais.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4" name="Text 285"/>
          <p:cNvSpPr/>
          <p:nvPr/>
        </p:nvSpPr>
        <p:spPr>
          <a:xfrm>
            <a:off x="4343400" y="1234440"/>
            <a:ext cx="306288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Pedido correto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5" name="Text 286"/>
          <p:cNvSpPr/>
          <p:nvPr/>
        </p:nvSpPr>
        <p:spPr>
          <a:xfrm>
            <a:off x="4343400" y="1563480"/>
            <a:ext cx="3062880" cy="11793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Peça hipóteses em ordem de probabilidade e comandos para validar antes de alterar código.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6" name="Text 287"/>
          <p:cNvSpPr/>
          <p:nvPr/>
        </p:nvSpPr>
        <p:spPr>
          <a:xfrm>
            <a:off x="7909560" y="1234440"/>
            <a:ext cx="306288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Validação humana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7" name="Text 288"/>
          <p:cNvSpPr/>
          <p:nvPr/>
        </p:nvSpPr>
        <p:spPr>
          <a:xfrm>
            <a:off x="7909560" y="1563480"/>
            <a:ext cx="3062880" cy="11793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Teste a hipótese, rode o pipeline novamente e registre o que foi aceito ou rejeitado.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8" name="Text 289"/>
          <p:cNvSpPr/>
          <p:nvPr/>
        </p:nvSpPr>
        <p:spPr>
          <a:xfrm>
            <a:off x="914400" y="3520440"/>
            <a:ext cx="9784080" cy="123408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Prompt exemplo: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Este job de CI falhou. Explique a provável causa,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liste hipóteses e sugira validações antes de alterar código.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Log: &lt;trecho sem segredos&gt;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9" name="Text 290"/>
          <p:cNvSpPr/>
          <p:nvPr/>
        </p:nvSpPr>
        <p:spPr>
          <a:xfrm>
            <a:off x="914400" y="5166360"/>
            <a:ext cx="9784080" cy="411120"/>
          </a:xfrm>
          <a:prstGeom prst="rect">
            <a:avLst/>
          </a:prstGeom>
          <a:solidFill>
            <a:srgbClr val="fdecec"/>
          </a:solidFill>
          <a:ln w="12700">
            <a:solidFill>
              <a:srgbClr val="f4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0f2a44"/>
                </a:solidFill>
                <a:latin typeface="Aptos"/>
                <a:ea typeface="Aptos"/>
              </a:rPr>
              <a:t>Regra: toda resposta da IA é hipótese até ser confirmada por teste, build ou revisão.</a:t>
            </a:r>
            <a:endParaRPr b="0" lang="pt-BR" sz="1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0" name="Shape 7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1" name="Text 271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IA para gerar testes: onde ajuda e onde engana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2" name="Text 272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A IA acelera ideias; a equipe decide cobertura e relevância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83" name="Image 21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184" name="Shape 75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5" name="Text 273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6" name="Text 274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22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7" name="Text 275"/>
          <p:cNvSpPr/>
          <p:nvPr/>
        </p:nvSpPr>
        <p:spPr>
          <a:xfrm>
            <a:off x="777240" y="1325880"/>
            <a:ext cx="301716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Ajuda bem em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8" name="Text 276"/>
          <p:cNvSpPr/>
          <p:nvPr/>
        </p:nvSpPr>
        <p:spPr>
          <a:xfrm>
            <a:off x="777240" y="1654920"/>
            <a:ext cx="3017160" cy="131652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casos de borda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entradas inválidas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nomes de testes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estrutura inicial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cenários esquecidos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9" name="Text 277"/>
          <p:cNvSpPr/>
          <p:nvPr/>
        </p:nvSpPr>
        <p:spPr>
          <a:xfrm>
            <a:off x="4526280" y="1325880"/>
            <a:ext cx="3017160" cy="32868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Pode enganar em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0" name="Text 278"/>
          <p:cNvSpPr/>
          <p:nvPr/>
        </p:nvSpPr>
        <p:spPr>
          <a:xfrm>
            <a:off x="4526280" y="1654920"/>
            <a:ext cx="3017160" cy="131652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API inexistente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mocks irreais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teste que replica bug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cobertura sem valor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falsa segurança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1" name="Text 279"/>
          <p:cNvSpPr/>
          <p:nvPr/>
        </p:nvSpPr>
        <p:spPr>
          <a:xfrm>
            <a:off x="8275320" y="1325880"/>
            <a:ext cx="274284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Checklist humano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2" name="Text 280"/>
          <p:cNvSpPr/>
          <p:nvPr/>
        </p:nvSpPr>
        <p:spPr>
          <a:xfrm>
            <a:off x="8275320" y="1654920"/>
            <a:ext cx="2742840" cy="131652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o teste falha antes da correção?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prova comportamento real?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roda no CI?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70" spc="-1" strike="noStrike">
                <a:solidFill>
                  <a:srgbClr val="0f2a44"/>
                </a:solidFill>
                <a:latin typeface="Aptos"/>
                <a:ea typeface="Aptos"/>
              </a:rPr>
              <a:t>não depende de sorte?</a:t>
            </a:r>
            <a:endParaRPr b="0" lang="pt-BR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3" name="Text 281"/>
          <p:cNvSpPr/>
          <p:nvPr/>
        </p:nvSpPr>
        <p:spPr>
          <a:xfrm>
            <a:off x="914400" y="3840480"/>
            <a:ext cx="4800240" cy="114264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Prompt: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Com base nesta função e nos critérios de aceite,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sugira testes unitários e casos de borda.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8fafc"/>
                </a:solidFill>
                <a:latin typeface="Cascadia Mono"/>
                <a:ea typeface="Cascadia Mono"/>
              </a:rPr>
              <a:t>Não altere a API pública sem justificar.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4" name="Text 282"/>
          <p:cNvSpPr/>
          <p:nvPr/>
        </p:nvSpPr>
        <p:spPr>
          <a:xfrm>
            <a:off x="6172200" y="3977640"/>
            <a:ext cx="4434480" cy="685440"/>
          </a:xfrm>
          <a:prstGeom prst="rect">
            <a:avLst/>
          </a:prstGeom>
          <a:solidFill>
            <a:srgbClr val="e6f4ea"/>
          </a:solidFill>
          <a:ln w="12700">
            <a:solidFill>
              <a:srgbClr val="cfe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f2a44"/>
                </a:solidFill>
                <a:latin typeface="Aptos"/>
                <a:ea typeface="Aptos"/>
              </a:rPr>
              <a:t>A IA gera candidatos. A qualidade do teste é responsabilidade do time.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5" name="Shape 74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6" name="Text 291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Demonstração sugerida: quebrar, detectar e corrigir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7" name="Text 292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Uma boa aula de CI precisa mostrar o vermelho e o verde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98" name="Image 24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199" name="Shape 82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0" name="Text 293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1" name="Text 294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23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2" name="Text 315"/>
          <p:cNvSpPr/>
          <p:nvPr/>
        </p:nvSpPr>
        <p:spPr>
          <a:xfrm>
            <a:off x="731520" y="1417320"/>
            <a:ext cx="328680" cy="32868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1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3" name="Text 316"/>
          <p:cNvSpPr/>
          <p:nvPr/>
        </p:nvSpPr>
        <p:spPr>
          <a:xfrm>
            <a:off x="548640" y="1856160"/>
            <a:ext cx="712800" cy="63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0f2a44"/>
                </a:solidFill>
                <a:latin typeface="Aptos"/>
                <a:ea typeface="Aptos"/>
              </a:rPr>
              <a:t>Criar teste que falha</a:t>
            </a:r>
            <a:endParaRPr b="0" lang="pt-BR" sz="9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4" name="Shape 83"/>
          <p:cNvSpPr/>
          <p:nvPr/>
        </p:nvSpPr>
        <p:spPr>
          <a:xfrm>
            <a:off x="1124640" y="1581840"/>
            <a:ext cx="1115640" cy="360"/>
          </a:xfrm>
          <a:prstGeom prst="line">
            <a:avLst/>
          </a:prstGeom>
          <a:ln w="1524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5" name="Text 317"/>
          <p:cNvSpPr/>
          <p:nvPr/>
        </p:nvSpPr>
        <p:spPr>
          <a:xfrm>
            <a:off x="2514600" y="1417320"/>
            <a:ext cx="328680" cy="32868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2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6" name="Text 318"/>
          <p:cNvSpPr/>
          <p:nvPr/>
        </p:nvSpPr>
        <p:spPr>
          <a:xfrm>
            <a:off x="2331720" y="1856160"/>
            <a:ext cx="712800" cy="63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0f2a44"/>
                </a:solidFill>
                <a:latin typeface="Aptos"/>
                <a:ea typeface="Aptos"/>
              </a:rPr>
              <a:t>Abrir PR</a:t>
            </a:r>
            <a:endParaRPr b="0" lang="pt-BR" sz="9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7" name="Shape 84"/>
          <p:cNvSpPr/>
          <p:nvPr/>
        </p:nvSpPr>
        <p:spPr>
          <a:xfrm>
            <a:off x="2907720" y="1581840"/>
            <a:ext cx="1115640" cy="360"/>
          </a:xfrm>
          <a:prstGeom prst="line">
            <a:avLst/>
          </a:prstGeom>
          <a:ln w="1524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8" name="Text 319"/>
          <p:cNvSpPr/>
          <p:nvPr/>
        </p:nvSpPr>
        <p:spPr>
          <a:xfrm>
            <a:off x="4297680" y="1417320"/>
            <a:ext cx="328680" cy="32868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3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9" name="Text 320"/>
          <p:cNvSpPr/>
          <p:nvPr/>
        </p:nvSpPr>
        <p:spPr>
          <a:xfrm>
            <a:off x="4114800" y="1856160"/>
            <a:ext cx="712800" cy="63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0f2a44"/>
                </a:solidFill>
                <a:latin typeface="Aptos"/>
                <a:ea typeface="Aptos"/>
              </a:rPr>
              <a:t>CI fica vermelha</a:t>
            </a:r>
            <a:endParaRPr b="0" lang="pt-BR" sz="9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0" name="Shape 85"/>
          <p:cNvSpPr/>
          <p:nvPr/>
        </p:nvSpPr>
        <p:spPr>
          <a:xfrm>
            <a:off x="4690800" y="1581840"/>
            <a:ext cx="1115640" cy="360"/>
          </a:xfrm>
          <a:prstGeom prst="line">
            <a:avLst/>
          </a:prstGeom>
          <a:ln w="1524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1" name="Text 321"/>
          <p:cNvSpPr/>
          <p:nvPr/>
        </p:nvSpPr>
        <p:spPr>
          <a:xfrm>
            <a:off x="6080760" y="1417320"/>
            <a:ext cx="32868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4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2" name="Text 322"/>
          <p:cNvSpPr/>
          <p:nvPr/>
        </p:nvSpPr>
        <p:spPr>
          <a:xfrm>
            <a:off x="5897880" y="1856160"/>
            <a:ext cx="712800" cy="63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0f2a44"/>
                </a:solidFill>
                <a:latin typeface="Aptos"/>
                <a:ea typeface="Aptos"/>
              </a:rPr>
              <a:t>Analisar log</a:t>
            </a:r>
            <a:endParaRPr b="0" lang="pt-BR" sz="9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3" name="Shape 86"/>
          <p:cNvSpPr/>
          <p:nvPr/>
        </p:nvSpPr>
        <p:spPr>
          <a:xfrm>
            <a:off x="6473880" y="1581840"/>
            <a:ext cx="1115640" cy="360"/>
          </a:xfrm>
          <a:prstGeom prst="line">
            <a:avLst/>
          </a:prstGeom>
          <a:ln w="1524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4" name="Text 323"/>
          <p:cNvSpPr/>
          <p:nvPr/>
        </p:nvSpPr>
        <p:spPr>
          <a:xfrm>
            <a:off x="7863840" y="1417320"/>
            <a:ext cx="32868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5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5" name="Text 324"/>
          <p:cNvSpPr/>
          <p:nvPr/>
        </p:nvSpPr>
        <p:spPr>
          <a:xfrm>
            <a:off x="7680960" y="1856160"/>
            <a:ext cx="712800" cy="63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0f2a44"/>
                </a:solidFill>
                <a:latin typeface="Aptos"/>
                <a:ea typeface="Aptos"/>
              </a:rPr>
              <a:t>Corrigir código</a:t>
            </a:r>
            <a:endParaRPr b="0" lang="pt-BR" sz="9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6" name="Shape 87"/>
          <p:cNvSpPr/>
          <p:nvPr/>
        </p:nvSpPr>
        <p:spPr>
          <a:xfrm>
            <a:off x="8256960" y="1581840"/>
            <a:ext cx="1115640" cy="360"/>
          </a:xfrm>
          <a:prstGeom prst="line">
            <a:avLst/>
          </a:prstGeom>
          <a:ln w="1524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7" name="Text 325"/>
          <p:cNvSpPr/>
          <p:nvPr/>
        </p:nvSpPr>
        <p:spPr>
          <a:xfrm>
            <a:off x="9646920" y="1417320"/>
            <a:ext cx="32868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6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8" name="Text 326"/>
          <p:cNvSpPr/>
          <p:nvPr/>
        </p:nvSpPr>
        <p:spPr>
          <a:xfrm>
            <a:off x="9464040" y="1856160"/>
            <a:ext cx="712800" cy="63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0f2a44"/>
                </a:solidFill>
                <a:latin typeface="Aptos"/>
                <a:ea typeface="Aptos"/>
              </a:rPr>
              <a:t>CI fica verde</a:t>
            </a:r>
            <a:endParaRPr b="0" lang="pt-BR" sz="9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9" name="Text 327"/>
          <p:cNvSpPr/>
          <p:nvPr/>
        </p:nvSpPr>
        <p:spPr>
          <a:xfrm>
            <a:off x="868680" y="3063240"/>
            <a:ext cx="4388760" cy="132552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f8fafc"/>
                </a:solidFill>
                <a:latin typeface="Cascadia Mono"/>
                <a:ea typeface="Cascadia Mono"/>
              </a:rPr>
              <a:t>Expected: 1800</a:t>
            </a:r>
            <a:endParaRPr b="0" lang="pt-BR" sz="10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f8fafc"/>
                </a:solidFill>
                <a:latin typeface="Cascadia Mono"/>
                <a:ea typeface="Cascadia Mono"/>
              </a:rPr>
              <a:t>Received: 1990</a:t>
            </a:r>
            <a:endParaRPr b="0" lang="pt-BR" sz="10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f8fafc"/>
                </a:solidFill>
                <a:latin typeface="Cascadia Mono"/>
                <a:ea typeface="Cascadia Mono"/>
              </a:rPr>
              <a:t>Causa provável:</a:t>
            </a:r>
            <a:endParaRPr b="0" lang="pt-BR" sz="10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f8fafc"/>
                </a:solidFill>
                <a:latin typeface="Cascadia Mono"/>
                <a:ea typeface="Cascadia Mono"/>
              </a:rPr>
              <a:t>percentual aplicado como 0.5% em vez de 10%</a:t>
            </a:r>
            <a:endParaRPr b="0" lang="pt-BR" sz="10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0" name="Text 328"/>
          <p:cNvSpPr/>
          <p:nvPr/>
        </p:nvSpPr>
        <p:spPr>
          <a:xfrm>
            <a:off x="5806440" y="2926080"/>
            <a:ext cx="443448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Perguntas para a turma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1" name="Text 329"/>
          <p:cNvSpPr/>
          <p:nvPr/>
        </p:nvSpPr>
        <p:spPr>
          <a:xfrm>
            <a:off x="5806440" y="3255120"/>
            <a:ext cx="4434480" cy="11793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Qual teste faltava?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Onde o log aponta a causa?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A sugestão da IA é suficiente?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Que evidência anexar no PR?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2" name="Text 330"/>
          <p:cNvSpPr/>
          <p:nvPr/>
        </p:nvSpPr>
        <p:spPr>
          <a:xfrm>
            <a:off x="914400" y="5212080"/>
            <a:ext cx="9784080" cy="383760"/>
          </a:xfrm>
          <a:prstGeom prst="rect">
            <a:avLst/>
          </a:prstGeom>
          <a:solidFill>
            <a:srgbClr val="eaf3ff"/>
          </a:solidFill>
          <a:ln w="12700">
            <a:solidFill>
              <a:srgbClr val="b7d0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0f2a44"/>
                </a:solidFill>
                <a:latin typeface="Aptos"/>
                <a:ea typeface="Aptos"/>
              </a:rPr>
              <a:t>Objetivo da demo: CI não é teoria. É feedback executável ligado a uma mudança.</a:t>
            </a:r>
            <a:endParaRPr b="0" lang="pt-BR" sz="1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3" name="Shape 76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4" name="Text 295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Atividade 3 — Pipeline de CI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5" name="Text 296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Provar, com log, que o pipeline protege a entrega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26" name="Image 23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227" name="Shape 77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8" name="Text 297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9" name="Text 298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24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0" name="Text 299"/>
          <p:cNvSpPr/>
          <p:nvPr/>
        </p:nvSpPr>
        <p:spPr>
          <a:xfrm>
            <a:off x="777240" y="1234440"/>
            <a:ext cx="310860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Criar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1" name="Text 300"/>
          <p:cNvSpPr/>
          <p:nvPr/>
        </p:nvSpPr>
        <p:spPr>
          <a:xfrm>
            <a:off x="777240" y="1563480"/>
            <a:ext cx="3108600" cy="11336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0f2a44"/>
                </a:solidFill>
                <a:latin typeface="Aptos"/>
                <a:ea typeface="Aptos"/>
              </a:rPr>
              <a:t>Arquivo versionado: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0f2a44"/>
                </a:solidFill>
                <a:latin typeface="Aptos"/>
                <a:ea typeface="Aptos"/>
              </a:rPr>
              <a:t>.github/workflows/ci.yml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0f2a44"/>
                </a:solidFill>
                <a:latin typeface="Aptos"/>
                <a:ea typeface="Aptos"/>
              </a:rPr>
              <a:t>O workflow deve rodar em PR e push na main.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2" name="Text 301"/>
          <p:cNvSpPr/>
          <p:nvPr/>
        </p:nvSpPr>
        <p:spPr>
          <a:xfrm>
            <a:off x="4297680" y="1234440"/>
            <a:ext cx="310860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Validar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3" name="Text 302"/>
          <p:cNvSpPr/>
          <p:nvPr/>
        </p:nvSpPr>
        <p:spPr>
          <a:xfrm>
            <a:off x="4297680" y="1563480"/>
            <a:ext cx="3108600" cy="11336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0f2a44"/>
                </a:solidFill>
                <a:latin typeface="Aptos"/>
                <a:ea typeface="Aptos"/>
              </a:rPr>
              <a:t>Executar no pipeline: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80" spc="-1" strike="noStrike">
                <a:solidFill>
                  <a:srgbClr val="0f2a44"/>
                </a:solidFill>
                <a:latin typeface="Aptos"/>
                <a:ea typeface="Aptos"/>
              </a:rPr>
              <a:t>instalação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80" spc="-1" strike="noStrike">
                <a:solidFill>
                  <a:srgbClr val="0f2a44"/>
                </a:solidFill>
                <a:latin typeface="Aptos"/>
                <a:ea typeface="Aptos"/>
              </a:rPr>
              <a:t>teste real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80" spc="-1" strike="noStrike">
                <a:solidFill>
                  <a:srgbClr val="0f2a44"/>
                </a:solidFill>
                <a:latin typeface="Aptos"/>
                <a:ea typeface="Aptos"/>
              </a:rPr>
              <a:t>build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0f2a44"/>
                </a:solidFill>
                <a:latin typeface="Aptos"/>
                <a:ea typeface="Aptos"/>
              </a:rPr>
              <a:t>Falha deve bloquear a entrega.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4" name="Text 303"/>
          <p:cNvSpPr/>
          <p:nvPr/>
        </p:nvSpPr>
        <p:spPr>
          <a:xfrm>
            <a:off x="7818120" y="1234440"/>
            <a:ext cx="3108600" cy="32868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Evidenciar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5" name="Text 304"/>
          <p:cNvSpPr/>
          <p:nvPr/>
        </p:nvSpPr>
        <p:spPr>
          <a:xfrm>
            <a:off x="7818120" y="1563480"/>
            <a:ext cx="3108600" cy="113364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Entregar: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print ou link do pipeline verde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um log de falha explicado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correção aplicada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050" spc="-1" strike="noStrike">
                <a:solidFill>
                  <a:srgbClr val="0f2a44"/>
                </a:solidFill>
                <a:latin typeface="Aptos"/>
                <a:ea typeface="Aptos"/>
              </a:rPr>
              <a:t>registro de IA, se usada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6" name="Text 305"/>
          <p:cNvSpPr/>
          <p:nvPr/>
        </p:nvSpPr>
        <p:spPr>
          <a:xfrm>
            <a:off x="914400" y="3429000"/>
            <a:ext cx="9784080" cy="566640"/>
          </a:xfrm>
          <a:prstGeom prst="rect">
            <a:avLst/>
          </a:prstGeom>
          <a:solidFill>
            <a:srgbClr val="fff8e8"/>
          </a:solidFill>
          <a:ln w="12700">
            <a:solidFill>
              <a:srgbClr val="f4d2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f2a44"/>
                </a:solidFill>
                <a:latin typeface="Aptos"/>
                <a:ea typeface="Aptos"/>
              </a:rPr>
              <a:t>Critério forte: deve existir pelo menos um teste que falha se o comportamento principal for quebrado.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7" name="Text 306"/>
          <p:cNvSpPr/>
          <p:nvPr/>
        </p:nvSpPr>
        <p:spPr>
          <a:xfrm>
            <a:off x="3749040" y="4572000"/>
            <a:ext cx="4388760" cy="822600"/>
          </a:xfrm>
          <a:prstGeom prst="rect">
            <a:avLst/>
          </a:prstGeom>
          <a:solidFill>
            <a:srgbClr val="0b1730"/>
          </a:solidFill>
          <a:ln w="0">
            <a:solidFill>
              <a:srgbClr val="0b1730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npm ci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npm test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8fafc"/>
                </a:solidFill>
                <a:latin typeface="Cascadia Mono"/>
                <a:ea typeface="Cascadia Mono"/>
              </a:rPr>
              <a:t>npm run build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8" name="Shape 78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9" name="Text 307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Checklist de evidências do Encontro 3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0" name="Text 308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O que deve ficar claro para avaliação e continuidade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41" name="Image 26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242" name="Shape 79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3" name="Text 309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4" name="Text 310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25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5" name="Text 311"/>
          <p:cNvSpPr/>
          <p:nvPr/>
        </p:nvSpPr>
        <p:spPr>
          <a:xfrm>
            <a:off x="777240" y="1234440"/>
            <a:ext cx="297144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Repositório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6" name="Text 312"/>
          <p:cNvSpPr/>
          <p:nvPr/>
        </p:nvSpPr>
        <p:spPr>
          <a:xfrm>
            <a:off x="777240" y="1563480"/>
            <a:ext cx="2971440" cy="12708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workflow versionado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README com comandos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scripts definidos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dependências travadas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7" name="Text 313"/>
          <p:cNvSpPr/>
          <p:nvPr/>
        </p:nvSpPr>
        <p:spPr>
          <a:xfrm>
            <a:off x="4526280" y="1234440"/>
            <a:ext cx="2971440" cy="32868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Pipeline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8" name="Text 314"/>
          <p:cNvSpPr/>
          <p:nvPr/>
        </p:nvSpPr>
        <p:spPr>
          <a:xfrm>
            <a:off x="4526280" y="1563480"/>
            <a:ext cx="2971440" cy="12708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executa em PR/push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logs disponíveis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status verde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falha analisada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9" name="Text 341"/>
          <p:cNvSpPr/>
          <p:nvPr/>
        </p:nvSpPr>
        <p:spPr>
          <a:xfrm>
            <a:off x="8229600" y="1234440"/>
            <a:ext cx="2742840" cy="32868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Teste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0" name="Text 342"/>
          <p:cNvSpPr/>
          <p:nvPr/>
        </p:nvSpPr>
        <p:spPr>
          <a:xfrm>
            <a:off x="8229600" y="1563480"/>
            <a:ext cx="2742840" cy="12708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pelo menos um teste real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prova comportamento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não é trivial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roda no CI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1" name="Text 343"/>
          <p:cNvSpPr/>
          <p:nvPr/>
        </p:nvSpPr>
        <p:spPr>
          <a:xfrm>
            <a:off x="2560320" y="3749040"/>
            <a:ext cx="2971440" cy="32868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IA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2" name="Text 344"/>
          <p:cNvSpPr/>
          <p:nvPr/>
        </p:nvSpPr>
        <p:spPr>
          <a:xfrm>
            <a:off x="2560320" y="4078080"/>
            <a:ext cx="2971440" cy="9507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prompt sem segredo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hipótese registrada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decisão humana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validação por execução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3" name="Text 345"/>
          <p:cNvSpPr/>
          <p:nvPr/>
        </p:nvSpPr>
        <p:spPr>
          <a:xfrm>
            <a:off x="6492240" y="3749040"/>
            <a:ext cx="333720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Próximo encontro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4" name="Text 346"/>
          <p:cNvSpPr/>
          <p:nvPr/>
        </p:nvSpPr>
        <p:spPr>
          <a:xfrm>
            <a:off x="6492240" y="4078080"/>
            <a:ext cx="3337200" cy="95076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Levar porta, variáveis, dependências externas e pendências do CI para containerizar a aplicação.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5" name="Shape 80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3f6f8"/>
          </a:solidFill>
          <a:ln w="12700">
            <a:solidFill>
              <a:srgbClr val="f3f6f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6" name="Text 331"/>
          <p:cNvSpPr/>
          <p:nvPr/>
        </p:nvSpPr>
        <p:spPr>
          <a:xfrm>
            <a:off x="502920" y="255960"/>
            <a:ext cx="946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0f2a44"/>
                </a:solidFill>
                <a:latin typeface="Aptos Display"/>
                <a:ea typeface="Aptos Display"/>
              </a:rPr>
              <a:t>Depois do Encontro 3</a:t>
            </a:r>
            <a:endParaRPr b="0" lang="pt-BR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7" name="Text 332"/>
          <p:cNvSpPr/>
          <p:nvPr/>
        </p:nvSpPr>
        <p:spPr>
          <a:xfrm>
            <a:off x="511920" y="658440"/>
            <a:ext cx="8961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Aptos"/>
                <a:ea typeface="Aptos"/>
              </a:rPr>
              <a:t>A validação automatizada vira base para containers e Compose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58" name="Image 25" descr="/mnt/data/mod3_work/extract/ppt/media/image1.png"/>
          <p:cNvPicPr/>
          <p:nvPr/>
        </p:nvPicPr>
        <p:blipFill>
          <a:blip r:embed="rId1"/>
          <a:stretch/>
        </p:blipFill>
        <p:spPr>
          <a:xfrm>
            <a:off x="10131480" y="237600"/>
            <a:ext cx="932400" cy="264960"/>
          </a:xfrm>
          <a:prstGeom prst="rect">
            <a:avLst/>
          </a:prstGeom>
          <a:ln w="0">
            <a:noFill/>
          </a:ln>
        </p:spPr>
      </p:pic>
      <p:sp>
        <p:nvSpPr>
          <p:cNvPr id="2259" name="Shape 81"/>
          <p:cNvSpPr/>
          <p:nvPr/>
        </p:nvSpPr>
        <p:spPr>
          <a:xfrm>
            <a:off x="502920" y="950760"/>
            <a:ext cx="868680" cy="360"/>
          </a:xfrm>
          <a:prstGeom prst="line">
            <a:avLst/>
          </a:prstGeom>
          <a:ln w="31750">
            <a:solidFill>
              <a:srgbClr val="079e8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0" name="Text 333"/>
          <p:cNvSpPr/>
          <p:nvPr/>
        </p:nvSpPr>
        <p:spPr>
          <a:xfrm>
            <a:off x="502920" y="6565320"/>
            <a:ext cx="71323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580" spc="-1" strike="noStrike">
                <a:solidFill>
                  <a:srgbClr val="708090"/>
                </a:solidFill>
                <a:latin typeface="Aptos"/>
                <a:ea typeface="Aptos"/>
              </a:rPr>
              <a:t>PG2305-04-Z251 | Desenvolvimento de Software Integrado - DevOps | Turma 4 - Z251 | 2026.2</a:t>
            </a:r>
            <a:endParaRPr b="0" lang="pt-BR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1" name="Text 334"/>
          <p:cNvSpPr/>
          <p:nvPr/>
        </p:nvSpPr>
        <p:spPr>
          <a:xfrm>
            <a:off x="11174040" y="6546960"/>
            <a:ext cx="319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" spc="-1" strike="noStrike">
                <a:solidFill>
                  <a:srgbClr val="708090"/>
                </a:solidFill>
                <a:latin typeface="Aptos"/>
                <a:ea typeface="Aptos"/>
              </a:rPr>
              <a:t>26</a:t>
            </a:r>
            <a:endParaRPr b="0" lang="pt-BR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2" name="Text 335"/>
          <p:cNvSpPr/>
          <p:nvPr/>
        </p:nvSpPr>
        <p:spPr>
          <a:xfrm>
            <a:off x="777240" y="1417320"/>
            <a:ext cx="1234080" cy="50256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Aptos"/>
                <a:ea typeface="Aptos"/>
              </a:rPr>
              <a:t>Repo</a:t>
            </a:r>
            <a:endParaRPr b="0" lang="pt-B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3" name="Shape 93"/>
          <p:cNvSpPr/>
          <p:nvPr/>
        </p:nvSpPr>
        <p:spPr>
          <a:xfrm>
            <a:off x="2039040" y="1673280"/>
            <a:ext cx="42984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4" name="Text 336"/>
          <p:cNvSpPr/>
          <p:nvPr/>
        </p:nvSpPr>
        <p:spPr>
          <a:xfrm>
            <a:off x="2560320" y="1417320"/>
            <a:ext cx="1234080" cy="502560"/>
          </a:xfrm>
          <a:prstGeom prst="rect">
            <a:avLst/>
          </a:prstGeom>
          <a:solidFill>
            <a:srgbClr val="2e7d32"/>
          </a:solidFill>
          <a:ln w="0">
            <a:solidFill>
              <a:srgbClr val="2e7d3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Aptos"/>
                <a:ea typeface="Aptos"/>
              </a:rPr>
              <a:t>CI verde</a:t>
            </a:r>
            <a:endParaRPr b="0" lang="pt-B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5" name="Shape 94"/>
          <p:cNvSpPr/>
          <p:nvPr/>
        </p:nvSpPr>
        <p:spPr>
          <a:xfrm>
            <a:off x="3822120" y="1673280"/>
            <a:ext cx="42984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6" name="Text 337"/>
          <p:cNvSpPr/>
          <p:nvPr/>
        </p:nvSpPr>
        <p:spPr>
          <a:xfrm>
            <a:off x="4343400" y="1417320"/>
            <a:ext cx="1234080" cy="502560"/>
          </a:xfrm>
          <a:prstGeom prst="rect">
            <a:avLst/>
          </a:prstGeom>
          <a:solidFill>
            <a:srgbClr val="f08a22"/>
          </a:solidFill>
          <a:ln w="0">
            <a:solidFill>
              <a:srgbClr val="f08a22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Aptos"/>
                <a:ea typeface="Aptos"/>
              </a:rPr>
              <a:t>Build</a:t>
            </a:r>
            <a:endParaRPr b="0" lang="pt-B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7" name="Shape 95"/>
          <p:cNvSpPr/>
          <p:nvPr/>
        </p:nvSpPr>
        <p:spPr>
          <a:xfrm>
            <a:off x="5605200" y="1673280"/>
            <a:ext cx="42984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8" name="Text 338"/>
          <p:cNvSpPr/>
          <p:nvPr/>
        </p:nvSpPr>
        <p:spPr>
          <a:xfrm>
            <a:off x="6126480" y="1417320"/>
            <a:ext cx="1234080" cy="502560"/>
          </a:xfrm>
          <a:prstGeom prst="rect">
            <a:avLst/>
          </a:prstGeom>
          <a:solidFill>
            <a:srgbClr val="6c4fa3"/>
          </a:solidFill>
          <a:ln w="0">
            <a:solidFill>
              <a:srgbClr val="6c4fa3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Aptos"/>
                <a:ea typeface="Aptos"/>
              </a:rPr>
              <a:t>Dockerfile</a:t>
            </a:r>
            <a:endParaRPr b="0" lang="pt-B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9" name="Shape 96"/>
          <p:cNvSpPr/>
          <p:nvPr/>
        </p:nvSpPr>
        <p:spPr>
          <a:xfrm>
            <a:off x="7388280" y="1673280"/>
            <a:ext cx="42984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0" name="Text 339"/>
          <p:cNvSpPr/>
          <p:nvPr/>
        </p:nvSpPr>
        <p:spPr>
          <a:xfrm>
            <a:off x="7909560" y="1417320"/>
            <a:ext cx="1234080" cy="50256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Aptos"/>
                <a:ea typeface="Aptos"/>
              </a:rPr>
              <a:t>Compose</a:t>
            </a:r>
            <a:endParaRPr b="0" lang="pt-B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1" name="Shape 97"/>
          <p:cNvSpPr/>
          <p:nvPr/>
        </p:nvSpPr>
        <p:spPr>
          <a:xfrm>
            <a:off x="9171360" y="1673280"/>
            <a:ext cx="429840" cy="360"/>
          </a:xfrm>
          <a:prstGeom prst="line">
            <a:avLst/>
          </a:prstGeom>
          <a:ln w="22860">
            <a:solidFill>
              <a:srgbClr val="64748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2" name="Text 340"/>
          <p:cNvSpPr/>
          <p:nvPr/>
        </p:nvSpPr>
        <p:spPr>
          <a:xfrm>
            <a:off x="9692640" y="1417320"/>
            <a:ext cx="1234080" cy="502560"/>
          </a:xfrm>
          <a:prstGeom prst="rect">
            <a:avLst/>
          </a:prstGeom>
          <a:solidFill>
            <a:srgbClr val="c43c39"/>
          </a:solidFill>
          <a:ln w="0">
            <a:solidFill>
              <a:srgbClr val="c43c39"/>
            </a:solidFill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Aptos"/>
                <a:ea typeface="Aptos"/>
              </a:rPr>
              <a:t>Operação</a:t>
            </a:r>
            <a:endParaRPr b="0" lang="pt-BR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3" name="Text 356"/>
          <p:cNvSpPr/>
          <p:nvPr/>
        </p:nvSpPr>
        <p:spPr>
          <a:xfrm>
            <a:off x="868680" y="2743200"/>
            <a:ext cx="3748680" cy="328680"/>
          </a:xfrm>
          <a:prstGeom prst="rect">
            <a:avLst/>
          </a:prstGeom>
          <a:solidFill>
            <a:srgbClr val="2d6eaf"/>
          </a:solidFill>
          <a:ln w="0">
            <a:solidFill>
              <a:srgbClr val="2d6eaf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Tarefa para o Encontro 4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4" name="Text 357"/>
          <p:cNvSpPr/>
          <p:nvPr/>
        </p:nvSpPr>
        <p:spPr>
          <a:xfrm>
            <a:off x="868680" y="3072240"/>
            <a:ext cx="3748680" cy="14994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corrigir pendências do CI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documentar build/teste no README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confirmar porta da aplicação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listar variáveis obrigatórias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• </a:t>
            </a:r>
            <a:r>
              <a:rPr b="0" lang="en-US" sz="1100" spc="-1" strike="noStrike">
                <a:solidFill>
                  <a:srgbClr val="0f2a44"/>
                </a:solidFill>
                <a:latin typeface="Aptos"/>
                <a:ea typeface="Aptos"/>
              </a:rPr>
              <a:t>mapear dependências externas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5" name="Text 358"/>
          <p:cNvSpPr/>
          <p:nvPr/>
        </p:nvSpPr>
        <p:spPr>
          <a:xfrm>
            <a:off x="5669280" y="2743200"/>
            <a:ext cx="4571640" cy="328680"/>
          </a:xfrm>
          <a:prstGeom prst="rect">
            <a:avLst/>
          </a:prstGeom>
          <a:solidFill>
            <a:srgbClr val="079e8d"/>
          </a:solidFill>
          <a:ln w="0">
            <a:solidFill>
              <a:srgbClr val="079e8d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Aptos Display"/>
                <a:ea typeface="Aptos Display"/>
              </a:rPr>
              <a:t>Mensagem de fechamento</a:t>
            </a:r>
            <a:endParaRPr b="0" lang="pt-B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6" name="Text 359"/>
          <p:cNvSpPr/>
          <p:nvPr/>
        </p:nvSpPr>
        <p:spPr>
          <a:xfrm>
            <a:off x="5669280" y="3072240"/>
            <a:ext cx="4571640" cy="813600"/>
          </a:xfrm>
          <a:prstGeom prst="rect">
            <a:avLst/>
          </a:prstGeom>
          <a:solidFill>
            <a:srgbClr val="ffffff"/>
          </a:solidFill>
          <a:ln w="0">
            <a:solidFill>
              <a:srgbClr val="d6dee8"/>
            </a:solidFill>
          </a:ln>
          <a:effectLst>
            <a:outerShdw algn="bl" blurRad="15120" dir="2700000" dist="9673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f2a44"/>
                </a:solidFill>
                <a:latin typeface="Aptos"/>
                <a:ea typeface="Aptos"/>
              </a:rPr>
              <a:t>CI é o primeiro ambiente confiável fora da máquina do desenvolvedor. Containers levam essa reprodutibilidade para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7" name="Text 360"/>
          <p:cNvSpPr/>
          <p:nvPr/>
        </p:nvSpPr>
        <p:spPr>
          <a:xfrm>
            <a:off x="5669280" y="4343400"/>
            <a:ext cx="4571640" cy="502560"/>
          </a:xfrm>
          <a:prstGeom prst="rect">
            <a:avLst/>
          </a:prstGeom>
          <a:solidFill>
            <a:srgbClr val="e6f4ea"/>
          </a:solidFill>
          <a:ln w="12700">
            <a:solidFill>
              <a:srgbClr val="cfe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 fontScale="93333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f2a44"/>
                </a:solidFill>
                <a:latin typeface="Aptos"/>
                <a:ea typeface="Aptos"/>
              </a:rPr>
              <a:t>E3: execução automatizada → E4: execução reproduzível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8" name="TextBox 1"/>
          <p:cNvSpPr/>
          <p:nvPr/>
        </p:nvSpPr>
        <p:spPr>
          <a:xfrm>
            <a:off x="777240" y="228600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4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9" name="TextBox 2"/>
          <p:cNvSpPr/>
          <p:nvPr/>
        </p:nvSpPr>
        <p:spPr>
          <a:xfrm>
            <a:off x="1920240" y="3090600"/>
            <a:ext cx="83188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24/09/2026 | Containers, integração e troubleshooting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0" name="TextBox 3"/>
          <p:cNvSpPr/>
          <p:nvPr/>
        </p:nvSpPr>
        <p:spPr>
          <a:xfrm>
            <a:off x="5532120" y="6263640"/>
            <a:ext cx="1186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93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81" name="Picture 4" descr="e4_contain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7960" cy="957960"/>
          </a:xfrm>
          <a:prstGeom prst="rect">
            <a:avLst/>
          </a:prstGeom>
          <a:ln w="0">
            <a:noFill/>
          </a:ln>
        </p:spPr>
      </p:pic>
      <p:pic>
        <p:nvPicPr>
          <p:cNvPr id="2282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4 - Containers e Compose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4" name="TextBox 2"/>
          <p:cNvSpPr/>
          <p:nvPr/>
        </p:nvSpPr>
        <p:spPr>
          <a:xfrm>
            <a:off x="621720" y="841320"/>
            <a:ext cx="9873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Ambiente reproduzível para desenvolvimento, validação e diagnóstico assistido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5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6" name="Rounded Rectangle 4"/>
          <p:cNvSpPr/>
          <p:nvPr/>
        </p:nvSpPr>
        <p:spPr>
          <a:xfrm>
            <a:off x="685800" y="1417320"/>
            <a:ext cx="3426840" cy="205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7" name="Rectangle 5"/>
          <p:cNvSpPr/>
          <p:nvPr/>
        </p:nvSpPr>
        <p:spPr>
          <a:xfrm>
            <a:off x="685800" y="1417320"/>
            <a:ext cx="70920" cy="2055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8" name="TextBox 6"/>
          <p:cNvSpPr/>
          <p:nvPr/>
        </p:nvSpPr>
        <p:spPr>
          <a:xfrm>
            <a:off x="85032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Dockerfile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9" name="TextBox 7"/>
          <p:cNvSpPr/>
          <p:nvPr/>
        </p:nvSpPr>
        <p:spPr>
          <a:xfrm>
            <a:off x="850320" y="1920240"/>
            <a:ext cx="3134160" cy="14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mínima 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Camadas e cache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de ambiente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Execução local previsível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para explicar erros de build sem expor segredos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0" name="Rounded Rectangle 8"/>
          <p:cNvSpPr/>
          <p:nvPr/>
        </p:nvSpPr>
        <p:spPr>
          <a:xfrm>
            <a:off x="4389120" y="1417320"/>
            <a:ext cx="3426840" cy="205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1" name="Rectangle 9"/>
          <p:cNvSpPr/>
          <p:nvPr/>
        </p:nvSpPr>
        <p:spPr>
          <a:xfrm>
            <a:off x="4389120" y="1417320"/>
            <a:ext cx="70920" cy="2055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2" name="TextBox 10"/>
          <p:cNvSpPr/>
          <p:nvPr/>
        </p:nvSpPr>
        <p:spPr>
          <a:xfrm>
            <a:off x="455364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3" name="TextBox 11"/>
          <p:cNvSpPr/>
          <p:nvPr/>
        </p:nvSpPr>
        <p:spPr>
          <a:xfrm>
            <a:off x="4553640" y="1920240"/>
            <a:ext cx="3134160" cy="14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Serviços, redes e volumes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Banco e dependências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de serviços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4" name="Rounded Rectangle 12"/>
          <p:cNvSpPr/>
          <p:nvPr/>
        </p:nvSpPr>
        <p:spPr>
          <a:xfrm>
            <a:off x="8092440" y="1417320"/>
            <a:ext cx="3426840" cy="205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5" name="Rectangle 13"/>
          <p:cNvSpPr/>
          <p:nvPr/>
        </p:nvSpPr>
        <p:spPr>
          <a:xfrm>
            <a:off x="8092440" y="1417320"/>
            <a:ext cx="70920" cy="20552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6" name="TextBox 14"/>
          <p:cNvSpPr/>
          <p:nvPr/>
        </p:nvSpPr>
        <p:spPr>
          <a:xfrm>
            <a:off x="825696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7" name="TextBox 15"/>
          <p:cNvSpPr/>
          <p:nvPr/>
        </p:nvSpPr>
        <p:spPr>
          <a:xfrm>
            <a:off x="8256960" y="1920240"/>
            <a:ext cx="3134160" cy="14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aplicação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stack local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Validar integração API + banco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para diagnosticar falha de container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comandos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8" name="Rounded Rectangle 16"/>
          <p:cNvSpPr/>
          <p:nvPr/>
        </p:nvSpPr>
        <p:spPr>
          <a:xfrm>
            <a:off x="685800" y="3977640"/>
            <a:ext cx="10833480" cy="1049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9" name="Rectangle 17"/>
          <p:cNvSpPr/>
          <p:nvPr/>
        </p:nvSpPr>
        <p:spPr>
          <a:xfrm>
            <a:off x="685800" y="3977640"/>
            <a:ext cx="70920" cy="10494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0" name="TextBox 18"/>
          <p:cNvSpPr/>
          <p:nvPr/>
        </p:nvSpPr>
        <p:spPr>
          <a:xfrm>
            <a:off x="850320" y="4105800"/>
            <a:ext cx="1054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1" name="TextBox 19"/>
          <p:cNvSpPr/>
          <p:nvPr/>
        </p:nvSpPr>
        <p:spPr>
          <a:xfrm>
            <a:off x="850320" y="4480560"/>
            <a:ext cx="1054080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executável por comando padronizado, com instruções, evidências de execução e correções explicadas.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2" name="TextBox 20"/>
          <p:cNvSpPr/>
          <p:nvPr/>
        </p:nvSpPr>
        <p:spPr>
          <a:xfrm>
            <a:off x="1298520" y="6446520"/>
            <a:ext cx="5877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3" name="TextBox 21"/>
          <p:cNvSpPr/>
          <p:nvPr/>
        </p:nvSpPr>
        <p:spPr>
          <a:xfrm>
            <a:off x="11201400" y="6446520"/>
            <a:ext cx="5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04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2305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6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Containers Explicados Sem Excesso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7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essencial para operar e diagnosticar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8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310" name="Rounded Rectangle 5"/>
          <p:cNvSpPr/>
          <p:nvPr/>
        </p:nvSpPr>
        <p:spPr>
          <a:xfrm>
            <a:off x="68580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1" name="Rectangle 6"/>
          <p:cNvSpPr/>
          <p:nvPr/>
        </p:nvSpPr>
        <p:spPr>
          <a:xfrm>
            <a:off x="685800" y="1508760"/>
            <a:ext cx="70920" cy="2073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2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3" name="TextBox 8"/>
          <p:cNvSpPr/>
          <p:nvPr/>
        </p:nvSpPr>
        <p:spPr>
          <a:xfrm>
            <a:off x="85032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Pacote versionável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Criada por Dockerfile.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ser reproduzível, pequena e sem segredos.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4" name="Rounded Rectangle 9"/>
          <p:cNvSpPr/>
          <p:nvPr/>
        </p:nvSpPr>
        <p:spPr>
          <a:xfrm>
            <a:off x="438912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5" name="Rectangle 10"/>
          <p:cNvSpPr/>
          <p:nvPr/>
        </p:nvSpPr>
        <p:spPr>
          <a:xfrm>
            <a:off x="4389120" y="1508760"/>
            <a:ext cx="70920" cy="2073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6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7" name="TextBox 12"/>
          <p:cNvSpPr/>
          <p:nvPr/>
        </p:nvSpPr>
        <p:spPr>
          <a:xfrm>
            <a:off x="455364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Processo isolado criado a partir da imagem.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 logs, portas, variáveis e ciclo de 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 morrer: por isso health check e logs importam.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8" name="Rounded Rectangle 13"/>
          <p:cNvSpPr/>
          <p:nvPr/>
        </p:nvSpPr>
        <p:spPr>
          <a:xfrm>
            <a:off x="809244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9" name="Rectangle 14"/>
          <p:cNvSpPr/>
          <p:nvPr/>
        </p:nvSpPr>
        <p:spPr>
          <a:xfrm>
            <a:off x="8092440" y="1508760"/>
            <a:ext cx="70920" cy="2073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0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1" name="TextBox 16"/>
          <p:cNvSpPr/>
          <p:nvPr/>
        </p:nvSpPr>
        <p:spPr>
          <a:xfrm>
            <a:off x="825696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Orquestra múltiplos serviços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 API, banco, rede e volumes.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Ótimo para laboratório e validação integrada.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2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323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4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5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Containers?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6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que containers resolvem de verdade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7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2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329" name="Rounded Rectangle 5"/>
          <p:cNvSpPr/>
          <p:nvPr/>
        </p:nvSpPr>
        <p:spPr>
          <a:xfrm>
            <a:off x="685800" y="1508760"/>
            <a:ext cx="3426840" cy="159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0" name="Rectangle 6"/>
          <p:cNvSpPr/>
          <p:nvPr/>
        </p:nvSpPr>
        <p:spPr>
          <a:xfrm>
            <a:off x="685800" y="1508760"/>
            <a:ext cx="70920" cy="1598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1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problema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2" name="TextBox 8"/>
          <p:cNvSpPr/>
          <p:nvPr/>
        </p:nvSpPr>
        <p:spPr>
          <a:xfrm>
            <a:off x="850320" y="1993320"/>
            <a:ext cx="313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Diferenças de SO, versão de linguagem e dependências geram bugs que só aparecem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3" name="Rounded Rectangle 9"/>
          <p:cNvSpPr/>
          <p:nvPr/>
        </p:nvSpPr>
        <p:spPr>
          <a:xfrm>
            <a:off x="4389120" y="1508760"/>
            <a:ext cx="3426840" cy="159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4" name="Rectangle 10"/>
          <p:cNvSpPr/>
          <p:nvPr/>
        </p:nvSpPr>
        <p:spPr>
          <a:xfrm>
            <a:off x="4389120" y="1508760"/>
            <a:ext cx="70920" cy="1598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5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VM vs 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6" name="TextBox 12"/>
          <p:cNvSpPr/>
          <p:nvPr/>
        </p:nvSpPr>
        <p:spPr>
          <a:xfrm>
            <a:off x="455364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VM virtualiza o hardware inteiro: pesada, minutos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 compartilha o kernel do host: leve, segundos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7" name="Rounded Rectangle 13"/>
          <p:cNvSpPr/>
          <p:nvPr/>
        </p:nvSpPr>
        <p:spPr>
          <a:xfrm>
            <a:off x="8092440" y="1508760"/>
            <a:ext cx="3426840" cy="159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8" name="Rectangle 14"/>
          <p:cNvSpPr/>
          <p:nvPr/>
        </p:nvSpPr>
        <p:spPr>
          <a:xfrm>
            <a:off x="8092440" y="1508760"/>
            <a:ext cx="70920" cy="1598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9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o container garante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0" name="TextBox 16"/>
          <p:cNvSpPr/>
          <p:nvPr/>
        </p:nvSpPr>
        <p:spPr>
          <a:xfrm>
            <a:off x="825696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mesmo ambiente do laptop do dev até 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Elimina uma classe inteira de bugs “ambiente-dependentes”.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4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342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3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Dockerfile - Roteiro de Explicação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5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como base e adapte para a stack escolhida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6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4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348" name="Rounded Rectangle 5"/>
          <p:cNvSpPr/>
          <p:nvPr/>
        </p:nvSpPr>
        <p:spPr>
          <a:xfrm>
            <a:off x="731520" y="1481400"/>
            <a:ext cx="5347080" cy="42040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9" name="TextBox 6"/>
          <p:cNvSpPr/>
          <p:nvPr/>
        </p:nvSpPr>
        <p:spPr>
          <a:xfrm>
            <a:off x="896040" y="1609200"/>
            <a:ext cx="501804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FROM node:22-alpine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WORKDIR 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package*.json ./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RUN npm ci --omit=dev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.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 NODE_ENV=production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EXPOSE 3000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CMD ["npm", "start"]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0" name="Rounded Rectangle 7"/>
          <p:cNvSpPr/>
          <p:nvPr/>
        </p:nvSpPr>
        <p:spPr>
          <a:xfrm>
            <a:off x="6355080" y="1481400"/>
            <a:ext cx="4981320" cy="132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1" name="Rectangle 8"/>
          <p:cNvSpPr/>
          <p:nvPr/>
        </p:nvSpPr>
        <p:spPr>
          <a:xfrm>
            <a:off x="6355080" y="1481400"/>
            <a:ext cx="70920" cy="1326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2" name="TextBox 9"/>
          <p:cNvSpPr/>
          <p:nvPr/>
        </p:nvSpPr>
        <p:spPr>
          <a:xfrm>
            <a:off x="6519600" y="1609200"/>
            <a:ext cx="46886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 que comentar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3" name="TextBox 10"/>
          <p:cNvSpPr/>
          <p:nvPr/>
        </p:nvSpPr>
        <p:spPr>
          <a:xfrm>
            <a:off x="6519600" y="1965960"/>
            <a:ext cx="468864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image, diretório de trabalho, cópia de dependências, cache, variáveis, porta e comando final.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4" name="Rounded Rectangle 11"/>
          <p:cNvSpPr/>
          <p:nvPr/>
        </p:nvSpPr>
        <p:spPr>
          <a:xfrm>
            <a:off x="6355080" y="2919960"/>
            <a:ext cx="4981320" cy="132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5" name="Rectangle 12"/>
          <p:cNvSpPr/>
          <p:nvPr/>
        </p:nvSpPr>
        <p:spPr>
          <a:xfrm>
            <a:off x="6355080" y="2919960"/>
            <a:ext cx="70920" cy="13266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6" name="TextBox 13"/>
          <p:cNvSpPr/>
          <p:nvPr/>
        </p:nvSpPr>
        <p:spPr>
          <a:xfrm>
            <a:off x="6519600" y="3048120"/>
            <a:ext cx="46886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Cuidados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7" name="TextBox 14"/>
          <p:cNvSpPr/>
          <p:nvPr/>
        </p:nvSpPr>
        <p:spPr>
          <a:xfrm>
            <a:off x="6519600" y="3404520"/>
            <a:ext cx="468864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Não copiar .env, node_modules, chaves ou arquivos desnecessários.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Usar .dockerignore e imagem base adequada.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8" name="Rounded Rectangle 15"/>
          <p:cNvSpPr/>
          <p:nvPr/>
        </p:nvSpPr>
        <p:spPr>
          <a:xfrm>
            <a:off x="6355080" y="4358520"/>
            <a:ext cx="4981320" cy="132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9" name="Rectangle 16"/>
          <p:cNvSpPr/>
          <p:nvPr/>
        </p:nvSpPr>
        <p:spPr>
          <a:xfrm>
            <a:off x="6355080" y="4358520"/>
            <a:ext cx="70920" cy="1326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0" name="TextBox 17"/>
          <p:cNvSpPr/>
          <p:nvPr/>
        </p:nvSpPr>
        <p:spPr>
          <a:xfrm>
            <a:off x="6519600" y="4486680"/>
            <a:ext cx="46886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1" name="TextBox 18"/>
          <p:cNvSpPr/>
          <p:nvPr/>
        </p:nvSpPr>
        <p:spPr>
          <a:xfrm>
            <a:off x="6519600" y="4843440"/>
            <a:ext cx="468864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build deve funcionar do zero.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run deve expor porta e responder endpoint simples.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62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363" name="TextBox 20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4" name="TextBox 21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Boas Práticas de Dockerfile: Camadas e Cache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6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Imagens mais rápidas de construir e mais leves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7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6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369" name="Rounded Rectangle 5"/>
          <p:cNvSpPr/>
          <p:nvPr/>
        </p:nvSpPr>
        <p:spPr>
          <a:xfrm>
            <a:off x="68580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0" name="Rectangle 6"/>
          <p:cNvSpPr/>
          <p:nvPr/>
        </p:nvSpPr>
        <p:spPr>
          <a:xfrm>
            <a:off x="685800" y="1508760"/>
            <a:ext cx="70920" cy="2073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1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Como o cache funciona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2" name="TextBox 8"/>
          <p:cNvSpPr/>
          <p:nvPr/>
        </p:nvSpPr>
        <p:spPr>
          <a:xfrm>
            <a:off x="85032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instrução vira uma camada.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reaproveita camadas que não mudaram.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 isso: copiar package.json antes de copiar todo 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3" name="Rounded Rectangle 9"/>
          <p:cNvSpPr/>
          <p:nvPr/>
        </p:nvSpPr>
        <p:spPr>
          <a:xfrm>
            <a:off x="438912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4" name="Rectangle 10"/>
          <p:cNvSpPr/>
          <p:nvPr/>
        </p:nvSpPr>
        <p:spPr>
          <a:xfrm>
            <a:off x="4389120" y="1508760"/>
            <a:ext cx="70920" cy="2073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5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Multi-stage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6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etapa compila 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Outra etapa final só carrega o artefato pronto.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final menor, sem ferramentas de build sobrando.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7" name="Rounded Rectangle 13"/>
          <p:cNvSpPr/>
          <p:nvPr/>
        </p:nvSpPr>
        <p:spPr>
          <a:xfrm>
            <a:off x="809244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8" name="Rectangle 14"/>
          <p:cNvSpPr/>
          <p:nvPr/>
        </p:nvSpPr>
        <p:spPr>
          <a:xfrm>
            <a:off x="8092440" y="1508760"/>
            <a:ext cx="70920" cy="2073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9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Escolha de imagem base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0" name="TextBox 16"/>
          <p:cNvSpPr/>
          <p:nvPr/>
        </p:nvSpPr>
        <p:spPr>
          <a:xfrm>
            <a:off x="825696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alpine: mínima, pode faltar biblioteca do sistema.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slim: equilíbrio entre tamanho e compatibilidade.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full: mais compatível, porém mais pesada.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8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382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3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4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Compose - Roteiro de Laboratório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5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Padronizar execução local com serviços integrados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6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8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388" name="Rounded Rectangle 5"/>
          <p:cNvSpPr/>
          <p:nvPr/>
        </p:nvSpPr>
        <p:spPr>
          <a:xfrm>
            <a:off x="731520" y="1481400"/>
            <a:ext cx="5347080" cy="42040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9" name="TextBox 6"/>
          <p:cNvSpPr/>
          <p:nvPr/>
        </p:nvSpPr>
        <p:spPr>
          <a:xfrm>
            <a:off x="896040" y="1609200"/>
            <a:ext cx="501804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services: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app: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build: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"3000:3000"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DATABASE_URL: postgres://app:app@db:5432/app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depends_on: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condition: service_healthy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image: postgres:16-alpine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POSTGRES_USER: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POSTGRES_PASSWORD: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POSTGRES_DB: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healthcheck: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test: ["CMD-SHELL", "pg_isready -U app"]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interval: 5s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retries: 5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0" name="Rounded Rectangle 7"/>
          <p:cNvSpPr/>
          <p:nvPr/>
        </p:nvSpPr>
        <p:spPr>
          <a:xfrm>
            <a:off x="6355080" y="1481400"/>
            <a:ext cx="4981320" cy="132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1" name="Rectangle 8"/>
          <p:cNvSpPr/>
          <p:nvPr/>
        </p:nvSpPr>
        <p:spPr>
          <a:xfrm>
            <a:off x="6355080" y="1481400"/>
            <a:ext cx="70920" cy="1326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2" name="TextBox 9"/>
          <p:cNvSpPr/>
          <p:nvPr/>
        </p:nvSpPr>
        <p:spPr>
          <a:xfrm>
            <a:off x="6519600" y="1609200"/>
            <a:ext cx="46886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explicar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3" name="TextBox 10"/>
          <p:cNvSpPr/>
          <p:nvPr/>
        </p:nvSpPr>
        <p:spPr>
          <a:xfrm>
            <a:off x="6519600" y="1965960"/>
            <a:ext cx="468864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Cada serviço tem imagem/build, portas, variáveis e dependências.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nome do serviço vira hostname na rede do Compose.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4" name="Rounded Rectangle 11"/>
          <p:cNvSpPr/>
          <p:nvPr/>
        </p:nvSpPr>
        <p:spPr>
          <a:xfrm>
            <a:off x="6355080" y="2919960"/>
            <a:ext cx="4981320" cy="132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5" name="Rectangle 12"/>
          <p:cNvSpPr/>
          <p:nvPr/>
        </p:nvSpPr>
        <p:spPr>
          <a:xfrm>
            <a:off x="6355080" y="2919960"/>
            <a:ext cx="70920" cy="1326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6" name="TextBox 13"/>
          <p:cNvSpPr/>
          <p:nvPr/>
        </p:nvSpPr>
        <p:spPr>
          <a:xfrm>
            <a:off x="6519600" y="3048120"/>
            <a:ext cx="46886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Comandos em sala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7" name="TextBox 14"/>
          <p:cNvSpPr/>
          <p:nvPr/>
        </p:nvSpPr>
        <p:spPr>
          <a:xfrm>
            <a:off x="6519600" y="3404520"/>
            <a:ext cx="468864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up --build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logs -f app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down -v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8" name="Rounded Rectangle 15"/>
          <p:cNvSpPr/>
          <p:nvPr/>
        </p:nvSpPr>
        <p:spPr>
          <a:xfrm>
            <a:off x="6355080" y="4358520"/>
            <a:ext cx="4981320" cy="132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9" name="Rectangle 16"/>
          <p:cNvSpPr/>
          <p:nvPr/>
        </p:nvSpPr>
        <p:spPr>
          <a:xfrm>
            <a:off x="6355080" y="4358520"/>
            <a:ext cx="70920" cy="13266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0" name="TextBox 17"/>
          <p:cNvSpPr/>
          <p:nvPr/>
        </p:nvSpPr>
        <p:spPr>
          <a:xfrm>
            <a:off x="6519600" y="4486680"/>
            <a:ext cx="46886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Evidência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1" name="TextBox 18"/>
          <p:cNvSpPr/>
          <p:nvPr/>
        </p:nvSpPr>
        <p:spPr>
          <a:xfrm>
            <a:off x="6519600" y="4843440"/>
            <a:ext cx="468864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Print/log da aplicação subindo.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Endpoint funcionando.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README com comando único de execução.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02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403" name="TextBox 20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4" name="TextBox 21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5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Redes e Volumes no Docker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6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Dois conceitos que resolvem a maioria das dúvidas de Compose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7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0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409" name="Rounded Rectangle 5"/>
          <p:cNvSpPr/>
          <p:nvPr/>
        </p:nvSpPr>
        <p:spPr>
          <a:xfrm>
            <a:off x="68580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0" name="Rectangle 6"/>
          <p:cNvSpPr/>
          <p:nvPr/>
        </p:nvSpPr>
        <p:spPr>
          <a:xfrm>
            <a:off x="685800" y="1508760"/>
            <a:ext cx="70920" cy="1835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1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2" name="TextBox 8"/>
          <p:cNvSpPr/>
          <p:nvPr/>
        </p:nvSpPr>
        <p:spPr>
          <a:xfrm>
            <a:off x="85032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 no mesmo Compose se enxergam pelo nome do serviço, como hostname.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Portas expostas ligam o container ao host.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3" name="Rounded Rectangle 9"/>
          <p:cNvSpPr/>
          <p:nvPr/>
        </p:nvSpPr>
        <p:spPr>
          <a:xfrm>
            <a:off x="438912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4" name="Rectangle 10"/>
          <p:cNvSpPr/>
          <p:nvPr/>
        </p:nvSpPr>
        <p:spPr>
          <a:xfrm>
            <a:off x="4389120" y="1508760"/>
            <a:ext cx="70920" cy="1835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5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Volumes nomeados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6" name="TextBox 12"/>
          <p:cNvSpPr/>
          <p:nvPr/>
        </p:nvSpPr>
        <p:spPr>
          <a:xfrm>
            <a:off x="455364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Dados sobrevivem à recriação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Essencial para banco de dados e qualquer estado persistente.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7" name="Rounded Rectangle 13"/>
          <p:cNvSpPr/>
          <p:nvPr/>
        </p:nvSpPr>
        <p:spPr>
          <a:xfrm>
            <a:off x="809244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8" name="Rectangle 14"/>
          <p:cNvSpPr/>
          <p:nvPr/>
        </p:nvSpPr>
        <p:spPr>
          <a:xfrm>
            <a:off x="8092440" y="1508760"/>
            <a:ext cx="70920" cy="1835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9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Bind mounts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0" name="TextBox 16"/>
          <p:cNvSpPr/>
          <p:nvPr/>
        </p:nvSpPr>
        <p:spPr>
          <a:xfrm>
            <a:off x="825696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Mapeiam uma pasta do host para dentro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Úteis em desenvolvimento para hot-reload de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2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422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3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4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Troubleshooting de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5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Uma ordem para não perder tempo reescrevendo código à toa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6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2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428" name="Rounded Rectangle 5"/>
          <p:cNvSpPr/>
          <p:nvPr/>
        </p:nvSpPr>
        <p:spPr>
          <a:xfrm>
            <a:off x="68580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9" name="Rectangle 6"/>
          <p:cNvSpPr/>
          <p:nvPr/>
        </p:nvSpPr>
        <p:spPr>
          <a:xfrm>
            <a:off x="685800" y="1508760"/>
            <a:ext cx="70920" cy="23112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0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Comandos de investigação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1" name="TextBox 8"/>
          <p:cNvSpPr/>
          <p:nvPr/>
        </p:nvSpPr>
        <p:spPr>
          <a:xfrm>
            <a:off x="850320" y="1993320"/>
            <a:ext cx="3134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ps — o que está rodando?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logs &lt;id&gt; — o que o processo disse?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exec -it &lt;id&gt; sh — inspecionar por dentro.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inspect &lt;id&gt; — configuração completa.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2" name="Rounded Rectangle 9"/>
          <p:cNvSpPr/>
          <p:nvPr/>
        </p:nvSpPr>
        <p:spPr>
          <a:xfrm>
            <a:off x="438912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3" name="Rectangle 10"/>
          <p:cNvSpPr/>
          <p:nvPr/>
        </p:nvSpPr>
        <p:spPr>
          <a:xfrm>
            <a:off x="4389120" y="1508760"/>
            <a:ext cx="70920" cy="23112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4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Falhas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5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 não exposta ou não mapeada.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Variável de ambiente faltando.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(banco) ainda não está pronta.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de arquivo incorreta.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6" name="Rounded Rectangle 13"/>
          <p:cNvSpPr/>
          <p:nvPr/>
        </p:nvSpPr>
        <p:spPr>
          <a:xfrm>
            <a:off x="8092440" y="1508760"/>
            <a:ext cx="342684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7" name="Rectangle 14"/>
          <p:cNvSpPr/>
          <p:nvPr/>
        </p:nvSpPr>
        <p:spPr>
          <a:xfrm>
            <a:off x="8092440" y="1508760"/>
            <a:ext cx="70920" cy="23112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8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Ordem de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9" name="TextBox 16"/>
          <p:cNvSpPr/>
          <p:nvPr/>
        </p:nvSpPr>
        <p:spPr>
          <a:xfrm>
            <a:off x="825696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container subiu? Os logs mostram erro? A variável está correta? A dependência está saudável?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Siga essa ordem antes de reescrever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4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441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2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3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4 -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4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Sair do “funciona na minha máquina” com evidência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5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4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447" name="Rounded Rectangle 5"/>
          <p:cNvSpPr/>
          <p:nvPr/>
        </p:nvSpPr>
        <p:spPr>
          <a:xfrm>
            <a:off x="68580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8" name="Rectangle 6"/>
          <p:cNvSpPr/>
          <p:nvPr/>
        </p:nvSpPr>
        <p:spPr>
          <a:xfrm>
            <a:off x="685800" y="1508760"/>
            <a:ext cx="70920" cy="2549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9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0" name="TextBox 8"/>
          <p:cNvSpPr/>
          <p:nvPr/>
        </p:nvSpPr>
        <p:spPr>
          <a:xfrm>
            <a:off x="850320" y="1993320"/>
            <a:ext cx="31341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aplicação sobe com um único comando, a partir de um clone limpo?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variável de ambiente é obrigatória?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diagnosticou a primeira falha de container?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a IA sugeriu que precisou ser corrigido?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1" name="Rounded Rectangle 9"/>
          <p:cNvSpPr/>
          <p:nvPr/>
        </p:nvSpPr>
        <p:spPr>
          <a:xfrm>
            <a:off x="438912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2" name="Rectangle 10"/>
          <p:cNvSpPr/>
          <p:nvPr/>
        </p:nvSpPr>
        <p:spPr>
          <a:xfrm>
            <a:off x="4389120" y="1508760"/>
            <a:ext cx="70920" cy="25491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3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4" name="TextBox 12"/>
          <p:cNvSpPr/>
          <p:nvPr/>
        </p:nvSpPr>
        <p:spPr>
          <a:xfrm>
            <a:off x="4553640" y="1993320"/>
            <a:ext cx="31341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 versionados.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respondendo após docker compose up.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 ou log da stack subindo com sucesso.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falha de container diagnosticada e resolvida.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5" name="Rounded Rectangle 13"/>
          <p:cNvSpPr/>
          <p:nvPr/>
        </p:nvSpPr>
        <p:spPr>
          <a:xfrm>
            <a:off x="809244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6" name="Rectangle 14"/>
          <p:cNvSpPr/>
          <p:nvPr/>
        </p:nvSpPr>
        <p:spPr>
          <a:xfrm>
            <a:off x="8092440" y="1508760"/>
            <a:ext cx="70920" cy="25491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7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8" name="TextBox 16"/>
          <p:cNvSpPr/>
          <p:nvPr/>
        </p:nvSpPr>
        <p:spPr>
          <a:xfrm>
            <a:off x="8256960" y="1993320"/>
            <a:ext cx="313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Dockerfile, compose.yaml e README atualizados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 de execução anexada.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9" name="Rounded Rectangle 17"/>
          <p:cNvSpPr/>
          <p:nvPr/>
        </p:nvSpPr>
        <p:spPr>
          <a:xfrm>
            <a:off x="685800" y="4224600"/>
            <a:ext cx="10833480" cy="1186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0" name="Rectangle 18"/>
          <p:cNvSpPr/>
          <p:nvPr/>
        </p:nvSpPr>
        <p:spPr>
          <a:xfrm>
            <a:off x="685800" y="4224600"/>
            <a:ext cx="70920" cy="11865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1" name="TextBox 19"/>
          <p:cNvSpPr/>
          <p:nvPr/>
        </p:nvSpPr>
        <p:spPr>
          <a:xfrm>
            <a:off x="850320" y="4352400"/>
            <a:ext cx="1054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2" name="TextBox 20"/>
          <p:cNvSpPr/>
          <p:nvPr/>
        </p:nvSpPr>
        <p:spPr>
          <a:xfrm>
            <a:off x="850320" y="4709160"/>
            <a:ext cx="10540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Compõe os 20% de Containers/Compose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63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464" name="TextBox 22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5" name="TextBox 23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7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IA para diagnosticar, não para colar segredos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8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6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pic>
        <p:nvPicPr>
          <p:cNvPr id="2470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0320" cy="400320"/>
          </a:xfrm>
          <a:prstGeom prst="rect">
            <a:avLst/>
          </a:prstGeom>
          <a:ln w="0">
            <a:noFill/>
          </a:ln>
        </p:spPr>
      </p:pic>
      <p:sp>
        <p:nvSpPr>
          <p:cNvPr id="2471" name="Rounded Rectangle 6"/>
          <p:cNvSpPr/>
          <p:nvPr/>
        </p:nvSpPr>
        <p:spPr>
          <a:xfrm>
            <a:off x="685800" y="1508760"/>
            <a:ext cx="3426840" cy="17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2" name="Rectangle 7"/>
          <p:cNvSpPr/>
          <p:nvPr/>
        </p:nvSpPr>
        <p:spPr>
          <a:xfrm>
            <a:off x="685800" y="1508760"/>
            <a:ext cx="70920" cy="17352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3" name="TextBox 8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 de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4" name="TextBox 9"/>
          <p:cNvSpPr/>
          <p:nvPr/>
        </p:nvSpPr>
        <p:spPr>
          <a:xfrm>
            <a:off x="850320" y="1993320"/>
            <a:ext cx="31341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Este build Docker falhou. Liste causas prováveis e comandos para validar antes de alterar o Dockerfile.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Dockerfile: &lt;trecho&gt;. Log: &lt;trecho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5" name="Rounded Rectangle 10"/>
          <p:cNvSpPr/>
          <p:nvPr/>
        </p:nvSpPr>
        <p:spPr>
          <a:xfrm>
            <a:off x="4389120" y="1508760"/>
            <a:ext cx="3426840" cy="17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6" name="Rectangle 11"/>
          <p:cNvSpPr/>
          <p:nvPr/>
        </p:nvSpPr>
        <p:spPr>
          <a:xfrm>
            <a:off x="4389120" y="1508760"/>
            <a:ext cx="70920" cy="17352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7" name="TextBox 12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8" name="TextBox 13"/>
          <p:cNvSpPr/>
          <p:nvPr/>
        </p:nvSpPr>
        <p:spPr>
          <a:xfrm>
            <a:off x="4553640" y="1993320"/>
            <a:ext cx="31341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este compose.yaml e aponte problemas de rede, portas, variáveis, depends_on, volumes e health checks.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Arquivo: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9" name="Rounded Rectangle 14"/>
          <p:cNvSpPr/>
          <p:nvPr/>
        </p:nvSpPr>
        <p:spPr>
          <a:xfrm>
            <a:off x="8092440" y="1508760"/>
            <a:ext cx="3426840" cy="17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0" name="Rectangle 15"/>
          <p:cNvSpPr/>
          <p:nvPr/>
        </p:nvSpPr>
        <p:spPr>
          <a:xfrm>
            <a:off x="8092440" y="1508760"/>
            <a:ext cx="70920" cy="17352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1" name="TextBox 16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README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2" name="TextBox 17"/>
          <p:cNvSpPr/>
          <p:nvPr/>
        </p:nvSpPr>
        <p:spPr>
          <a:xfrm>
            <a:off x="8256960" y="1993320"/>
            <a:ext cx="31341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Gere instruções curtas para executar este projeto com Docker Compose: pré-requisitos, comando de subida, teste de saúde e limpeza.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Contexto: &lt;stack&gt;.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83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484" name="TextBox 19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5" name="TextBox 20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6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4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7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5: CD e governança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8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8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490" name="Rounded Rectangle 5"/>
          <p:cNvSpPr/>
          <p:nvPr/>
        </p:nvSpPr>
        <p:spPr>
          <a:xfrm>
            <a:off x="685800" y="1508760"/>
            <a:ext cx="10833480" cy="136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1" name="Rectangle 6"/>
          <p:cNvSpPr/>
          <p:nvPr/>
        </p:nvSpPr>
        <p:spPr>
          <a:xfrm>
            <a:off x="685800" y="1508760"/>
            <a:ext cx="70920" cy="1360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2" name="TextBox 7"/>
          <p:cNvSpPr/>
          <p:nvPr/>
        </p:nvSpPr>
        <p:spPr>
          <a:xfrm>
            <a:off x="850320" y="1636920"/>
            <a:ext cx="1054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3" name="TextBox 8"/>
          <p:cNvSpPr/>
          <p:nvPr/>
        </p:nvSpPr>
        <p:spPr>
          <a:xfrm>
            <a:off x="850320" y="1993320"/>
            <a:ext cx="10540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Integrar build de imagem ao pipeline, se possível.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uma versão candidata para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5: critérios de promoção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94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495" name="TextBox 10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6" name="TextBox 11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7" name="TextBox 1"/>
          <p:cNvSpPr/>
          <p:nvPr/>
        </p:nvSpPr>
        <p:spPr>
          <a:xfrm>
            <a:off x="777240" y="228600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5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8" name="TextBox 2"/>
          <p:cNvSpPr/>
          <p:nvPr/>
        </p:nvSpPr>
        <p:spPr>
          <a:xfrm>
            <a:off x="1936080" y="3090600"/>
            <a:ext cx="688320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25/09/2026 | CD, configuração, segurança e governança de IA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9" name="TextBox 3"/>
          <p:cNvSpPr/>
          <p:nvPr/>
        </p:nvSpPr>
        <p:spPr>
          <a:xfrm>
            <a:off x="5532120" y="6263640"/>
            <a:ext cx="1186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105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00" name="Picture 4" descr="e5_shield.png"/>
          <p:cNvPicPr/>
          <p:nvPr/>
        </p:nvPicPr>
        <p:blipFill>
          <a:blip r:embed="rId1"/>
          <a:stretch/>
        </p:blipFill>
        <p:spPr>
          <a:xfrm>
            <a:off x="5615640" y="914400"/>
            <a:ext cx="957960" cy="957960"/>
          </a:xfrm>
          <a:prstGeom prst="rect">
            <a:avLst/>
          </a:prstGeom>
          <a:ln w="0">
            <a:noFill/>
          </a:ln>
        </p:spPr>
      </p:pic>
      <p:pic>
        <p:nvPicPr>
          <p:cNvPr id="2501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2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5 - Entrega e Governança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3" name="TextBox 2"/>
          <p:cNvSpPr/>
          <p:nvPr/>
        </p:nvSpPr>
        <p:spPr>
          <a:xfrm>
            <a:off x="621720" y="841320"/>
            <a:ext cx="9873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Automação com controle, segurança, rollback e governança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4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5" name="Rounded Rectangle 4"/>
          <p:cNvSpPr/>
          <p:nvPr/>
        </p:nvSpPr>
        <p:spPr>
          <a:xfrm>
            <a:off x="685800" y="1417320"/>
            <a:ext cx="3426840" cy="214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6" name="Rectangle 5"/>
          <p:cNvSpPr/>
          <p:nvPr/>
        </p:nvSpPr>
        <p:spPr>
          <a:xfrm>
            <a:off x="685800" y="1417320"/>
            <a:ext cx="70920" cy="21466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7" name="TextBox 6"/>
          <p:cNvSpPr/>
          <p:nvPr/>
        </p:nvSpPr>
        <p:spPr>
          <a:xfrm>
            <a:off x="85032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8" name="TextBox 7"/>
          <p:cNvSpPr/>
          <p:nvPr/>
        </p:nvSpPr>
        <p:spPr>
          <a:xfrm>
            <a:off x="850320" y="1920240"/>
            <a:ext cx="313416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Promoção de artefatos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Ambientes e aprovações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e feature flags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9" name="Rounded Rectangle 8"/>
          <p:cNvSpPr/>
          <p:nvPr/>
        </p:nvSpPr>
        <p:spPr>
          <a:xfrm>
            <a:off x="4389120" y="1417320"/>
            <a:ext cx="3426840" cy="214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0" name="Rectangle 9"/>
          <p:cNvSpPr/>
          <p:nvPr/>
        </p:nvSpPr>
        <p:spPr>
          <a:xfrm>
            <a:off x="4389120" y="1417320"/>
            <a:ext cx="70920" cy="21466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1" name="TextBox 10"/>
          <p:cNvSpPr/>
          <p:nvPr/>
        </p:nvSpPr>
        <p:spPr>
          <a:xfrm>
            <a:off x="455364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Configuração e IaC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2" name="TextBox 11"/>
          <p:cNvSpPr/>
          <p:nvPr/>
        </p:nvSpPr>
        <p:spPr>
          <a:xfrm>
            <a:off x="4553640" y="1920240"/>
            <a:ext cx="313416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Configuração declarativa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Noções de IaC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 como evolução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Padronização e rastreabilidade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3" name="Rounded Rectangle 12"/>
          <p:cNvSpPr/>
          <p:nvPr/>
        </p:nvSpPr>
        <p:spPr>
          <a:xfrm>
            <a:off x="8092440" y="1417320"/>
            <a:ext cx="3426840" cy="214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4" name="Rectangle 13"/>
          <p:cNvSpPr/>
          <p:nvPr/>
        </p:nvSpPr>
        <p:spPr>
          <a:xfrm>
            <a:off x="8092440" y="1417320"/>
            <a:ext cx="70920" cy="214668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5" name="TextBox 14"/>
          <p:cNvSpPr/>
          <p:nvPr/>
        </p:nvSpPr>
        <p:spPr>
          <a:xfrm>
            <a:off x="825696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Segurança e IA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6" name="TextBox 15"/>
          <p:cNvSpPr/>
          <p:nvPr/>
        </p:nvSpPr>
        <p:spPr>
          <a:xfrm>
            <a:off x="8256960" y="1920240"/>
            <a:ext cx="313416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Segredos fora do código e dos prompts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Permissões mínimas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Scan de dependências/imagens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Gates de segurança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Validar alucinação, vazamento e prompt injection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7" name="Rounded Rectangle 16"/>
          <p:cNvSpPr/>
          <p:nvPr/>
        </p:nvSpPr>
        <p:spPr>
          <a:xfrm>
            <a:off x="685800" y="4069080"/>
            <a:ext cx="10833480" cy="912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8" name="Rectangle 17"/>
          <p:cNvSpPr/>
          <p:nvPr/>
        </p:nvSpPr>
        <p:spPr>
          <a:xfrm>
            <a:off x="685800" y="4069080"/>
            <a:ext cx="70920" cy="912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9" name="TextBox 18"/>
          <p:cNvSpPr/>
          <p:nvPr/>
        </p:nvSpPr>
        <p:spPr>
          <a:xfrm>
            <a:off x="850320" y="4197240"/>
            <a:ext cx="1054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0" name="TextBox 19"/>
          <p:cNvSpPr/>
          <p:nvPr/>
        </p:nvSpPr>
        <p:spPr>
          <a:xfrm>
            <a:off x="850320" y="4572000"/>
            <a:ext cx="105408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release com critérios de promoção, rollback, segurança mínima, rastreabilidade e regras de uso responsável de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1" name="TextBox 20"/>
          <p:cNvSpPr/>
          <p:nvPr/>
        </p:nvSpPr>
        <p:spPr>
          <a:xfrm>
            <a:off x="1298520" y="6446520"/>
            <a:ext cx="5877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2" name="TextBox 21"/>
          <p:cNvSpPr/>
          <p:nvPr/>
        </p:nvSpPr>
        <p:spPr>
          <a:xfrm>
            <a:off x="11201400" y="6446520"/>
            <a:ext cx="5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23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2524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5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CD na Prática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6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foco é controlar a mudança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7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52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529" name="Rounded Rectangle 5"/>
          <p:cNvSpPr/>
          <p:nvPr/>
        </p:nvSpPr>
        <p:spPr>
          <a:xfrm>
            <a:off x="68580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0" name="Rectangle 6"/>
          <p:cNvSpPr/>
          <p:nvPr/>
        </p:nvSpPr>
        <p:spPr>
          <a:xfrm>
            <a:off x="685800" y="1508760"/>
            <a:ext cx="70920" cy="1835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1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2" name="TextBox 8"/>
          <p:cNvSpPr/>
          <p:nvPr/>
        </p:nvSpPr>
        <p:spPr>
          <a:xfrm>
            <a:off x="85032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 gerado no CI é promovido.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recebe versão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explicam mudança e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3" name="Rounded Rectangle 9"/>
          <p:cNvSpPr/>
          <p:nvPr/>
        </p:nvSpPr>
        <p:spPr>
          <a:xfrm>
            <a:off x="438912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4" name="Rectangle 10"/>
          <p:cNvSpPr/>
          <p:nvPr/>
        </p:nvSpPr>
        <p:spPr>
          <a:xfrm>
            <a:off x="4389120" y="1508760"/>
            <a:ext cx="70920" cy="1835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5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6" name="TextBox 12"/>
          <p:cNvSpPr/>
          <p:nvPr/>
        </p:nvSpPr>
        <p:spPr>
          <a:xfrm>
            <a:off x="455364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Aprovação quando houver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e segredos fora do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Permissões mínimas no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7" name="Rounded Rectangle 13"/>
          <p:cNvSpPr/>
          <p:nvPr/>
        </p:nvSpPr>
        <p:spPr>
          <a:xfrm>
            <a:off x="809244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8" name="Rectangle 14"/>
          <p:cNvSpPr/>
          <p:nvPr/>
        </p:nvSpPr>
        <p:spPr>
          <a:xfrm>
            <a:off x="8092440" y="1508760"/>
            <a:ext cx="70920" cy="1835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9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Rollback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0" name="TextBox 16"/>
          <p:cNvSpPr/>
          <p:nvPr/>
        </p:nvSpPr>
        <p:spPr>
          <a:xfrm>
            <a:off x="825696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Voltar para versão anterior.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Reverter feature flag.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Restaurar configuração conhecida.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Ter plano documentado antes do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4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542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3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Estratégias de Deploy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5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Comparar abordagens antes de escolher uma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6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54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548" name="Rounded Rectangle 5"/>
          <p:cNvSpPr/>
          <p:nvPr/>
        </p:nvSpPr>
        <p:spPr>
          <a:xfrm>
            <a:off x="685800" y="1600200"/>
            <a:ext cx="3426840" cy="2329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9" name="Rectangle 6"/>
          <p:cNvSpPr/>
          <p:nvPr/>
        </p:nvSpPr>
        <p:spPr>
          <a:xfrm>
            <a:off x="685800" y="1600200"/>
            <a:ext cx="70920" cy="23295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0" name="TextBox 7"/>
          <p:cNvSpPr/>
          <p:nvPr/>
        </p:nvSpPr>
        <p:spPr>
          <a:xfrm>
            <a:off x="850320" y="172836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Rolling deploy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1" name="Rounded Rectangle 8"/>
          <p:cNvSpPr/>
          <p:nvPr/>
        </p:nvSpPr>
        <p:spPr>
          <a:xfrm>
            <a:off x="85032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2" name="Rounded Rectangle 9"/>
          <p:cNvSpPr/>
          <p:nvPr/>
        </p:nvSpPr>
        <p:spPr>
          <a:xfrm>
            <a:off x="121608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3" name="Rounded Rectangle 10"/>
          <p:cNvSpPr/>
          <p:nvPr/>
        </p:nvSpPr>
        <p:spPr>
          <a:xfrm>
            <a:off x="158184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4" name="Rounded Rectangle 11"/>
          <p:cNvSpPr/>
          <p:nvPr/>
        </p:nvSpPr>
        <p:spPr>
          <a:xfrm>
            <a:off x="194760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5" name="TextBox 12"/>
          <p:cNvSpPr/>
          <p:nvPr/>
        </p:nvSpPr>
        <p:spPr>
          <a:xfrm>
            <a:off x="850320" y="2560320"/>
            <a:ext cx="31341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Substitui instâncias antigas pelas novas aos poucos.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Simples, mas o rollback não é instantâneo.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6" name="Rounded Rectangle 13"/>
          <p:cNvSpPr/>
          <p:nvPr/>
        </p:nvSpPr>
        <p:spPr>
          <a:xfrm>
            <a:off x="4389120" y="1600200"/>
            <a:ext cx="3426840" cy="2329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7" name="Rectangle 14"/>
          <p:cNvSpPr/>
          <p:nvPr/>
        </p:nvSpPr>
        <p:spPr>
          <a:xfrm>
            <a:off x="4389120" y="1600200"/>
            <a:ext cx="70920" cy="23295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8" name="TextBox 15"/>
          <p:cNvSpPr/>
          <p:nvPr/>
        </p:nvSpPr>
        <p:spPr>
          <a:xfrm>
            <a:off x="4553640" y="172836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Blue-green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9" name="Rounded Rectangle 16"/>
          <p:cNvSpPr/>
          <p:nvPr/>
        </p:nvSpPr>
        <p:spPr>
          <a:xfrm>
            <a:off x="455364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0" name="Rounded Rectangle 17"/>
          <p:cNvSpPr/>
          <p:nvPr/>
        </p:nvSpPr>
        <p:spPr>
          <a:xfrm>
            <a:off x="491940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1" name="Rounded Rectangle 18"/>
          <p:cNvSpPr/>
          <p:nvPr/>
        </p:nvSpPr>
        <p:spPr>
          <a:xfrm>
            <a:off x="528516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2" name="Rounded Rectangle 19"/>
          <p:cNvSpPr/>
          <p:nvPr/>
        </p:nvSpPr>
        <p:spPr>
          <a:xfrm>
            <a:off x="565092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3" name="TextBox 20"/>
          <p:cNvSpPr/>
          <p:nvPr/>
        </p:nvSpPr>
        <p:spPr>
          <a:xfrm>
            <a:off x="4553640" y="2560320"/>
            <a:ext cx="3134160" cy="77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Duas versões completas rodando; a troca de tráfego é instantânea.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Rollback rápido, porém custa recursos em dobro.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4" name="Rounded Rectangle 21"/>
          <p:cNvSpPr/>
          <p:nvPr/>
        </p:nvSpPr>
        <p:spPr>
          <a:xfrm>
            <a:off x="8092440" y="1600200"/>
            <a:ext cx="3426840" cy="2329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5" name="Rectangle 22"/>
          <p:cNvSpPr/>
          <p:nvPr/>
        </p:nvSpPr>
        <p:spPr>
          <a:xfrm>
            <a:off x="8092440" y="1600200"/>
            <a:ext cx="70920" cy="23295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6" name="TextBox 23"/>
          <p:cNvSpPr/>
          <p:nvPr/>
        </p:nvSpPr>
        <p:spPr>
          <a:xfrm>
            <a:off x="8256960" y="172836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Canary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7" name="Rounded Rectangle 24"/>
          <p:cNvSpPr/>
          <p:nvPr/>
        </p:nvSpPr>
        <p:spPr>
          <a:xfrm>
            <a:off x="825696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8" name="Rounded Rectangle 25"/>
          <p:cNvSpPr/>
          <p:nvPr/>
        </p:nvSpPr>
        <p:spPr>
          <a:xfrm>
            <a:off x="862272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9" name="Rounded Rectangle 26"/>
          <p:cNvSpPr/>
          <p:nvPr/>
        </p:nvSpPr>
        <p:spPr>
          <a:xfrm>
            <a:off x="898848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0" name="Rounded Rectangle 27"/>
          <p:cNvSpPr/>
          <p:nvPr/>
        </p:nvSpPr>
        <p:spPr>
          <a:xfrm>
            <a:off x="9354240" y="2103120"/>
            <a:ext cx="290520" cy="2905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1" name="TextBox 28"/>
          <p:cNvSpPr/>
          <p:nvPr/>
        </p:nvSpPr>
        <p:spPr>
          <a:xfrm>
            <a:off x="8256960" y="2560320"/>
            <a:ext cx="313416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Libera para uma fatia pequena de usuários primeiro.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Expande se as métricas estiverem saudáveis — risco pequeno em caso de erro.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2" name="Rounded Rectangle 29"/>
          <p:cNvSpPr/>
          <p:nvPr/>
        </p:nvSpPr>
        <p:spPr>
          <a:xfrm>
            <a:off x="685800" y="4160520"/>
            <a:ext cx="253800" cy="253800"/>
          </a:xfrm>
          <a:prstGeom prst="roundRect">
            <a:avLst>
              <a:gd name="adj" fmla="val 16667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3" name="TextBox 30"/>
          <p:cNvSpPr/>
          <p:nvPr/>
        </p:nvSpPr>
        <p:spPr>
          <a:xfrm>
            <a:off x="1005840" y="4142160"/>
            <a:ext cx="20095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antiga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4" name="Rounded Rectangle 31"/>
          <p:cNvSpPr/>
          <p:nvPr/>
        </p:nvSpPr>
        <p:spPr>
          <a:xfrm>
            <a:off x="2743200" y="4160520"/>
            <a:ext cx="253800" cy="25380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5" name="TextBox 32"/>
          <p:cNvSpPr/>
          <p:nvPr/>
        </p:nvSpPr>
        <p:spPr>
          <a:xfrm>
            <a:off x="3063240" y="4142160"/>
            <a:ext cx="20095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nova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76" name="Picture 3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577" name="TextBox 34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8" name="TextBox 35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9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Feature Flags: Separando Deploy de Release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0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Colocar código em produção não é o mesmo que ativá-lo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1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58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583" name="Rounded Rectangle 5"/>
          <p:cNvSpPr/>
          <p:nvPr/>
        </p:nvSpPr>
        <p:spPr>
          <a:xfrm>
            <a:off x="68580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4" name="Rectangle 6"/>
          <p:cNvSpPr/>
          <p:nvPr/>
        </p:nvSpPr>
        <p:spPr>
          <a:xfrm>
            <a:off x="685800" y="1508760"/>
            <a:ext cx="70920" cy="2073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5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conceito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6" name="TextBox 8"/>
          <p:cNvSpPr/>
          <p:nvPr/>
        </p:nvSpPr>
        <p:spPr>
          <a:xfrm>
            <a:off x="850320" y="1993320"/>
            <a:ext cx="313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Deployar o código não significa ativar a funcionalidade para todo mundo.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flag decide quem vê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7" name="Rounded Rectangle 9"/>
          <p:cNvSpPr/>
          <p:nvPr/>
        </p:nvSpPr>
        <p:spPr>
          <a:xfrm>
            <a:off x="438912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8" name="Rectangle 10"/>
          <p:cNvSpPr/>
          <p:nvPr/>
        </p:nvSpPr>
        <p:spPr>
          <a:xfrm>
            <a:off x="4389120" y="1508760"/>
            <a:ext cx="70920" cy="2073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9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Usos práticos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0" name="TextBox 12"/>
          <p:cNvSpPr/>
          <p:nvPr/>
        </p:nvSpPr>
        <p:spPr>
          <a:xfrm>
            <a:off x="455364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Lançamento gradual para grupos de usuários.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 A/B entre variações.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Desligar rapidamente uma funcionalidade com bug, sem reverter o deploy inteiro.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1" name="Rounded Rectangle 13"/>
          <p:cNvSpPr/>
          <p:nvPr/>
        </p:nvSpPr>
        <p:spPr>
          <a:xfrm>
            <a:off x="809244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2" name="Rectangle 14"/>
          <p:cNvSpPr/>
          <p:nvPr/>
        </p:nvSpPr>
        <p:spPr>
          <a:xfrm>
            <a:off x="8092440" y="1508760"/>
            <a:ext cx="70920" cy="20736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3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Cuidado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4" name="TextBox 16"/>
          <p:cNvSpPr/>
          <p:nvPr/>
        </p:nvSpPr>
        <p:spPr>
          <a:xfrm>
            <a:off x="8256960" y="1993320"/>
            <a:ext cx="313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Flags esquecidas viram dívida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flag precisa ter dono e prazo previsto de remoção.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9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596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7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8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Configuração, Segredos e IaC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9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Conceitos que sustentam a prática de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0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60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602" name="Rounded Rectangle 5"/>
          <p:cNvSpPr/>
          <p:nvPr/>
        </p:nvSpPr>
        <p:spPr>
          <a:xfrm>
            <a:off x="68580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3" name="Rectangle 6"/>
          <p:cNvSpPr/>
          <p:nvPr/>
        </p:nvSpPr>
        <p:spPr>
          <a:xfrm>
            <a:off x="685800" y="1508760"/>
            <a:ext cx="70920" cy="1835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4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Configuração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5" name="TextBox 8"/>
          <p:cNvSpPr/>
          <p:nvPr/>
        </p:nvSpPr>
        <p:spPr>
          <a:xfrm>
            <a:off x="85032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Valores que mudam por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Exemplos: URL, porta, modo debug, timeout.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deve exigir alteração de código para trocar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6" name="Rounded Rectangle 9"/>
          <p:cNvSpPr/>
          <p:nvPr/>
        </p:nvSpPr>
        <p:spPr>
          <a:xfrm>
            <a:off x="438912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7" name="Rectangle 10"/>
          <p:cNvSpPr/>
          <p:nvPr/>
        </p:nvSpPr>
        <p:spPr>
          <a:xfrm>
            <a:off x="4389120" y="1508760"/>
            <a:ext cx="70920" cy="1835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8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Segredos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9" name="TextBox 12"/>
          <p:cNvSpPr/>
          <p:nvPr/>
        </p:nvSpPr>
        <p:spPr>
          <a:xfrm>
            <a:off x="455364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Senha, token, chave privada, connection string sensível.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Nunca versionar ou colar em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secrets do provedor de CI/CD.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0" name="Rounded Rectangle 13"/>
          <p:cNvSpPr/>
          <p:nvPr/>
        </p:nvSpPr>
        <p:spPr>
          <a:xfrm>
            <a:off x="809244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11" name="Rectangle 14"/>
          <p:cNvSpPr/>
          <p:nvPr/>
        </p:nvSpPr>
        <p:spPr>
          <a:xfrm>
            <a:off x="8092440" y="1508760"/>
            <a:ext cx="70920" cy="1835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12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IaC/GitOps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3" name="TextBox 16"/>
          <p:cNvSpPr/>
          <p:nvPr/>
        </p:nvSpPr>
        <p:spPr>
          <a:xfrm>
            <a:off x="825696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Infra declarada em arquivo e revisada por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GitOps: estado desejado versionado.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Entra como noção e evolução, não como laboratório obrigatório.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1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615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6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7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DevSecOps Mínimo para 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8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Gates simples que cabem no projeto integrador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9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62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621" name="Rounded Rectangle 5"/>
          <p:cNvSpPr/>
          <p:nvPr/>
        </p:nvSpPr>
        <p:spPr>
          <a:xfrm>
            <a:off x="68580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2" name="Rectangle 6"/>
          <p:cNvSpPr/>
          <p:nvPr/>
        </p:nvSpPr>
        <p:spPr>
          <a:xfrm>
            <a:off x="685800" y="1508760"/>
            <a:ext cx="70920" cy="1835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3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Código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4" name="TextBox 8"/>
          <p:cNvSpPr/>
          <p:nvPr/>
        </p:nvSpPr>
        <p:spPr>
          <a:xfrm>
            <a:off x="85032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Lint/análise estática.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mínimos em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de entrada de usuário e tratamento de erro.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5" name="Rounded Rectangle 9"/>
          <p:cNvSpPr/>
          <p:nvPr/>
        </p:nvSpPr>
        <p:spPr>
          <a:xfrm>
            <a:off x="438912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6" name="Rectangle 10"/>
          <p:cNvSpPr/>
          <p:nvPr/>
        </p:nvSpPr>
        <p:spPr>
          <a:xfrm>
            <a:off x="4389120" y="1508760"/>
            <a:ext cx="70920" cy="1835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7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Dependências/imagem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8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Checar pacotes vulneráveis.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imagem desatualizada ou grande demais.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rodar container com privilégio desnecessário.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9" name="Rounded Rectangle 13"/>
          <p:cNvSpPr/>
          <p:nvPr/>
        </p:nvSpPr>
        <p:spPr>
          <a:xfrm>
            <a:off x="809244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0" name="Rectangle 14"/>
          <p:cNvSpPr/>
          <p:nvPr/>
        </p:nvSpPr>
        <p:spPr>
          <a:xfrm>
            <a:off x="8092440" y="1508760"/>
            <a:ext cx="70920" cy="1835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1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2" name="TextBox 16"/>
          <p:cNvSpPr/>
          <p:nvPr/>
        </p:nvSpPr>
        <p:spPr>
          <a:xfrm>
            <a:off x="825696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Segredos mascarados.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mínima do token.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de segurança deve bloquear ou justificar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634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5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6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Correção de Vulnerabilidades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7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De "encontrado" para "corrigido" — automaticamente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8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63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640" name="Rounded Rectangle 5"/>
          <p:cNvSpPr/>
          <p:nvPr/>
        </p:nvSpPr>
        <p:spPr>
          <a:xfrm>
            <a:off x="68580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1" name="Rectangle 6"/>
          <p:cNvSpPr/>
          <p:nvPr/>
        </p:nvSpPr>
        <p:spPr>
          <a:xfrm>
            <a:off x="685800" y="1508760"/>
            <a:ext cx="70920" cy="2073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2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GitHub Copilot Autofix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3" name="TextBox 8"/>
          <p:cNvSpPr/>
          <p:nvPr/>
        </p:nvSpPr>
        <p:spPr>
          <a:xfrm>
            <a:off x="85032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 CodeQL + LLM; cobre 90%+ dos tipos de alerta em JS/TS/Java/Python.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Resolve 2/3 das vulnerabilidades com pouca edição — 3x mais rápido que manual.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4" name="Rounded Rectangle 9"/>
          <p:cNvSpPr/>
          <p:nvPr/>
        </p:nvSpPr>
        <p:spPr>
          <a:xfrm>
            <a:off x="438912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5" name="Rectangle 10"/>
          <p:cNvSpPr/>
          <p:nvPr/>
        </p:nvSpPr>
        <p:spPr>
          <a:xfrm>
            <a:off x="4389120" y="1508760"/>
            <a:ext cx="70920" cy="2073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6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Snyk Agent 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7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Arquitetura agêntica (2026), usa base de 35 mil correções de especialistas como contexto.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 a correção falhar no re-scan, o erro volta pro modelo tentar de novo.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8" name="Rounded Rectangle 13"/>
          <p:cNvSpPr/>
          <p:nvPr/>
        </p:nvSpPr>
        <p:spPr>
          <a:xfrm>
            <a:off x="809244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9" name="Rectangle 14"/>
          <p:cNvSpPr/>
          <p:nvPr/>
        </p:nvSpPr>
        <p:spPr>
          <a:xfrm>
            <a:off x="8092440" y="1508760"/>
            <a:ext cx="70920" cy="20736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0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1" name="TextBox 16"/>
          <p:cNvSpPr/>
          <p:nvPr/>
        </p:nvSpPr>
        <p:spPr>
          <a:xfrm>
            <a:off x="825696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prioriza por risco e exploitabilidade, não só severidade.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Aceitar o fix ainda exige revisão humana e re-execução de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5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653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4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5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Governança de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6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Regras que entram na avaliação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7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65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659" name="Rounded Rectangle 5"/>
          <p:cNvSpPr/>
          <p:nvPr/>
        </p:nvSpPr>
        <p:spPr>
          <a:xfrm>
            <a:off x="685800" y="1508760"/>
            <a:ext cx="527868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0" name="Rectangle 6"/>
          <p:cNvSpPr/>
          <p:nvPr/>
        </p:nvSpPr>
        <p:spPr>
          <a:xfrm>
            <a:off x="685800" y="1508760"/>
            <a:ext cx="70920" cy="23112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1" name="TextBox 7"/>
          <p:cNvSpPr/>
          <p:nvPr/>
        </p:nvSpPr>
        <p:spPr>
          <a:xfrm>
            <a:off x="850320" y="1636920"/>
            <a:ext cx="4986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a tratar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2" name="TextBox 8"/>
          <p:cNvSpPr/>
          <p:nvPr/>
        </p:nvSpPr>
        <p:spPr>
          <a:xfrm>
            <a:off x="850320" y="1993320"/>
            <a:ext cx="49860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segredos em prompts.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Código inseguro gerado com confiança excessiva.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Prompt injection em contexto de logs, issues ou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não saber defender o que foi entregue.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3" name="Rounded Rectangle 9"/>
          <p:cNvSpPr/>
          <p:nvPr/>
        </p:nvSpPr>
        <p:spPr>
          <a:xfrm>
            <a:off x="6240960" y="1508760"/>
            <a:ext cx="5278680" cy="23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4" name="Rectangle 10"/>
          <p:cNvSpPr/>
          <p:nvPr/>
        </p:nvSpPr>
        <p:spPr>
          <a:xfrm>
            <a:off x="6240960" y="1508760"/>
            <a:ext cx="70920" cy="23112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5" name="TextBox 11"/>
          <p:cNvSpPr/>
          <p:nvPr/>
        </p:nvSpPr>
        <p:spPr>
          <a:xfrm>
            <a:off x="6405480" y="1636920"/>
            <a:ext cx="4986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Controles esperados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6" name="TextBox 12"/>
          <p:cNvSpPr/>
          <p:nvPr/>
        </p:nvSpPr>
        <p:spPr>
          <a:xfrm>
            <a:off x="6405480" y="1993320"/>
            <a:ext cx="49860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Mascarar dados sensíveis antes de usar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hipóteses e validações, não só resposta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testes, build e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Manter diff pequeno e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prompt, saída útil, decisão e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67" name="Picture 1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668" name="TextBox 14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9" name="TextBox 15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0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Agentes Autônomos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1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 fronteira mais recente do uso de IA — e por que a validação humana continua obrigatória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2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67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674" name="Rounded Rectangle 5"/>
          <p:cNvSpPr/>
          <p:nvPr/>
        </p:nvSpPr>
        <p:spPr>
          <a:xfrm>
            <a:off x="68580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5" name="Rectangle 6"/>
          <p:cNvSpPr/>
          <p:nvPr/>
        </p:nvSpPr>
        <p:spPr>
          <a:xfrm>
            <a:off x="685800" y="1508760"/>
            <a:ext cx="70920" cy="2073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6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já existe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7" name="TextBox 8"/>
          <p:cNvSpPr/>
          <p:nvPr/>
        </p:nvSpPr>
        <p:spPr>
          <a:xfrm>
            <a:off x="85032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Recebem uma issue, analisam o repositório, escrevem código, rodam teste e scan de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Trabalham em background, de forma assíncrona, sem intervenção durante a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8" name="Rounded Rectangle 9"/>
          <p:cNvSpPr/>
          <p:nvPr/>
        </p:nvSpPr>
        <p:spPr>
          <a:xfrm>
            <a:off x="438912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9" name="Rectangle 10"/>
          <p:cNvSpPr/>
          <p:nvPr/>
        </p:nvSpPr>
        <p:spPr>
          <a:xfrm>
            <a:off x="4389120" y="1508760"/>
            <a:ext cx="70920" cy="2073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0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Onde já é realidade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1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GitHub Copilot coding agent (GA) e agentes equivalentes de outros provedores.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Integrados a VS Code, JetBrains, Visual Studio e outros editores.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2" name="Rounded Rectangle 13"/>
          <p:cNvSpPr/>
          <p:nvPr/>
        </p:nvSpPr>
        <p:spPr>
          <a:xfrm>
            <a:off x="809244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3" name="Rectangle 14"/>
          <p:cNvSpPr/>
          <p:nvPr/>
        </p:nvSpPr>
        <p:spPr>
          <a:xfrm>
            <a:off x="8092440" y="1508760"/>
            <a:ext cx="70920" cy="20736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4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limite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5" name="TextBox 16"/>
          <p:cNvSpPr/>
          <p:nvPr/>
        </p:nvSpPr>
        <p:spPr>
          <a:xfrm>
            <a:off x="825696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Mesmo o agente mais autônomo para no Pull Request — não faz merge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Quanto mais autônoma a IA, mais crítica fica a revisão humana antes da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8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687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8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9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5 - Release e Rollback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0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Controlar a mudança, não só publicá-la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1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69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693" name="Rounded Rectangle 5"/>
          <p:cNvSpPr/>
          <p:nvPr/>
        </p:nvSpPr>
        <p:spPr>
          <a:xfrm>
            <a:off x="68580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4" name="Rectangle 6"/>
          <p:cNvSpPr/>
          <p:nvPr/>
        </p:nvSpPr>
        <p:spPr>
          <a:xfrm>
            <a:off x="685800" y="1508760"/>
            <a:ext cx="70920" cy="2549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5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6" name="TextBox 8"/>
          <p:cNvSpPr/>
          <p:nvPr/>
        </p:nvSpPr>
        <p:spPr>
          <a:xfrm>
            <a:off x="850320" y="1993320"/>
            <a:ext cx="31341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precisa ser verdade para promover esta versão?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seria o primeiro sinal de que algo deu errado?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voltaria para a versão anterior em produção?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segredo não pode aparecer em log ou prompt?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7" name="Rounded Rectangle 9"/>
          <p:cNvSpPr/>
          <p:nvPr/>
        </p:nvSpPr>
        <p:spPr>
          <a:xfrm>
            <a:off x="438912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8" name="Rectangle 10"/>
          <p:cNvSpPr/>
          <p:nvPr/>
        </p:nvSpPr>
        <p:spPr>
          <a:xfrm>
            <a:off x="4389120" y="1508760"/>
            <a:ext cx="70920" cy="25491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9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0" name="TextBox 12"/>
          <p:cNvSpPr/>
          <p:nvPr/>
        </p:nvSpPr>
        <p:spPr>
          <a:xfrm>
            <a:off x="455364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preenchidas com o modelo fornecido.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rollback documentado.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básica revisado.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 em decisão de entrega, quando houver.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1" name="Rounded Rectangle 13"/>
          <p:cNvSpPr/>
          <p:nvPr/>
        </p:nvSpPr>
        <p:spPr>
          <a:xfrm>
            <a:off x="809244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2" name="Rectangle 14"/>
          <p:cNvSpPr/>
          <p:nvPr/>
        </p:nvSpPr>
        <p:spPr>
          <a:xfrm>
            <a:off x="8092440" y="1508760"/>
            <a:ext cx="70920" cy="25491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3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4" name="TextBox 16"/>
          <p:cNvSpPr/>
          <p:nvPr/>
        </p:nvSpPr>
        <p:spPr>
          <a:xfrm>
            <a:off x="8256960" y="1993320"/>
            <a:ext cx="313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 plano de rollback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preenchido.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5" name="Rounded Rectangle 17"/>
          <p:cNvSpPr/>
          <p:nvPr/>
        </p:nvSpPr>
        <p:spPr>
          <a:xfrm>
            <a:off x="685800" y="4224600"/>
            <a:ext cx="10833480" cy="1186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6" name="Rectangle 18"/>
          <p:cNvSpPr/>
          <p:nvPr/>
        </p:nvSpPr>
        <p:spPr>
          <a:xfrm>
            <a:off x="685800" y="4224600"/>
            <a:ext cx="70920" cy="11865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7" name="TextBox 19"/>
          <p:cNvSpPr/>
          <p:nvPr/>
        </p:nvSpPr>
        <p:spPr>
          <a:xfrm>
            <a:off x="850320" y="4352400"/>
            <a:ext cx="1054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8" name="TextBox 20"/>
          <p:cNvSpPr/>
          <p:nvPr/>
        </p:nvSpPr>
        <p:spPr>
          <a:xfrm>
            <a:off x="850320" y="4709160"/>
            <a:ext cx="10540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Alimenta os 15% de Entrega e Operação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09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710" name="TextBox 22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1" name="TextBox 23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Release Notes e Rollback - Modelo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3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Artefato simples para o Encontro 5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4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1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716" name="Rounded Rectangle 5"/>
          <p:cNvSpPr/>
          <p:nvPr/>
        </p:nvSpPr>
        <p:spPr>
          <a:xfrm>
            <a:off x="731520" y="1481400"/>
            <a:ext cx="10742040" cy="42040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7" name="TextBox 6"/>
          <p:cNvSpPr/>
          <p:nvPr/>
        </p:nvSpPr>
        <p:spPr>
          <a:xfrm>
            <a:off x="896040" y="1609200"/>
            <a:ext cx="10413000" cy="37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Release v0.2.0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Objetivo: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&lt;qual problema esta versao resolve&gt;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Mudancas: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CI: &lt;link/print&gt;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Testes: &lt;resumo&gt;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Container: &lt;comando/print&gt;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&lt;risco e mitigacao&gt;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Plano de rollback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Quando acionar: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&lt;sinal de falha&gt;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Como voltar: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Identificar versao anterior estavel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Reverter tag/imagem/configuracao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Validar endpoint 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Comunicar impacto e decisao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18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719" name="TextBox 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0" name="TextBox 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5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2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6: observabilidade e apresentação final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3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2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725" name="Rounded Rectangle 5"/>
          <p:cNvSpPr/>
          <p:nvPr/>
        </p:nvSpPr>
        <p:spPr>
          <a:xfrm>
            <a:off x="685800" y="1508760"/>
            <a:ext cx="10833480" cy="136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6" name="Rectangle 6"/>
          <p:cNvSpPr/>
          <p:nvPr/>
        </p:nvSpPr>
        <p:spPr>
          <a:xfrm>
            <a:off x="685800" y="1508760"/>
            <a:ext cx="70920" cy="1360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7" name="TextBox 7"/>
          <p:cNvSpPr/>
          <p:nvPr/>
        </p:nvSpPr>
        <p:spPr>
          <a:xfrm>
            <a:off x="850320" y="1636920"/>
            <a:ext cx="1054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8" name="TextBox 8"/>
          <p:cNvSpPr/>
          <p:nvPr/>
        </p:nvSpPr>
        <p:spPr>
          <a:xfrm>
            <a:off x="850320" y="1993320"/>
            <a:ext cx="10540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observabilidade mínima.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Simular uma falha ou incidente simples.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Organizar apresentação final com evidências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29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730" name="TextBox 10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1" name="TextBox 11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2" name="TextBox 1"/>
          <p:cNvSpPr/>
          <p:nvPr/>
        </p:nvSpPr>
        <p:spPr>
          <a:xfrm>
            <a:off x="777240" y="2286000"/>
            <a:ext cx="1060488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6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3" name="TextBox 2"/>
          <p:cNvSpPr/>
          <p:nvPr/>
        </p:nvSpPr>
        <p:spPr>
          <a:xfrm>
            <a:off x="1920240" y="3090600"/>
            <a:ext cx="831888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26/09/2026 | Observabilidade, IA aplicada e projeto final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4" name="TextBox 3"/>
          <p:cNvSpPr/>
          <p:nvPr/>
        </p:nvSpPr>
        <p:spPr>
          <a:xfrm>
            <a:off x="5532120" y="6263640"/>
            <a:ext cx="11865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118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35" name="Picture 4" descr="e6_pulse.png"/>
          <p:cNvPicPr/>
          <p:nvPr/>
        </p:nvPicPr>
        <p:blipFill>
          <a:blip r:embed="rId1"/>
          <a:stretch/>
        </p:blipFill>
        <p:spPr>
          <a:xfrm>
            <a:off x="5615640" y="914400"/>
            <a:ext cx="957960" cy="957960"/>
          </a:xfrm>
          <a:prstGeom prst="rect">
            <a:avLst/>
          </a:prstGeom>
          <a:ln w="0">
            <a:noFill/>
          </a:ln>
        </p:spPr>
      </p:pic>
      <p:pic>
        <p:nvPicPr>
          <p:cNvPr id="2736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7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6 - Operação e Evidências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8" name="TextBox 2"/>
          <p:cNvSpPr/>
          <p:nvPr/>
        </p:nvSpPr>
        <p:spPr>
          <a:xfrm>
            <a:off x="621720" y="841320"/>
            <a:ext cx="9873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com dados, aprendizagem e análise assistida validada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9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0" name="Rounded Rectangle 4"/>
          <p:cNvSpPr/>
          <p:nvPr/>
        </p:nvSpPr>
        <p:spPr>
          <a:xfrm>
            <a:off x="685800" y="1417320"/>
            <a:ext cx="3426840" cy="214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1" name="Rectangle 5"/>
          <p:cNvSpPr/>
          <p:nvPr/>
        </p:nvSpPr>
        <p:spPr>
          <a:xfrm>
            <a:off x="685800" y="1417320"/>
            <a:ext cx="70920" cy="21466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2" name="TextBox 6"/>
          <p:cNvSpPr/>
          <p:nvPr/>
        </p:nvSpPr>
        <p:spPr>
          <a:xfrm>
            <a:off x="85032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Observabilidade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3" name="TextBox 7"/>
          <p:cNvSpPr/>
          <p:nvPr/>
        </p:nvSpPr>
        <p:spPr>
          <a:xfrm>
            <a:off x="850320" y="1920240"/>
            <a:ext cx="313416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Logs, métricas e traces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Dashboards e alertas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SLI/SLO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para sumarizar logs e levantar hipóteses de causa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Validação operacional de release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4" name="Rounded Rectangle 8"/>
          <p:cNvSpPr/>
          <p:nvPr/>
        </p:nvSpPr>
        <p:spPr>
          <a:xfrm>
            <a:off x="4389120" y="1417320"/>
            <a:ext cx="3426840" cy="214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5" name="Rectangle 9"/>
          <p:cNvSpPr/>
          <p:nvPr/>
        </p:nvSpPr>
        <p:spPr>
          <a:xfrm>
            <a:off x="4389120" y="1417320"/>
            <a:ext cx="70920" cy="21466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6" name="TextBox 10"/>
          <p:cNvSpPr/>
          <p:nvPr/>
        </p:nvSpPr>
        <p:spPr>
          <a:xfrm>
            <a:off x="455364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Evolução do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7" name="TextBox 11"/>
          <p:cNvSpPr/>
          <p:nvPr/>
        </p:nvSpPr>
        <p:spPr>
          <a:xfrm>
            <a:off x="4553640" y="1920240"/>
            <a:ext cx="313416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Dados como base da automação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aplicada a troubleshooting e documentação operacional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AIOps como tendência, não substituto de decisão técnica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Automação orientada por eventos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Limites e próximos passos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8" name="Rounded Rectangle 12"/>
          <p:cNvSpPr/>
          <p:nvPr/>
        </p:nvSpPr>
        <p:spPr>
          <a:xfrm>
            <a:off x="8092440" y="1417320"/>
            <a:ext cx="3426840" cy="214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9" name="Rectangle 13"/>
          <p:cNvSpPr/>
          <p:nvPr/>
        </p:nvSpPr>
        <p:spPr>
          <a:xfrm>
            <a:off x="8092440" y="1417320"/>
            <a:ext cx="70920" cy="21466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0" name="TextBox 14"/>
          <p:cNvSpPr/>
          <p:nvPr/>
        </p:nvSpPr>
        <p:spPr>
          <a:xfrm>
            <a:off x="825696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1" name="TextBox 15"/>
          <p:cNvSpPr/>
          <p:nvPr/>
        </p:nvSpPr>
        <p:spPr>
          <a:xfrm>
            <a:off x="8256960" y="1920240"/>
            <a:ext cx="313416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Demonstração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do pipeline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Diagnóstico, proposta e registro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próximos passos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2" name="Rounded Rectangle 16"/>
          <p:cNvSpPr/>
          <p:nvPr/>
        </p:nvSpPr>
        <p:spPr>
          <a:xfrm>
            <a:off x="685800" y="4069080"/>
            <a:ext cx="10833480" cy="912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3" name="Rectangle 17"/>
          <p:cNvSpPr/>
          <p:nvPr/>
        </p:nvSpPr>
        <p:spPr>
          <a:xfrm>
            <a:off x="685800" y="4069080"/>
            <a:ext cx="70920" cy="912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4" name="TextBox 18"/>
          <p:cNvSpPr/>
          <p:nvPr/>
        </p:nvSpPr>
        <p:spPr>
          <a:xfrm>
            <a:off x="850320" y="4197240"/>
            <a:ext cx="10540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5" name="TextBox 19"/>
          <p:cNvSpPr/>
          <p:nvPr/>
        </p:nvSpPr>
        <p:spPr>
          <a:xfrm>
            <a:off x="850320" y="4572000"/>
            <a:ext cx="105408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Entrega final avaliada por evidências: repositório, pipeline, container, release, observabilidade, registro crítico de IA e defesa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6" name="TextBox 20"/>
          <p:cNvSpPr/>
          <p:nvPr/>
        </p:nvSpPr>
        <p:spPr>
          <a:xfrm>
            <a:off x="1298520" y="6446520"/>
            <a:ext cx="5877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7" name="TextBox 21"/>
          <p:cNvSpPr/>
          <p:nvPr/>
        </p:nvSpPr>
        <p:spPr>
          <a:xfrm>
            <a:off x="11201400" y="6446520"/>
            <a:ext cx="5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58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2759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Observabilidade Sem Complicar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1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Usar dados para explicar se a entrega funcionou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2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6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764" name="Rounded Rectangle 5"/>
          <p:cNvSpPr/>
          <p:nvPr/>
        </p:nvSpPr>
        <p:spPr>
          <a:xfrm>
            <a:off x="68580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5" name="Rectangle 6"/>
          <p:cNvSpPr/>
          <p:nvPr/>
        </p:nvSpPr>
        <p:spPr>
          <a:xfrm>
            <a:off x="685800" y="1508760"/>
            <a:ext cx="70920" cy="1835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6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7" name="TextBox 8"/>
          <p:cNvSpPr/>
          <p:nvPr/>
        </p:nvSpPr>
        <p:spPr>
          <a:xfrm>
            <a:off x="85032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Eventos textuais: erro, início, fim,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Devem permitir entender o que aconteceu.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dados sensíveis em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8" name="Rounded Rectangle 9"/>
          <p:cNvSpPr/>
          <p:nvPr/>
        </p:nvSpPr>
        <p:spPr>
          <a:xfrm>
            <a:off x="438912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9" name="Rectangle 10"/>
          <p:cNvSpPr/>
          <p:nvPr/>
        </p:nvSpPr>
        <p:spPr>
          <a:xfrm>
            <a:off x="4389120" y="1508760"/>
            <a:ext cx="70920" cy="1835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0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1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Números ao longo do tempo: latência, taxa de erro, uso de CPU/memória.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Podem alimentar alertas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 laboratório pode ser simples: tempo, status e contadores.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2" name="Rounded Rectangle 13"/>
          <p:cNvSpPr/>
          <p:nvPr/>
        </p:nvSpPr>
        <p:spPr>
          <a:xfrm>
            <a:off x="809244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3" name="Rectangle 14"/>
          <p:cNvSpPr/>
          <p:nvPr/>
        </p:nvSpPr>
        <p:spPr>
          <a:xfrm>
            <a:off x="8092440" y="1508760"/>
            <a:ext cx="70920" cy="1835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4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Traces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5" name="TextBox 16"/>
          <p:cNvSpPr/>
          <p:nvPr/>
        </p:nvSpPr>
        <p:spPr>
          <a:xfrm>
            <a:off x="825696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Caminho de uma requisição entre serviços.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para sistemas distribuídos.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Na disciplina: conceitual ou demonstração curta.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7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777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8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9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SLI, SLO, SLA e Error Budget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0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vocabulário que conecta observabilidade a decisão de negócio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1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8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783" name="Chevron 5"/>
          <p:cNvSpPr/>
          <p:nvPr/>
        </p:nvSpPr>
        <p:spPr>
          <a:xfrm>
            <a:off x="685800" y="1417320"/>
            <a:ext cx="3701160" cy="564840"/>
          </a:xfrm>
          <a:prstGeom prst="chevron">
            <a:avLst>
              <a:gd name="adj" fmla="val 50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SLI — o indicador medido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4" name="Chevron 6"/>
          <p:cNvSpPr/>
          <p:nvPr/>
        </p:nvSpPr>
        <p:spPr>
          <a:xfrm>
            <a:off x="4133160" y="1417320"/>
            <a:ext cx="3701160" cy="564840"/>
          </a:xfrm>
          <a:prstGeom prst="chevron">
            <a:avLst>
              <a:gd name="adj" fmla="val 50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SLO — a meta interna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5" name="Chevron 7"/>
          <p:cNvSpPr/>
          <p:nvPr/>
        </p:nvSpPr>
        <p:spPr>
          <a:xfrm>
            <a:off x="7580520" y="1417320"/>
            <a:ext cx="3701160" cy="564840"/>
          </a:xfrm>
          <a:prstGeom prst="chevron">
            <a:avLst>
              <a:gd name="adj" fmla="val 50000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SLA — o compromisso formal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6" name="Rounded Rectangle 8"/>
          <p:cNvSpPr/>
          <p:nvPr/>
        </p:nvSpPr>
        <p:spPr>
          <a:xfrm>
            <a:off x="685800" y="225864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7" name="Rectangle 9"/>
          <p:cNvSpPr/>
          <p:nvPr/>
        </p:nvSpPr>
        <p:spPr>
          <a:xfrm>
            <a:off x="685800" y="2258640"/>
            <a:ext cx="70920" cy="1835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8" name="TextBox 10"/>
          <p:cNvSpPr/>
          <p:nvPr/>
        </p:nvSpPr>
        <p:spPr>
          <a:xfrm>
            <a:off x="850320" y="238644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SLI — indicador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9" name="TextBox 11"/>
          <p:cNvSpPr/>
          <p:nvPr/>
        </p:nvSpPr>
        <p:spPr>
          <a:xfrm>
            <a:off x="850320" y="2743200"/>
            <a:ext cx="313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métrica medida na prática.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% de requisições respondidas em menos de 300ms.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0" name="Rounded Rectangle 12"/>
          <p:cNvSpPr/>
          <p:nvPr/>
        </p:nvSpPr>
        <p:spPr>
          <a:xfrm>
            <a:off x="4389120" y="225864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1" name="Rectangle 13"/>
          <p:cNvSpPr/>
          <p:nvPr/>
        </p:nvSpPr>
        <p:spPr>
          <a:xfrm>
            <a:off x="4389120" y="2258640"/>
            <a:ext cx="70920" cy="1835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2" name="TextBox 14"/>
          <p:cNvSpPr/>
          <p:nvPr/>
        </p:nvSpPr>
        <p:spPr>
          <a:xfrm>
            <a:off x="4553640" y="238644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SLO — objetivo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3" name="TextBox 15"/>
          <p:cNvSpPr/>
          <p:nvPr/>
        </p:nvSpPr>
        <p:spPr>
          <a:xfrm>
            <a:off x="4553640" y="274320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meta interna que o time define para esse indicador.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99% das requisições abaixo de 300ms no mês.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4" name="Rounded Rectangle 16"/>
          <p:cNvSpPr/>
          <p:nvPr/>
        </p:nvSpPr>
        <p:spPr>
          <a:xfrm>
            <a:off x="8092440" y="225864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5" name="Rectangle 17"/>
          <p:cNvSpPr/>
          <p:nvPr/>
        </p:nvSpPr>
        <p:spPr>
          <a:xfrm>
            <a:off x="8092440" y="2258640"/>
            <a:ext cx="70920" cy="183564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6" name="TextBox 18"/>
          <p:cNvSpPr/>
          <p:nvPr/>
        </p:nvSpPr>
        <p:spPr>
          <a:xfrm>
            <a:off x="8256960" y="238644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SLA e error budget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7" name="TextBox 19"/>
          <p:cNvSpPr/>
          <p:nvPr/>
        </p:nvSpPr>
        <p:spPr>
          <a:xfrm>
            <a:off x="8256960" y="274320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SLA: compromisso formal, às vezes contratual, com penalidade.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Error budget: quanto de falha o SLO tolera — se estourar, prioridade vira estabilidade, não feature nova.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98" name="Picture 20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799" name="TextBox 21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0" name="TextBox 22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1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2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ciclo que fecha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3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80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805" name="Rounded Rectangle 5"/>
          <p:cNvSpPr/>
          <p:nvPr/>
        </p:nvSpPr>
        <p:spPr>
          <a:xfrm>
            <a:off x="68580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6" name="Rectangle 6"/>
          <p:cNvSpPr/>
          <p:nvPr/>
        </p:nvSpPr>
        <p:spPr>
          <a:xfrm>
            <a:off x="685800" y="1508760"/>
            <a:ext cx="70920" cy="1835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7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Detecção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8" name="TextBox 8"/>
          <p:cNvSpPr/>
          <p:nvPr/>
        </p:nvSpPr>
        <p:spPr>
          <a:xfrm>
            <a:off x="85032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alerta dispara, por métrica ou por log.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MTTD (mean time to detect): tempo até perceber 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9" name="Rounded Rectangle 9"/>
          <p:cNvSpPr/>
          <p:nvPr/>
        </p:nvSpPr>
        <p:spPr>
          <a:xfrm>
            <a:off x="438912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0" name="Rectangle 10"/>
          <p:cNvSpPr/>
          <p:nvPr/>
        </p:nvSpPr>
        <p:spPr>
          <a:xfrm>
            <a:off x="4389120" y="1508760"/>
            <a:ext cx="70920" cy="1835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1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Resposta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2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Diagnosticar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mitigação, mesmo que temporária.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MTTR (mean time to restore): tempo até resolver.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3" name="Rounded Rectangle 13"/>
          <p:cNvSpPr/>
          <p:nvPr/>
        </p:nvSpPr>
        <p:spPr>
          <a:xfrm>
            <a:off x="809244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4" name="Rectangle 14"/>
          <p:cNvSpPr/>
          <p:nvPr/>
        </p:nvSpPr>
        <p:spPr>
          <a:xfrm>
            <a:off x="8092440" y="1508760"/>
            <a:ext cx="70920" cy="1835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5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Post-mortem sem culpa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6" name="TextBox 16"/>
          <p:cNvSpPr/>
          <p:nvPr/>
        </p:nvSpPr>
        <p:spPr>
          <a:xfrm>
            <a:off x="825696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o que aconteceu, por que e o que preveniria.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é aprendizado do sistema, não achar um culpado.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1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818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9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Incidente Simulado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1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2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82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824" name="Rounded Rectangle 5"/>
          <p:cNvSpPr/>
          <p:nvPr/>
        </p:nvSpPr>
        <p:spPr>
          <a:xfrm>
            <a:off x="68580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5" name="Rectangle 6"/>
          <p:cNvSpPr/>
          <p:nvPr/>
        </p:nvSpPr>
        <p:spPr>
          <a:xfrm>
            <a:off x="685800" y="1508760"/>
            <a:ext cx="70920" cy="1835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6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Preparar falha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7" name="TextBox 8"/>
          <p:cNvSpPr/>
          <p:nvPr/>
        </p:nvSpPr>
        <p:spPr>
          <a:xfrm>
            <a:off x="85032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Quebrar variável de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dependência indisponível.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Provocar erro em endpoint ou teste de saúde.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8" name="Rounded Rectangle 9"/>
          <p:cNvSpPr/>
          <p:nvPr/>
        </p:nvSpPr>
        <p:spPr>
          <a:xfrm>
            <a:off x="438912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9" name="Rectangle 10"/>
          <p:cNvSpPr/>
          <p:nvPr/>
        </p:nvSpPr>
        <p:spPr>
          <a:xfrm>
            <a:off x="4389120" y="1508760"/>
            <a:ext cx="70920" cy="1835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0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Investigar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1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Coletar logs e status do container/pipeline.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à IA hipóteses e validações.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aceitar correção antes de confirmar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2" name="Rounded Rectangle 13"/>
          <p:cNvSpPr/>
          <p:nvPr/>
        </p:nvSpPr>
        <p:spPr>
          <a:xfrm>
            <a:off x="809244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3" name="Rectangle 14"/>
          <p:cNvSpPr/>
          <p:nvPr/>
        </p:nvSpPr>
        <p:spPr>
          <a:xfrm>
            <a:off x="8092440" y="1508760"/>
            <a:ext cx="70920" cy="1835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4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Resolver e aprender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5" name="TextBox 16"/>
          <p:cNvSpPr/>
          <p:nvPr/>
        </p:nvSpPr>
        <p:spPr>
          <a:xfrm>
            <a:off x="825696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correção pequena.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Atualizar README, runbook ou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causa, ação e prevenção.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6" name="Rounded Rectangle 17"/>
          <p:cNvSpPr/>
          <p:nvPr/>
        </p:nvSpPr>
        <p:spPr>
          <a:xfrm>
            <a:off x="685800" y="3511440"/>
            <a:ext cx="10833480" cy="1186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7" name="Rectangle 18"/>
          <p:cNvSpPr/>
          <p:nvPr/>
        </p:nvSpPr>
        <p:spPr>
          <a:xfrm>
            <a:off x="685800" y="3511440"/>
            <a:ext cx="70920" cy="11865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8" name="TextBox 19"/>
          <p:cNvSpPr/>
          <p:nvPr/>
        </p:nvSpPr>
        <p:spPr>
          <a:xfrm>
            <a:off x="850320" y="3639240"/>
            <a:ext cx="1054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9" name="TextBox 20"/>
          <p:cNvSpPr/>
          <p:nvPr/>
        </p:nvSpPr>
        <p:spPr>
          <a:xfrm>
            <a:off x="850320" y="3996000"/>
            <a:ext cx="10540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de incidente: sintoma, hipótese, evidência, causa, correção, prevenção e papel da IA, se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40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841" name="TextBox 22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2" name="TextBox 23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3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Alertas: Sinal vs Ruído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4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 sobre fadiga de alerta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5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84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847" name="Rounded Rectangle 5"/>
          <p:cNvSpPr/>
          <p:nvPr/>
        </p:nvSpPr>
        <p:spPr>
          <a:xfrm>
            <a:off x="68580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8" name="Rectangle 6"/>
          <p:cNvSpPr/>
          <p:nvPr/>
        </p:nvSpPr>
        <p:spPr>
          <a:xfrm>
            <a:off x="685800" y="1508760"/>
            <a:ext cx="70920" cy="1835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9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bom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0" name="TextBox 8"/>
          <p:cNvSpPr/>
          <p:nvPr/>
        </p:nvSpPr>
        <p:spPr>
          <a:xfrm>
            <a:off x="85032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Acionável: existe uma ação clara a tomar.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Específico e ligado a impacto real no usuário.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1" name="Rounded Rectangle 9"/>
          <p:cNvSpPr/>
          <p:nvPr/>
        </p:nvSpPr>
        <p:spPr>
          <a:xfrm>
            <a:off x="438912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2" name="Rectangle 10"/>
          <p:cNvSpPr/>
          <p:nvPr/>
        </p:nvSpPr>
        <p:spPr>
          <a:xfrm>
            <a:off x="4389120" y="1508760"/>
            <a:ext cx="70920" cy="183564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3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ruim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4" name="TextBox 12"/>
          <p:cNvSpPr/>
          <p:nvPr/>
        </p:nvSpPr>
        <p:spPr>
          <a:xfrm>
            <a:off x="455364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Dispara sem ação clara do que fazer.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ignorado com frequência — fadiga de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Mede o sintoma errado.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5" name="Rounded Rectangle 13"/>
          <p:cNvSpPr/>
          <p:nvPr/>
        </p:nvSpPr>
        <p:spPr>
          <a:xfrm>
            <a:off x="809244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6" name="Rectangle 14"/>
          <p:cNvSpPr/>
          <p:nvPr/>
        </p:nvSpPr>
        <p:spPr>
          <a:xfrm>
            <a:off x="8092440" y="1508760"/>
            <a:ext cx="70920" cy="1835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7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8" name="TextBox 16"/>
          <p:cNvSpPr/>
          <p:nvPr/>
        </p:nvSpPr>
        <p:spPr>
          <a:xfrm>
            <a:off x="825696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time que recebe 50 alertas por dia e ignora a maioria — qual é o risco real disso?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vocês fariam para reduzir o ruído sem perder sinal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5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860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1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AIOps: Observabilidade e Resposta a Incidentes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3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de "sinal vs. ruído" já tem produto de mercado resolvendo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4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86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866" name="Rounded Rectangle 5"/>
          <p:cNvSpPr/>
          <p:nvPr/>
        </p:nvSpPr>
        <p:spPr>
          <a:xfrm>
            <a:off x="68580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7" name="Rectangle 6"/>
          <p:cNvSpPr/>
          <p:nvPr/>
        </p:nvSpPr>
        <p:spPr>
          <a:xfrm>
            <a:off x="685800" y="1508760"/>
            <a:ext cx="70920" cy="2073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8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Datadog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9" name="TextBox 8"/>
          <p:cNvSpPr/>
          <p:nvPr/>
        </p:nvSpPr>
        <p:spPr>
          <a:xfrm>
            <a:off x="85032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Watchdog AI: detecção de anomalia, causa raiz automática e forecasting.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Bits AI apoia a investigação durante o incidente.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0" name="Rounded Rectangle 9"/>
          <p:cNvSpPr/>
          <p:nvPr/>
        </p:nvSpPr>
        <p:spPr>
          <a:xfrm>
            <a:off x="438912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1" name="Rectangle 10"/>
          <p:cNvSpPr/>
          <p:nvPr/>
        </p:nvSpPr>
        <p:spPr>
          <a:xfrm>
            <a:off x="4389120" y="1508760"/>
            <a:ext cx="70920" cy="2073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2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PagerDuty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3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Módulo de AIOps treinado em 86 bilhões de eventos históricos.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ruído de alerta em até 91% — transforma 50 alertas em ~3 incidentes reais.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4" name="Rounded Rectangle 13"/>
          <p:cNvSpPr/>
          <p:nvPr/>
        </p:nvSpPr>
        <p:spPr>
          <a:xfrm>
            <a:off x="8092440" y="1508760"/>
            <a:ext cx="3426840" cy="207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5" name="Rectangle 14"/>
          <p:cNvSpPr/>
          <p:nvPr/>
        </p:nvSpPr>
        <p:spPr>
          <a:xfrm>
            <a:off x="8092440" y="1508760"/>
            <a:ext cx="70920" cy="20736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6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papel da IA aqui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7" name="TextBox 16"/>
          <p:cNvSpPr/>
          <p:nvPr/>
        </p:nvSpPr>
        <p:spPr>
          <a:xfrm>
            <a:off x="825696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Ela correlaciona, prioriza e roteia para a pessoa certa.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causa raiz confirmada e a correção continuam sendo decisão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7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879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0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1" name="TextBox 1"/>
          <p:cNvSpPr/>
          <p:nvPr/>
        </p:nvSpPr>
        <p:spPr>
          <a:xfrm>
            <a:off x="594360" y="320040"/>
            <a:ext cx="98733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Atividade 6 - Observabilidade e Apresentação Final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2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projeto com dados e defesa técnica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3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88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885" name="Rounded Rectangle 5"/>
          <p:cNvSpPr/>
          <p:nvPr/>
        </p:nvSpPr>
        <p:spPr>
          <a:xfrm>
            <a:off x="68580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86" name="Rectangle 6"/>
          <p:cNvSpPr/>
          <p:nvPr/>
        </p:nvSpPr>
        <p:spPr>
          <a:xfrm>
            <a:off x="685800" y="1508760"/>
            <a:ext cx="70920" cy="2549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87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8" name="TextBox 8"/>
          <p:cNvSpPr/>
          <p:nvPr/>
        </p:nvSpPr>
        <p:spPr>
          <a:xfrm>
            <a:off x="850320" y="1993320"/>
            <a:ext cx="31341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dado prova que a entrega realmente funciona?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foi a causa real do incidente simulado, não só o sintoma?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grupo consegue defender cada decisão em poucos minutos?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ajudou e onde precisou ser corrigida?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9" name="Rounded Rectangle 9"/>
          <p:cNvSpPr/>
          <p:nvPr/>
        </p:nvSpPr>
        <p:spPr>
          <a:xfrm>
            <a:off x="438912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0" name="Rectangle 10"/>
          <p:cNvSpPr/>
          <p:nvPr/>
        </p:nvSpPr>
        <p:spPr>
          <a:xfrm>
            <a:off x="4389120" y="1508760"/>
            <a:ext cx="70920" cy="25491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1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2" name="TextBox 12"/>
          <p:cNvSpPr/>
          <p:nvPr/>
        </p:nvSpPr>
        <p:spPr>
          <a:xfrm>
            <a:off x="4553640" y="1993320"/>
            <a:ext cx="3134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 mínimas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do 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cobrindo repositório, pipeline, container, release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consolidado de uso de IA no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3" name="Rounded Rectangle 13"/>
          <p:cNvSpPr/>
          <p:nvPr/>
        </p:nvSpPr>
        <p:spPr>
          <a:xfrm>
            <a:off x="8092440" y="1508760"/>
            <a:ext cx="3426840" cy="254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4" name="Rectangle 14"/>
          <p:cNvSpPr/>
          <p:nvPr/>
        </p:nvSpPr>
        <p:spPr>
          <a:xfrm>
            <a:off x="8092440" y="1508760"/>
            <a:ext cx="70920" cy="25491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5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6" name="TextBox 16"/>
          <p:cNvSpPr/>
          <p:nvPr/>
        </p:nvSpPr>
        <p:spPr>
          <a:xfrm>
            <a:off x="8256960" y="1993320"/>
            <a:ext cx="313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de 5 a 7 minutos.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final com todas as evidências do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7" name="Rounded Rectangle 17"/>
          <p:cNvSpPr/>
          <p:nvPr/>
        </p:nvSpPr>
        <p:spPr>
          <a:xfrm>
            <a:off x="685800" y="4224600"/>
            <a:ext cx="10833480" cy="1186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8" name="Rectangle 18"/>
          <p:cNvSpPr/>
          <p:nvPr/>
        </p:nvSpPr>
        <p:spPr>
          <a:xfrm>
            <a:off x="685800" y="4224600"/>
            <a:ext cx="70920" cy="11865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9" name="TextBox 19"/>
          <p:cNvSpPr/>
          <p:nvPr/>
        </p:nvSpPr>
        <p:spPr>
          <a:xfrm>
            <a:off x="850320" y="4352400"/>
            <a:ext cx="1054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0" name="TextBox 20"/>
          <p:cNvSpPr/>
          <p:nvPr/>
        </p:nvSpPr>
        <p:spPr>
          <a:xfrm>
            <a:off x="850320" y="4709160"/>
            <a:ext cx="10540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 os 10% de Diagnóstico DevOps e os 5% de Apresentação final da rubrica.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01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902" name="TextBox 22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3" name="TextBox 23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4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Operação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5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IA como apoio à investigação, não como diagnóstico definitivo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6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90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pic>
        <p:nvPicPr>
          <p:cNvPr id="2908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0320" cy="400320"/>
          </a:xfrm>
          <a:prstGeom prst="rect">
            <a:avLst/>
          </a:prstGeom>
          <a:ln w="0">
            <a:noFill/>
          </a:ln>
        </p:spPr>
      </p:pic>
      <p:sp>
        <p:nvSpPr>
          <p:cNvPr id="2909" name="Rounded Rectangle 6"/>
          <p:cNvSpPr/>
          <p:nvPr/>
        </p:nvSpPr>
        <p:spPr>
          <a:xfrm>
            <a:off x="685800" y="1508760"/>
            <a:ext cx="3426840" cy="17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0" name="Rectangle 7"/>
          <p:cNvSpPr/>
          <p:nvPr/>
        </p:nvSpPr>
        <p:spPr>
          <a:xfrm>
            <a:off x="685800" y="1508760"/>
            <a:ext cx="70920" cy="17352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1" name="TextBox 8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2" name="TextBox 9"/>
          <p:cNvSpPr/>
          <p:nvPr/>
        </p:nvSpPr>
        <p:spPr>
          <a:xfrm>
            <a:off x="850320" y="1993320"/>
            <a:ext cx="31341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os logs abaixo e liste hipóteses de causa em ordem de probabilidade. Para cada hipótese, diga qual evidência confirma ou descarta.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Logs: &lt;trecho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3" name="Rounded Rectangle 10"/>
          <p:cNvSpPr/>
          <p:nvPr/>
        </p:nvSpPr>
        <p:spPr>
          <a:xfrm>
            <a:off x="4389120" y="1508760"/>
            <a:ext cx="3426840" cy="17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4" name="Rectangle 11"/>
          <p:cNvSpPr/>
          <p:nvPr/>
        </p:nvSpPr>
        <p:spPr>
          <a:xfrm>
            <a:off x="4389120" y="1508760"/>
            <a:ext cx="70920" cy="17352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5" name="TextBox 12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Runbook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6" name="TextBox 13"/>
          <p:cNvSpPr/>
          <p:nvPr/>
        </p:nvSpPr>
        <p:spPr>
          <a:xfrm>
            <a:off x="4553640" y="1993320"/>
            <a:ext cx="31341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Transforme esta solução de incidente em um runbook curto com sintomas, comandos de diagnóstico, ação corretiva e validação final.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Incidente: &lt;resumo&gt;.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7" name="Rounded Rectangle 14"/>
          <p:cNvSpPr/>
          <p:nvPr/>
        </p:nvSpPr>
        <p:spPr>
          <a:xfrm>
            <a:off x="8092440" y="1508760"/>
            <a:ext cx="3426840" cy="173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8" name="Rectangle 15"/>
          <p:cNvSpPr/>
          <p:nvPr/>
        </p:nvSpPr>
        <p:spPr>
          <a:xfrm>
            <a:off x="8092440" y="1508760"/>
            <a:ext cx="70920" cy="17352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9" name="TextBox 16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0" name="TextBox 17"/>
          <p:cNvSpPr/>
          <p:nvPr/>
        </p:nvSpPr>
        <p:spPr>
          <a:xfrm>
            <a:off x="8256960" y="1993320"/>
            <a:ext cx="31341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Com base nas evidências abaixo, ajude a montar uma narrativa técnica de 5 minutos: problema, decisões, pipeline, operação, riscos e próximos passos.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Evidências: &lt;lista&gt;.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21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922" name="TextBox 19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3" name="TextBox 20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4" name="TextBox 1"/>
          <p:cNvSpPr/>
          <p:nvPr/>
        </p:nvSpPr>
        <p:spPr>
          <a:xfrm>
            <a:off x="594360" y="320040"/>
            <a:ext cx="98733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Apresentação Final - Roteiro de 5 a 7 Minutos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5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Ordem padrão para todos os grupos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6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92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928" name="Rounded Rectangle 5"/>
          <p:cNvSpPr/>
          <p:nvPr/>
        </p:nvSpPr>
        <p:spPr>
          <a:xfrm>
            <a:off x="68580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9" name="Rectangle 6"/>
          <p:cNvSpPr/>
          <p:nvPr/>
        </p:nvSpPr>
        <p:spPr>
          <a:xfrm>
            <a:off x="685800" y="1508760"/>
            <a:ext cx="70920" cy="1835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0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Contexto 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1" name="TextBox 8"/>
          <p:cNvSpPr/>
          <p:nvPr/>
        </p:nvSpPr>
        <p:spPr>
          <a:xfrm>
            <a:off x="85032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problema o projeto representa.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gargalos DevOps foram priorizados.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decidido fazer dentro do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2" name="Rounded Rectangle 9"/>
          <p:cNvSpPr/>
          <p:nvPr/>
        </p:nvSpPr>
        <p:spPr>
          <a:xfrm>
            <a:off x="438912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3" name="Rectangle 10"/>
          <p:cNvSpPr/>
          <p:nvPr/>
        </p:nvSpPr>
        <p:spPr>
          <a:xfrm>
            <a:off x="4389120" y="1508760"/>
            <a:ext cx="70920" cy="1835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4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Demonstração técnica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5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e PRs.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rodando.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em container/Compose.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ou rollback/plano.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Logs/métricas/incidente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6" name="Rounded Rectangle 13"/>
          <p:cNvSpPr/>
          <p:nvPr/>
        </p:nvSpPr>
        <p:spPr>
          <a:xfrm>
            <a:off x="809244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7" name="Rectangle 14"/>
          <p:cNvSpPr/>
          <p:nvPr/>
        </p:nvSpPr>
        <p:spPr>
          <a:xfrm>
            <a:off x="8092440" y="1508760"/>
            <a:ext cx="70920" cy="1835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8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Defesa crítica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9" name="TextBox 16"/>
          <p:cNvSpPr/>
          <p:nvPr/>
        </p:nvSpPr>
        <p:spPr>
          <a:xfrm>
            <a:off x="825696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IA: onde ajudou, onde falhou, como foi validada.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Próximos passos para evolução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4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941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2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3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Rubrica Final - Perguntas de 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4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Perguntas curtas, respondidas com evidências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5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94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947" name="Rounded Rectangle 5"/>
          <p:cNvSpPr/>
          <p:nvPr/>
        </p:nvSpPr>
        <p:spPr>
          <a:xfrm>
            <a:off x="68580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8" name="Rectangle 6"/>
          <p:cNvSpPr/>
          <p:nvPr/>
        </p:nvSpPr>
        <p:spPr>
          <a:xfrm>
            <a:off x="685800" y="1508760"/>
            <a:ext cx="70920" cy="1835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9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Projeto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0" name="TextBox 8"/>
          <p:cNvSpPr/>
          <p:nvPr/>
        </p:nvSpPr>
        <p:spPr>
          <a:xfrm>
            <a:off x="85032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executo do zero?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está o README?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decisão técnica foi mais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ficou fora do escopo?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1" name="Rounded Rectangle 9"/>
          <p:cNvSpPr/>
          <p:nvPr/>
        </p:nvSpPr>
        <p:spPr>
          <a:xfrm>
            <a:off x="438912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2" name="Rectangle 10"/>
          <p:cNvSpPr/>
          <p:nvPr/>
        </p:nvSpPr>
        <p:spPr>
          <a:xfrm>
            <a:off x="4389120" y="1508760"/>
            <a:ext cx="70920" cy="1835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3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Pipeline/entrega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4" name="TextBox 12"/>
          <p:cNvSpPr/>
          <p:nvPr/>
        </p:nvSpPr>
        <p:spPr>
          <a:xfrm>
            <a:off x="455364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faz o pipeline falhar?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teste prova comportamento relevante?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artefato é promovido?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voltar para versão anterior?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5" name="Rounded Rectangle 13"/>
          <p:cNvSpPr/>
          <p:nvPr/>
        </p:nvSpPr>
        <p:spPr>
          <a:xfrm>
            <a:off x="8092440" y="1508760"/>
            <a:ext cx="3426840" cy="1835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6" name="Rectangle 14"/>
          <p:cNvSpPr/>
          <p:nvPr/>
        </p:nvSpPr>
        <p:spPr>
          <a:xfrm>
            <a:off x="8092440" y="1508760"/>
            <a:ext cx="70920" cy="1835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7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Operação/IA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8" name="TextBox 16"/>
          <p:cNvSpPr/>
          <p:nvPr/>
        </p:nvSpPr>
        <p:spPr>
          <a:xfrm>
            <a:off x="8256960" y="1993320"/>
            <a:ext cx="31341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logs/métricas indicam saúde?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incidente foi simulado?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sugestão de IA foi aceita ou rejeitada?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vocês validaram?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5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2960" name="TextBox 1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1" name="TextBox 1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2" name="TextBox 1"/>
          <p:cNvSpPr/>
          <p:nvPr/>
        </p:nvSpPr>
        <p:spPr>
          <a:xfrm>
            <a:off x="594360" y="320040"/>
            <a:ext cx="9873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Checklist do 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3" name="TextBox 2"/>
          <p:cNvSpPr/>
          <p:nvPr/>
        </p:nvSpPr>
        <p:spPr>
          <a:xfrm>
            <a:off x="621720" y="841320"/>
            <a:ext cx="9873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Trilha de acompanhamento dos entregáveis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4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5" name="Rounded Rectangle 4"/>
          <p:cNvSpPr/>
          <p:nvPr/>
        </p:nvSpPr>
        <p:spPr>
          <a:xfrm>
            <a:off x="685800" y="1417320"/>
            <a:ext cx="3426840" cy="200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6" name="Rectangle 5"/>
          <p:cNvSpPr/>
          <p:nvPr/>
        </p:nvSpPr>
        <p:spPr>
          <a:xfrm>
            <a:off x="685800" y="1417320"/>
            <a:ext cx="70920" cy="20095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7" name="TextBox 6"/>
          <p:cNvSpPr/>
          <p:nvPr/>
        </p:nvSpPr>
        <p:spPr>
          <a:xfrm>
            <a:off x="85032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Repositório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8" name="TextBox 7"/>
          <p:cNvSpPr/>
          <p:nvPr/>
        </p:nvSpPr>
        <p:spPr>
          <a:xfrm>
            <a:off x="850320" y="1920240"/>
            <a:ext cx="313416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Commits e PRs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Tags/releases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documentadas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9" name="Rounded Rectangle 8"/>
          <p:cNvSpPr/>
          <p:nvPr/>
        </p:nvSpPr>
        <p:spPr>
          <a:xfrm>
            <a:off x="4389120" y="1417320"/>
            <a:ext cx="3426840" cy="200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0" name="Rectangle 9"/>
          <p:cNvSpPr/>
          <p:nvPr/>
        </p:nvSpPr>
        <p:spPr>
          <a:xfrm>
            <a:off x="4389120" y="1417320"/>
            <a:ext cx="70920" cy="20095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1" name="TextBox 10"/>
          <p:cNvSpPr/>
          <p:nvPr/>
        </p:nvSpPr>
        <p:spPr>
          <a:xfrm>
            <a:off x="455364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Automação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2" name="TextBox 11"/>
          <p:cNvSpPr/>
          <p:nvPr/>
        </p:nvSpPr>
        <p:spPr>
          <a:xfrm>
            <a:off x="4553640" y="1920240"/>
            <a:ext cx="313416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CI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Artefato/imagem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3" name="Rounded Rectangle 12"/>
          <p:cNvSpPr/>
          <p:nvPr/>
        </p:nvSpPr>
        <p:spPr>
          <a:xfrm>
            <a:off x="8092440" y="1417320"/>
            <a:ext cx="3426840" cy="200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4" name="Rectangle 13"/>
          <p:cNvSpPr/>
          <p:nvPr/>
        </p:nvSpPr>
        <p:spPr>
          <a:xfrm>
            <a:off x="8092440" y="1417320"/>
            <a:ext cx="70920" cy="20095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5" name="TextBox 14"/>
          <p:cNvSpPr/>
          <p:nvPr/>
        </p:nvSpPr>
        <p:spPr>
          <a:xfrm>
            <a:off x="8256960" y="154548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Execução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6" name="TextBox 15"/>
          <p:cNvSpPr/>
          <p:nvPr/>
        </p:nvSpPr>
        <p:spPr>
          <a:xfrm>
            <a:off x="8256960" y="1920240"/>
            <a:ext cx="313416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7" name="Rounded Rectangle 16"/>
          <p:cNvSpPr/>
          <p:nvPr/>
        </p:nvSpPr>
        <p:spPr>
          <a:xfrm>
            <a:off x="685800" y="3886200"/>
            <a:ext cx="3426840" cy="1826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8" name="Rectangle 17"/>
          <p:cNvSpPr/>
          <p:nvPr/>
        </p:nvSpPr>
        <p:spPr>
          <a:xfrm>
            <a:off x="685800" y="3886200"/>
            <a:ext cx="70920" cy="182664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9" name="TextBox 18"/>
          <p:cNvSpPr/>
          <p:nvPr/>
        </p:nvSpPr>
        <p:spPr>
          <a:xfrm>
            <a:off x="850320" y="401436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0" name="TextBox 19"/>
          <p:cNvSpPr/>
          <p:nvPr/>
        </p:nvSpPr>
        <p:spPr>
          <a:xfrm>
            <a:off x="850320" y="4389120"/>
            <a:ext cx="313416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Segurança mínima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1" name="Rounded Rectangle 20"/>
          <p:cNvSpPr/>
          <p:nvPr/>
        </p:nvSpPr>
        <p:spPr>
          <a:xfrm>
            <a:off x="4389120" y="3886200"/>
            <a:ext cx="3426840" cy="1826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82" name="Rectangle 21"/>
          <p:cNvSpPr/>
          <p:nvPr/>
        </p:nvSpPr>
        <p:spPr>
          <a:xfrm>
            <a:off x="4389120" y="3886200"/>
            <a:ext cx="70920" cy="18266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83" name="TextBox 22"/>
          <p:cNvSpPr/>
          <p:nvPr/>
        </p:nvSpPr>
        <p:spPr>
          <a:xfrm>
            <a:off x="4553640" y="401436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Operação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4" name="TextBox 23"/>
          <p:cNvSpPr/>
          <p:nvPr/>
        </p:nvSpPr>
        <p:spPr>
          <a:xfrm>
            <a:off x="4553640" y="4389120"/>
            <a:ext cx="313416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 simulado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Hipóteses com IA validadas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5" name="Rounded Rectangle 24"/>
          <p:cNvSpPr/>
          <p:nvPr/>
        </p:nvSpPr>
        <p:spPr>
          <a:xfrm>
            <a:off x="8092440" y="3886200"/>
            <a:ext cx="3426840" cy="1826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86" name="Rectangle 25"/>
          <p:cNvSpPr/>
          <p:nvPr/>
        </p:nvSpPr>
        <p:spPr>
          <a:xfrm>
            <a:off x="8092440" y="3886200"/>
            <a:ext cx="70920" cy="1826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87" name="TextBox 26"/>
          <p:cNvSpPr/>
          <p:nvPr/>
        </p:nvSpPr>
        <p:spPr>
          <a:xfrm>
            <a:off x="8256960" y="4014360"/>
            <a:ext cx="3134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Análise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8" name="TextBox 27"/>
          <p:cNvSpPr/>
          <p:nvPr/>
        </p:nvSpPr>
        <p:spPr>
          <a:xfrm>
            <a:off x="8256960" y="4389120"/>
            <a:ext cx="3134160" cy="14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Validações e riscos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9" name="TextBox 28"/>
          <p:cNvSpPr/>
          <p:nvPr/>
        </p:nvSpPr>
        <p:spPr>
          <a:xfrm>
            <a:off x="1298520" y="6446520"/>
            <a:ext cx="58773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0" name="TextBox 29"/>
          <p:cNvSpPr/>
          <p:nvPr/>
        </p:nvSpPr>
        <p:spPr>
          <a:xfrm>
            <a:off x="11201400" y="6446520"/>
            <a:ext cx="50076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1" name="Picture 30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2992" name="Picture 31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3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Fechamento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4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Conectando prática, maturidade e evolução profissional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5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99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2997" name="Rounded Rectangle 5"/>
          <p:cNvSpPr/>
          <p:nvPr/>
        </p:nvSpPr>
        <p:spPr>
          <a:xfrm>
            <a:off x="685800" y="1508760"/>
            <a:ext cx="10833480" cy="159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8" name="Rectangle 6"/>
          <p:cNvSpPr/>
          <p:nvPr/>
        </p:nvSpPr>
        <p:spPr>
          <a:xfrm>
            <a:off x="685800" y="1508760"/>
            <a:ext cx="70920" cy="1598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9" name="TextBox 7"/>
          <p:cNvSpPr/>
          <p:nvPr/>
        </p:nvSpPr>
        <p:spPr>
          <a:xfrm>
            <a:off x="850320" y="1636920"/>
            <a:ext cx="1054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Síntese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0" name="TextBox 8"/>
          <p:cNvSpPr/>
          <p:nvPr/>
        </p:nvSpPr>
        <p:spPr>
          <a:xfrm>
            <a:off x="850320" y="1993320"/>
            <a:ext cx="105408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é fluxo de entrega com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sem feedback e evidência vira ritual vazio.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aumenta velocidade, mas também exige validação e governança.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valor está em entregar software reproduzível, seguro, observável e evolutivo.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01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3002" name="TextBox 10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3" name="TextBox 11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4" name="TextBox 1"/>
          <p:cNvSpPr/>
          <p:nvPr/>
        </p:nvSpPr>
        <p:spPr>
          <a:xfrm>
            <a:off x="777240" y="2286000"/>
            <a:ext cx="1060488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Anexos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5" name="TextBox 2"/>
          <p:cNvSpPr/>
          <p:nvPr/>
        </p:nvSpPr>
        <p:spPr>
          <a:xfrm>
            <a:off x="1463040" y="3090600"/>
            <a:ext cx="9233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Modelos rápidos, comandos de apoio e bibliografia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006" name="Picture 3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3007" name="TextBox 4"/>
          <p:cNvSpPr/>
          <p:nvPr/>
        </p:nvSpPr>
        <p:spPr>
          <a:xfrm>
            <a:off x="5532120" y="6263640"/>
            <a:ext cx="1186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132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8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Registro de Uso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9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registro simples, não burocrático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0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01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3012" name="Rounded Rectangle 5"/>
          <p:cNvSpPr/>
          <p:nvPr/>
        </p:nvSpPr>
        <p:spPr>
          <a:xfrm>
            <a:off x="685800" y="1508760"/>
            <a:ext cx="3426840" cy="159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3" name="Rectangle 6"/>
          <p:cNvSpPr/>
          <p:nvPr/>
        </p:nvSpPr>
        <p:spPr>
          <a:xfrm>
            <a:off x="685800" y="1508760"/>
            <a:ext cx="70920" cy="1598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4" name="TextBox 7"/>
          <p:cNvSpPr/>
          <p:nvPr/>
        </p:nvSpPr>
        <p:spPr>
          <a:xfrm>
            <a:off x="85032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5" name="TextBox 8"/>
          <p:cNvSpPr/>
          <p:nvPr/>
        </p:nvSpPr>
        <p:spPr>
          <a:xfrm>
            <a:off x="850320" y="1993320"/>
            <a:ext cx="3134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Ferramenta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do uso.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Trecho/contexto fornecido,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6" name="Rounded Rectangle 9"/>
          <p:cNvSpPr/>
          <p:nvPr/>
        </p:nvSpPr>
        <p:spPr>
          <a:xfrm>
            <a:off x="4389120" y="1508760"/>
            <a:ext cx="3426840" cy="159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7" name="Rectangle 10"/>
          <p:cNvSpPr/>
          <p:nvPr/>
        </p:nvSpPr>
        <p:spPr>
          <a:xfrm>
            <a:off x="4389120" y="1508760"/>
            <a:ext cx="70920" cy="1598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8" name="TextBox 11"/>
          <p:cNvSpPr/>
          <p:nvPr/>
        </p:nvSpPr>
        <p:spPr>
          <a:xfrm>
            <a:off x="455364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9" name="TextBox 12"/>
          <p:cNvSpPr/>
          <p:nvPr/>
        </p:nvSpPr>
        <p:spPr>
          <a:xfrm>
            <a:off x="4553640" y="1993320"/>
            <a:ext cx="313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Saída útil recebida.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aceito.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rejeitado ou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0" name="Rounded Rectangle 13"/>
          <p:cNvSpPr/>
          <p:nvPr/>
        </p:nvSpPr>
        <p:spPr>
          <a:xfrm>
            <a:off x="8092440" y="1508760"/>
            <a:ext cx="3426840" cy="159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1" name="Rectangle 14"/>
          <p:cNvSpPr/>
          <p:nvPr/>
        </p:nvSpPr>
        <p:spPr>
          <a:xfrm>
            <a:off x="8092440" y="1508760"/>
            <a:ext cx="70920" cy="1598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2" name="TextBox 15"/>
          <p:cNvSpPr/>
          <p:nvPr/>
        </p:nvSpPr>
        <p:spPr>
          <a:xfrm>
            <a:off x="8256960" y="1636920"/>
            <a:ext cx="3134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3" name="TextBox 16"/>
          <p:cNvSpPr/>
          <p:nvPr/>
        </p:nvSpPr>
        <p:spPr>
          <a:xfrm>
            <a:off x="8256960" y="1993320"/>
            <a:ext cx="313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Teste, build, revisão ou execução feita.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identificado.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Decisão humana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4" name="Rounded Rectangle 17"/>
          <p:cNvSpPr/>
          <p:nvPr/>
        </p:nvSpPr>
        <p:spPr>
          <a:xfrm>
            <a:off x="685800" y="3273480"/>
            <a:ext cx="10833480" cy="1186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5" name="Rectangle 18"/>
          <p:cNvSpPr/>
          <p:nvPr/>
        </p:nvSpPr>
        <p:spPr>
          <a:xfrm>
            <a:off x="685800" y="3273480"/>
            <a:ext cx="70920" cy="11865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6" name="TextBox 19"/>
          <p:cNvSpPr/>
          <p:nvPr/>
        </p:nvSpPr>
        <p:spPr>
          <a:xfrm>
            <a:off x="850320" y="3401640"/>
            <a:ext cx="1054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7" name="TextBox 20"/>
          <p:cNvSpPr/>
          <p:nvPr/>
        </p:nvSpPr>
        <p:spPr>
          <a:xfrm>
            <a:off x="850320" y="3758040"/>
            <a:ext cx="10540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parágrafo ou tabela no README/relatório final basta, desde que permita defender a decisão.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28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3029" name="TextBox 22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0" name="TextBox 23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1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Diagnóstico DevOps em 1 Página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2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1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3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03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3035" name="Rounded Rectangle 5"/>
          <p:cNvSpPr/>
          <p:nvPr/>
        </p:nvSpPr>
        <p:spPr>
          <a:xfrm>
            <a:off x="731520" y="1481400"/>
            <a:ext cx="10742040" cy="42040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36" name="TextBox 6"/>
          <p:cNvSpPr/>
          <p:nvPr/>
        </p:nvSpPr>
        <p:spPr>
          <a:xfrm>
            <a:off x="896040" y="1609200"/>
            <a:ext cx="1041300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Diagnostico DevOps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Fluxo atual: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Pedido/demanda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Desenvolvimento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Teste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Entrega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5. Operacao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Gargalos: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3&gt;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Priorizacao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Melhoria escolhida: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Impacto esperado: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de sucesso: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IA pode ajudar em: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necessaria: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37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3038" name="TextBox 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9" name="TextBox 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2" name="TextBox 3"/>
          <p:cNvSpPr/>
          <p:nvPr/>
        </p:nvSpPr>
        <p:spPr>
          <a:xfrm>
            <a:off x="594360" y="320040"/>
            <a:ext cx="98748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2700" spc="-1" strike="noStrike">
                <a:solidFill>
                  <a:srgbClr val="132b42"/>
                </a:solidFill>
                <a:latin typeface="Aptos"/>
              </a:rPr>
              <a:t>Template — Entrega Inicial do Projeto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3" name="TextBox 4"/>
          <p:cNvSpPr/>
          <p:nvPr/>
        </p:nvSpPr>
        <p:spPr>
          <a:xfrm>
            <a:off x="621720" y="877680"/>
            <a:ext cx="10057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200" spc="-1" strike="noStrike">
                <a:solidFill>
                  <a:srgbClr val="5e6c7a"/>
                </a:solidFill>
                <a:latin typeface="Aptos"/>
              </a:rPr>
              <a:t>Registro do incremento do Encontro 2 no próprio repositório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4" name="Rectangle 5"/>
          <p:cNvSpPr/>
          <p:nvPr/>
        </p:nvSpPr>
        <p:spPr>
          <a:xfrm>
            <a:off x="594360" y="1234440"/>
            <a:ext cx="1233720" cy="40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" bIns="-3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045" name="Picture 6" descr="image.png"/>
          <p:cNvPicPr/>
          <p:nvPr/>
        </p:nvPicPr>
        <p:blipFill>
          <a:blip r:embed="rId1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pic>
        <p:nvPicPr>
          <p:cNvPr id="3046" name="Picture 7" descr="image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3047" name="TextBox 8"/>
          <p:cNvSpPr/>
          <p:nvPr/>
        </p:nvSpPr>
        <p:spPr>
          <a:xfrm>
            <a:off x="1298520" y="6446520"/>
            <a:ext cx="9051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8" name="TextBox 9"/>
          <p:cNvSpPr/>
          <p:nvPr/>
        </p:nvSpPr>
        <p:spPr>
          <a:xfrm>
            <a:off x="11064240" y="6446520"/>
            <a:ext cx="593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800" spc="-1" strike="noStrike">
                <a:solidFill>
                  <a:srgbClr val="5e6c7a"/>
                </a:solidFill>
                <a:latin typeface="Aptos"/>
              </a:rPr>
              <a:t>135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9" name="Rectangle 10"/>
          <p:cNvSpPr/>
          <p:nvPr/>
        </p:nvSpPr>
        <p:spPr>
          <a:xfrm>
            <a:off x="685800" y="5715000"/>
            <a:ext cx="10834920" cy="474840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0" name="TextBox 11"/>
          <p:cNvSpPr/>
          <p:nvPr/>
        </p:nvSpPr>
        <p:spPr>
          <a:xfrm>
            <a:off x="822960" y="5788080"/>
            <a:ext cx="105148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400" spc="-1" strike="noStrike">
                <a:solidFill>
                  <a:srgbClr val="132b42"/>
                </a:solidFill>
                <a:latin typeface="Aptos"/>
              </a:rPr>
              <a:t>A evidência conecta pessoas, código, execução e o próximo incremento.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1" name="Rounded Rectangle 12"/>
          <p:cNvSpPr/>
          <p:nvPr/>
        </p:nvSpPr>
        <p:spPr>
          <a:xfrm>
            <a:off x="6858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2" name="Rectangle 13"/>
          <p:cNvSpPr/>
          <p:nvPr/>
        </p:nvSpPr>
        <p:spPr>
          <a:xfrm>
            <a:off x="685800" y="1600200"/>
            <a:ext cx="54000" cy="3474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3" name="TextBox 14"/>
          <p:cNvSpPr/>
          <p:nvPr/>
        </p:nvSpPr>
        <p:spPr>
          <a:xfrm>
            <a:off x="84132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Identificação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4" name="TextBox 15"/>
          <p:cNvSpPr/>
          <p:nvPr/>
        </p:nvSpPr>
        <p:spPr>
          <a:xfrm>
            <a:off x="841320" y="2359080"/>
            <a:ext cx="3147840" cy="14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Projeto e objetivo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Organização e URL do repo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Integrantes e responsáveis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Acessos confirmados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5" name="Rounded Rectangle 16"/>
          <p:cNvSpPr/>
          <p:nvPr/>
        </p:nvSpPr>
        <p:spPr>
          <a:xfrm>
            <a:off x="437400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6" name="Rectangle 17"/>
          <p:cNvSpPr/>
          <p:nvPr/>
        </p:nvSpPr>
        <p:spPr>
          <a:xfrm>
            <a:off x="4374000" y="1600200"/>
            <a:ext cx="54000" cy="34740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7" name="TextBox 18"/>
          <p:cNvSpPr/>
          <p:nvPr/>
        </p:nvSpPr>
        <p:spPr>
          <a:xfrm>
            <a:off x="45291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Base inicial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8" name="TextBox 19"/>
          <p:cNvSpPr/>
          <p:nvPr/>
        </p:nvSpPr>
        <p:spPr>
          <a:xfrm>
            <a:off x="4529160" y="2359080"/>
            <a:ext cx="3147840" cy="19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Hash do primeiro commit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Stack e funcionalidade mínima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Comando de execução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Comando e resultado do teste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9" name="Rounded Rectangle 20"/>
          <p:cNvSpPr/>
          <p:nvPr/>
        </p:nvSpPr>
        <p:spPr>
          <a:xfrm>
            <a:off x="8061840" y="1600200"/>
            <a:ext cx="3458880" cy="347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0" name="Rectangle 21"/>
          <p:cNvSpPr/>
          <p:nvPr/>
        </p:nvSpPr>
        <p:spPr>
          <a:xfrm>
            <a:off x="8061840" y="1600200"/>
            <a:ext cx="54000" cy="347400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1" name="TextBox 22"/>
          <p:cNvSpPr/>
          <p:nvPr/>
        </p:nvSpPr>
        <p:spPr>
          <a:xfrm>
            <a:off x="8217360" y="1764720"/>
            <a:ext cx="31478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1" lang="pt-BR" sz="190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2" name="TextBox 23"/>
          <p:cNvSpPr/>
          <p:nvPr/>
        </p:nvSpPr>
        <p:spPr>
          <a:xfrm>
            <a:off x="8217360" y="2359080"/>
            <a:ext cx="3147840" cy="16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Quem validou o clone limpo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Link/log da evidência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IA: uso e validação, se aplicada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b="0" lang="pt-BR" sz="1800" spc="-1" strike="noStrike">
                <a:solidFill>
                  <a:srgbClr val="0f172a"/>
                </a:solidFill>
                <a:latin typeface="Aptos"/>
              </a:rPr>
              <a:t>Próximo passo: pipeline CI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3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Evidência de Pipeline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4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3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5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06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3067" name="Rounded Rectangle 5"/>
          <p:cNvSpPr/>
          <p:nvPr/>
        </p:nvSpPr>
        <p:spPr>
          <a:xfrm>
            <a:off x="731520" y="1481400"/>
            <a:ext cx="10742040" cy="42040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8" name="TextBox 6"/>
          <p:cNvSpPr/>
          <p:nvPr/>
        </p:nvSpPr>
        <p:spPr>
          <a:xfrm>
            <a:off x="896040" y="1609200"/>
            <a:ext cx="1041300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Evidencia de Pipeline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Trigger utilizado: push / pull_request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Link ou print do pipeline: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Status: verde / vermelho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Teste que prova o comportamento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Nome do teste: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 que ele valida: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analisada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Uso de IA (se aplicavel)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feita: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69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3070" name="TextBox 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1" name="TextBox 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Checklist de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3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4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4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07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3076" name="Rounded Rectangle 5"/>
          <p:cNvSpPr/>
          <p:nvPr/>
        </p:nvSpPr>
        <p:spPr>
          <a:xfrm>
            <a:off x="731520" y="1481400"/>
            <a:ext cx="10742040" cy="42040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7" name="TextBox 6"/>
          <p:cNvSpPr/>
          <p:nvPr/>
        </p:nvSpPr>
        <p:spPr>
          <a:xfrm>
            <a:off x="896040" y="1609200"/>
            <a:ext cx="10413000" cy="23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Checklist de Containerizacao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Comando de subida: 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Porta exposta: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Variaveis obrigatorias: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Evidencia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Print/log da aplicacao respondendo: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Endpoint testado: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diagnosticada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78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3079" name="TextBox 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0" name="TextBox 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1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Mini Relatório de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2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6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3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08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3085" name="Rounded Rectangle 5"/>
          <p:cNvSpPr/>
          <p:nvPr/>
        </p:nvSpPr>
        <p:spPr>
          <a:xfrm>
            <a:off x="731520" y="1481400"/>
            <a:ext cx="10742040" cy="42040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6" name="TextBox 6"/>
          <p:cNvSpPr/>
          <p:nvPr/>
        </p:nvSpPr>
        <p:spPr>
          <a:xfrm>
            <a:off x="896040" y="1609200"/>
            <a:ext cx="10413000" cy="263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Mini Relatorio de Incidente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 observado: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inicial: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coletada (log/metrica):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 confirmada: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Prevencao futura: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Papel da IA (se usada):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Validacao humana: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87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3088" name="TextBox 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9" name="TextBox 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0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Comandos Rápidos para Consulta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1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Referência para destravar o laboratório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2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09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sp>
        <p:nvSpPr>
          <p:cNvPr id="3094" name="Rounded Rectangle 5"/>
          <p:cNvSpPr/>
          <p:nvPr/>
        </p:nvSpPr>
        <p:spPr>
          <a:xfrm>
            <a:off x="731520" y="1481400"/>
            <a:ext cx="10742040" cy="42040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5" name="TextBox 6"/>
          <p:cNvSpPr/>
          <p:nvPr/>
        </p:nvSpPr>
        <p:spPr>
          <a:xfrm>
            <a:off x="896040" y="1609200"/>
            <a:ext cx="1041300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Git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status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diff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-c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add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commit -m "tipo: mensagem"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-u origin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pull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tag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log --oneline --graph --decorate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CI/CD (conferir local antes do pipeline)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run 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Docker/Compose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build -t app:local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run --rm -p 3000:3000 app:local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logs -f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down -v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curl http://localhost:3000/health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96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3097" name="TextBox 8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8" name="TextBox 9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9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Básica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0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Os quatro livros de referência do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1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10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pic>
        <p:nvPicPr>
          <p:cNvPr id="3103" name="Picture 5" descr="continuous_delivery.jpg"/>
          <p:cNvPicPr/>
          <p:nvPr/>
        </p:nvPicPr>
        <p:blipFill>
          <a:blip r:embed="rId2"/>
          <a:stretch/>
        </p:blipFill>
        <p:spPr>
          <a:xfrm>
            <a:off x="1154520" y="1691640"/>
            <a:ext cx="1712520" cy="22838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104" name="TextBox 6"/>
          <p:cNvSpPr/>
          <p:nvPr/>
        </p:nvSpPr>
        <p:spPr>
          <a:xfrm>
            <a:off x="594360" y="4069080"/>
            <a:ext cx="28324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HUMBLE, J.; 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Continuous Delivery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2010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05" name="Picture 7" descr="devops_handbook.jpg"/>
          <p:cNvPicPr/>
          <p:nvPr/>
        </p:nvPicPr>
        <p:blipFill>
          <a:blip r:embed="rId3"/>
          <a:stretch/>
        </p:blipFill>
        <p:spPr>
          <a:xfrm>
            <a:off x="3917520" y="1691640"/>
            <a:ext cx="1489680" cy="22838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106" name="TextBox 8"/>
          <p:cNvSpPr/>
          <p:nvPr/>
        </p:nvSpPr>
        <p:spPr>
          <a:xfrm>
            <a:off x="3246120" y="4069080"/>
            <a:ext cx="28324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KIM, G. et 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The DevOps Handbook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IT Revolution,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07" name="Picture 9" descr="accelerate.jpg"/>
          <p:cNvPicPr/>
          <p:nvPr/>
        </p:nvPicPr>
        <p:blipFill>
          <a:blip r:embed="rId4"/>
          <a:stretch/>
        </p:blipFill>
        <p:spPr>
          <a:xfrm>
            <a:off x="6558480" y="1691640"/>
            <a:ext cx="1511280" cy="22838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108" name="TextBox 10"/>
          <p:cNvSpPr/>
          <p:nvPr/>
        </p:nvSpPr>
        <p:spPr>
          <a:xfrm>
            <a:off x="5897880" y="4069080"/>
            <a:ext cx="28324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FORSGREN, N.; HUMBLE, J.; KIM, G.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Accelerate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IT Revolution, 2018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09" name="Picture 11" descr="modern_swe.jpg"/>
          <p:cNvPicPr/>
          <p:nvPr/>
        </p:nvPicPr>
        <p:blipFill>
          <a:blip r:embed="rId5"/>
          <a:stretch/>
        </p:blipFill>
        <p:spPr>
          <a:xfrm>
            <a:off x="9041040" y="1691640"/>
            <a:ext cx="1849680" cy="22838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110" name="TextBox 12"/>
          <p:cNvSpPr/>
          <p:nvPr/>
        </p:nvSpPr>
        <p:spPr>
          <a:xfrm>
            <a:off x="8549640" y="4069080"/>
            <a:ext cx="28324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Modern Software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11" name="Picture 13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3112" name="TextBox 14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3" name="TextBox 15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140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4" name="TextBox 1"/>
          <p:cNvSpPr/>
          <p:nvPr/>
        </p:nvSpPr>
        <p:spPr>
          <a:xfrm>
            <a:off x="594360" y="320040"/>
            <a:ext cx="9873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Complementar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5" name="TextBox 2"/>
          <p:cNvSpPr/>
          <p:nvPr/>
        </p:nvSpPr>
        <p:spPr>
          <a:xfrm>
            <a:off x="621720" y="841320"/>
            <a:ext cx="98733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Aprofundamento em microsserviços, infraestrutura e operação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6" name="Rectangle 3"/>
          <p:cNvSpPr/>
          <p:nvPr/>
        </p:nvSpPr>
        <p:spPr>
          <a:xfrm>
            <a:off x="594360" y="1152000"/>
            <a:ext cx="1232280" cy="435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11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7560" cy="345240"/>
          </a:xfrm>
          <a:prstGeom prst="rect">
            <a:avLst/>
          </a:prstGeom>
          <a:ln w="0">
            <a:noFill/>
          </a:ln>
        </p:spPr>
      </p:pic>
      <p:pic>
        <p:nvPicPr>
          <p:cNvPr id="3118" name="Picture 5" descr="microservices.jpg"/>
          <p:cNvPicPr/>
          <p:nvPr/>
        </p:nvPicPr>
        <p:blipFill>
          <a:blip r:embed="rId2"/>
          <a:stretch/>
        </p:blipFill>
        <p:spPr>
          <a:xfrm>
            <a:off x="1447560" y="1600200"/>
            <a:ext cx="1491840" cy="19638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119" name="TextBox 6"/>
          <p:cNvSpPr/>
          <p:nvPr/>
        </p:nvSpPr>
        <p:spPr>
          <a:xfrm>
            <a:off x="777240" y="3657600"/>
            <a:ext cx="28324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NEWMAN, 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Building Microservices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20" name="Picture 7" descr="iac.jpg"/>
          <p:cNvPicPr/>
          <p:nvPr/>
        </p:nvPicPr>
        <p:blipFill>
          <a:blip r:embed="rId3"/>
          <a:stretch/>
        </p:blipFill>
        <p:spPr>
          <a:xfrm>
            <a:off x="5345280" y="1600200"/>
            <a:ext cx="1495800" cy="19638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121" name="TextBox 8"/>
          <p:cNvSpPr/>
          <p:nvPr/>
        </p:nvSpPr>
        <p:spPr>
          <a:xfrm>
            <a:off x="4677120" y="3657600"/>
            <a:ext cx="28324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MORRIS, K.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Infrastructure as Code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22" name="Picture 9" descr="sre.jpg"/>
          <p:cNvPicPr/>
          <p:nvPr/>
        </p:nvPicPr>
        <p:blipFill>
          <a:blip r:embed="rId4"/>
          <a:stretch/>
        </p:blipFill>
        <p:spPr>
          <a:xfrm>
            <a:off x="9245520" y="1600200"/>
            <a:ext cx="1495800" cy="19638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123" name="TextBox 10"/>
          <p:cNvSpPr/>
          <p:nvPr/>
        </p:nvSpPr>
        <p:spPr>
          <a:xfrm>
            <a:off x="8577000" y="3657600"/>
            <a:ext cx="28324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BEYER, B. et al. (org.)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Site Reliability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O'Reilly, 2016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4" name="Rounded Rectangle 11"/>
          <p:cNvSpPr/>
          <p:nvPr/>
        </p:nvSpPr>
        <p:spPr>
          <a:xfrm>
            <a:off x="685800" y="4572000"/>
            <a:ext cx="10833480" cy="182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5" name="Rectangle 12"/>
          <p:cNvSpPr/>
          <p:nvPr/>
        </p:nvSpPr>
        <p:spPr>
          <a:xfrm>
            <a:off x="685800" y="4572000"/>
            <a:ext cx="70920" cy="1826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6" name="TextBox 13"/>
          <p:cNvSpPr/>
          <p:nvPr/>
        </p:nvSpPr>
        <p:spPr>
          <a:xfrm>
            <a:off x="850320" y="4700160"/>
            <a:ext cx="1054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Ferramentas, métricas e governança de IA — referências online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7" name="TextBox 14"/>
          <p:cNvSpPr/>
          <p:nvPr/>
        </p:nvSpPr>
        <p:spPr>
          <a:xfrm>
            <a:off x="850320" y="5056560"/>
            <a:ext cx="1054080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DORA; Google Cloud. DORA's software delivery performance metrics.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GitHub. GitHub Actions documentation. | GitHub. GitHub Copilot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Docker. Docker Compose documentation. | HashiCorp. Terraform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OpenAI. Codex: AI coding agents for software engineering. | Google. Gemini Code Assist overview.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NIST. Artificial Intelligence Risk Management Framework (AI RMF 1.0), 2023.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OWASP. OWASP GenAI LLM Top 10 2026.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28" name="Picture 15" descr="Logo Unifor.png"/>
          <p:cNvPicPr/>
          <p:nvPr/>
        </p:nvPicPr>
        <p:blipFill>
          <a:blip r:embed="rId5"/>
          <a:stretch/>
        </p:blipFill>
        <p:spPr>
          <a:xfrm>
            <a:off x="594360" y="6473880"/>
            <a:ext cx="562320" cy="171720"/>
          </a:xfrm>
          <a:prstGeom prst="rect">
            <a:avLst/>
          </a:prstGeom>
          <a:ln w="0">
            <a:noFill/>
          </a:ln>
        </p:spPr>
      </p:pic>
      <p:sp>
        <p:nvSpPr>
          <p:cNvPr id="3129" name="TextBox 16"/>
          <p:cNvSpPr/>
          <p:nvPr/>
        </p:nvSpPr>
        <p:spPr>
          <a:xfrm>
            <a:off x="1298520" y="6446520"/>
            <a:ext cx="6581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0" name="TextBox 17"/>
          <p:cNvSpPr/>
          <p:nvPr/>
        </p:nvSpPr>
        <p:spPr>
          <a:xfrm>
            <a:off x="10972800" y="6446520"/>
            <a:ext cx="729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141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2026-09-11T15:50:09Z</dcterms:modified>
  <cp:revision>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