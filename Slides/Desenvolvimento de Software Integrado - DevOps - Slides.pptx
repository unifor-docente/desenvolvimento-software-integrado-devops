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350" r:id="rId108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351" r:id="rId109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  <p:sldId id="296" r:id="rId53"/>
    <p:sldId id="297" r:id="rId54"/>
    <p:sldId id="298" r:id="rId55"/>
    <p:sldId id="299" r:id="rId56"/>
    <p:sldId id="300" r:id="rId57"/>
    <p:sldId id="352" r:id="rId110"/>
    <p:sldId id="301" r:id="rId58"/>
    <p:sldId id="302" r:id="rId59"/>
    <p:sldId id="303" r:id="rId60"/>
    <p:sldId id="304" r:id="rId61"/>
    <p:sldId id="305" r:id="rId62"/>
    <p:sldId id="306" r:id="rId63"/>
    <p:sldId id="307" r:id="rId64"/>
    <p:sldId id="308" r:id="rId65"/>
    <p:sldId id="309" r:id="rId66"/>
    <p:sldId id="310" r:id="rId67"/>
    <p:sldId id="311" r:id="rId68"/>
    <p:sldId id="312" r:id="rId69"/>
    <p:sldId id="313" r:id="rId70"/>
    <p:sldId id="314" r:id="rId71"/>
    <p:sldId id="315" r:id="rId72"/>
    <p:sldId id="316" r:id="rId73"/>
    <p:sldId id="317" r:id="rId74"/>
    <p:sldId id="318" r:id="rId75"/>
    <p:sldId id="319" r:id="rId76"/>
    <p:sldId id="320" r:id="rId77"/>
    <p:sldId id="321" r:id="rId78"/>
    <p:sldId id="322" r:id="rId79"/>
    <p:sldId id="353" r:id="rId111"/>
    <p:sldId id="323" r:id="rId80"/>
    <p:sldId id="354" r:id="rId112"/>
    <p:sldId id="324" r:id="rId81"/>
    <p:sldId id="325" r:id="rId82"/>
    <p:sldId id="326" r:id="rId83"/>
    <p:sldId id="327" r:id="rId84"/>
    <p:sldId id="328" r:id="rId85"/>
    <p:sldId id="329" r:id="rId86"/>
    <p:sldId id="330" r:id="rId87"/>
    <p:sldId id="331" r:id="rId88"/>
    <p:sldId id="332" r:id="rId89"/>
    <p:sldId id="333" r:id="rId90"/>
    <p:sldId id="355" r:id="rId113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  <p:sldId id="348" r:id="rId105"/>
    <p:sldId id="349" r:id="rId106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Relationship Id="rId60" Type="http://schemas.openxmlformats.org/officeDocument/2006/relationships/slide" Target="slides/slide48.xml"/><Relationship Id="rId61" Type="http://schemas.openxmlformats.org/officeDocument/2006/relationships/slide" Target="slides/slide49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52.xml"/><Relationship Id="rId65" Type="http://schemas.openxmlformats.org/officeDocument/2006/relationships/slide" Target="slides/slide53.xml"/><Relationship Id="rId66" Type="http://schemas.openxmlformats.org/officeDocument/2006/relationships/slide" Target="slides/slide54.xml"/><Relationship Id="rId67" Type="http://schemas.openxmlformats.org/officeDocument/2006/relationships/slide" Target="slides/slide55.xml"/><Relationship Id="rId68" Type="http://schemas.openxmlformats.org/officeDocument/2006/relationships/slide" Target="slides/slide56.xml"/><Relationship Id="rId69" Type="http://schemas.openxmlformats.org/officeDocument/2006/relationships/slide" Target="slides/slide57.xml"/><Relationship Id="rId70" Type="http://schemas.openxmlformats.org/officeDocument/2006/relationships/slide" Target="slides/slide58.xml"/><Relationship Id="rId71" Type="http://schemas.openxmlformats.org/officeDocument/2006/relationships/slide" Target="slides/slide59.xml"/><Relationship Id="rId72" Type="http://schemas.openxmlformats.org/officeDocument/2006/relationships/slide" Target="slides/slide60.xml"/><Relationship Id="rId73" Type="http://schemas.openxmlformats.org/officeDocument/2006/relationships/slide" Target="slides/slide61.xml"/><Relationship Id="rId74" Type="http://schemas.openxmlformats.org/officeDocument/2006/relationships/slide" Target="slides/slide62.xml"/><Relationship Id="rId75" Type="http://schemas.openxmlformats.org/officeDocument/2006/relationships/slide" Target="slides/slide63.xml"/><Relationship Id="rId76" Type="http://schemas.openxmlformats.org/officeDocument/2006/relationships/slide" Target="slides/slide64.xml"/><Relationship Id="rId77" Type="http://schemas.openxmlformats.org/officeDocument/2006/relationships/slide" Target="slides/slide65.xml"/><Relationship Id="rId78" Type="http://schemas.openxmlformats.org/officeDocument/2006/relationships/slide" Target="slides/slide66.xml"/><Relationship Id="rId79" Type="http://schemas.openxmlformats.org/officeDocument/2006/relationships/slide" Target="slides/slide67.xml"/><Relationship Id="rId80" Type="http://schemas.openxmlformats.org/officeDocument/2006/relationships/slide" Target="slides/slide68.xml"/><Relationship Id="rId81" Type="http://schemas.openxmlformats.org/officeDocument/2006/relationships/slide" Target="slides/slide69.xml"/><Relationship Id="rId82" Type="http://schemas.openxmlformats.org/officeDocument/2006/relationships/slide" Target="slides/slide70.xml"/><Relationship Id="rId83" Type="http://schemas.openxmlformats.org/officeDocument/2006/relationships/slide" Target="slides/slide71.xml"/><Relationship Id="rId84" Type="http://schemas.openxmlformats.org/officeDocument/2006/relationships/slide" Target="slides/slide72.xml"/><Relationship Id="rId85" Type="http://schemas.openxmlformats.org/officeDocument/2006/relationships/slide" Target="slides/slide73.xml"/><Relationship Id="rId86" Type="http://schemas.openxmlformats.org/officeDocument/2006/relationships/slide" Target="slides/slide74.xml"/><Relationship Id="rId87" Type="http://schemas.openxmlformats.org/officeDocument/2006/relationships/slide" Target="slides/slide75.xml"/><Relationship Id="rId88" Type="http://schemas.openxmlformats.org/officeDocument/2006/relationships/slide" Target="slides/slide76.xml"/><Relationship Id="rId89" Type="http://schemas.openxmlformats.org/officeDocument/2006/relationships/slide" Target="slides/slide77.xml"/><Relationship Id="rId90" Type="http://schemas.openxmlformats.org/officeDocument/2006/relationships/slide" Target="slides/slide78.xml"/><Relationship Id="rId91" Type="http://schemas.openxmlformats.org/officeDocument/2006/relationships/slide" Target="slides/slide79.xml"/><Relationship Id="rId92" Type="http://schemas.openxmlformats.org/officeDocument/2006/relationships/slide" Target="slides/slide80.xml"/><Relationship Id="rId93" Type="http://schemas.openxmlformats.org/officeDocument/2006/relationships/slide" Target="slides/slide81.xml"/><Relationship Id="rId94" Type="http://schemas.openxmlformats.org/officeDocument/2006/relationships/slide" Target="slides/slide82.xml"/><Relationship Id="rId95" Type="http://schemas.openxmlformats.org/officeDocument/2006/relationships/slide" Target="slides/slide83.xml"/><Relationship Id="rId96" Type="http://schemas.openxmlformats.org/officeDocument/2006/relationships/slide" Target="slides/slide84.xml"/><Relationship Id="rId97" Type="http://schemas.openxmlformats.org/officeDocument/2006/relationships/slide" Target="slides/slide85.xml"/><Relationship Id="rId98" Type="http://schemas.openxmlformats.org/officeDocument/2006/relationships/slide" Target="slides/slide86.xml"/><Relationship Id="rId99" Type="http://schemas.openxmlformats.org/officeDocument/2006/relationships/slide" Target="slides/slide87.xml"/><Relationship Id="rId100" Type="http://schemas.openxmlformats.org/officeDocument/2006/relationships/slide" Target="slides/slide88.xml"/><Relationship Id="rId101" Type="http://schemas.openxmlformats.org/officeDocument/2006/relationships/slide" Target="slides/slide89.xml"/><Relationship Id="rId102" Type="http://schemas.openxmlformats.org/officeDocument/2006/relationships/slide" Target="slides/slide90.xml"/><Relationship Id="rId103" Type="http://schemas.openxmlformats.org/officeDocument/2006/relationships/slide" Target="slides/slide91.xml"/><Relationship Id="rId104" Type="http://schemas.openxmlformats.org/officeDocument/2006/relationships/slide" Target="slides/slide92.xml"/><Relationship Id="rId105" Type="http://schemas.openxmlformats.org/officeDocument/2006/relationships/slide" Target="slides/slide93.xml"/><Relationship Id="rId106" Type="http://schemas.openxmlformats.org/officeDocument/2006/relationships/slide" Target="slides/slide94.xml"/><Relationship Id="rId107" Type="http://schemas.openxmlformats.org/officeDocument/2006/relationships/presProps" Target="presProps.xml"/><Relationship Id="rId108" Type="http://schemas.openxmlformats.org/officeDocument/2006/relationships/slide" Target="slides/slide95.xml"/><Relationship Id="rId109" Type="http://schemas.openxmlformats.org/officeDocument/2006/relationships/slide" Target="slides/slide96.xml"/><Relationship Id="rId110" Type="http://schemas.openxmlformats.org/officeDocument/2006/relationships/slide" Target="slides/slide97.xml"/><Relationship Id="rId111" Type="http://schemas.openxmlformats.org/officeDocument/2006/relationships/slide" Target="slides/slide98.xml"/><Relationship Id="rId112" Type="http://schemas.openxmlformats.org/officeDocument/2006/relationships/slide" Target="slides/slide99.xml"/><Relationship Id="rId113" Type="http://schemas.openxmlformats.org/officeDocument/2006/relationships/slide" Target="slides/slide10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14EE661-F913-4ACB-859A-043AC2D8AE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0BC9E24-ABAD-4E47-AB4B-CDDE601DE5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D294C7A7-934E-42BB-A43D-F62361DFD7D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8373822-235A-4490-809B-09958A01E1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399A34D-FBA8-49D5-BB46-82EAE1B4ED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DC848AB0-7138-407B-A5D5-0A7482AF9E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8535F284-0B7F-41BA-9639-D168021081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FCFFB30-0EE6-4C55-AEBD-E7D9C8E734A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79D9A23-707D-49E7-97D2-E06D844C81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A0AE15DF-CA52-464C-87B1-68878EEDCE0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CAA07174-3C5E-425C-A73F-9A06022AD1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FB94AB9-260F-4BCC-AE77-DA3CB6B10BC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521A8F6-BAA9-4744-B968-F8B82BB9D111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C6CFA2-5204-4750-ACA7-0E920A6A8675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E01ECCE-BF36-49CB-AC51-6AC8BA3F41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785E61C-ECEA-4415-BEF8-70C9D8E234F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DCE418B-3F8E-4307-A09D-D68C5A70EBE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494BEEA-6170-4B84-AB7C-3EE8FDA4E9B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40F0E76-124C-4AFA-ABD8-4167B55B2E0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8C6CF99-AEF6-40BB-B12C-A8E71F408D5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Clique para editar o formato do texto do título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Clique para editar o formato de texto dos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2.º nível de tópicos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3.º nível de tópicos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4.º nível de tópicos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5.º nível de tópicos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6.º nível de tópicos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7.º nível de tópicos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7ADFF7-2D3F-48F6-812F-A77ECE42932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Clique para editar o formato de texto dos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2.º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3.º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4.º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5.º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6.º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7.º nível de tópicos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&lt;data/hora&gt;</a:t>
            </a:r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171F0F-28AB-4F81-AAF5-9B26ADB33BF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5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6.png"/><Relationship Id="rId15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6.png"/><Relationship Id="rId8" Type="http://schemas.openxmlformats.org/officeDocument/2006/relationships/image" Target="../media/image1.png"/><Relationship Id="rId9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6.png"/><Relationship Id="rId5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image40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3.png"/><Relationship Id="rId3" Type="http://schemas.openxmlformats.org/officeDocument/2006/relationships/image" Target="../media/image6.png"/><Relationship Id="rId4" Type="http://schemas.openxmlformats.org/officeDocument/2006/relationships/slideLayout" Target="../slideLayouts/slideLayout9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1.jpeg"/><Relationship Id="rId3" Type="http://schemas.openxmlformats.org/officeDocument/2006/relationships/image" Target="../media/image42.jpeg"/><Relationship Id="rId4" Type="http://schemas.openxmlformats.org/officeDocument/2006/relationships/image" Target="../media/image43.jpeg"/><Relationship Id="rId5" Type="http://schemas.openxmlformats.org/officeDocument/2006/relationships/image" Target="../media/image44.jpeg"/><Relationship Id="rId6" Type="http://schemas.openxmlformats.org/officeDocument/2006/relationships/image" Target="../media/image6.png"/><Relationship Id="rId7" Type="http://schemas.openxmlformats.org/officeDocument/2006/relationships/slideLayout" Target="../slideLayouts/slideLayout9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5.jpeg"/><Relationship Id="rId3" Type="http://schemas.openxmlformats.org/officeDocument/2006/relationships/image" Target="../media/image46.jpeg"/><Relationship Id="rId4" Type="http://schemas.openxmlformats.org/officeDocument/2006/relationships/image" Target="../media/image47.jpe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9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731520" y="1005840"/>
            <a:ext cx="106066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2700" spc="-1" strike="noStrike">
                <a:solidFill>
                  <a:srgbClr val="ffffff"/>
                </a:solidFill>
                <a:latin typeface="Aptos"/>
              </a:rPr>
              <a:t>Desenvolvimento de Software Integrado - DevOps</a:t>
            </a:r>
            <a:endParaRPr b="0" lang="pt-BR" sz="2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1508760" y="1737360"/>
            <a:ext cx="914364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ae5ed"/>
                </a:solidFill>
                <a:latin typeface="Aptos"/>
              </a:rPr>
              <a:t>Slides da disciplina | Turma 4 - Z251 | Semestre 2026.2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Rounded Rectangle 3"/>
          <p:cNvSpPr/>
          <p:nvPr/>
        </p:nvSpPr>
        <p:spPr>
          <a:xfrm>
            <a:off x="91440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" name="TextBox 4"/>
          <p:cNvSpPr/>
          <p:nvPr/>
        </p:nvSpPr>
        <p:spPr>
          <a:xfrm>
            <a:off x="91440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Rounded Rectangle 5"/>
          <p:cNvSpPr/>
          <p:nvPr/>
        </p:nvSpPr>
        <p:spPr>
          <a:xfrm>
            <a:off x="221292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221292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Rounded Rectangle 7"/>
          <p:cNvSpPr/>
          <p:nvPr/>
        </p:nvSpPr>
        <p:spPr>
          <a:xfrm>
            <a:off x="351144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351144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Rounded Rectangle 9"/>
          <p:cNvSpPr/>
          <p:nvPr/>
        </p:nvSpPr>
        <p:spPr>
          <a:xfrm>
            <a:off x="480960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480960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Rounded Rectangle 11"/>
          <p:cNvSpPr/>
          <p:nvPr/>
        </p:nvSpPr>
        <p:spPr>
          <a:xfrm>
            <a:off x="610812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10812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Rounded Rectangle 13"/>
          <p:cNvSpPr/>
          <p:nvPr/>
        </p:nvSpPr>
        <p:spPr>
          <a:xfrm>
            <a:off x="740664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" name="TextBox 14"/>
          <p:cNvSpPr/>
          <p:nvPr/>
        </p:nvSpPr>
        <p:spPr>
          <a:xfrm>
            <a:off x="740664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Rounded Rectangle 15"/>
          <p:cNvSpPr/>
          <p:nvPr/>
        </p:nvSpPr>
        <p:spPr>
          <a:xfrm>
            <a:off x="870516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" name="TextBox 16"/>
          <p:cNvSpPr/>
          <p:nvPr/>
        </p:nvSpPr>
        <p:spPr>
          <a:xfrm>
            <a:off x="870516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Rounded Rectangle 17"/>
          <p:cNvSpPr/>
          <p:nvPr/>
        </p:nvSpPr>
        <p:spPr>
          <a:xfrm>
            <a:off x="10003680" y="3246120"/>
            <a:ext cx="987120" cy="52992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TextBox 18"/>
          <p:cNvSpPr/>
          <p:nvPr/>
        </p:nvSpPr>
        <p:spPr>
          <a:xfrm>
            <a:off x="10003680" y="3401640"/>
            <a:ext cx="9871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20"/>
          <p:cNvSpPr/>
          <p:nvPr/>
        </p:nvSpPr>
        <p:spPr>
          <a:xfrm>
            <a:off x="4983480" y="6217920"/>
            <a:ext cx="22399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ae5ed"/>
                </a:solidFill>
                <a:latin typeface="Aptos"/>
              </a:rPr>
              <a:t>Arimatéia Júnior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6" name="Picture 21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Sobre o Professor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Quem conduz 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91" name="Picture 5" descr="Foto Perfil JR.png"/>
          <p:cNvPicPr/>
          <p:nvPr/>
        </p:nvPicPr>
        <p:blipFill>
          <a:blip r:embed="rId2"/>
          <a:stretch/>
        </p:blipFill>
        <p:spPr>
          <a:xfrm>
            <a:off x="800280" y="1508760"/>
            <a:ext cx="3062880" cy="306288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92" name="TextBox 6"/>
          <p:cNvSpPr/>
          <p:nvPr/>
        </p:nvSpPr>
        <p:spPr>
          <a:xfrm>
            <a:off x="914400" y="4663440"/>
            <a:ext cx="2834280" cy="63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132b42"/>
                </a:solidFill>
                <a:latin typeface="Aptos"/>
              </a:rPr>
              <a:t>Arimatéia Júnior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30" spc="-1" strike="noStrike">
                <a:solidFill>
                  <a:srgbClr val="5e6c7a"/>
                </a:solidFill>
                <a:latin typeface="Aptos"/>
              </a:rPr>
              <a:t>Professor - Desenvolvimento de Software Integrado - DevOps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Rounded Rectangle 7"/>
          <p:cNvSpPr/>
          <p:nvPr/>
        </p:nvSpPr>
        <p:spPr>
          <a:xfrm>
            <a:off x="4846320" y="1508760"/>
            <a:ext cx="6446160" cy="1691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" name="Rectangle 8"/>
          <p:cNvSpPr/>
          <p:nvPr/>
        </p:nvSpPr>
        <p:spPr>
          <a:xfrm>
            <a:off x="4846320" y="1508760"/>
            <a:ext cx="72720" cy="16912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" name="TextBox 9"/>
          <p:cNvSpPr/>
          <p:nvPr/>
        </p:nvSpPr>
        <p:spPr>
          <a:xfrm>
            <a:off x="5010840" y="1636920"/>
            <a:ext cx="6153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Formação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" name="Picture 10" descr="ic_grad.png"/>
          <p:cNvPicPr/>
          <p:nvPr/>
        </p:nvPicPr>
        <p:blipFill>
          <a:blip r:embed="rId3"/>
          <a:stretch/>
        </p:blipFill>
        <p:spPr>
          <a:xfrm>
            <a:off x="501084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97" name="TextBox 11"/>
          <p:cNvSpPr/>
          <p:nvPr/>
        </p:nvSpPr>
        <p:spPr>
          <a:xfrm>
            <a:off x="5010840" y="2312280"/>
            <a:ext cx="615348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Pós-graduado em Engenharia de Software com ênfase em DevOps — UNIFOR (2025).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MBA em Arquitetura de Software e Soluções — XP Educação (2023).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Especialização em Segurança da Informação — UNINASSAU (2021).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Formado em Redes de Computadores — Faculdade Lourenço Filho (2014).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12"/>
          <p:cNvSpPr/>
          <p:nvPr/>
        </p:nvSpPr>
        <p:spPr>
          <a:xfrm>
            <a:off x="4846320" y="3337560"/>
            <a:ext cx="3131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" name="Rectangle 13"/>
          <p:cNvSpPr/>
          <p:nvPr/>
        </p:nvSpPr>
        <p:spPr>
          <a:xfrm>
            <a:off x="4846320" y="3337560"/>
            <a:ext cx="72720" cy="1737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TextBox 14"/>
          <p:cNvSpPr/>
          <p:nvPr/>
        </p:nvSpPr>
        <p:spPr>
          <a:xfrm>
            <a:off x="5010840" y="3465720"/>
            <a:ext cx="283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Experiência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Picture 15" descr="ic_briefcase.png"/>
          <p:cNvPicPr/>
          <p:nvPr/>
        </p:nvPicPr>
        <p:blipFill>
          <a:blip r:embed="rId4"/>
          <a:stretch/>
        </p:blipFill>
        <p:spPr>
          <a:xfrm>
            <a:off x="5010840" y="38131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102" name="TextBox 16"/>
          <p:cNvSpPr/>
          <p:nvPr/>
        </p:nvSpPr>
        <p:spPr>
          <a:xfrm>
            <a:off x="5010840" y="4270320"/>
            <a:ext cx="2838960" cy="74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Arquiteto de Software e Soluções — TIVIT (cliente Petrobras).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Consultor de Tecnologia — ARI JR Technology.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ounded Rectangle 17"/>
          <p:cNvSpPr/>
          <p:nvPr/>
        </p:nvSpPr>
        <p:spPr>
          <a:xfrm>
            <a:off x="8160840" y="3337560"/>
            <a:ext cx="3131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" name="Rectangle 18"/>
          <p:cNvSpPr/>
          <p:nvPr/>
        </p:nvSpPr>
        <p:spPr>
          <a:xfrm>
            <a:off x="8160840" y="3337560"/>
            <a:ext cx="72720" cy="1737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8325720" y="3465720"/>
            <a:ext cx="2838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Certificações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6" name="Picture 20" descr="ic_medal.png"/>
          <p:cNvPicPr/>
          <p:nvPr/>
        </p:nvPicPr>
        <p:blipFill>
          <a:blip r:embed="rId5"/>
          <a:stretch/>
        </p:blipFill>
        <p:spPr>
          <a:xfrm>
            <a:off x="8325720" y="38131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107" name="TextBox 21"/>
          <p:cNvSpPr/>
          <p:nvPr/>
        </p:nvSpPr>
        <p:spPr>
          <a:xfrm>
            <a:off x="8325720" y="4270320"/>
            <a:ext cx="28389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Microsoft, AWS, Google Cloud, Oracle e VMware.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ounded Rectangle 22"/>
          <p:cNvSpPr/>
          <p:nvPr/>
        </p:nvSpPr>
        <p:spPr>
          <a:xfrm>
            <a:off x="4846320" y="5212080"/>
            <a:ext cx="6493680" cy="907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Rectangle 23"/>
          <p:cNvSpPr/>
          <p:nvPr/>
        </p:nvSpPr>
        <p:spPr>
          <a:xfrm>
            <a:off x="4846320" y="5212080"/>
            <a:ext cx="72720" cy="54828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" name="TextBox 24"/>
          <p:cNvSpPr/>
          <p:nvPr/>
        </p:nvSpPr>
        <p:spPr>
          <a:xfrm>
            <a:off x="5010840" y="5340240"/>
            <a:ext cx="6153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Sobre mim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25"/>
          <p:cNvSpPr/>
          <p:nvPr/>
        </p:nvSpPr>
        <p:spPr>
          <a:xfrm>
            <a:off x="5010840" y="5651280"/>
            <a:ext cx="61534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Apaixonado por família, tecnologia e futebol.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" name="Picture 26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3" name="TextBox 27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Box 28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Visão Geral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24h em seis encontros: cultura, automação, entrega, operação e IA aplicada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ounded Rectangle 4"/>
          <p:cNvSpPr/>
          <p:nvPr/>
        </p:nvSpPr>
        <p:spPr>
          <a:xfrm>
            <a:off x="685800" y="150876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" name="Rectangle 5"/>
          <p:cNvSpPr/>
          <p:nvPr/>
        </p:nvSpPr>
        <p:spPr>
          <a:xfrm>
            <a:off x="685800" y="1508760"/>
            <a:ext cx="72720" cy="1828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85032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Objetivo da turma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7"/>
          <p:cNvSpPr/>
          <p:nvPr/>
        </p:nvSpPr>
        <p:spPr>
          <a:xfrm>
            <a:off x="850320" y="2011680"/>
            <a:ext cx="31359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Conectar desenvolvimento, qualidade e operação em um fluxo único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Trabalhar com artefatos reais: repositório, pipeline, containers, evidências 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Fechar com projeto integrador e uso responsável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ounded Rectangle 8"/>
          <p:cNvSpPr/>
          <p:nvPr/>
        </p:nvSpPr>
        <p:spPr>
          <a:xfrm>
            <a:off x="4389120" y="150876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4389120" y="1508760"/>
            <a:ext cx="72720" cy="1828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455364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Eixo prático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4553640" y="2011680"/>
            <a:ext cx="31359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Diagnóstico + IA no SDLC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Git, PR e revisão assistida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CI, testes e qualidade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Docker/Compose e troubleshooting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CD, segurança, observabilidade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ounded Rectangle 12"/>
          <p:cNvSpPr/>
          <p:nvPr/>
        </p:nvSpPr>
        <p:spPr>
          <a:xfrm>
            <a:off x="8092440" y="150876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Rectangle 13"/>
          <p:cNvSpPr/>
          <p:nvPr/>
        </p:nvSpPr>
        <p:spPr>
          <a:xfrm>
            <a:off x="8092440" y="1508760"/>
            <a:ext cx="72720" cy="18284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" name="TextBox 14"/>
          <p:cNvSpPr/>
          <p:nvPr/>
        </p:nvSpPr>
        <p:spPr>
          <a:xfrm>
            <a:off x="825696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 esperado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TextBox 15"/>
          <p:cNvSpPr/>
          <p:nvPr/>
        </p:nvSpPr>
        <p:spPr>
          <a:xfrm>
            <a:off x="8256960" y="2011680"/>
            <a:ext cx="313596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Aplicação executável em ambiente reproduzível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Pipeline com validações e evidências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Uso de IA documentado e validado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Release/rollback ou plano de rollback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20" spc="-1" strike="noStrike">
                <a:solidFill>
                  <a:srgbClr val="0f172a"/>
                </a:solidFill>
                <a:latin typeface="Aptos"/>
              </a:rPr>
              <a:t>Evidências de operação e melhoria</a:t>
            </a:r>
            <a:endParaRPr b="0" lang="pt-BR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ounded Rectangle 16"/>
          <p:cNvSpPr/>
          <p:nvPr/>
        </p:nvSpPr>
        <p:spPr>
          <a:xfrm>
            <a:off x="685800" y="3794760"/>
            <a:ext cx="10835280" cy="13712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" name="Rectangle 17"/>
          <p:cNvSpPr/>
          <p:nvPr/>
        </p:nvSpPr>
        <p:spPr>
          <a:xfrm>
            <a:off x="685800" y="3794760"/>
            <a:ext cx="72720" cy="13712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" name="TextBox 18"/>
          <p:cNvSpPr/>
          <p:nvPr/>
        </p:nvSpPr>
        <p:spPr>
          <a:xfrm>
            <a:off x="850320" y="392292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orientadora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TextBox 19"/>
          <p:cNvSpPr/>
          <p:nvPr/>
        </p:nvSpPr>
        <p:spPr>
          <a:xfrm>
            <a:off x="850320" y="4297680"/>
            <a:ext cx="105426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transformar uma aplicação em um produto entregável, observável, seguro e evolutivo usando DevOps e IA com validação humana?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6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37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Objetivos de Aprendizagem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você deve conseguir fazer ao final da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2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Compreender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cultura DevOps e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gargalos entre desenvolvimento, qualidade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Relacionar métricas, feedback e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Construir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12"/>
          <p:cNvSpPr/>
          <p:nvPr/>
        </p:nvSpPr>
        <p:spPr>
          <a:xfrm>
            <a:off x="4553640" y="1993320"/>
            <a:ext cx="31359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Git e PRs com revisão objetiva.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de CI com testes e artefatos.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uma aplicação e padronizar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Planejar CD com segurança básica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2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Avaliar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criticamente no SDLC.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logs, falhas, riscos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Defender o projeto final com evidências executáveis.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55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Linha do Tempo dos Encontros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Datas oficiais da turma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" name="Rounded Rectangle 4"/>
          <p:cNvSpPr/>
          <p:nvPr/>
        </p:nvSpPr>
        <p:spPr>
          <a:xfrm>
            <a:off x="685800" y="150876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" name="Rectangle 5"/>
          <p:cNvSpPr/>
          <p:nvPr/>
        </p:nvSpPr>
        <p:spPr>
          <a:xfrm>
            <a:off x="685800" y="1508760"/>
            <a:ext cx="72720" cy="1416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" name="TextBox 6"/>
          <p:cNvSpPr/>
          <p:nvPr/>
        </p:nvSpPr>
        <p:spPr>
          <a:xfrm>
            <a:off x="85032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10/09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7"/>
          <p:cNvSpPr/>
          <p:nvPr/>
        </p:nvSpPr>
        <p:spPr>
          <a:xfrm>
            <a:off x="850320" y="201168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Cultura DevOps, IA no SDLC e 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8"/>
          <p:cNvSpPr/>
          <p:nvPr/>
        </p:nvSpPr>
        <p:spPr>
          <a:xfrm>
            <a:off x="4434840" y="150876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Rectangle 9"/>
          <p:cNvSpPr/>
          <p:nvPr/>
        </p:nvSpPr>
        <p:spPr>
          <a:xfrm>
            <a:off x="4434840" y="1508760"/>
            <a:ext cx="72720" cy="1416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459936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11/09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11"/>
          <p:cNvSpPr/>
          <p:nvPr/>
        </p:nvSpPr>
        <p:spPr>
          <a:xfrm>
            <a:off x="4599360" y="201168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Git, colaboração, qualidade e IA assistida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Rounded Rectangle 12"/>
          <p:cNvSpPr/>
          <p:nvPr/>
        </p:nvSpPr>
        <p:spPr>
          <a:xfrm>
            <a:off x="8183880" y="150876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" name="Rectangle 13"/>
          <p:cNvSpPr/>
          <p:nvPr/>
        </p:nvSpPr>
        <p:spPr>
          <a:xfrm>
            <a:off x="8183880" y="1508760"/>
            <a:ext cx="72720" cy="1416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" name="TextBox 14"/>
          <p:cNvSpPr/>
          <p:nvPr/>
        </p:nvSpPr>
        <p:spPr>
          <a:xfrm>
            <a:off x="8348400" y="163692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12/09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Box 15"/>
          <p:cNvSpPr/>
          <p:nvPr/>
        </p:nvSpPr>
        <p:spPr>
          <a:xfrm>
            <a:off x="8348400" y="201168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CI, testes automatizados e IA para automação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Rounded Rectangle 16"/>
          <p:cNvSpPr/>
          <p:nvPr/>
        </p:nvSpPr>
        <p:spPr>
          <a:xfrm>
            <a:off x="685800" y="347472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" name="Rectangle 17"/>
          <p:cNvSpPr/>
          <p:nvPr/>
        </p:nvSpPr>
        <p:spPr>
          <a:xfrm>
            <a:off x="685800" y="3474720"/>
            <a:ext cx="72720" cy="14169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" name="TextBox 18"/>
          <p:cNvSpPr/>
          <p:nvPr/>
        </p:nvSpPr>
        <p:spPr>
          <a:xfrm>
            <a:off x="850320" y="36028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24/09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9"/>
          <p:cNvSpPr/>
          <p:nvPr/>
        </p:nvSpPr>
        <p:spPr>
          <a:xfrm>
            <a:off x="850320" y="397764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Containers, integração e troubleshooting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20"/>
          <p:cNvSpPr/>
          <p:nvPr/>
        </p:nvSpPr>
        <p:spPr>
          <a:xfrm>
            <a:off x="4434840" y="347472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" name="Rectangle 21"/>
          <p:cNvSpPr/>
          <p:nvPr/>
        </p:nvSpPr>
        <p:spPr>
          <a:xfrm>
            <a:off x="4434840" y="3474720"/>
            <a:ext cx="72720" cy="14169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" name="TextBox 22"/>
          <p:cNvSpPr/>
          <p:nvPr/>
        </p:nvSpPr>
        <p:spPr>
          <a:xfrm>
            <a:off x="4599360" y="36028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25/09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Box 23"/>
          <p:cNvSpPr/>
          <p:nvPr/>
        </p:nvSpPr>
        <p:spPr>
          <a:xfrm>
            <a:off x="4599360" y="397764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CD, configuração, segurança e governança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Rounded Rectangle 24"/>
          <p:cNvSpPr/>
          <p:nvPr/>
        </p:nvSpPr>
        <p:spPr>
          <a:xfrm>
            <a:off x="8183880" y="3474720"/>
            <a:ext cx="3428640" cy="1416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1" name="Rectangle 25"/>
          <p:cNvSpPr/>
          <p:nvPr/>
        </p:nvSpPr>
        <p:spPr>
          <a:xfrm>
            <a:off x="8183880" y="3474720"/>
            <a:ext cx="72720" cy="14169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2" name="TextBox 26"/>
          <p:cNvSpPr/>
          <p:nvPr/>
        </p:nvSpPr>
        <p:spPr>
          <a:xfrm>
            <a:off x="8348400" y="36028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26/09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Box 27"/>
          <p:cNvSpPr/>
          <p:nvPr/>
        </p:nvSpPr>
        <p:spPr>
          <a:xfrm>
            <a:off x="8348400" y="397764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Observabilidade, IA aplicada e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TextBox 28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Box 29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6" name="Picture 30" descr="e1_magnifier_dark.png"/>
          <p:cNvPicPr/>
          <p:nvPr/>
        </p:nvPicPr>
        <p:blipFill>
          <a:blip r:embed="rId1"/>
          <a:stretch/>
        </p:blipFill>
        <p:spPr>
          <a:xfrm>
            <a:off x="3593520" y="161856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87" name="Picture 31" descr="e2_git_dark.png"/>
          <p:cNvPicPr/>
          <p:nvPr/>
        </p:nvPicPr>
        <p:blipFill>
          <a:blip r:embed="rId2"/>
          <a:stretch/>
        </p:blipFill>
        <p:spPr>
          <a:xfrm>
            <a:off x="7342560" y="161856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88" name="Picture 32" descr="e3_refresh_dark.png"/>
          <p:cNvPicPr/>
          <p:nvPr/>
        </p:nvPicPr>
        <p:blipFill>
          <a:blip r:embed="rId3"/>
          <a:stretch/>
        </p:blipFill>
        <p:spPr>
          <a:xfrm>
            <a:off x="11091600" y="161856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89" name="Picture 33" descr="e4_container_dark.png"/>
          <p:cNvPicPr/>
          <p:nvPr/>
        </p:nvPicPr>
        <p:blipFill>
          <a:blip r:embed="rId4"/>
          <a:stretch/>
        </p:blipFill>
        <p:spPr>
          <a:xfrm>
            <a:off x="3593520" y="358452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90" name="Picture 34" descr="e5_shield_dark.png"/>
          <p:cNvPicPr/>
          <p:nvPr/>
        </p:nvPicPr>
        <p:blipFill>
          <a:blip r:embed="rId5"/>
          <a:stretch/>
        </p:blipFill>
        <p:spPr>
          <a:xfrm>
            <a:off x="7342560" y="358452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91" name="Picture 35" descr="e6_pulse_dark.png"/>
          <p:cNvPicPr/>
          <p:nvPr/>
        </p:nvPicPr>
        <p:blipFill>
          <a:blip r:embed="rId6"/>
          <a:stretch/>
        </p:blipFill>
        <p:spPr>
          <a:xfrm>
            <a:off x="11091600" y="3584520"/>
            <a:ext cx="383760" cy="383760"/>
          </a:xfrm>
          <a:prstGeom prst="rect">
            <a:avLst/>
          </a:prstGeom>
          <a:ln w="0">
            <a:noFill/>
          </a:ln>
        </p:spPr>
      </p:pic>
      <p:pic>
        <p:nvPicPr>
          <p:cNvPr id="192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93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fluxo DevOps completo em pequena escala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7" name="Rounded Rectangle 4"/>
          <p:cNvSpPr/>
          <p:nvPr/>
        </p:nvSpPr>
        <p:spPr>
          <a:xfrm>
            <a:off x="68580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98" name="TextBox 5"/>
          <p:cNvSpPr/>
          <p:nvPr/>
        </p:nvSpPr>
        <p:spPr>
          <a:xfrm>
            <a:off x="68580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Repositório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TextBox 6"/>
          <p:cNvSpPr/>
          <p:nvPr/>
        </p:nvSpPr>
        <p:spPr>
          <a:xfrm>
            <a:off x="2084760" y="1783080"/>
            <a:ext cx="365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Rounded Rectangle 7"/>
          <p:cNvSpPr/>
          <p:nvPr/>
        </p:nvSpPr>
        <p:spPr>
          <a:xfrm>
            <a:off x="256032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1" name="TextBox 8"/>
          <p:cNvSpPr/>
          <p:nvPr/>
        </p:nvSpPr>
        <p:spPr>
          <a:xfrm>
            <a:off x="256032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Pipeline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Box 9"/>
          <p:cNvSpPr/>
          <p:nvPr/>
        </p:nvSpPr>
        <p:spPr>
          <a:xfrm>
            <a:off x="3959280" y="1783080"/>
            <a:ext cx="365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Rounded Rectangle 10"/>
          <p:cNvSpPr/>
          <p:nvPr/>
        </p:nvSpPr>
        <p:spPr>
          <a:xfrm>
            <a:off x="443484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4" name="TextBox 11"/>
          <p:cNvSpPr/>
          <p:nvPr/>
        </p:nvSpPr>
        <p:spPr>
          <a:xfrm>
            <a:off x="443484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Imagem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Box 12"/>
          <p:cNvSpPr/>
          <p:nvPr/>
        </p:nvSpPr>
        <p:spPr>
          <a:xfrm>
            <a:off x="5833800" y="1783080"/>
            <a:ext cx="365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Rounded Rectangle 13"/>
          <p:cNvSpPr/>
          <p:nvPr/>
        </p:nvSpPr>
        <p:spPr>
          <a:xfrm>
            <a:off x="630936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07" name="TextBox 14"/>
          <p:cNvSpPr/>
          <p:nvPr/>
        </p:nvSpPr>
        <p:spPr>
          <a:xfrm>
            <a:off x="630936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Ambiente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7708320" y="1783080"/>
            <a:ext cx="365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Rounded Rectangle 16"/>
          <p:cNvSpPr/>
          <p:nvPr/>
        </p:nvSpPr>
        <p:spPr>
          <a:xfrm>
            <a:off x="818388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0" name="TextBox 17"/>
          <p:cNvSpPr/>
          <p:nvPr/>
        </p:nvSpPr>
        <p:spPr>
          <a:xfrm>
            <a:off x="818388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TextBox 18"/>
          <p:cNvSpPr/>
          <p:nvPr/>
        </p:nvSpPr>
        <p:spPr>
          <a:xfrm>
            <a:off x="9582840" y="1783080"/>
            <a:ext cx="36540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5e6c7a"/>
                </a:solidFill>
                <a:latin typeface="Aptos"/>
              </a:rPr>
              <a:t>&gt;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Rounded Rectangle 19"/>
          <p:cNvSpPr/>
          <p:nvPr/>
        </p:nvSpPr>
        <p:spPr>
          <a:xfrm>
            <a:off x="10058400" y="1600200"/>
            <a:ext cx="1352880" cy="65808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3" name="TextBox 20"/>
          <p:cNvSpPr/>
          <p:nvPr/>
        </p:nvSpPr>
        <p:spPr>
          <a:xfrm>
            <a:off x="10058400" y="1810440"/>
            <a:ext cx="135288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050" spc="-1" strike="noStrike">
                <a:solidFill>
                  <a:srgbClr val="ffffff"/>
                </a:solidFill>
                <a:latin typeface="Aptos"/>
              </a:rPr>
              <a:t>Observabilidade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Rounded Rectangle 21"/>
          <p:cNvSpPr/>
          <p:nvPr/>
        </p:nvSpPr>
        <p:spPr>
          <a:xfrm>
            <a:off x="685800" y="278892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5" name="Rectangle 22"/>
          <p:cNvSpPr/>
          <p:nvPr/>
        </p:nvSpPr>
        <p:spPr>
          <a:xfrm>
            <a:off x="685800" y="2788920"/>
            <a:ext cx="72720" cy="17827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6" name="TextBox 23"/>
          <p:cNvSpPr/>
          <p:nvPr/>
        </p:nvSpPr>
        <p:spPr>
          <a:xfrm>
            <a:off x="850320" y="29170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Artefatos mínimos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Box 24"/>
          <p:cNvSpPr/>
          <p:nvPr/>
        </p:nvSpPr>
        <p:spPr>
          <a:xfrm>
            <a:off x="850320" y="329184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versionado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build/teste/release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uso de IA quando aplicado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Rounded Rectangle 25"/>
          <p:cNvSpPr/>
          <p:nvPr/>
        </p:nvSpPr>
        <p:spPr>
          <a:xfrm>
            <a:off x="4389120" y="278892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9" name="Rectangle 26"/>
          <p:cNvSpPr/>
          <p:nvPr/>
        </p:nvSpPr>
        <p:spPr>
          <a:xfrm>
            <a:off x="4389120" y="2788920"/>
            <a:ext cx="72720" cy="17827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0" name="TextBox 27"/>
          <p:cNvSpPr/>
          <p:nvPr/>
        </p:nvSpPr>
        <p:spPr>
          <a:xfrm>
            <a:off x="4553640" y="29170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Critérios técnicos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Box 28"/>
          <p:cNvSpPr/>
          <p:nvPr/>
        </p:nvSpPr>
        <p:spPr>
          <a:xfrm>
            <a:off x="4553640" y="329184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rastreável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visível e tratável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ou plano de 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teste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Rounded Rectangle 29"/>
          <p:cNvSpPr/>
          <p:nvPr/>
        </p:nvSpPr>
        <p:spPr>
          <a:xfrm>
            <a:off x="8092440" y="278892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3" name="Rectangle 30"/>
          <p:cNvSpPr/>
          <p:nvPr/>
        </p:nvSpPr>
        <p:spPr>
          <a:xfrm>
            <a:off x="8092440" y="2788920"/>
            <a:ext cx="72720" cy="17827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24" name="TextBox 31"/>
          <p:cNvSpPr/>
          <p:nvPr/>
        </p:nvSpPr>
        <p:spPr>
          <a:xfrm>
            <a:off x="8256960" y="29170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Defesa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Box 32"/>
          <p:cNvSpPr/>
          <p:nvPr/>
        </p:nvSpPr>
        <p:spPr>
          <a:xfrm>
            <a:off x="8256960" y="329184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técnicas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crítico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Box 33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34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8" name="Picture 35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229" name="Picture 36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TextBox 1"/>
          <p:cNvSpPr/>
          <p:nvPr/>
        </p:nvSpPr>
        <p:spPr>
          <a:xfrm>
            <a:off x="594360" y="320040"/>
            <a:ext cx="98751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Projeto Integrador - Incrementos por Encontro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único projeto evolui ao longo dos seis encontros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234" name="Rounded Rectangle 5"/>
          <p:cNvSpPr/>
          <p:nvPr/>
        </p:nvSpPr>
        <p:spPr>
          <a:xfrm>
            <a:off x="68580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5" name="Rectangle 6"/>
          <p:cNvSpPr/>
          <p:nvPr/>
        </p:nvSpPr>
        <p:spPr>
          <a:xfrm>
            <a:off x="685800" y="1508760"/>
            <a:ext cx="72720" cy="2313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6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Incrementos por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E1: diagnóstico e proposta priorizada.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E2: repositório, PR e tag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E3: pipeline CI com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E4: execução com Docker/Compose.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E5: release, rollback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E6: observabilidade e defesa.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Rounded Rectangle 9"/>
          <p:cNvSpPr/>
          <p:nvPr/>
        </p:nvSpPr>
        <p:spPr>
          <a:xfrm>
            <a:off x="438912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39" name="Rectangle 10"/>
          <p:cNvSpPr/>
          <p:nvPr/>
        </p:nvSpPr>
        <p:spPr>
          <a:xfrm>
            <a:off x="4389120" y="1508760"/>
            <a:ext cx="72720" cy="2313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0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Critério de escolha da aplicação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pequena, mas realista.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ter build, teste e execução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Ideal ter API + dependência externa ou banco.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stack complexa que consuma 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13"/>
          <p:cNvSpPr/>
          <p:nvPr/>
        </p:nvSpPr>
        <p:spPr>
          <a:xfrm>
            <a:off x="809244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3" name="Rectangle 14"/>
          <p:cNvSpPr/>
          <p:nvPr/>
        </p:nvSpPr>
        <p:spPr>
          <a:xfrm>
            <a:off x="8092440" y="1508760"/>
            <a:ext cx="72720" cy="231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44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 mínima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Print/log de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release/rollback.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IA, quando aplicado.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247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e Ambiente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ter pronto antes do primeiro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25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253" name="Rounded Rectangle 5"/>
          <p:cNvSpPr/>
          <p:nvPr/>
        </p:nvSpPr>
        <p:spPr>
          <a:xfrm>
            <a:off x="685800" y="1508760"/>
            <a:ext cx="3428640" cy="260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4" name="Rectangle 6"/>
          <p:cNvSpPr/>
          <p:nvPr/>
        </p:nvSpPr>
        <p:spPr>
          <a:xfrm>
            <a:off x="685800" y="1508760"/>
            <a:ext cx="72720" cy="26056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55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Essencial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6" name="Picture 8" descr="git.png"/>
          <p:cNvPicPr/>
          <p:nvPr/>
        </p:nvPicPr>
        <p:blipFill>
          <a:blip r:embed="rId2"/>
          <a:stretch/>
        </p:blipFill>
        <p:spPr>
          <a:xfrm>
            <a:off x="85032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57" name="Picture 9" descr="github.png"/>
          <p:cNvPicPr/>
          <p:nvPr/>
        </p:nvPicPr>
        <p:blipFill>
          <a:blip r:embed="rId3"/>
          <a:stretch/>
        </p:blipFill>
        <p:spPr>
          <a:xfrm>
            <a:off x="134424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58" name="Picture 10" descr="gitlab.png"/>
          <p:cNvPicPr/>
          <p:nvPr/>
        </p:nvPicPr>
        <p:blipFill>
          <a:blip r:embed="rId4"/>
          <a:stretch/>
        </p:blipFill>
        <p:spPr>
          <a:xfrm>
            <a:off x="183780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59" name="Picture 11" descr="docker.png"/>
          <p:cNvPicPr/>
          <p:nvPr/>
        </p:nvPicPr>
        <p:blipFill>
          <a:blip r:embed="rId5"/>
          <a:stretch/>
        </p:blipFill>
        <p:spPr>
          <a:xfrm>
            <a:off x="233172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260" name="TextBox 12"/>
          <p:cNvSpPr/>
          <p:nvPr/>
        </p:nvSpPr>
        <p:spPr>
          <a:xfrm>
            <a:off x="850320" y="2441520"/>
            <a:ext cx="313596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 instalado e configurado.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Conta em GitHub, GitLab ou Azure DevOps.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Editor com terminal integrado.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Docker Desktop ou Docker Engine + Compose.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Rounded Rectangle 13"/>
          <p:cNvSpPr/>
          <p:nvPr/>
        </p:nvSpPr>
        <p:spPr>
          <a:xfrm>
            <a:off x="4389120" y="1508760"/>
            <a:ext cx="3428640" cy="260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2" name="Rectangle 14"/>
          <p:cNvSpPr/>
          <p:nvPr/>
        </p:nvSpPr>
        <p:spPr>
          <a:xfrm>
            <a:off x="4389120" y="1508760"/>
            <a:ext cx="72720" cy="26056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3" name="TextBox 15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4" name="Picture 16" descr="githubactions.png"/>
          <p:cNvPicPr/>
          <p:nvPr/>
        </p:nvPicPr>
        <p:blipFill>
          <a:blip r:embed="rId6"/>
          <a:stretch/>
        </p:blipFill>
        <p:spPr>
          <a:xfrm>
            <a:off x="455364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65" name="Picture 17" descr="azuredevops.png"/>
          <p:cNvPicPr/>
          <p:nvPr/>
        </p:nvPicPr>
        <p:blipFill>
          <a:blip r:embed="rId7"/>
          <a:stretch/>
        </p:blipFill>
        <p:spPr>
          <a:xfrm>
            <a:off x="504756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66" name="Picture 18" descr="gitlab.png"/>
          <p:cNvPicPr/>
          <p:nvPr/>
        </p:nvPicPr>
        <p:blipFill>
          <a:blip r:embed="rId8"/>
          <a:stretch/>
        </p:blipFill>
        <p:spPr>
          <a:xfrm>
            <a:off x="554112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267" name="TextBox 19"/>
          <p:cNvSpPr/>
          <p:nvPr/>
        </p:nvSpPr>
        <p:spPr>
          <a:xfrm>
            <a:off x="4553640" y="2441520"/>
            <a:ext cx="3135960" cy="11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Actions é a opção mais simples para laboratório.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GitLab CI ou Azure Pipelines seguem a mesma lógica.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Exemplos curtos e versionados no repositório da turma.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20"/>
          <p:cNvSpPr/>
          <p:nvPr/>
        </p:nvSpPr>
        <p:spPr>
          <a:xfrm>
            <a:off x="8092440" y="1508760"/>
            <a:ext cx="3428640" cy="2605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69" name="Rectangle 21"/>
          <p:cNvSpPr/>
          <p:nvPr/>
        </p:nvSpPr>
        <p:spPr>
          <a:xfrm>
            <a:off x="8092440" y="1508760"/>
            <a:ext cx="72720" cy="26056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70" name="TextBox 22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 assistida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1" name="Picture 23" descr="githubcopilot.png"/>
          <p:cNvPicPr/>
          <p:nvPr/>
        </p:nvPicPr>
        <p:blipFill>
          <a:blip r:embed="rId9"/>
          <a:stretch/>
        </p:blipFill>
        <p:spPr>
          <a:xfrm>
            <a:off x="825696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72" name="Picture 24" descr="openai.png"/>
          <p:cNvPicPr/>
          <p:nvPr/>
        </p:nvPicPr>
        <p:blipFill>
          <a:blip r:embed="rId10"/>
          <a:stretch/>
        </p:blipFill>
        <p:spPr>
          <a:xfrm>
            <a:off x="875088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73" name="Picture 25" descr="cursor.png"/>
          <p:cNvPicPr/>
          <p:nvPr/>
        </p:nvPicPr>
        <p:blipFill>
          <a:blip r:embed="rId11"/>
          <a:stretch/>
        </p:blipFill>
        <p:spPr>
          <a:xfrm>
            <a:off x="924444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74" name="Picture 26" descr="googlegemini.png"/>
          <p:cNvPicPr/>
          <p:nvPr/>
        </p:nvPicPr>
        <p:blipFill>
          <a:blip r:embed="rId12"/>
          <a:stretch/>
        </p:blipFill>
        <p:spPr>
          <a:xfrm>
            <a:off x="9738360" y="198432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275" name="Picture 27" descr="amazonaws.png"/>
          <p:cNvPicPr/>
          <p:nvPr/>
        </p:nvPicPr>
        <p:blipFill>
          <a:blip r:embed="rId13"/>
          <a:stretch/>
        </p:blipFill>
        <p:spPr>
          <a:xfrm>
            <a:off x="1023228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276" name="TextBox 28"/>
          <p:cNvSpPr/>
          <p:nvPr/>
        </p:nvSpPr>
        <p:spPr>
          <a:xfrm>
            <a:off x="8256960" y="2441520"/>
            <a:ext cx="31359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GitHub Copilot, ChatGPT/Codex, Cursor, Gemini Code Assist, Amazon Q ou equivalente.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Acesso opcional, com demonstrações em sala.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77" name="Picture 29" descr="Logo Unifor.png"/>
          <p:cNvPicPr/>
          <p:nvPr/>
        </p:nvPicPr>
        <p:blipFill>
          <a:blip r:embed="rId14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278" name="TextBox 3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3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TextBox 25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Box 26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7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TextBox 28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Distribuição final alinhada ao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Rectangle 29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5" name="Rounded Rectangle 30"/>
          <p:cNvSpPr/>
          <p:nvPr/>
        </p:nvSpPr>
        <p:spPr>
          <a:xfrm>
            <a:off x="749880" y="148140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6" name="Rectangle 31"/>
          <p:cNvSpPr/>
          <p:nvPr/>
        </p:nvSpPr>
        <p:spPr>
          <a:xfrm>
            <a:off x="749880" y="1481400"/>
            <a:ext cx="72720" cy="13071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87" name="TextBox 32"/>
          <p:cNvSpPr/>
          <p:nvPr/>
        </p:nvSpPr>
        <p:spPr>
          <a:xfrm>
            <a:off x="951120" y="164592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00897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Box 33"/>
          <p:cNvSpPr/>
          <p:nvPr/>
        </p:nvSpPr>
        <p:spPr>
          <a:xfrm>
            <a:off x="1710000" y="164592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Projeto funcional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Box 34"/>
          <p:cNvSpPr/>
          <p:nvPr/>
        </p:nvSpPr>
        <p:spPr>
          <a:xfrm>
            <a:off x="951120" y="210312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Repositório organizado, aplicação executável, documentação e registro crítico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Rounded Rectangle 35"/>
          <p:cNvSpPr/>
          <p:nvPr/>
        </p:nvSpPr>
        <p:spPr>
          <a:xfrm>
            <a:off x="4480560" y="148140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1" name="Rectangle 36"/>
          <p:cNvSpPr/>
          <p:nvPr/>
        </p:nvSpPr>
        <p:spPr>
          <a:xfrm>
            <a:off x="4480560" y="1481400"/>
            <a:ext cx="72720" cy="13071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2" name="TextBox 37"/>
          <p:cNvSpPr/>
          <p:nvPr/>
        </p:nvSpPr>
        <p:spPr>
          <a:xfrm>
            <a:off x="4681800" y="164592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666ab"/>
                </a:solidFill>
                <a:latin typeface="Aptos"/>
              </a:rPr>
              <a:t>25%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8"/>
          <p:cNvSpPr/>
          <p:nvPr/>
        </p:nvSpPr>
        <p:spPr>
          <a:xfrm>
            <a:off x="5440680" y="164592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Pipeline CI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TextBox 39"/>
          <p:cNvSpPr/>
          <p:nvPr/>
        </p:nvSpPr>
        <p:spPr>
          <a:xfrm>
            <a:off x="4681800" y="210312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Build, testes, qualidade, análise de falhas e artefatos/imagens publicados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ounded Rectangle 40"/>
          <p:cNvSpPr/>
          <p:nvPr/>
        </p:nvSpPr>
        <p:spPr>
          <a:xfrm>
            <a:off x="8211240" y="148140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6" name="Rectangle 41"/>
          <p:cNvSpPr/>
          <p:nvPr/>
        </p:nvSpPr>
        <p:spPr>
          <a:xfrm>
            <a:off x="8211240" y="1481400"/>
            <a:ext cx="72720" cy="13071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97" name="TextBox 42"/>
          <p:cNvSpPr/>
          <p:nvPr/>
        </p:nvSpPr>
        <p:spPr>
          <a:xfrm>
            <a:off x="8412480" y="164592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6750a4"/>
                </a:solidFill>
                <a:latin typeface="Aptos"/>
              </a:rPr>
              <a:t>20%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TextBox 43"/>
          <p:cNvSpPr/>
          <p:nvPr/>
        </p:nvSpPr>
        <p:spPr>
          <a:xfrm>
            <a:off x="9171360" y="164592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Containers/Compose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Box 44"/>
          <p:cNvSpPr/>
          <p:nvPr/>
        </p:nvSpPr>
        <p:spPr>
          <a:xfrm>
            <a:off x="8412480" y="210312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Dockerfile, compose.yaml, variáveis, volumes e health checks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Rounded Rectangle 45"/>
          <p:cNvSpPr/>
          <p:nvPr/>
        </p:nvSpPr>
        <p:spPr>
          <a:xfrm>
            <a:off x="749880" y="326448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1" name="Rectangle 46"/>
          <p:cNvSpPr/>
          <p:nvPr/>
        </p:nvSpPr>
        <p:spPr>
          <a:xfrm>
            <a:off x="749880" y="3264480"/>
            <a:ext cx="72720" cy="13071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2" name="TextBox 47"/>
          <p:cNvSpPr/>
          <p:nvPr/>
        </p:nvSpPr>
        <p:spPr>
          <a:xfrm>
            <a:off x="951120" y="342900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e88b26"/>
                </a:solidFill>
                <a:latin typeface="Aptos"/>
              </a:rPr>
              <a:t>15%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TextBox 48"/>
          <p:cNvSpPr/>
          <p:nvPr/>
        </p:nvSpPr>
        <p:spPr>
          <a:xfrm>
            <a:off x="1710000" y="342900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Entrega e operação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TextBox 49"/>
          <p:cNvSpPr/>
          <p:nvPr/>
        </p:nvSpPr>
        <p:spPr>
          <a:xfrm>
            <a:off x="951120" y="388620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Release, rollback/plano, segurança básica, logs, métricas e governança de IA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Rounded Rectangle 50"/>
          <p:cNvSpPr/>
          <p:nvPr/>
        </p:nvSpPr>
        <p:spPr>
          <a:xfrm>
            <a:off x="4480560" y="326448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6" name="Rectangle 51"/>
          <p:cNvSpPr/>
          <p:nvPr/>
        </p:nvSpPr>
        <p:spPr>
          <a:xfrm>
            <a:off x="4480560" y="3264480"/>
            <a:ext cx="72720" cy="13071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07" name="TextBox 52"/>
          <p:cNvSpPr/>
          <p:nvPr/>
        </p:nvSpPr>
        <p:spPr>
          <a:xfrm>
            <a:off x="4681800" y="342900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2e7d32"/>
                </a:solidFill>
                <a:latin typeface="Aptos"/>
              </a:rPr>
              <a:t>10%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53"/>
          <p:cNvSpPr/>
          <p:nvPr/>
        </p:nvSpPr>
        <p:spPr>
          <a:xfrm>
            <a:off x="5440680" y="342900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Diagnóstico DevOps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Box 54"/>
          <p:cNvSpPr/>
          <p:nvPr/>
        </p:nvSpPr>
        <p:spPr>
          <a:xfrm>
            <a:off x="4681800" y="388620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Gargalos, riscos, oportunidades de IA e proposta de evolução da automação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Rounded Rectangle 55"/>
          <p:cNvSpPr/>
          <p:nvPr/>
        </p:nvSpPr>
        <p:spPr>
          <a:xfrm>
            <a:off x="8211240" y="3264480"/>
            <a:ext cx="3401280" cy="13071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1" name="Rectangle 56"/>
          <p:cNvSpPr/>
          <p:nvPr/>
        </p:nvSpPr>
        <p:spPr>
          <a:xfrm>
            <a:off x="8211240" y="3264480"/>
            <a:ext cx="72720" cy="130716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12" name="TextBox 57"/>
          <p:cNvSpPr/>
          <p:nvPr/>
        </p:nvSpPr>
        <p:spPr>
          <a:xfrm>
            <a:off x="8412480" y="3429000"/>
            <a:ext cx="776880" cy="3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000" spc="-1" strike="noStrike">
                <a:solidFill>
                  <a:srgbClr val="b73636"/>
                </a:solidFill>
                <a:latin typeface="Aptos"/>
              </a:rPr>
              <a:t>5%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TextBox 58"/>
          <p:cNvSpPr/>
          <p:nvPr/>
        </p:nvSpPr>
        <p:spPr>
          <a:xfrm>
            <a:off x="9171360" y="3429000"/>
            <a:ext cx="214848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50" spc="-1" strike="noStrike">
                <a:solidFill>
                  <a:srgbClr val="1f2937"/>
                </a:solidFill>
                <a:latin typeface="Aptos"/>
              </a:rPr>
              <a:t>Apresentação final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TextBox 59"/>
          <p:cNvSpPr/>
          <p:nvPr/>
        </p:nvSpPr>
        <p:spPr>
          <a:xfrm>
            <a:off x="8412480" y="3886200"/>
            <a:ext cx="2925720" cy="38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920" spc="-1" strike="noStrike">
                <a:solidFill>
                  <a:srgbClr val="5e6c7a"/>
                </a:solidFill>
                <a:latin typeface="Aptos"/>
              </a:rPr>
              <a:t>Defesa técnica das decisões, uso de IA, tradeoffs e próximos passos</a:t>
            </a:r>
            <a:endParaRPr b="0" lang="pt-BR" sz="9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TextBox 60"/>
          <p:cNvSpPr/>
          <p:nvPr/>
        </p:nvSpPr>
        <p:spPr>
          <a:xfrm>
            <a:off x="749880" y="5230440"/>
            <a:ext cx="10606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da rubrica: a IA pode apoiar o trabalho, mas a nota depende de evidências executáveis, validação humana, testes e decisões técnicas defendidas.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6" name="Picture 61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317" name="Picture 62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IA Aplicada ao SDLC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2"/>
          <p:cNvSpPr/>
          <p:nvPr/>
        </p:nvSpPr>
        <p:spPr>
          <a:xfrm>
            <a:off x="621720" y="841320"/>
            <a:ext cx="9783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Onde usar durante o fluxo DevOps sem perder rigor técnico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1" name="TextBox 4"/>
          <p:cNvSpPr/>
          <p:nvPr/>
        </p:nvSpPr>
        <p:spPr>
          <a:xfrm>
            <a:off x="1298520" y="6446520"/>
            <a:ext cx="587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Box 5"/>
          <p:cNvSpPr/>
          <p:nvPr/>
        </p:nvSpPr>
        <p:spPr>
          <a:xfrm>
            <a:off x="11201400" y="64465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10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Rounded Rectangle 6"/>
          <p:cNvSpPr/>
          <p:nvPr/>
        </p:nvSpPr>
        <p:spPr>
          <a:xfrm>
            <a:off x="685800" y="15087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4" name="Rectangle 7"/>
          <p:cNvSpPr/>
          <p:nvPr/>
        </p:nvSpPr>
        <p:spPr>
          <a:xfrm>
            <a:off x="685800" y="1508760"/>
            <a:ext cx="63720" cy="15084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5" name="TextBox 8"/>
          <p:cNvSpPr/>
          <p:nvPr/>
        </p:nvSpPr>
        <p:spPr>
          <a:xfrm>
            <a:off x="850320" y="16185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Planejar e entender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Box 9"/>
          <p:cNvSpPr/>
          <p:nvPr/>
        </p:nvSpPr>
        <p:spPr>
          <a:xfrm>
            <a:off x="850320" y="19843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Refinar histórias e critérios de aceite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Resumir contexto técnico do repositório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Mapear riscos, dependências e premissas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Rounded Rectangle 10"/>
          <p:cNvSpPr/>
          <p:nvPr/>
        </p:nvSpPr>
        <p:spPr>
          <a:xfrm>
            <a:off x="4251960" y="15087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8" name="Rectangle 11"/>
          <p:cNvSpPr/>
          <p:nvPr/>
        </p:nvSpPr>
        <p:spPr>
          <a:xfrm>
            <a:off x="4251960" y="1508760"/>
            <a:ext cx="63720" cy="150840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29" name="TextBox 12"/>
          <p:cNvSpPr/>
          <p:nvPr/>
        </p:nvSpPr>
        <p:spPr>
          <a:xfrm>
            <a:off x="4416480" y="16185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Codificar e refatorar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Box 13"/>
          <p:cNvSpPr/>
          <p:nvPr/>
        </p:nvSpPr>
        <p:spPr>
          <a:xfrm>
            <a:off x="4416480" y="19843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implementação incremental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código legado ou desconhecido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Propor refatoração pequena e revisável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Rounded Rectangle 14"/>
          <p:cNvSpPr/>
          <p:nvPr/>
        </p:nvSpPr>
        <p:spPr>
          <a:xfrm>
            <a:off x="7818120" y="15087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2" name="Rectangle 15"/>
          <p:cNvSpPr/>
          <p:nvPr/>
        </p:nvSpPr>
        <p:spPr>
          <a:xfrm>
            <a:off x="7818120" y="1508760"/>
            <a:ext cx="63720" cy="150840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3" name="TextBox 16"/>
          <p:cNvSpPr/>
          <p:nvPr/>
        </p:nvSpPr>
        <p:spPr>
          <a:xfrm>
            <a:off x="7982640" y="16185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Testar e revisar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17"/>
          <p:cNvSpPr/>
          <p:nvPr/>
        </p:nvSpPr>
        <p:spPr>
          <a:xfrm>
            <a:off x="7982640" y="19843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casos de teste e dados de borda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Revisar diff/PR com checklist explícito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Conferir cobertura, legibilidade e regressão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18"/>
          <p:cNvSpPr/>
          <p:nvPr/>
        </p:nvSpPr>
        <p:spPr>
          <a:xfrm>
            <a:off x="685800" y="33375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6" name="Rectangle 19"/>
          <p:cNvSpPr/>
          <p:nvPr/>
        </p:nvSpPr>
        <p:spPr>
          <a:xfrm>
            <a:off x="685800" y="3337560"/>
            <a:ext cx="63720" cy="150840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37" name="TextBox 20"/>
          <p:cNvSpPr/>
          <p:nvPr/>
        </p:nvSpPr>
        <p:spPr>
          <a:xfrm>
            <a:off x="850320" y="34473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Automar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Box 21"/>
          <p:cNvSpPr/>
          <p:nvPr/>
        </p:nvSpPr>
        <p:spPr>
          <a:xfrm>
            <a:off x="850320" y="38131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YAML de CI/CD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Sugerir correção para falha de job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Documentar etapas e variáveis necessárias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Rounded Rectangle 22"/>
          <p:cNvSpPr/>
          <p:nvPr/>
        </p:nvSpPr>
        <p:spPr>
          <a:xfrm>
            <a:off x="4251960" y="33375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0" name="Rectangle 23"/>
          <p:cNvSpPr/>
          <p:nvPr/>
        </p:nvSpPr>
        <p:spPr>
          <a:xfrm>
            <a:off x="4251960" y="3337560"/>
            <a:ext cx="63720" cy="1508400"/>
          </a:xfrm>
          <a:prstGeom prst="rect">
            <a:avLst/>
          </a:prstGeom>
          <a:solidFill>
            <a:srgbClr val="7c3ae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1" name="TextBox 24"/>
          <p:cNvSpPr/>
          <p:nvPr/>
        </p:nvSpPr>
        <p:spPr>
          <a:xfrm>
            <a:off x="4416480" y="34473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Operar e observar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Box 25"/>
          <p:cNvSpPr/>
          <p:nvPr/>
        </p:nvSpPr>
        <p:spPr>
          <a:xfrm>
            <a:off x="4416480" y="38131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Sumarizar logs e levantar hipóteses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Relacionar métrica, erro e deploy recente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Gerar runbook inicial para incidentes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Rounded Rectangle 26"/>
          <p:cNvSpPr/>
          <p:nvPr/>
        </p:nvSpPr>
        <p:spPr>
          <a:xfrm>
            <a:off x="7818120" y="3337560"/>
            <a:ext cx="3245760" cy="150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4" name="Rectangle 27"/>
          <p:cNvSpPr/>
          <p:nvPr/>
        </p:nvSpPr>
        <p:spPr>
          <a:xfrm>
            <a:off x="7818120" y="3337560"/>
            <a:ext cx="63720" cy="15084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45" name="TextBox 28"/>
          <p:cNvSpPr/>
          <p:nvPr/>
        </p:nvSpPr>
        <p:spPr>
          <a:xfrm>
            <a:off x="7982640" y="3447360"/>
            <a:ext cx="297144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Documentar decisão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Box 29"/>
          <p:cNvSpPr/>
          <p:nvPr/>
        </p:nvSpPr>
        <p:spPr>
          <a:xfrm>
            <a:off x="7982640" y="3813120"/>
            <a:ext cx="292572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Produzir README e release notes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Registrar prompts, saídas e validações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475569"/>
                </a:solidFill>
                <a:latin typeface="Aptos"/>
              </a:rPr>
              <a:t>Explicar o que foi aceito, rejeitado e por quê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7" name="Picture 30" descr="ic_lightbulb.png"/>
          <p:cNvPicPr/>
          <p:nvPr/>
        </p:nvPicPr>
        <p:blipFill>
          <a:blip r:embed="rId1"/>
          <a:stretch/>
        </p:blipFill>
        <p:spPr>
          <a:xfrm>
            <a:off x="3429000" y="16275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48" name="Picture 31" descr="ic_code.png"/>
          <p:cNvPicPr/>
          <p:nvPr/>
        </p:nvPicPr>
        <p:blipFill>
          <a:blip r:embed="rId2"/>
          <a:stretch/>
        </p:blipFill>
        <p:spPr>
          <a:xfrm>
            <a:off x="6995160" y="16275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49" name="Picture 32" descr="ic_check.png"/>
          <p:cNvPicPr/>
          <p:nvPr/>
        </p:nvPicPr>
        <p:blipFill>
          <a:blip r:embed="rId3"/>
          <a:stretch/>
        </p:blipFill>
        <p:spPr>
          <a:xfrm>
            <a:off x="10561320" y="16275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50" name="Picture 33" descr="ic_gear.png"/>
          <p:cNvPicPr/>
          <p:nvPr/>
        </p:nvPicPr>
        <p:blipFill>
          <a:blip r:embed="rId4"/>
          <a:stretch/>
        </p:blipFill>
        <p:spPr>
          <a:xfrm>
            <a:off x="3429000" y="34563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51" name="Picture 34" descr="ic_eye.png"/>
          <p:cNvPicPr/>
          <p:nvPr/>
        </p:nvPicPr>
        <p:blipFill>
          <a:blip r:embed="rId5"/>
          <a:stretch/>
        </p:blipFill>
        <p:spPr>
          <a:xfrm>
            <a:off x="6995160" y="34563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52" name="Picture 35" descr="ic_document.png"/>
          <p:cNvPicPr/>
          <p:nvPr/>
        </p:nvPicPr>
        <p:blipFill>
          <a:blip r:embed="rId6"/>
          <a:stretch/>
        </p:blipFill>
        <p:spPr>
          <a:xfrm>
            <a:off x="10561320" y="3456360"/>
            <a:ext cx="347040" cy="347040"/>
          </a:xfrm>
          <a:prstGeom prst="rect">
            <a:avLst/>
          </a:prstGeom>
          <a:ln w="0">
            <a:noFill/>
          </a:ln>
        </p:spPr>
      </p:pic>
      <p:pic>
        <p:nvPicPr>
          <p:cNvPr id="353" name="Picture 36" descr="Logo Unifor.png"/>
          <p:cNvPicPr/>
          <p:nvPr/>
        </p:nvPicPr>
        <p:blipFill>
          <a:blip r:embed="rId7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354" name="Picture 37" descr="Logo Unifor Pos.png"/>
          <p:cNvPicPr/>
          <p:nvPr/>
        </p:nvPicPr>
        <p:blipFill>
          <a:blip r:embed="rId8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2263f"/>
                </a:solidFill>
                <a:latin typeface="Aptos"/>
              </a:rPr>
              <a:t>Uso Seguro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TextBox 2"/>
          <p:cNvSpPr/>
          <p:nvPr/>
        </p:nvSpPr>
        <p:spPr>
          <a:xfrm>
            <a:off x="621720" y="841320"/>
            <a:ext cx="978372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475569"/>
                </a:solidFill>
                <a:latin typeface="Aptos"/>
              </a:rPr>
              <a:t>Regras práticas para laboratório, projeto e avaliação</a:t>
            </a:r>
            <a:endParaRPr b="0" lang="pt-B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58" name="TextBox 4"/>
          <p:cNvSpPr/>
          <p:nvPr/>
        </p:nvSpPr>
        <p:spPr>
          <a:xfrm>
            <a:off x="1298520" y="6446520"/>
            <a:ext cx="587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Box 5"/>
          <p:cNvSpPr/>
          <p:nvPr/>
        </p:nvSpPr>
        <p:spPr>
          <a:xfrm>
            <a:off x="11201400" y="64465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00" spc="-1" strike="noStrike">
                <a:solidFill>
                  <a:srgbClr val="475569"/>
                </a:solidFill>
                <a:latin typeface="Aptos"/>
              </a:rPr>
              <a:t>11</a:t>
            </a:r>
            <a:endParaRPr b="0" lang="pt-BR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Rounded Rectangle 6"/>
          <p:cNvSpPr/>
          <p:nvPr/>
        </p:nvSpPr>
        <p:spPr>
          <a:xfrm>
            <a:off x="685800" y="1508760"/>
            <a:ext cx="4891680" cy="15998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1" name="Rectangle 7"/>
          <p:cNvSpPr/>
          <p:nvPr/>
        </p:nvSpPr>
        <p:spPr>
          <a:xfrm>
            <a:off x="685800" y="1508760"/>
            <a:ext cx="63720" cy="15998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2" name="TextBox 8"/>
          <p:cNvSpPr/>
          <p:nvPr/>
        </p:nvSpPr>
        <p:spPr>
          <a:xfrm>
            <a:off x="850320" y="1618560"/>
            <a:ext cx="4617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Antes de perguntar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Box 9"/>
          <p:cNvSpPr/>
          <p:nvPr/>
        </p:nvSpPr>
        <p:spPr>
          <a:xfrm>
            <a:off x="850320" y="1984320"/>
            <a:ext cx="4571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Não enviar segredos, tokens, chaves, dados pessoais ou código sensível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Fornecer contexto mínimo: objetivo, stack, erro, restrições e trecho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Pedir plano curto ou hipóteses antes de aceitar código pronto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Rounded Rectangle 10"/>
          <p:cNvSpPr/>
          <p:nvPr/>
        </p:nvSpPr>
        <p:spPr>
          <a:xfrm>
            <a:off x="5989320" y="1508760"/>
            <a:ext cx="4891680" cy="15998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5" name="Rectangle 11"/>
          <p:cNvSpPr/>
          <p:nvPr/>
        </p:nvSpPr>
        <p:spPr>
          <a:xfrm>
            <a:off x="5989320" y="1508760"/>
            <a:ext cx="63720" cy="1599840"/>
          </a:xfrm>
          <a:prstGeom prst="rect">
            <a:avLst/>
          </a:prstGeom>
          <a:solidFill>
            <a:srgbClr val="ea580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6" name="TextBox 12"/>
          <p:cNvSpPr/>
          <p:nvPr/>
        </p:nvSpPr>
        <p:spPr>
          <a:xfrm>
            <a:off x="6153840" y="1618560"/>
            <a:ext cx="4617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Durante a resposta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Box 13"/>
          <p:cNvSpPr/>
          <p:nvPr/>
        </p:nvSpPr>
        <p:spPr>
          <a:xfrm>
            <a:off x="6153840" y="1984320"/>
            <a:ext cx="4571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Checar se a solução respeita arquitetura, dependências e padrões do projeto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Tratar saída da IA como sugestão, não como fonte de verdade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Investigar alucinações, comandos perigosos e permissões excessivas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Rounded Rectangle 14"/>
          <p:cNvSpPr/>
          <p:nvPr/>
        </p:nvSpPr>
        <p:spPr>
          <a:xfrm>
            <a:off x="685800" y="3493080"/>
            <a:ext cx="4891680" cy="15998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69" name="Rectangle 15"/>
          <p:cNvSpPr/>
          <p:nvPr/>
        </p:nvSpPr>
        <p:spPr>
          <a:xfrm>
            <a:off x="685800" y="3493080"/>
            <a:ext cx="63720" cy="159984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0" name="TextBox 16"/>
          <p:cNvSpPr/>
          <p:nvPr/>
        </p:nvSpPr>
        <p:spPr>
          <a:xfrm>
            <a:off x="850320" y="3602880"/>
            <a:ext cx="4617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Depois de aplicar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17"/>
          <p:cNvSpPr/>
          <p:nvPr/>
        </p:nvSpPr>
        <p:spPr>
          <a:xfrm>
            <a:off x="850320" y="3968640"/>
            <a:ext cx="4571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Rodar testes, lint, build e validação manual relevante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Revisar segurança: segredos, entrada de usuário, dependências e logs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Manter diff pequeno para facilitar revisão humana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18"/>
          <p:cNvSpPr/>
          <p:nvPr/>
        </p:nvSpPr>
        <p:spPr>
          <a:xfrm>
            <a:off x="5989320" y="3493080"/>
            <a:ext cx="4891680" cy="15998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3" name="Rectangle 19"/>
          <p:cNvSpPr/>
          <p:nvPr/>
        </p:nvSpPr>
        <p:spPr>
          <a:xfrm>
            <a:off x="5989320" y="3493080"/>
            <a:ext cx="63720" cy="159984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374" name="TextBox 20"/>
          <p:cNvSpPr/>
          <p:nvPr/>
        </p:nvSpPr>
        <p:spPr>
          <a:xfrm>
            <a:off x="6153840" y="3602880"/>
            <a:ext cx="4617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Evidência para avaliação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TextBox 21"/>
          <p:cNvSpPr/>
          <p:nvPr/>
        </p:nvSpPr>
        <p:spPr>
          <a:xfrm>
            <a:off x="6153840" y="3968640"/>
            <a:ext cx="45716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5560" rIns="25560" tIns="12600" bIns="12600" anchor="t">
            <a:no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Registrar prompt/contexto, saída útil, alterações aceitas e descartadas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Explicar validações feitas e correções humanas realizadas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• </a:t>
            </a:r>
            <a:r>
              <a:rPr b="0" lang="en-US" sz="1030" spc="-1" strike="noStrike">
                <a:solidFill>
                  <a:srgbClr val="475569"/>
                </a:solidFill>
                <a:latin typeface="Aptos"/>
              </a:rPr>
              <a:t>Citar limites, riscos e próximos passos quando a IA foi usada</a:t>
            </a:r>
            <a:endParaRPr b="0" lang="pt-BR" sz="103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6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377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Aprofundamento em Segurança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Leitura complementar disponível nos materiais do EAD desta disciplina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38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382" name="Picture 5" descr="nist_cover.png"/>
          <p:cNvPicPr/>
          <p:nvPr/>
        </p:nvPicPr>
        <p:blipFill>
          <a:blip r:embed="rId2"/>
          <a:stretch/>
        </p:blipFill>
        <p:spPr>
          <a:xfrm>
            <a:off x="2345400" y="1691640"/>
            <a:ext cx="1801440" cy="23313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83" name="TextBox 6"/>
          <p:cNvSpPr/>
          <p:nvPr/>
        </p:nvSpPr>
        <p:spPr>
          <a:xfrm>
            <a:off x="1828800" y="4114800"/>
            <a:ext cx="2834280" cy="61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NIST AI RMF 1.0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Artificial Intelligence Risk Management Framework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Box 7"/>
          <p:cNvSpPr/>
          <p:nvPr/>
        </p:nvSpPr>
        <p:spPr>
          <a:xfrm>
            <a:off x="914400" y="4645080"/>
            <a:ext cx="466308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Framework de referência para gerenciar riscos de sistemas de IA.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para pensar governança, confiabilidade e uso responsável no projeto integrador.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5" name="Picture 8" descr="owasp_cover.png"/>
          <p:cNvPicPr/>
          <p:nvPr/>
        </p:nvPicPr>
        <p:blipFill>
          <a:blip r:embed="rId3"/>
          <a:stretch/>
        </p:blipFill>
        <p:spPr>
          <a:xfrm>
            <a:off x="7420320" y="1691640"/>
            <a:ext cx="1801440" cy="233136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386" name="TextBox 9"/>
          <p:cNvSpPr/>
          <p:nvPr/>
        </p:nvSpPr>
        <p:spPr>
          <a:xfrm>
            <a:off x="6903720" y="4114800"/>
            <a:ext cx="2834280" cy="66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OWASP Top 10 for LLM Applications 2026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50" spc="-1" strike="noStrike">
                <a:solidFill>
                  <a:srgbClr val="5e6c7a"/>
                </a:solidFill>
                <a:latin typeface="Aptos"/>
              </a:rPr>
              <a:t>OWASP GenAI Security Project</a:t>
            </a:r>
            <a:endParaRPr b="0" lang="pt-B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0"/>
          <p:cNvSpPr/>
          <p:nvPr/>
        </p:nvSpPr>
        <p:spPr>
          <a:xfrm>
            <a:off x="5989320" y="4645080"/>
            <a:ext cx="466308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Os 10 riscos mais críticos em aplicações que usam LLM.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Referência direta para prompt injection, vazamento de dados e alucinação.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Box 11"/>
          <p:cNvSpPr/>
          <p:nvPr/>
        </p:nvSpPr>
        <p:spPr>
          <a:xfrm>
            <a:off x="685800" y="5989320"/>
            <a:ext cx="1060668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100" spc="-1" strike="noStrike">
                <a:solidFill>
                  <a:srgbClr val="5e6c7a"/>
                </a:solidFill>
                <a:latin typeface="Aptos"/>
              </a:rPr>
              <a:t>Disponível na área de materiais de apoio do EAD — leitura recomendada antes do Encontro 5.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Picture 12" descr="Logo Unifor.png"/>
          <p:cNvPicPr/>
          <p:nvPr/>
        </p:nvPicPr>
        <p:blipFill>
          <a:blip r:embed="rId4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390" name="TextBox 13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TextBox 14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1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10/09/2026 | Cultura DevOps, IA no SDLC e diagnóstico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14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95" name="Picture 4" descr="e1_magnifi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396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1 - Cultura e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Base: cultura DevOps + diagnóstico de maturidade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0" name="Rounded Rectangle 4"/>
          <p:cNvSpPr/>
          <p:nvPr/>
        </p:nvSpPr>
        <p:spPr>
          <a:xfrm>
            <a:off x="68580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1" name="Rectangle 5"/>
          <p:cNvSpPr/>
          <p:nvPr/>
        </p:nvSpPr>
        <p:spPr>
          <a:xfrm>
            <a:off x="685800" y="1417320"/>
            <a:ext cx="72720" cy="2011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2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Abertura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TextBox 7"/>
          <p:cNvSpPr/>
          <p:nvPr/>
        </p:nvSpPr>
        <p:spPr>
          <a:xfrm>
            <a:off x="85032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da disciplina, conhecimentos prévios e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Papel da IA como apoio, não substituição da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Rounded Rectangle 8"/>
          <p:cNvSpPr/>
          <p:nvPr/>
        </p:nvSpPr>
        <p:spPr>
          <a:xfrm>
            <a:off x="438912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5" name="Rectangle 9"/>
          <p:cNvSpPr/>
          <p:nvPr/>
        </p:nvSpPr>
        <p:spPr>
          <a:xfrm>
            <a:off x="4389120" y="1417320"/>
            <a:ext cx="72720" cy="2011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6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Cultura e ciclo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Box 11"/>
          <p:cNvSpPr/>
          <p:nvPr/>
        </p:nvSpPr>
        <p:spPr>
          <a:xfrm>
            <a:off x="455364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x Ops e responsabilidade compartilhada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Plan, Code, Build, Test, Release, Deploy, Operate, Monitor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apoia análise, código, testes, operação e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Rounded Rectangle 12"/>
          <p:cNvSpPr/>
          <p:nvPr/>
        </p:nvSpPr>
        <p:spPr>
          <a:xfrm>
            <a:off x="809244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09" name="Rectangle 13"/>
          <p:cNvSpPr/>
          <p:nvPr/>
        </p:nvSpPr>
        <p:spPr>
          <a:xfrm>
            <a:off x="8092440" y="1417320"/>
            <a:ext cx="72720" cy="2011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0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Box 15"/>
          <p:cNvSpPr/>
          <p:nvPr/>
        </p:nvSpPr>
        <p:spPr>
          <a:xfrm>
            <a:off x="825696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Quick check em grupos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Mapear gargalos e tarefas manuais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Identificar oportunidades e riscos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hipóteses de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Rounded Rectangle 16"/>
          <p:cNvSpPr/>
          <p:nvPr/>
        </p:nvSpPr>
        <p:spPr>
          <a:xfrm>
            <a:off x="685800" y="3886200"/>
            <a:ext cx="108352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3" name="Rectangle 17"/>
          <p:cNvSpPr/>
          <p:nvPr/>
        </p:nvSpPr>
        <p:spPr>
          <a:xfrm>
            <a:off x="685800" y="3886200"/>
            <a:ext cx="72720" cy="1234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14" name="TextBox 18"/>
          <p:cNvSpPr/>
          <p:nvPr/>
        </p:nvSpPr>
        <p:spPr>
          <a:xfrm>
            <a:off x="850320" y="401436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TextBox 19"/>
          <p:cNvSpPr/>
          <p:nvPr/>
        </p:nvSpPr>
        <p:spPr>
          <a:xfrm>
            <a:off x="850320" y="4389120"/>
            <a:ext cx="1054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Documento curto: diagnóstico DevOps + uma proposta priorizada, incluindo oportunidade de IA e validação necessária quando fizer sentido.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8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419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Conceitos Essenciais -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sustenta a prática do encontro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2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424" name="Rounded Rectangle 5"/>
          <p:cNvSpPr/>
          <p:nvPr/>
        </p:nvSpPr>
        <p:spPr>
          <a:xfrm>
            <a:off x="731520" y="1417320"/>
            <a:ext cx="2075400" cy="868320"/>
          </a:xfrm>
          <a:prstGeom prst="roundRect">
            <a:avLst>
              <a:gd name="adj" fmla="val 12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5" name="TextBox 6"/>
          <p:cNvSpPr/>
          <p:nvPr/>
        </p:nvSpPr>
        <p:spPr>
          <a:xfrm>
            <a:off x="685800" y="1490400"/>
            <a:ext cx="2166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TextBox 7"/>
          <p:cNvSpPr/>
          <p:nvPr/>
        </p:nvSpPr>
        <p:spPr>
          <a:xfrm>
            <a:off x="731520" y="1929240"/>
            <a:ext cx="2075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Cultura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Rounded Rectangle 8"/>
          <p:cNvSpPr/>
          <p:nvPr/>
        </p:nvSpPr>
        <p:spPr>
          <a:xfrm>
            <a:off x="2898720" y="1417320"/>
            <a:ext cx="2075400" cy="868320"/>
          </a:xfrm>
          <a:prstGeom prst="roundRect">
            <a:avLst>
              <a:gd name="adj" fmla="val 12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28" name="TextBox 9"/>
          <p:cNvSpPr/>
          <p:nvPr/>
        </p:nvSpPr>
        <p:spPr>
          <a:xfrm>
            <a:off x="2853000" y="1490400"/>
            <a:ext cx="2166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Box 10"/>
          <p:cNvSpPr/>
          <p:nvPr/>
        </p:nvSpPr>
        <p:spPr>
          <a:xfrm>
            <a:off x="2898720" y="1929240"/>
            <a:ext cx="2075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Automação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Rounded Rectangle 11"/>
          <p:cNvSpPr/>
          <p:nvPr/>
        </p:nvSpPr>
        <p:spPr>
          <a:xfrm>
            <a:off x="5065920" y="1417320"/>
            <a:ext cx="2075400" cy="868320"/>
          </a:xfrm>
          <a:prstGeom prst="roundRect">
            <a:avLst>
              <a:gd name="adj" fmla="val 12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1" name="TextBox 12"/>
          <p:cNvSpPr/>
          <p:nvPr/>
        </p:nvSpPr>
        <p:spPr>
          <a:xfrm>
            <a:off x="5020200" y="1490400"/>
            <a:ext cx="2166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L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Box 13"/>
          <p:cNvSpPr/>
          <p:nvPr/>
        </p:nvSpPr>
        <p:spPr>
          <a:xfrm>
            <a:off x="5065920" y="1929240"/>
            <a:ext cx="2075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Lean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Rounded Rectangle 14"/>
          <p:cNvSpPr/>
          <p:nvPr/>
        </p:nvSpPr>
        <p:spPr>
          <a:xfrm>
            <a:off x="7232760" y="1417320"/>
            <a:ext cx="2075400" cy="868320"/>
          </a:xfrm>
          <a:prstGeom prst="roundRect">
            <a:avLst>
              <a:gd name="adj" fmla="val 12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4" name="TextBox 15"/>
          <p:cNvSpPr/>
          <p:nvPr/>
        </p:nvSpPr>
        <p:spPr>
          <a:xfrm>
            <a:off x="7187040" y="1490400"/>
            <a:ext cx="2166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M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16"/>
          <p:cNvSpPr/>
          <p:nvPr/>
        </p:nvSpPr>
        <p:spPr>
          <a:xfrm>
            <a:off x="7232760" y="1929240"/>
            <a:ext cx="2075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Medição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7"/>
          <p:cNvSpPr/>
          <p:nvPr/>
        </p:nvSpPr>
        <p:spPr>
          <a:xfrm>
            <a:off x="9399960" y="1417320"/>
            <a:ext cx="2075400" cy="86832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37" name="TextBox 18"/>
          <p:cNvSpPr/>
          <p:nvPr/>
        </p:nvSpPr>
        <p:spPr>
          <a:xfrm>
            <a:off x="9354240" y="1490400"/>
            <a:ext cx="21668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19"/>
          <p:cNvSpPr/>
          <p:nvPr/>
        </p:nvSpPr>
        <p:spPr>
          <a:xfrm>
            <a:off x="9399960" y="1929240"/>
            <a:ext cx="207540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ffffff"/>
                </a:solidFill>
                <a:latin typeface="Aptos"/>
              </a:rPr>
              <a:t>Compartilhamento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20"/>
          <p:cNvSpPr/>
          <p:nvPr/>
        </p:nvSpPr>
        <p:spPr>
          <a:xfrm>
            <a:off x="685800" y="248724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0" name="Rectangle 21"/>
          <p:cNvSpPr/>
          <p:nvPr/>
        </p:nvSpPr>
        <p:spPr>
          <a:xfrm>
            <a:off x="685800" y="248724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1" name="TextBox 22"/>
          <p:cNvSpPr/>
          <p:nvPr/>
        </p:nvSpPr>
        <p:spPr>
          <a:xfrm>
            <a:off x="850320" y="26150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Mensagem central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TextBox 23"/>
          <p:cNvSpPr/>
          <p:nvPr/>
        </p:nvSpPr>
        <p:spPr>
          <a:xfrm>
            <a:off x="850320" y="297180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não é uma ferramenta.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integração entre cultura, processo, automação e medição.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objetivo é reduzir tempo de ciclo sem perder qualidade 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Rounded Rectangle 24"/>
          <p:cNvSpPr/>
          <p:nvPr/>
        </p:nvSpPr>
        <p:spPr>
          <a:xfrm>
            <a:off x="4389120" y="248724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4" name="Rectangle 25"/>
          <p:cNvSpPr/>
          <p:nvPr/>
        </p:nvSpPr>
        <p:spPr>
          <a:xfrm>
            <a:off x="4389120" y="248724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5" name="TextBox 26"/>
          <p:cNvSpPr/>
          <p:nvPr/>
        </p:nvSpPr>
        <p:spPr>
          <a:xfrm>
            <a:off x="4553640" y="26150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Modelos úteis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Box 27"/>
          <p:cNvSpPr/>
          <p:nvPr/>
        </p:nvSpPr>
        <p:spPr>
          <a:xfrm>
            <a:off x="4553640" y="297180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CALMS: cultura, automação, lean, medição e compartilhamento.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Fluxo de valor: do pedido ao software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rápido: erro descoberto cedo é mais barato.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Rounded Rectangle 28"/>
          <p:cNvSpPr/>
          <p:nvPr/>
        </p:nvSpPr>
        <p:spPr>
          <a:xfrm>
            <a:off x="8092440" y="248724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8" name="Rectangle 29"/>
          <p:cNvSpPr/>
          <p:nvPr/>
        </p:nvSpPr>
        <p:spPr>
          <a:xfrm>
            <a:off x="8092440" y="248724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49" name="TextBox 30"/>
          <p:cNvSpPr/>
          <p:nvPr/>
        </p:nvSpPr>
        <p:spPr>
          <a:xfrm>
            <a:off x="8256960" y="26150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 para citar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Box 31"/>
          <p:cNvSpPr/>
          <p:nvPr/>
        </p:nvSpPr>
        <p:spPr>
          <a:xfrm>
            <a:off x="8256960" y="297180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Lead time for changes.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Deployment frequency.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Change failure rate.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Mean time to restore.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1" name="Picture 32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452" name="TextBox 33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TextBox 34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As 4 Métricas DORA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medir a saúde da entrega de software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5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458" name="Rounded Rectangle 5"/>
          <p:cNvSpPr/>
          <p:nvPr/>
        </p:nvSpPr>
        <p:spPr>
          <a:xfrm>
            <a:off x="685800" y="1508760"/>
            <a:ext cx="52804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85032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Deployment Frequency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850320" y="199332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 que frequência o time entrega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sob demanda, múltiplas vezes ao dia.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9"/>
          <p:cNvSpPr/>
          <p:nvPr/>
        </p:nvSpPr>
        <p:spPr>
          <a:xfrm>
            <a:off x="6240960" y="1508760"/>
            <a:ext cx="52804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Rectangle 10"/>
          <p:cNvSpPr/>
          <p:nvPr/>
        </p:nvSpPr>
        <p:spPr>
          <a:xfrm>
            <a:off x="6240960" y="1508760"/>
            <a:ext cx="72720" cy="1362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11"/>
          <p:cNvSpPr/>
          <p:nvPr/>
        </p:nvSpPr>
        <p:spPr>
          <a:xfrm>
            <a:off x="640548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Lead Time for Changes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2"/>
          <p:cNvSpPr/>
          <p:nvPr/>
        </p:nvSpPr>
        <p:spPr>
          <a:xfrm>
            <a:off x="6405480" y="199332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do commit até rodar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13"/>
          <p:cNvSpPr/>
          <p:nvPr/>
        </p:nvSpPr>
        <p:spPr>
          <a:xfrm>
            <a:off x="685800" y="3035880"/>
            <a:ext cx="52804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Rectangle 14"/>
          <p:cNvSpPr/>
          <p:nvPr/>
        </p:nvSpPr>
        <p:spPr>
          <a:xfrm>
            <a:off x="685800" y="303588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TextBox 15"/>
          <p:cNvSpPr/>
          <p:nvPr/>
        </p:nvSpPr>
        <p:spPr>
          <a:xfrm>
            <a:off x="850320" y="316368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Change Failure Rate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6"/>
          <p:cNvSpPr/>
          <p:nvPr/>
        </p:nvSpPr>
        <p:spPr>
          <a:xfrm>
            <a:off x="850320" y="352044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Percentual de mudanças que causam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entre 0% e 15%.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17"/>
          <p:cNvSpPr/>
          <p:nvPr/>
        </p:nvSpPr>
        <p:spPr>
          <a:xfrm>
            <a:off x="6240960" y="3035880"/>
            <a:ext cx="52804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18"/>
          <p:cNvSpPr/>
          <p:nvPr/>
        </p:nvSpPr>
        <p:spPr>
          <a:xfrm>
            <a:off x="6240960" y="3035880"/>
            <a:ext cx="72720" cy="1188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19"/>
          <p:cNvSpPr/>
          <p:nvPr/>
        </p:nvSpPr>
        <p:spPr>
          <a:xfrm>
            <a:off x="6405480" y="316368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Time to Restore (MTTR)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20"/>
          <p:cNvSpPr/>
          <p:nvPr/>
        </p:nvSpPr>
        <p:spPr>
          <a:xfrm>
            <a:off x="6405480" y="352044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para recuperar de uma falha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Referência de elite: menos de uma hora.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475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o DevOps Surgiu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Origem e contexto do movimento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8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481" name="Rounded Rectangle 5"/>
          <p:cNvSpPr/>
          <p:nvPr/>
        </p:nvSpPr>
        <p:spPr>
          <a:xfrm>
            <a:off x="68580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2" name="Rectangle 6"/>
          <p:cNvSpPr/>
          <p:nvPr/>
        </p:nvSpPr>
        <p:spPr>
          <a:xfrm>
            <a:off x="685800" y="1508760"/>
            <a:ext cx="72720" cy="2313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muro da confusão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Box 8"/>
          <p:cNvSpPr/>
          <p:nvPr/>
        </p:nvSpPr>
        <p:spPr>
          <a:xfrm>
            <a:off x="850320" y="1993320"/>
            <a:ext cx="31359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 quer lançar rápido; Ops quer estabilidade — metas em conflito.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lado media sucesso de um jeito diferente e se culpava pelos problemas.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Passagem de bastão sem responsabilidade compartilhada gerava atrito.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Rounded Rectangle 9"/>
          <p:cNvSpPr/>
          <p:nvPr/>
        </p:nvSpPr>
        <p:spPr>
          <a:xfrm>
            <a:off x="438912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6" name="Rectangle 10"/>
          <p:cNvSpPr/>
          <p:nvPr/>
        </p:nvSpPr>
        <p:spPr>
          <a:xfrm>
            <a:off x="4389120" y="1508760"/>
            <a:ext cx="72720" cy="2313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8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Raízes do movimento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Agile (2001): entrega iterativa e feedback frequente.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Lean: eliminar desperdício, otimizar o fluxo de valor.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Gestão de operações: disciplina de mudança e confiabilidade.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Rounded Rectangle 13"/>
          <p:cNvSpPr/>
          <p:nvPr/>
        </p:nvSpPr>
        <p:spPr>
          <a:xfrm>
            <a:off x="809244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0" name="Rectangle 14"/>
          <p:cNvSpPr/>
          <p:nvPr/>
        </p:nvSpPr>
        <p:spPr>
          <a:xfrm>
            <a:off x="8092440" y="1508760"/>
            <a:ext cx="72720" cy="2313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9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Mudança de mentalidade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 “jogar por cima do muro” para “you build it, you run it”.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Responsabilidade compartilhada do código até a operação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49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 de feedback,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9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500" name="Donut 5"/>
          <p:cNvSpPr/>
          <p:nvPr/>
        </p:nvSpPr>
        <p:spPr>
          <a:xfrm>
            <a:off x="4276080" y="1883520"/>
            <a:ext cx="3638880" cy="3638880"/>
          </a:xfrm>
          <a:prstGeom prst="donut">
            <a:avLst>
              <a:gd name="adj" fmla="val 2500"/>
            </a:avLst>
          </a:prstGeom>
          <a:solidFill>
            <a:srgbClr val="dae0e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01" name="TextBox 6"/>
          <p:cNvSpPr/>
          <p:nvPr/>
        </p:nvSpPr>
        <p:spPr>
          <a:xfrm>
            <a:off x="4907160" y="3566160"/>
            <a:ext cx="23770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5e6c7a"/>
                </a:solidFill>
                <a:latin typeface="Aptos"/>
              </a:rPr>
              <a:t>ciclo contínuo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7"/>
          <p:cNvSpPr/>
          <p:nvPr/>
        </p:nvSpPr>
        <p:spPr>
          <a:xfrm>
            <a:off x="5387040" y="166428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Plan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Rounded Rectangle 8"/>
          <p:cNvSpPr/>
          <p:nvPr/>
        </p:nvSpPr>
        <p:spPr>
          <a:xfrm>
            <a:off x="6648120" y="218664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Code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9"/>
          <p:cNvSpPr/>
          <p:nvPr/>
        </p:nvSpPr>
        <p:spPr>
          <a:xfrm>
            <a:off x="7170120" y="344736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Rounded Rectangle 10"/>
          <p:cNvSpPr/>
          <p:nvPr/>
        </p:nvSpPr>
        <p:spPr>
          <a:xfrm>
            <a:off x="6648120" y="470808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Test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1"/>
          <p:cNvSpPr/>
          <p:nvPr/>
        </p:nvSpPr>
        <p:spPr>
          <a:xfrm>
            <a:off x="5387040" y="523044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Release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Rounded Rectangle 12"/>
          <p:cNvSpPr/>
          <p:nvPr/>
        </p:nvSpPr>
        <p:spPr>
          <a:xfrm>
            <a:off x="4126320" y="470808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Deploy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Rounded Rectangle 13"/>
          <p:cNvSpPr/>
          <p:nvPr/>
        </p:nvSpPr>
        <p:spPr>
          <a:xfrm>
            <a:off x="3603960" y="344736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Operate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Rounded Rectangle 14"/>
          <p:cNvSpPr/>
          <p:nvPr/>
        </p:nvSpPr>
        <p:spPr>
          <a:xfrm>
            <a:off x="4126320" y="2186640"/>
            <a:ext cx="1416960" cy="511560"/>
          </a:xfrm>
          <a:prstGeom prst="roundRect">
            <a:avLst>
              <a:gd name="adj" fmla="val 16667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Monitor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TextBox 15"/>
          <p:cNvSpPr/>
          <p:nvPr/>
        </p:nvSpPr>
        <p:spPr>
          <a:xfrm>
            <a:off x="1463040" y="5806440"/>
            <a:ext cx="9235080" cy="28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i="1" lang="en-US" sz="1250" spc="-1" strike="noStrike">
                <a:solidFill>
                  <a:srgbClr val="0f172a"/>
                </a:solidFill>
                <a:latin typeface="Aptos"/>
              </a:rPr>
              <a:t>Monitor alimenta o próximo Plan: feedback rápido é o que fecha o loop e sustenta a melhoria contínua.</a:t>
            </a:r>
            <a:endParaRPr b="0" lang="pt-B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1" name="Picture 16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512" name="TextBox 17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18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 Ciclo DevOps: Cada Etapa em Detalhe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loop contínuo, não uma linha reta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1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518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19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0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desenvolvimento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Plan: entender o problema e definir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Code: implementar em mudanças pequenas e revisáveis.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Build: compilar, empacotar e testar automaticamente.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3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4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Loop de operação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Release: preparar e aprovar uma versão para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Deploy: colocar a versão no ambiente de destino.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Operate/Monitor: manter saudável e observar o comportamento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7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28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ponto de conexão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Monitor alimenta o próximo Plan — é um ciclo, não uma linha.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Feedback rápido é o que fecha o loop e sustenta a melhoria contínua.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531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Sinais de que um Time Precisa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debate: quais desses sintomas vocês já viveram?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3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537" name="Rounded Rectangle 5"/>
          <p:cNvSpPr/>
          <p:nvPr/>
        </p:nvSpPr>
        <p:spPr>
          <a:xfrm>
            <a:off x="68580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8" name="Rectangle 6"/>
          <p:cNvSpPr/>
          <p:nvPr/>
        </p:nvSpPr>
        <p:spPr>
          <a:xfrm>
            <a:off x="685800" y="1508760"/>
            <a:ext cx="72720" cy="2313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3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Sintomas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Box 8"/>
          <p:cNvSpPr/>
          <p:nvPr/>
        </p:nvSpPr>
        <p:spPr>
          <a:xfrm>
            <a:off x="850320" y="1993320"/>
            <a:ext cx="31359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Deploys manuais, longos e concentrados em uma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Medo de lançar em sexta-feira.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“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Funciona na minha máquina”, mas não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Falta de rastreabilidade: ninguém sabe o que mudou entre versões.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Rounded Rectangle 9"/>
          <p:cNvSpPr/>
          <p:nvPr/>
        </p:nvSpPr>
        <p:spPr>
          <a:xfrm>
            <a:off x="438912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2" name="Rectangle 10"/>
          <p:cNvSpPr/>
          <p:nvPr/>
        </p:nvSpPr>
        <p:spPr>
          <a:xfrm>
            <a:off x="4389120" y="1508760"/>
            <a:ext cx="72720" cy="2313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3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Custos escondidos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Tempo perdido coordenando quem pode mudar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Bugs descobertos tarde custam muito mais para corrigir.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Burnout de quem sempre “segura” a produção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Rounded Rectangle 13"/>
          <p:cNvSpPr/>
          <p:nvPr/>
        </p:nvSpPr>
        <p:spPr>
          <a:xfrm>
            <a:off x="809244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6" name="Rectangle 14"/>
          <p:cNvSpPr/>
          <p:nvPr/>
        </p:nvSpPr>
        <p:spPr>
          <a:xfrm>
            <a:off x="8092440" y="1508760"/>
            <a:ext cx="72720" cy="2313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47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desses sintomas vocês já viveram — como dev, como usuário ou como cliente?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mudaria se a responsabilidade fosse compartilhada desde o início?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550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no SDLC: Onde Ajuda e Onde Exige Cautela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Ganhos reais e riscos reais, lado a lado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5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556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7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58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Ganhos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tempo em tarefas repetitivas: boilerplate, testes,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Acelera entendimento de código legado e análise de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Ajuda a levantar hipóteses e alternativas técnicas rapidamente.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1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2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reais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 que não existem.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aceitar sem entender o que foi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dado sensível quando colado sem cuidado no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5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66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Regra prática da disciplina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saída de IA é hipótese até ser validada por teste, execução ou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usa precisa conseguir explicar e defender o resultado.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6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569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1 - Diagnóstico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conceitos em decisão técnica,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4" name="Rounded Rectangle 4"/>
          <p:cNvSpPr/>
          <p:nvPr/>
        </p:nvSpPr>
        <p:spPr>
          <a:xfrm>
            <a:off x="731520" y="1417320"/>
            <a:ext cx="342864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5" name="Rectangle 5"/>
          <p:cNvSpPr/>
          <p:nvPr/>
        </p:nvSpPr>
        <p:spPr>
          <a:xfrm>
            <a:off x="731520" y="1417320"/>
            <a:ext cx="72720" cy="1965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6" name="TextBox 6"/>
          <p:cNvSpPr/>
          <p:nvPr/>
        </p:nvSpPr>
        <p:spPr>
          <a:xfrm>
            <a:off x="8960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Box 7"/>
          <p:cNvSpPr/>
          <p:nvPr/>
        </p:nvSpPr>
        <p:spPr>
          <a:xfrm>
            <a:off x="896040" y="1920240"/>
            <a:ext cx="3135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há espera manual?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falta feedback?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falha só aparece tarde?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Quem é dono da operação?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IA reduz esforço sem ocultar risco?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Rounded Rectangle 8"/>
          <p:cNvSpPr/>
          <p:nvPr/>
        </p:nvSpPr>
        <p:spPr>
          <a:xfrm>
            <a:off x="4389120" y="1417320"/>
            <a:ext cx="342864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79" name="Rectangle 9"/>
          <p:cNvSpPr/>
          <p:nvPr/>
        </p:nvSpPr>
        <p:spPr>
          <a:xfrm>
            <a:off x="4389120" y="1417320"/>
            <a:ext cx="72720" cy="19656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0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Box 11"/>
          <p:cNvSpPr/>
          <p:nvPr/>
        </p:nvSpPr>
        <p:spPr>
          <a:xfrm>
            <a:off x="4553640" y="1920240"/>
            <a:ext cx="3135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Mapa simples do fluxo atual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Lista de 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por gargalo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Oportunidade de IA e validação necessária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 que mostraria melhoria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Rounded Rectangle 12"/>
          <p:cNvSpPr/>
          <p:nvPr/>
        </p:nvSpPr>
        <p:spPr>
          <a:xfrm>
            <a:off x="8046720" y="1417320"/>
            <a:ext cx="3428640" cy="1965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3" name="Rectangle 13"/>
          <p:cNvSpPr/>
          <p:nvPr/>
        </p:nvSpPr>
        <p:spPr>
          <a:xfrm>
            <a:off x="8046720" y="1417320"/>
            <a:ext cx="72720" cy="1965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4" name="TextBox 14"/>
          <p:cNvSpPr/>
          <p:nvPr/>
        </p:nvSpPr>
        <p:spPr>
          <a:xfrm>
            <a:off x="82112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Box 15"/>
          <p:cNvSpPr/>
          <p:nvPr/>
        </p:nvSpPr>
        <p:spPr>
          <a:xfrm>
            <a:off x="8211240" y="1920240"/>
            <a:ext cx="31359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1 página por grupo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Priorizar 3 melhorias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Classificar em cultura, processo, ferramenta, dado ou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Rounded Rectangle 16"/>
          <p:cNvSpPr/>
          <p:nvPr/>
        </p:nvSpPr>
        <p:spPr>
          <a:xfrm>
            <a:off x="731520" y="3886200"/>
            <a:ext cx="1074384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7" name="Rectangle 17"/>
          <p:cNvSpPr/>
          <p:nvPr/>
        </p:nvSpPr>
        <p:spPr>
          <a:xfrm>
            <a:off x="731520" y="3886200"/>
            <a:ext cx="72720" cy="1234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588" name="TextBox 18"/>
          <p:cNvSpPr/>
          <p:nvPr/>
        </p:nvSpPr>
        <p:spPr>
          <a:xfrm>
            <a:off x="896040" y="4014360"/>
            <a:ext cx="104511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Box 19"/>
          <p:cNvSpPr/>
          <p:nvPr/>
        </p:nvSpPr>
        <p:spPr>
          <a:xfrm>
            <a:off x="896040" y="4389120"/>
            <a:ext cx="1045116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diagnóstico vira insumo para a proposta de implantação/evolução DevOps do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92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593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Diagnóstico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 dados sensíveis no conteúdo do prompt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5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598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599" name="Rounded Rectangle 6"/>
          <p:cNvSpPr/>
          <p:nvPr/>
        </p:nvSpPr>
        <p:spPr>
          <a:xfrm>
            <a:off x="685800" y="1508760"/>
            <a:ext cx="3428640" cy="195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0" name="Rectangle 7"/>
          <p:cNvSpPr/>
          <p:nvPr/>
        </p:nvSpPr>
        <p:spPr>
          <a:xfrm>
            <a:off x="685800" y="1508760"/>
            <a:ext cx="72720" cy="19566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1" name="TextBox 8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Mapear fluxo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TextBox 9"/>
          <p:cNvSpPr/>
          <p:nvPr/>
        </p:nvSpPr>
        <p:spPr>
          <a:xfrm>
            <a:off x="850320" y="1993320"/>
            <a:ext cx="31359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consultor DevOps. Com base no fluxo abaixo, identifique gargalos, riscos e pontos de automação.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Fluxo: &lt;descrever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Responda em tabela: etapa, gargalo, impacto, evidência, melhoria.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Rounded Rectangle 10"/>
          <p:cNvSpPr/>
          <p:nvPr/>
        </p:nvSpPr>
        <p:spPr>
          <a:xfrm>
            <a:off x="4389120" y="1508760"/>
            <a:ext cx="3428640" cy="195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4" name="Rectangle 11"/>
          <p:cNvSpPr/>
          <p:nvPr/>
        </p:nvSpPr>
        <p:spPr>
          <a:xfrm>
            <a:off x="4389120" y="1508760"/>
            <a:ext cx="72720" cy="19566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5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Criticar melhoria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TextBox 13"/>
          <p:cNvSpPr/>
          <p:nvPr/>
        </p:nvSpPr>
        <p:spPr>
          <a:xfrm>
            <a:off x="455364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Avalie esta proposta de melhoria DevOps. Aponte premissas frágeis, riscos operacionais e como medir se funcionou.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Proposta: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Rounded Rectangle 14"/>
          <p:cNvSpPr/>
          <p:nvPr/>
        </p:nvSpPr>
        <p:spPr>
          <a:xfrm>
            <a:off x="8092440" y="1508760"/>
            <a:ext cx="3428640" cy="1956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8" name="Rectangle 15"/>
          <p:cNvSpPr/>
          <p:nvPr/>
        </p:nvSpPr>
        <p:spPr>
          <a:xfrm>
            <a:off x="8092440" y="1508760"/>
            <a:ext cx="72720" cy="19566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09" name="TextBox 16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Definir métrica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Box 17"/>
          <p:cNvSpPr/>
          <p:nvPr/>
        </p:nvSpPr>
        <p:spPr>
          <a:xfrm>
            <a:off x="825696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Para o gargalo abaixo, sugira uma métrica simples, como coletar a evidência e qual decisão essa métrica apoiaria.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Gargalo: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11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612" name="TextBox 19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TextBox 20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1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2: Git e colaboração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1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618" name="Rounded Rectangle 5"/>
          <p:cNvSpPr/>
          <p:nvPr/>
        </p:nvSpPr>
        <p:spPr>
          <a:xfrm>
            <a:off x="685800" y="1508760"/>
            <a:ext cx="108352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19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20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8"/>
          <p:cNvSpPr/>
          <p:nvPr/>
        </p:nvSpPr>
        <p:spPr>
          <a:xfrm>
            <a:off x="850320" y="1993320"/>
            <a:ext cx="105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Refinar a proposta de melhoria escolhida.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ou escolher a aplicação base do grupo.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ao próximo encontro: nome do projeto, stack, comandos de execução e principal risco técnico.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2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623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2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11/09/2026 | Git, colaboração, qualidade e IA assistida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26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628" name="Picture 4" descr="e2_git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629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2 - Colaboração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 código individual ao fluxo colaborativo com assistência crítica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3" name="Rounded Rectangle 4"/>
          <p:cNvSpPr/>
          <p:nvPr/>
        </p:nvSpPr>
        <p:spPr>
          <a:xfrm>
            <a:off x="68580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4" name="Rectangle 5"/>
          <p:cNvSpPr/>
          <p:nvPr/>
        </p:nvSpPr>
        <p:spPr>
          <a:xfrm>
            <a:off x="685800" y="1417320"/>
            <a:ext cx="72720" cy="2011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5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TextBox 7"/>
          <p:cNvSpPr/>
          <p:nvPr/>
        </p:nvSpPr>
        <p:spPr>
          <a:xfrm>
            <a:off x="85032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 remoto, branches e histórico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Pull request 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Tags, releases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Contexto e limites para assistentes de código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Rounded Rectangle 8"/>
          <p:cNvSpPr/>
          <p:nvPr/>
        </p:nvSpPr>
        <p:spPr>
          <a:xfrm>
            <a:off x="438912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8" name="Rectangle 9"/>
          <p:cNvSpPr/>
          <p:nvPr/>
        </p:nvSpPr>
        <p:spPr>
          <a:xfrm>
            <a:off x="4389120" y="1417320"/>
            <a:ext cx="72720" cy="2011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39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Qualidade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Box 11"/>
          <p:cNvSpPr/>
          <p:nvPr/>
        </p:nvSpPr>
        <p:spPr>
          <a:xfrm>
            <a:off x="455364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mínimo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Padrões de commit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 e análise estática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assistida por IA com checklist humano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Dependências e versão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Rounded Rectangle 12"/>
          <p:cNvSpPr/>
          <p:nvPr/>
        </p:nvSpPr>
        <p:spPr>
          <a:xfrm>
            <a:off x="809244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2" name="Rectangle 13"/>
          <p:cNvSpPr/>
          <p:nvPr/>
        </p:nvSpPr>
        <p:spPr>
          <a:xfrm>
            <a:off x="8092440" y="1417320"/>
            <a:ext cx="72720" cy="2011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3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Box 15"/>
          <p:cNvSpPr/>
          <p:nvPr/>
        </p:nvSpPr>
        <p:spPr>
          <a:xfrm>
            <a:off x="825696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repositório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Abrir PR com alteração pequena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explicar trecho, sugerir teste/refatoração e revisar diff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checklist de revisão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tag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Rounded Rectangle 16"/>
          <p:cNvSpPr/>
          <p:nvPr/>
        </p:nvSpPr>
        <p:spPr>
          <a:xfrm>
            <a:off x="685800" y="3886200"/>
            <a:ext cx="10835280" cy="1234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6" name="Rectangle 17"/>
          <p:cNvSpPr/>
          <p:nvPr/>
        </p:nvSpPr>
        <p:spPr>
          <a:xfrm>
            <a:off x="685800" y="3886200"/>
            <a:ext cx="72720" cy="1234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47" name="TextBox 18"/>
          <p:cNvSpPr/>
          <p:nvPr/>
        </p:nvSpPr>
        <p:spPr>
          <a:xfrm>
            <a:off x="850320" y="401436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TextBox 19"/>
          <p:cNvSpPr/>
          <p:nvPr/>
        </p:nvSpPr>
        <p:spPr>
          <a:xfrm>
            <a:off x="850320" y="4389120"/>
            <a:ext cx="1054260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organizado com fluxo colaborativo, primeira versão rastreável e registro do que a IA sugeriu, do que foi aceito e do que foi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51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652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Fluxo Git Recomendado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Mantenha simples e rastreável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5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657" name="Rounded Rectangle 5"/>
          <p:cNvSpPr/>
          <p:nvPr/>
        </p:nvSpPr>
        <p:spPr>
          <a:xfrm>
            <a:off x="685800" y="1508760"/>
            <a:ext cx="3428640" cy="2514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8" name="Rectangle 6"/>
          <p:cNvSpPr/>
          <p:nvPr/>
        </p:nvSpPr>
        <p:spPr>
          <a:xfrm>
            <a:off x="685800" y="1508760"/>
            <a:ext cx="72720" cy="2514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5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Branches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0" name="Picture 8" descr="e2_git_dark.png"/>
          <p:cNvPicPr/>
          <p:nvPr/>
        </p:nvPicPr>
        <p:blipFill>
          <a:blip r:embed="rId2"/>
          <a:stretch/>
        </p:blipFill>
        <p:spPr>
          <a:xfrm>
            <a:off x="85032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661" name="TextBox 9"/>
          <p:cNvSpPr/>
          <p:nvPr/>
        </p:nvSpPr>
        <p:spPr>
          <a:xfrm>
            <a:off x="850320" y="2441520"/>
            <a:ext cx="313596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main: versão estável do projeto.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feature/&lt;tema&gt;: alteração pequena e revisável.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Evitar commits direto na main depois do primeiro encontro prático.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Rounded Rectangle 10"/>
          <p:cNvSpPr/>
          <p:nvPr/>
        </p:nvSpPr>
        <p:spPr>
          <a:xfrm>
            <a:off x="4389120" y="1508760"/>
            <a:ext cx="3428640" cy="2514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3" name="Rectangle 11"/>
          <p:cNvSpPr/>
          <p:nvPr/>
        </p:nvSpPr>
        <p:spPr>
          <a:xfrm>
            <a:off x="4389120" y="1508760"/>
            <a:ext cx="72720" cy="2514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4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65" name="Picture 13" descr="ic_merge.png"/>
          <p:cNvPicPr/>
          <p:nvPr/>
        </p:nvPicPr>
        <p:blipFill>
          <a:blip r:embed="rId3"/>
          <a:stretch/>
        </p:blipFill>
        <p:spPr>
          <a:xfrm>
            <a:off x="455364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666" name="TextBox 14"/>
          <p:cNvSpPr/>
          <p:nvPr/>
        </p:nvSpPr>
        <p:spPr>
          <a:xfrm>
            <a:off x="4553640" y="2441520"/>
            <a:ext cx="313596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Toda mudança relevante passa por PR.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 deve ter objetivo, evidência de teste e risco conhecido.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Comentário de revisão deve discutir comportamento, não preferência pessoal.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Rounded Rectangle 15"/>
          <p:cNvSpPr/>
          <p:nvPr/>
        </p:nvSpPr>
        <p:spPr>
          <a:xfrm>
            <a:off x="8092440" y="1508760"/>
            <a:ext cx="3428640" cy="2514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8" name="Rectangle 16"/>
          <p:cNvSpPr/>
          <p:nvPr/>
        </p:nvSpPr>
        <p:spPr>
          <a:xfrm>
            <a:off x="8092440" y="1508760"/>
            <a:ext cx="72720" cy="25142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69" name="TextBox 17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Versionamento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0" name="Picture 18" descr="ic_tag.png"/>
          <p:cNvPicPr/>
          <p:nvPr/>
        </p:nvPicPr>
        <p:blipFill>
          <a:blip r:embed="rId4"/>
          <a:stretch/>
        </p:blipFill>
        <p:spPr>
          <a:xfrm>
            <a:off x="8256960" y="1984320"/>
            <a:ext cx="347040" cy="347040"/>
          </a:xfrm>
          <a:prstGeom prst="rect">
            <a:avLst/>
          </a:prstGeom>
          <a:ln w="0">
            <a:noFill/>
          </a:ln>
        </p:spPr>
      </p:pic>
      <p:sp>
        <p:nvSpPr>
          <p:cNvPr id="671" name="TextBox 19"/>
          <p:cNvSpPr/>
          <p:nvPr/>
        </p:nvSpPr>
        <p:spPr>
          <a:xfrm>
            <a:off x="8256960" y="2441520"/>
            <a:ext cx="3135960" cy="96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 inicial: v0.1.0 ou aula-02.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Tags posteriores para releases de laboratório.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deve indicar como executar a versão atual.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2" name="Picture 20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673" name="TextBox 21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Box 22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Modelos de Branching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trade-offs antes de escolher um padrão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7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679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0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1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Trunk-based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Todo mundo integra na main com frequência.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vida curta, de horas.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Exige testes fortes e, muitas vezes, feature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4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5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branch por feature, com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Merge na main costuma já habilitar o deploy.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Simples e alinhado com entrega contínua — é o que a disciplina 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8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89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GitFlow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Branches de release, develop e hotfix.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estrutura e mais overhead de coordenação.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Comum em produtos com ciclos de release longos e formais.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9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692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29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Laboratório Git - Comandos Base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Roteiro mínimo; adapte para GitHub, GitLab ou Azure DevOps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69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698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699" name="TextBox 6"/>
          <p:cNvSpPr/>
          <p:nvPr/>
        </p:nvSpPr>
        <p:spPr>
          <a:xfrm>
            <a:off x="896040" y="1609200"/>
            <a:ext cx="10414800" cy="357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1. Clonar ou iniciar repositorio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clone &lt;url-do-repositorio&gt;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cd &lt;nome-do-projeto&gt;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2. Criar branch de trabalho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3. Alterar README e conferir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4. Registrar alteracao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README.md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"docs: adiciona instrucoes iniciais"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5. Enviar branch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feature/readme-inicial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6. Abrir Pull Request no provedor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preencher objetivo, evidencias e riscos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7. Depois do merge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main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origin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0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701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Bom Commit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Convenções que economizam tempo do time inteiro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0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707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8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0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Commit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Mensagem no imperativo: “adiciona”, não “adicionado”.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propósito por commit — não misture assuntos diferentes.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Prefixo por tipo: feat, fix, docs, refactor, test.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2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3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Pull Request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Título claro e descrição do problema e da solução.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teste anexada (log, print, resultado).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pequeno: mais fácil de revisar, mais fácil de reverter.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6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7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TextBox 16"/>
          <p:cNvSpPr/>
          <p:nvPr/>
        </p:nvSpPr>
        <p:spPr>
          <a:xfrm>
            <a:off x="825696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gigantes misturando várias mudanças.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Mensagens genéricas como “fix” ou “ajustes”.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sem contexto, obrigando o revisor a adivinhar a intenção.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19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720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Definition of Done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critério objetivo, não uma sensação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2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726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7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28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Checklist típico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revisado por outra pessoa.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relevantes passando.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Sem segredo exposto no código ou no histórico.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 localmente a partir de um clone limpo.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1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2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importa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 que cada pessoa do time tenha um “pronto” diferente.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Vira critério objetivo de avaliação também nesta disciplina.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5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36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aconteceria se cada integrante do grupo tivesse uma definição diferente de “pronto”?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8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739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Revisão de PR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usar sem perder o controle técnico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4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745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6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o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Explicar objetivo da mudança.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Colar apenas diff ou trecho não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Informar stack, testes existentes e critérios de aceite.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0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Pedir revisão objetiva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Solicitar bugs, regressões, segurança e testes faltantes.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severidade e justificativa.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pergunta genérica: “está bom?”.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4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Validar 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Conferir cada sugestão no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testes/lint/build.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o que foi aceito, rejeitado e por quê.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Rounded Rectangle 17"/>
          <p:cNvSpPr/>
          <p:nvPr/>
        </p:nvSpPr>
        <p:spPr>
          <a:xfrm>
            <a:off x="685800" y="351144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8" name="Rectangle 18"/>
          <p:cNvSpPr/>
          <p:nvPr/>
        </p:nvSpPr>
        <p:spPr>
          <a:xfrm>
            <a:off x="685800" y="351144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59" name="TextBox 19"/>
          <p:cNvSpPr/>
          <p:nvPr/>
        </p:nvSpPr>
        <p:spPr>
          <a:xfrm>
            <a:off x="850320" y="363924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20"/>
          <p:cNvSpPr/>
          <p:nvPr/>
        </p:nvSpPr>
        <p:spPr>
          <a:xfrm>
            <a:off x="850320" y="399600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checklist humano, comentário de revisão ou resumo da análise e registro do uso de IA, caso tenha sido aplicada.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61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762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Qualidade Além do Olho Humano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cada camada de checagem realmente pega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768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69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0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lint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Estilo, formatação e convenções.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Imports e variáveis não usadas.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roda a cada commit.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3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4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análise estática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Vulnerabilidades conhecidas em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Complexidade excessiva e código morto.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Más práticas de segurança no próprio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7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8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só a revisão humana pega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Intenção de negócio errada.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Nome ruim, decisão de arquitetura questionável.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Dívida técnica sendo introduzida — ferramenta não substitui isso.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8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781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2 - Repositório e Pull Request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Transformar colaboração em fluxo rastreável, em grupo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8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787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8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8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0" name="TextBox 8"/>
          <p:cNvSpPr/>
          <p:nvPr/>
        </p:nvSpPr>
        <p:spPr>
          <a:xfrm>
            <a:off x="850320" y="1993320"/>
            <a:ext cx="3135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é o menor incremento que já vale um PR?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estar no README para alguém rodar o projeto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checklist de revisão faz sentido para este projeto?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ajuda sem esconder uma lacuna de entendimento?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2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3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com pelo menos um PR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 com comando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 inicial (v0.1.0).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do que a IA sugeriu e do que foi aceito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6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97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repositório por grupo, acessível ao professor.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 com objetivo, evidência de teste e risco descritos.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Rounded Rectangle 17"/>
          <p:cNvSpPr/>
          <p:nvPr/>
        </p:nvSpPr>
        <p:spPr>
          <a:xfrm>
            <a:off x="685800" y="422460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0" name="Rectangle 18"/>
          <p:cNvSpPr/>
          <p:nvPr/>
        </p:nvSpPr>
        <p:spPr>
          <a:xfrm>
            <a:off x="685800" y="422460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01" name="TextBox 19"/>
          <p:cNvSpPr/>
          <p:nvPr/>
        </p:nvSpPr>
        <p:spPr>
          <a:xfrm>
            <a:off x="850320" y="435240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20"/>
          <p:cNvSpPr/>
          <p:nvPr/>
        </p:nvSpPr>
        <p:spPr>
          <a:xfrm>
            <a:off x="850320" y="470916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 repositório e PR alimentam a nota de pipeline/entrega e o registro crítico de uso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0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804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Revisão e Qualidade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Modelos de prompt para revisão e qualidade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810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811" name="Rounded Rectangle 6"/>
          <p:cNvSpPr/>
          <p:nvPr/>
        </p:nvSpPr>
        <p:spPr>
          <a:xfrm>
            <a:off x="685800" y="1508760"/>
            <a:ext cx="3428640" cy="238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2" name="Rectangle 7"/>
          <p:cNvSpPr/>
          <p:nvPr/>
        </p:nvSpPr>
        <p:spPr>
          <a:xfrm>
            <a:off x="685800" y="1508760"/>
            <a:ext cx="72720" cy="23860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3" name="TextBox 8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Revisar PR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TextBox 9"/>
          <p:cNvSpPr/>
          <p:nvPr/>
        </p:nvSpPr>
        <p:spPr>
          <a:xfrm>
            <a:off x="850320" y="1993320"/>
            <a:ext cx="313596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Atue como revisor sênior. Revise apenas o diff abaixo buscando bugs, regressões, riscos de segurança e testes ausentes.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Formato: severidade, arquivo/trecho, problema, sugestão e validação necessária.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Diff: &lt;colar diff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Rounded Rectangle 10"/>
          <p:cNvSpPr/>
          <p:nvPr/>
        </p:nvSpPr>
        <p:spPr>
          <a:xfrm>
            <a:off x="4389120" y="1508760"/>
            <a:ext cx="3428640" cy="238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6" name="Rectangle 11"/>
          <p:cNvSpPr/>
          <p:nvPr/>
        </p:nvSpPr>
        <p:spPr>
          <a:xfrm>
            <a:off x="4389120" y="1508760"/>
            <a:ext cx="72720" cy="238608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17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Gerar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TextBox 13"/>
          <p:cNvSpPr/>
          <p:nvPr/>
        </p:nvSpPr>
        <p:spPr>
          <a:xfrm>
            <a:off x="455364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nesta função e nos critérios de aceite, sugira testes unitários e casos de borda. Não altere a API pública sem justificar.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 Critérios: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Rounded Rectangle 14"/>
          <p:cNvSpPr/>
          <p:nvPr/>
        </p:nvSpPr>
        <p:spPr>
          <a:xfrm>
            <a:off x="8092440" y="1508760"/>
            <a:ext cx="3428640" cy="238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0" name="Rectangle 15"/>
          <p:cNvSpPr/>
          <p:nvPr/>
        </p:nvSpPr>
        <p:spPr>
          <a:xfrm>
            <a:off x="8092440" y="1508760"/>
            <a:ext cx="72720" cy="23860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21" name="TextBox 16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Melhorar 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TextBox 17"/>
          <p:cNvSpPr/>
          <p:nvPr/>
        </p:nvSpPr>
        <p:spPr>
          <a:xfrm>
            <a:off x="825696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Reescreva as instruções de execução abaixo para ficarem reproduzíveis por quem acabou de clonar o projeto.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README atual: &lt;texto&gt;.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23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824" name="TextBox 19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20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2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3: integração contínua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2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830" name="Rounded Rectangle 5"/>
          <p:cNvSpPr/>
          <p:nvPr/>
        </p:nvSpPr>
        <p:spPr>
          <a:xfrm>
            <a:off x="685800" y="1508760"/>
            <a:ext cx="108352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1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32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TextBox 8"/>
          <p:cNvSpPr/>
          <p:nvPr/>
        </p:nvSpPr>
        <p:spPr>
          <a:xfrm>
            <a:off x="850320" y="1993320"/>
            <a:ext cx="105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Garantir que o projeto rode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pelo menos um teste simples se ainda não existir.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3: comando de instalação, build 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34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835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3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8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12/09/2026 | Integração contínua, testes e IA para automação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9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39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40" name="Picture 4" descr="e3_refresh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841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Feedback rápido para reduzir risco de integração e validar sugestões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5" name="Chevron 4"/>
          <p:cNvSpPr/>
          <p:nvPr/>
        </p:nvSpPr>
        <p:spPr>
          <a:xfrm>
            <a:off x="914400" y="1600200"/>
            <a:ext cx="1691280" cy="78588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6" name="TextBox 5"/>
          <p:cNvSpPr/>
          <p:nvPr/>
        </p:nvSpPr>
        <p:spPr>
          <a:xfrm>
            <a:off x="1005840" y="186552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Trigger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Chevron 6"/>
          <p:cNvSpPr/>
          <p:nvPr/>
        </p:nvSpPr>
        <p:spPr>
          <a:xfrm>
            <a:off x="3063240" y="1600200"/>
            <a:ext cx="1691280" cy="78588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8" name="TextBox 7"/>
          <p:cNvSpPr/>
          <p:nvPr/>
        </p:nvSpPr>
        <p:spPr>
          <a:xfrm>
            <a:off x="3154680" y="186552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Build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Chevron 8"/>
          <p:cNvSpPr/>
          <p:nvPr/>
        </p:nvSpPr>
        <p:spPr>
          <a:xfrm>
            <a:off x="5212080" y="1600200"/>
            <a:ext cx="1691280" cy="785880"/>
          </a:xfrm>
          <a:prstGeom prst="chevron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0" name="TextBox 9"/>
          <p:cNvSpPr/>
          <p:nvPr/>
        </p:nvSpPr>
        <p:spPr>
          <a:xfrm>
            <a:off x="5303520" y="186552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Chevron 10"/>
          <p:cNvSpPr/>
          <p:nvPr/>
        </p:nvSpPr>
        <p:spPr>
          <a:xfrm>
            <a:off x="7360920" y="1600200"/>
            <a:ext cx="1691280" cy="785880"/>
          </a:xfrm>
          <a:prstGeom prst="chevron">
            <a:avLst>
              <a:gd name="adj" fmla="val 50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2" name="TextBox 11"/>
          <p:cNvSpPr/>
          <p:nvPr/>
        </p:nvSpPr>
        <p:spPr>
          <a:xfrm>
            <a:off x="7452360" y="186552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Chevron 12"/>
          <p:cNvSpPr/>
          <p:nvPr/>
        </p:nvSpPr>
        <p:spPr>
          <a:xfrm>
            <a:off x="9509760" y="1600200"/>
            <a:ext cx="1691280" cy="785880"/>
          </a:xfrm>
          <a:prstGeom prst="chevron">
            <a:avLst>
              <a:gd name="adj" fmla="val 50000"/>
            </a:avLst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4" name="TextBox 13"/>
          <p:cNvSpPr/>
          <p:nvPr/>
        </p:nvSpPr>
        <p:spPr>
          <a:xfrm>
            <a:off x="9601200" y="1865520"/>
            <a:ext cx="1325520" cy="16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Aptos"/>
              </a:rPr>
              <a:t>Artefato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Rounded Rectangle 14"/>
          <p:cNvSpPr/>
          <p:nvPr/>
        </p:nvSpPr>
        <p:spPr>
          <a:xfrm>
            <a:off x="731520" y="292608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6" name="Rectangle 15"/>
          <p:cNvSpPr/>
          <p:nvPr/>
        </p:nvSpPr>
        <p:spPr>
          <a:xfrm>
            <a:off x="731520" y="2926080"/>
            <a:ext cx="72720" cy="17827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57" name="TextBox 16"/>
          <p:cNvSpPr/>
          <p:nvPr/>
        </p:nvSpPr>
        <p:spPr>
          <a:xfrm>
            <a:off x="896040" y="305424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Conceitos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TextBox 17"/>
          <p:cNvSpPr/>
          <p:nvPr/>
        </p:nvSpPr>
        <p:spPr>
          <a:xfrm>
            <a:off x="896040" y="342900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Runners, jobs e etapas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Variáveis, cache 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como feedback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interpretar logs e sugerir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Rounded Rectangle 18"/>
          <p:cNvSpPr/>
          <p:nvPr/>
        </p:nvSpPr>
        <p:spPr>
          <a:xfrm>
            <a:off x="4389120" y="292608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0" name="Rectangle 19"/>
          <p:cNvSpPr/>
          <p:nvPr/>
        </p:nvSpPr>
        <p:spPr>
          <a:xfrm>
            <a:off x="4389120" y="2926080"/>
            <a:ext cx="72720" cy="17827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1" name="TextBox 20"/>
          <p:cNvSpPr/>
          <p:nvPr/>
        </p:nvSpPr>
        <p:spPr>
          <a:xfrm>
            <a:off x="4553640" y="305424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TextBox 21"/>
          <p:cNvSpPr/>
          <p:nvPr/>
        </p:nvSpPr>
        <p:spPr>
          <a:xfrm>
            <a:off x="4553640" y="342900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pipeline inicial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Executar 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ou melhorar testes com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Gerar 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Analisar logs de falha com validação humana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Rounded Rectangle 22"/>
          <p:cNvSpPr/>
          <p:nvPr/>
        </p:nvSpPr>
        <p:spPr>
          <a:xfrm>
            <a:off x="8046720" y="2926080"/>
            <a:ext cx="3428640" cy="17827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4" name="Rectangle 23"/>
          <p:cNvSpPr/>
          <p:nvPr/>
        </p:nvSpPr>
        <p:spPr>
          <a:xfrm>
            <a:off x="8046720" y="2926080"/>
            <a:ext cx="72720" cy="17827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5" name="TextBox 24"/>
          <p:cNvSpPr/>
          <p:nvPr/>
        </p:nvSpPr>
        <p:spPr>
          <a:xfrm>
            <a:off x="8211240" y="305424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TextBox 25"/>
          <p:cNvSpPr/>
          <p:nvPr/>
        </p:nvSpPr>
        <p:spPr>
          <a:xfrm>
            <a:off x="8211240" y="3429000"/>
            <a:ext cx="313596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PR/push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de teste e 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Sugestões de IA validadas por execução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Ação corretiva registrada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TextBox 26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TextBox 27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9" name="Picture 28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870" name="Picture 29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CI Explicado de Forma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Sempre com o log como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7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875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6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7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Por que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Detectar quebra de integração cedo.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Padronizar build e testes fora da máquina do aluno.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Criar evidência objetiva para PR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0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Componentes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Trigger: quando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onde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Job/step: o que executar.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Artifact/cache: o que guardar ou reaproveitar.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4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verde sem teste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Comando que só funciona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 exposto em variável/log.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ignorada para “passar” a entrega.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8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88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Job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acontece por trás do YAML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89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894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5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6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Trigger e 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push, pull_request, schedule ou disparo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Escolher o gatilho certo evita pipeline rodando à toa.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99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0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Runner: máquina efêmera que nasce só para o job.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Steps sequenciais; cache acelera reinstalação de dependências.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Matrix roda o mesmo job em várias versões/SOs em paralelo.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3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04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Artefato: binário, imagem ou relatório gerado.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detalhados e status final: verde ou vermelho.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Notificação para quem precisa agir.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0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907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Pipeline Mínimo - Exemplo GitHub Actions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Troque os comandos conforme a stack do projeto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1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913" name="Rounded Rectangle 5"/>
          <p:cNvSpPr/>
          <p:nvPr/>
        </p:nvSpPr>
        <p:spPr>
          <a:xfrm>
            <a:off x="731520" y="1481400"/>
            <a:ext cx="534888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4" name="TextBox 6"/>
          <p:cNvSpPr/>
          <p:nvPr/>
        </p:nvSpPr>
        <p:spPr>
          <a:xfrm>
            <a:off x="896040" y="1609200"/>
            <a:ext cx="501984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name: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pull_request: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push: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branches: [main]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jobs: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build-test: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runs-on: ubuntu-latest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steps: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actions/checkout@v4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uses: actions/setup-node@v4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with: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node-version: 22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cache: npm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run: 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Rounded Rectangle 7"/>
          <p:cNvSpPr/>
          <p:nvPr/>
        </p:nvSpPr>
        <p:spPr>
          <a:xfrm>
            <a:off x="6355080" y="148140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6" name="Rectangle 8"/>
          <p:cNvSpPr/>
          <p:nvPr/>
        </p:nvSpPr>
        <p:spPr>
          <a:xfrm>
            <a:off x="6355080" y="1481400"/>
            <a:ext cx="72720" cy="1328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17" name="TextBox 9"/>
          <p:cNvSpPr/>
          <p:nvPr/>
        </p:nvSpPr>
        <p:spPr>
          <a:xfrm>
            <a:off x="6519600" y="160920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TextBox 10"/>
          <p:cNvSpPr/>
          <p:nvPr/>
        </p:nvSpPr>
        <p:spPr>
          <a:xfrm>
            <a:off x="6519600" y="1965960"/>
            <a:ext cx="46904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YAML declara quando executar e a sequência de validação.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pipeline deve falhar quando build ou testes falharem.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Rounded Rectangle 11"/>
          <p:cNvSpPr/>
          <p:nvPr/>
        </p:nvSpPr>
        <p:spPr>
          <a:xfrm>
            <a:off x="6355080" y="291996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0" name="Rectangle 12"/>
          <p:cNvSpPr/>
          <p:nvPr/>
        </p:nvSpPr>
        <p:spPr>
          <a:xfrm>
            <a:off x="6355080" y="2919960"/>
            <a:ext cx="72720" cy="1328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1" name="TextBox 13"/>
          <p:cNvSpPr/>
          <p:nvPr/>
        </p:nvSpPr>
        <p:spPr>
          <a:xfrm>
            <a:off x="6519600" y="304812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adaptar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TextBox 14"/>
          <p:cNvSpPr/>
          <p:nvPr/>
        </p:nvSpPr>
        <p:spPr>
          <a:xfrm>
            <a:off x="6519600" y="3404520"/>
            <a:ext cx="46904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Node pode virar Python, Java, Go ou .NET.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 lógica se mantém: checkout, setup, dependências, testes, build e artefato.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Rounded Rectangle 15"/>
          <p:cNvSpPr/>
          <p:nvPr/>
        </p:nvSpPr>
        <p:spPr>
          <a:xfrm>
            <a:off x="6355080" y="435852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4" name="Rectangle 16"/>
          <p:cNvSpPr/>
          <p:nvPr/>
        </p:nvSpPr>
        <p:spPr>
          <a:xfrm>
            <a:off x="6355080" y="4358520"/>
            <a:ext cx="72720" cy="1328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5" name="TextBox 17"/>
          <p:cNvSpPr/>
          <p:nvPr/>
        </p:nvSpPr>
        <p:spPr>
          <a:xfrm>
            <a:off x="6519600" y="448668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validar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TextBox 18"/>
          <p:cNvSpPr/>
          <p:nvPr/>
        </p:nvSpPr>
        <p:spPr>
          <a:xfrm>
            <a:off x="6519600" y="4843440"/>
            <a:ext cx="46904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Abrir a aba Actions/Pipelines.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Conferir logs, tempo de execução e commit associado.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7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928" name="TextBox 2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TextBox 2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 Pirâmide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Testes lentos no topo custam feedback; equilíbrio é decisão estratégica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3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934" name="Freeform 5"/>
          <p:cNvSpPr/>
          <p:nvPr/>
        </p:nvSpPr>
        <p:spPr>
          <a:xfrm>
            <a:off x="2270880" y="1691640"/>
            <a:ext cx="1127520" cy="1279800"/>
          </a:xfrm>
          <a:custGeom>
            <a:avLst/>
            <a:gdLst>
              <a:gd name="textAreaLeft" fmla="*/ 0 w 1127520"/>
              <a:gd name="textAreaRight" fmla="*/ 1127880 w 1127520"/>
              <a:gd name="textAreaTop" fmla="*/ 0 h 1279800"/>
              <a:gd name="textAreaBottom" fmla="*/ 1280160 h 1279800"/>
            </a:gdLst>
            <a:ahLst/>
            <a:rect l="textAreaLeft" t="textAreaTop" r="textAreaRight" b="textAreaBottom"/>
            <a:pathLst>
              <a:path w="1127760" h="1280160">
                <a:moveTo>
                  <a:pt x="563880" y="0"/>
                </a:moveTo>
                <a:lnTo>
                  <a:pt x="563880" y="0"/>
                </a:lnTo>
                <a:lnTo>
                  <a:pt x="112776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6750a4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5" name="Freeform 6"/>
          <p:cNvSpPr/>
          <p:nvPr/>
        </p:nvSpPr>
        <p:spPr>
          <a:xfrm>
            <a:off x="1706760" y="2971800"/>
            <a:ext cx="2255040" cy="1279800"/>
          </a:xfrm>
          <a:custGeom>
            <a:avLst/>
            <a:gdLst>
              <a:gd name="textAreaLeft" fmla="*/ 0 w 2255040"/>
              <a:gd name="textAreaRight" fmla="*/ 2255400 w 2255040"/>
              <a:gd name="textAreaTop" fmla="*/ 0 h 1279800"/>
              <a:gd name="textAreaBottom" fmla="*/ 1280160 h 1279800"/>
            </a:gdLst>
            <a:ahLst/>
            <a:rect l="textAreaLeft" t="textAreaTop" r="textAreaRight" b="textAreaBottom"/>
            <a:pathLst>
              <a:path w="2255520" h="1280160">
                <a:moveTo>
                  <a:pt x="563880" y="0"/>
                </a:moveTo>
                <a:lnTo>
                  <a:pt x="1691640" y="0"/>
                </a:lnTo>
                <a:lnTo>
                  <a:pt x="225552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2666a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6" name="Freeform 7"/>
          <p:cNvSpPr/>
          <p:nvPr/>
        </p:nvSpPr>
        <p:spPr>
          <a:xfrm>
            <a:off x="1143000" y="4251960"/>
            <a:ext cx="3382920" cy="1279800"/>
          </a:xfrm>
          <a:custGeom>
            <a:avLst/>
            <a:gdLst>
              <a:gd name="textAreaLeft" fmla="*/ 0 w 3382920"/>
              <a:gd name="textAreaRight" fmla="*/ 3383280 w 3382920"/>
              <a:gd name="textAreaTop" fmla="*/ 0 h 1279800"/>
              <a:gd name="textAreaBottom" fmla="*/ 1280160 h 1279800"/>
            </a:gdLst>
            <a:ahLst/>
            <a:rect l="textAreaLeft" t="textAreaTop" r="textAreaRight" b="textAreaBottom"/>
            <a:pathLst>
              <a:path w="3383280" h="1280160">
                <a:moveTo>
                  <a:pt x="563880" y="0"/>
                </a:moveTo>
                <a:lnTo>
                  <a:pt x="2819400" y="0"/>
                </a:lnTo>
                <a:lnTo>
                  <a:pt x="3383280" y="1280160"/>
                </a:lnTo>
                <a:lnTo>
                  <a:pt x="0" y="1280160"/>
                </a:lnTo>
                <a:lnTo>
                  <a:pt x="563880" y="0"/>
                </a:lnTo>
                <a:close/>
              </a:path>
            </a:pathLst>
          </a:custGeom>
          <a:solidFill>
            <a:srgbClr val="00897b"/>
          </a:solidFill>
          <a:ln w="25400">
            <a:solidFill>
              <a:srgbClr val="f4f7f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37" name="TextBox 8"/>
          <p:cNvSpPr/>
          <p:nvPr/>
        </p:nvSpPr>
        <p:spPr>
          <a:xfrm>
            <a:off x="4892040" y="1691640"/>
            <a:ext cx="6400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Ponta a ponta / 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TextBox 9"/>
          <p:cNvSpPr/>
          <p:nvPr/>
        </p:nvSpPr>
        <p:spPr>
          <a:xfrm>
            <a:off x="4892040" y="2039040"/>
            <a:ext cx="6400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Poucos e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o fluxo completo do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Rectangle 10"/>
          <p:cNvSpPr/>
          <p:nvPr/>
        </p:nvSpPr>
        <p:spPr>
          <a:xfrm>
            <a:off x="4745880" y="1710000"/>
            <a:ext cx="54360" cy="9597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0" name="TextBox 11"/>
          <p:cNvSpPr/>
          <p:nvPr/>
        </p:nvSpPr>
        <p:spPr>
          <a:xfrm>
            <a:off x="4892040" y="3017520"/>
            <a:ext cx="6400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TextBox 12"/>
          <p:cNvSpPr/>
          <p:nvPr/>
        </p:nvSpPr>
        <p:spPr>
          <a:xfrm>
            <a:off x="4892040" y="3364920"/>
            <a:ext cx="6400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Menos numerosos, mais lentos.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a colaboração entre partes (API + banco).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Rectangle 13"/>
          <p:cNvSpPr/>
          <p:nvPr/>
        </p:nvSpPr>
        <p:spPr>
          <a:xfrm>
            <a:off x="4745880" y="3035880"/>
            <a:ext cx="54360" cy="9597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43" name="TextBox 14"/>
          <p:cNvSpPr/>
          <p:nvPr/>
        </p:nvSpPr>
        <p:spPr>
          <a:xfrm>
            <a:off x="4892040" y="4343400"/>
            <a:ext cx="64004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Unitários (base larga)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TextBox 15"/>
          <p:cNvSpPr/>
          <p:nvPr/>
        </p:nvSpPr>
        <p:spPr>
          <a:xfrm>
            <a:off x="4892040" y="4690800"/>
            <a:ext cx="6400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Muitos, rápidos e baratos.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Testam uma função ou regra isolada.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Rectangle 16"/>
          <p:cNvSpPr/>
          <p:nvPr/>
        </p:nvSpPr>
        <p:spPr>
          <a:xfrm>
            <a:off x="4745880" y="4361760"/>
            <a:ext cx="54360" cy="9597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4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947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para Caber em 24h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Escolha testes que provem o fluxo, não tente cobrir tudo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5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953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4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5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Unitário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Funções puras, regras de negócio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Rápido, barato e ideal para CI inicial.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8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59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Integração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API + banco ou API + dependência.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Compose e projeto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ser simplificado com serviço fake ou banco local.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2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63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Smoke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Verifica se a aplicação sobe e responde.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Bom para container e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curl /health ou chamada simples no endpoint principal.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6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966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Métricas de CI que Contam a Verdade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Ligando de volta às métricas DORA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7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972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3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4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Tempo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rápido, mais vezes o time integra.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Builds de 20+ minutos matam a prática de CI na rotina.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7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78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Taxa de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que falham aleatoriamente destroem a confiança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Precisa ser tratado como bug, não ignorado ou re-executado sem investigar.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1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82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Cobertura de teste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como sinal de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Perigosa como meta: 100% de cobertura não garante ausência de bugs.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8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985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Testes Frágeis (Flaky Tests)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dos maiores destruidores de confiança em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991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2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Causas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8"/>
          <p:cNvSpPr/>
          <p:nvPr/>
        </p:nvSpPr>
        <p:spPr>
          <a:xfrm>
            <a:off x="85032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de tempo ou de ordem de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Chamadas de rede reais em vez de simuladas.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compartilhados entre testes; condições de corrida.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6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9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resolver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Isolar estado entre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mocks/fakes para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Tornar o teste determinístico, sem depender de sorte.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0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teste que falha 1 vez a cada 20 execuções — vocês confiam nele?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fazer com ele: consertar, isolar ou remover do pipeline?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00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3 - Pipeline de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Provar, com log, que o pipeline protege a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010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1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2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TextBox 8"/>
          <p:cNvSpPr/>
          <p:nvPr/>
        </p:nvSpPr>
        <p:spPr>
          <a:xfrm>
            <a:off x="850320" y="1993320"/>
            <a:ext cx="31359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pipeline falha quando deveria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teste realmente prova que o código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log do erro é suficiente para outra pessoa entender a causa?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a interpretar uma falha?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5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6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executando a cada push/PR.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Ao menos um teste real, não trivial.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log de falha analisado e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Badge ou print do pipeline em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19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0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Arquivo de pipeline versionado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link do pipeline executando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Rounded Rectangle 17"/>
          <p:cNvSpPr/>
          <p:nvPr/>
        </p:nvSpPr>
        <p:spPr>
          <a:xfrm>
            <a:off x="685800" y="422460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3" name="Rectangle 18"/>
          <p:cNvSpPr/>
          <p:nvPr/>
        </p:nvSpPr>
        <p:spPr>
          <a:xfrm>
            <a:off x="685800" y="422460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24" name="TextBox 19"/>
          <p:cNvSpPr/>
          <p:nvPr/>
        </p:nvSpPr>
        <p:spPr>
          <a:xfrm>
            <a:off x="850320" y="435240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TextBox 20"/>
          <p:cNvSpPr/>
          <p:nvPr/>
        </p:nvSpPr>
        <p:spPr>
          <a:xfrm>
            <a:off x="850320" y="470916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diretamente nos 25% de Pipeline CI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2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027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Testes e Logs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acelerador de investigação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1033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034" name="Rounded Rectangle 6"/>
          <p:cNvSpPr/>
          <p:nvPr/>
        </p:nvSpPr>
        <p:spPr>
          <a:xfrm>
            <a:off x="68580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5" name="Rectangle 7"/>
          <p:cNvSpPr/>
          <p:nvPr/>
        </p:nvSpPr>
        <p:spPr>
          <a:xfrm>
            <a:off x="685800" y="1508760"/>
            <a:ext cx="72720" cy="1737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6" name="TextBox 8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Teste de borda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7" name="TextBox 9"/>
          <p:cNvSpPr/>
          <p:nvPr/>
        </p:nvSpPr>
        <p:spPr>
          <a:xfrm>
            <a:off x="85032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a função abaixo e sugira casos de teste relevantes, incluindo entradas inválidas, limites e regressões prováveis.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Código: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Rounded Rectangle 10"/>
          <p:cNvSpPr/>
          <p:nvPr/>
        </p:nvSpPr>
        <p:spPr>
          <a:xfrm>
            <a:off x="438912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39" name="Rectangle 11"/>
          <p:cNvSpPr/>
          <p:nvPr/>
        </p:nvSpPr>
        <p:spPr>
          <a:xfrm>
            <a:off x="4389120" y="1508760"/>
            <a:ext cx="72720" cy="1737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0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 de 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TextBox 13"/>
          <p:cNvSpPr/>
          <p:nvPr/>
        </p:nvSpPr>
        <p:spPr>
          <a:xfrm>
            <a:off x="455364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job de CI falhou. Explique a provável causa, liste hipóteses em ordem de probabilidade e sugira validações antes de alterar código.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Log: &lt;colar 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Rounded Rectangle 14"/>
          <p:cNvSpPr/>
          <p:nvPr/>
        </p:nvSpPr>
        <p:spPr>
          <a:xfrm>
            <a:off x="809244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3" name="Rectangle 15"/>
          <p:cNvSpPr/>
          <p:nvPr/>
        </p:nvSpPr>
        <p:spPr>
          <a:xfrm>
            <a:off x="8092440" y="1508760"/>
            <a:ext cx="72720" cy="1737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44" name="TextBox 16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YAML de CI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7"/>
          <p:cNvSpPr/>
          <p:nvPr/>
        </p:nvSpPr>
        <p:spPr>
          <a:xfrm>
            <a:off x="825696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Revise este pipeline e aponte riscos: cache incorreto, comandos frágeis, segredos em log, falta de testes e etapas sem valor.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YAML: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6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047" name="TextBox 19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TextBox 20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3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4: containers 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5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053" name="Rounded Rectangle 5"/>
          <p:cNvSpPr/>
          <p:nvPr/>
        </p:nvSpPr>
        <p:spPr>
          <a:xfrm>
            <a:off x="685800" y="1508760"/>
            <a:ext cx="108352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4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5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TextBox 8"/>
          <p:cNvSpPr/>
          <p:nvPr/>
        </p:nvSpPr>
        <p:spPr>
          <a:xfrm>
            <a:off x="850320" y="1993320"/>
            <a:ext cx="105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Corrigir pendências do CI.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 de build/teste no README.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4: porta da aplicação, variáveis e dependências externas.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7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058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4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1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24/09/2026 | Containers, integração e troubleshooting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2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52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63" name="Picture 4" descr="e4_container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1064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4 - Containers e Compose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Ambiente reproduzível para desenvolvimento, validação e diagnóstico assistido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8" name="Rounded Rectangle 4"/>
          <p:cNvSpPr/>
          <p:nvPr/>
        </p:nvSpPr>
        <p:spPr>
          <a:xfrm>
            <a:off x="685800" y="1417320"/>
            <a:ext cx="34286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69" name="Rectangle 5"/>
          <p:cNvSpPr/>
          <p:nvPr/>
        </p:nvSpPr>
        <p:spPr>
          <a:xfrm>
            <a:off x="685800" y="1417320"/>
            <a:ext cx="72720" cy="20570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0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Dockerfile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7"/>
          <p:cNvSpPr/>
          <p:nvPr/>
        </p:nvSpPr>
        <p:spPr>
          <a:xfrm>
            <a:off x="850320" y="1920240"/>
            <a:ext cx="31359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mínima e reproduzível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Camadas e cache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de ambiente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Execução local previsível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para explicar erros de build sem expor segredos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Rounded Rectangle 8"/>
          <p:cNvSpPr/>
          <p:nvPr/>
        </p:nvSpPr>
        <p:spPr>
          <a:xfrm>
            <a:off x="4389120" y="1417320"/>
            <a:ext cx="34286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3" name="Rectangle 9"/>
          <p:cNvSpPr/>
          <p:nvPr/>
        </p:nvSpPr>
        <p:spPr>
          <a:xfrm>
            <a:off x="4389120" y="1417320"/>
            <a:ext cx="72720" cy="2057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4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Box 11"/>
          <p:cNvSpPr/>
          <p:nvPr/>
        </p:nvSpPr>
        <p:spPr>
          <a:xfrm>
            <a:off x="4553640" y="1920240"/>
            <a:ext cx="31359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Serviços, redes e volumes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Banco e dependências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de serviços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Rounded Rectangle 12"/>
          <p:cNvSpPr/>
          <p:nvPr/>
        </p:nvSpPr>
        <p:spPr>
          <a:xfrm>
            <a:off x="8092440" y="1417320"/>
            <a:ext cx="3428640" cy="2057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7" name="Rectangle 13"/>
          <p:cNvSpPr/>
          <p:nvPr/>
        </p:nvSpPr>
        <p:spPr>
          <a:xfrm>
            <a:off x="8092440" y="1417320"/>
            <a:ext cx="72720" cy="20570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78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Laboratório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TextBox 15"/>
          <p:cNvSpPr/>
          <p:nvPr/>
        </p:nvSpPr>
        <p:spPr>
          <a:xfrm>
            <a:off x="8256960" y="1920240"/>
            <a:ext cx="3135960" cy="146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Containerizar aplicação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stack local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Validar integração API + banco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IA para diagnosticar falha de container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comandos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Rounded Rectangle 16"/>
          <p:cNvSpPr/>
          <p:nvPr/>
        </p:nvSpPr>
        <p:spPr>
          <a:xfrm>
            <a:off x="685800" y="3977640"/>
            <a:ext cx="10835280" cy="10512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1" name="Rectangle 17"/>
          <p:cNvSpPr/>
          <p:nvPr/>
        </p:nvSpPr>
        <p:spPr>
          <a:xfrm>
            <a:off x="685800" y="3977640"/>
            <a:ext cx="72720" cy="10512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82" name="TextBox 18"/>
          <p:cNvSpPr/>
          <p:nvPr/>
        </p:nvSpPr>
        <p:spPr>
          <a:xfrm>
            <a:off x="850320" y="410580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TextBox 19"/>
          <p:cNvSpPr/>
          <p:nvPr/>
        </p:nvSpPr>
        <p:spPr>
          <a:xfrm>
            <a:off x="850320" y="4480560"/>
            <a:ext cx="105426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executável por comando padronizado, com instruções, evidências de execução e correções explicadas.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86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087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Containers Explicados Sem Excesso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essencial para operar e diagnosticar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9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092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3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4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Pacote versionável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Criada por Dockerfile.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 ser reproduzível, pequena e sem segredos.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7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8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Processo isolado criado a partir da imagem.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Tem logs, portas, variáveis e ciclo de 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 morrer: por isso health check e logs importam.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1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02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Orquestra múltiplos serviços localmente.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 API, banco, rede e volumes.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Ótimo para laboratório e validação integrada.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05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Por Que Containers?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que containers resolvem de verdade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1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111" name="Rounded Rectangle 5"/>
          <p:cNvSpPr/>
          <p:nvPr/>
        </p:nvSpPr>
        <p:spPr>
          <a:xfrm>
            <a:off x="68580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2" name="Rectangle 6"/>
          <p:cNvSpPr/>
          <p:nvPr/>
        </p:nvSpPr>
        <p:spPr>
          <a:xfrm>
            <a:off x="685800" y="1508760"/>
            <a:ext cx="72720" cy="15998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problema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Diferenças de SO, versão de linguagem e dependências geram bugs que só aparecem em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Rounded Rectangle 9"/>
          <p:cNvSpPr/>
          <p:nvPr/>
        </p:nvSpPr>
        <p:spPr>
          <a:xfrm>
            <a:off x="438912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6" name="Rectangle 10"/>
          <p:cNvSpPr/>
          <p:nvPr/>
        </p:nvSpPr>
        <p:spPr>
          <a:xfrm>
            <a:off x="4389120" y="1508760"/>
            <a:ext cx="72720" cy="15998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1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VM vs container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VM virtualiza o hardware inteiro: pesada, minutos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 compartilha o kernel do host: leve, segundos para subir.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9" name="Rounded Rectangle 13"/>
          <p:cNvSpPr/>
          <p:nvPr/>
        </p:nvSpPr>
        <p:spPr>
          <a:xfrm>
            <a:off x="809244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0" name="Rectangle 14"/>
          <p:cNvSpPr/>
          <p:nvPr/>
        </p:nvSpPr>
        <p:spPr>
          <a:xfrm>
            <a:off x="8092440" y="1508760"/>
            <a:ext cx="72720" cy="15998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2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o container garante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mesmo ambiente do laptop do dev até 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Elimina uma classe inteira de bugs “ambiente-dependentes”.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2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2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Dockerfile - Roteiro de Explicação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como base e adapte para a stack escolhida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2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130" name="Rounded Rectangle 5"/>
          <p:cNvSpPr/>
          <p:nvPr/>
        </p:nvSpPr>
        <p:spPr>
          <a:xfrm>
            <a:off x="731520" y="1481400"/>
            <a:ext cx="534888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1" name="TextBox 6"/>
          <p:cNvSpPr/>
          <p:nvPr/>
        </p:nvSpPr>
        <p:spPr>
          <a:xfrm>
            <a:off x="896040" y="1609200"/>
            <a:ext cx="5019840" cy="183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FROM node:22-alpine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WORKDIR 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package*.json ./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RUN npm ci --omit=dev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COPY .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 NODE_ENV=production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EXPOSE 3000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CMD ["npm", "start"]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Rounded Rectangle 7"/>
          <p:cNvSpPr/>
          <p:nvPr/>
        </p:nvSpPr>
        <p:spPr>
          <a:xfrm>
            <a:off x="6355080" y="148140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3" name="Rectangle 8"/>
          <p:cNvSpPr/>
          <p:nvPr/>
        </p:nvSpPr>
        <p:spPr>
          <a:xfrm>
            <a:off x="6355080" y="1481400"/>
            <a:ext cx="72720" cy="1328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4" name="TextBox 9"/>
          <p:cNvSpPr/>
          <p:nvPr/>
        </p:nvSpPr>
        <p:spPr>
          <a:xfrm>
            <a:off x="6519600" y="160920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O que comentar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5" name="TextBox 10"/>
          <p:cNvSpPr/>
          <p:nvPr/>
        </p:nvSpPr>
        <p:spPr>
          <a:xfrm>
            <a:off x="6519600" y="1965960"/>
            <a:ext cx="46904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Base image, diretório de trabalho, cópia de dependências, cache, variáveis, porta e comando final.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6" name="Rounded Rectangle 11"/>
          <p:cNvSpPr/>
          <p:nvPr/>
        </p:nvSpPr>
        <p:spPr>
          <a:xfrm>
            <a:off x="6355080" y="291996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7" name="Rectangle 12"/>
          <p:cNvSpPr/>
          <p:nvPr/>
        </p:nvSpPr>
        <p:spPr>
          <a:xfrm>
            <a:off x="6355080" y="2919960"/>
            <a:ext cx="72720" cy="1328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8" name="TextBox 13"/>
          <p:cNvSpPr/>
          <p:nvPr/>
        </p:nvSpPr>
        <p:spPr>
          <a:xfrm>
            <a:off x="6519600" y="304812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Cuidados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TextBox 14"/>
          <p:cNvSpPr/>
          <p:nvPr/>
        </p:nvSpPr>
        <p:spPr>
          <a:xfrm>
            <a:off x="6519600" y="3404520"/>
            <a:ext cx="46904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Não copiar .env, node_modules, chaves ou arquivos desnecessários.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Usar .dockerignore e imagem base adequada.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0" name="Rounded Rectangle 15"/>
          <p:cNvSpPr/>
          <p:nvPr/>
        </p:nvSpPr>
        <p:spPr>
          <a:xfrm>
            <a:off x="6355080" y="435852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1" name="Rectangle 16"/>
          <p:cNvSpPr/>
          <p:nvPr/>
        </p:nvSpPr>
        <p:spPr>
          <a:xfrm>
            <a:off x="6355080" y="4358520"/>
            <a:ext cx="72720" cy="1328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42" name="TextBox 17"/>
          <p:cNvSpPr/>
          <p:nvPr/>
        </p:nvSpPr>
        <p:spPr>
          <a:xfrm>
            <a:off x="6519600" y="448668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TextBox 18"/>
          <p:cNvSpPr/>
          <p:nvPr/>
        </p:nvSpPr>
        <p:spPr>
          <a:xfrm>
            <a:off x="6519600" y="4843440"/>
            <a:ext cx="4690440" cy="44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build deve funcionar do zero.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run deve expor porta e responder endpoint simples.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4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45" name="TextBox 2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6" name="TextBox 2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Boas Práticas de Dockerfile: Camadas e Cache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Imagens mais rápidas de construir e mais leves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5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151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2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Como o cache funciona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Cada instrução vira uma camada.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reaproveita camadas que não mudaram.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 isso: copiar package.json antes de copiar todo o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5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6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5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Multi-stage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8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etapa compila 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Outra etapa final só carrega o artefato pronto.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Imagem final menor, sem ferramentas de build sobrando.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0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6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Escolha de imagem base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TextBox 16"/>
          <p:cNvSpPr/>
          <p:nvPr/>
        </p:nvSpPr>
        <p:spPr>
          <a:xfrm>
            <a:off x="825696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alpine: mínima, pode faltar biblioteca do sistema.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slim: equilíbrio entre tamanho e compatibilidade.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full: mais compatível, porém mais pesada.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6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6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Compose - Roteiro de Laboratório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Padronizar execução local com serviços integrados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6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170" name="Rounded Rectangle 5"/>
          <p:cNvSpPr/>
          <p:nvPr/>
        </p:nvSpPr>
        <p:spPr>
          <a:xfrm>
            <a:off x="731520" y="1481400"/>
            <a:ext cx="534888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1" name="TextBox 6"/>
          <p:cNvSpPr/>
          <p:nvPr/>
        </p:nvSpPr>
        <p:spPr>
          <a:xfrm>
            <a:off x="896040" y="1609200"/>
            <a:ext cx="501984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services: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app: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build: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"3000:3000"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DATABASE_URL: postgres://app:app@db:5432/app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depends_on: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condition: service_healthy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db: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image: postgres:16-alpine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environment: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POSTGRES_USER: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POSTGRES_PASSWORD: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POSTGRES_DB: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healthcheck: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test: ["CMD-SHELL", "pg_isready -U app"]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interval: 5s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     </a:t>
            </a: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retries: 5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Rounded Rectangle 7"/>
          <p:cNvSpPr/>
          <p:nvPr/>
        </p:nvSpPr>
        <p:spPr>
          <a:xfrm>
            <a:off x="6355080" y="148140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3" name="Rectangle 8"/>
          <p:cNvSpPr/>
          <p:nvPr/>
        </p:nvSpPr>
        <p:spPr>
          <a:xfrm>
            <a:off x="6355080" y="1481400"/>
            <a:ext cx="72720" cy="1328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4" name="TextBox 9"/>
          <p:cNvSpPr/>
          <p:nvPr/>
        </p:nvSpPr>
        <p:spPr>
          <a:xfrm>
            <a:off x="6519600" y="160920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Como explicar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10"/>
          <p:cNvSpPr/>
          <p:nvPr/>
        </p:nvSpPr>
        <p:spPr>
          <a:xfrm>
            <a:off x="6519600" y="1965960"/>
            <a:ext cx="46904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Cada serviço tem imagem/build, portas, variáveis e dependências.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O nome do serviço vira hostname na rede do Compose.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ounded Rectangle 11"/>
          <p:cNvSpPr/>
          <p:nvPr/>
        </p:nvSpPr>
        <p:spPr>
          <a:xfrm>
            <a:off x="6355080" y="291996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7" name="Rectangle 12"/>
          <p:cNvSpPr/>
          <p:nvPr/>
        </p:nvSpPr>
        <p:spPr>
          <a:xfrm>
            <a:off x="6355080" y="2919960"/>
            <a:ext cx="72720" cy="1328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78" name="TextBox 13"/>
          <p:cNvSpPr/>
          <p:nvPr/>
        </p:nvSpPr>
        <p:spPr>
          <a:xfrm>
            <a:off x="6519600" y="304812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Comandos em sala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9" name="TextBox 14"/>
          <p:cNvSpPr/>
          <p:nvPr/>
        </p:nvSpPr>
        <p:spPr>
          <a:xfrm>
            <a:off x="6519600" y="3404520"/>
            <a:ext cx="46904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up --build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logs -f app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docker compose down -v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Rounded Rectangle 15"/>
          <p:cNvSpPr/>
          <p:nvPr/>
        </p:nvSpPr>
        <p:spPr>
          <a:xfrm>
            <a:off x="6355080" y="4358520"/>
            <a:ext cx="4983120" cy="1328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1" name="Rectangle 16"/>
          <p:cNvSpPr/>
          <p:nvPr/>
        </p:nvSpPr>
        <p:spPr>
          <a:xfrm>
            <a:off x="6355080" y="4358520"/>
            <a:ext cx="72720" cy="1328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2" name="TextBox 17"/>
          <p:cNvSpPr/>
          <p:nvPr/>
        </p:nvSpPr>
        <p:spPr>
          <a:xfrm>
            <a:off x="6519600" y="4486680"/>
            <a:ext cx="4690440" cy="2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350" spc="-1" strike="noStrike">
                <a:solidFill>
                  <a:srgbClr val="132b42"/>
                </a:solidFill>
                <a:latin typeface="Aptos"/>
              </a:rPr>
              <a:t>Evidência</a:t>
            </a:r>
            <a:endParaRPr b="0" lang="pt-B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3" name="TextBox 18"/>
          <p:cNvSpPr/>
          <p:nvPr/>
        </p:nvSpPr>
        <p:spPr>
          <a:xfrm>
            <a:off x="6519600" y="4843440"/>
            <a:ext cx="4690440" cy="61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Print/log da aplicação subindo.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Endpoint funcionando.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50" spc="-1" strike="noStrike">
                <a:solidFill>
                  <a:srgbClr val="0f172a"/>
                </a:solidFill>
                <a:latin typeface="Aptos"/>
              </a:rPr>
              <a:t>README com comando único de execução.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84" name="Picture 1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185" name="TextBox 2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6" name="TextBox 2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Redes e Volumes no Docker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Dois conceitos que resolvem a maioria das dúvidas de Compose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191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2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4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Containers no mesmo Compose se enxergam pelo nome do serviço, como hostname.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Portas expostas ligam o container ao host.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6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9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Volumes nomeados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8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Dados sobrevivem à recriação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Essencial para banco de dados e qualquer estado persistente.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0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0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Bind mounts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Mapeiam uma pasta do host para dentro do container.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Úteis em desenvolvimento para hot-reload de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20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59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Troubleshooting de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Uma ordem para não perder tempo reescrevendo código à toa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210" name="Rounded Rectangle 5"/>
          <p:cNvSpPr/>
          <p:nvPr/>
        </p:nvSpPr>
        <p:spPr>
          <a:xfrm>
            <a:off x="68580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1" name="Rectangle 6"/>
          <p:cNvSpPr/>
          <p:nvPr/>
        </p:nvSpPr>
        <p:spPr>
          <a:xfrm>
            <a:off x="685800" y="1508760"/>
            <a:ext cx="72720" cy="2313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2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Comandos de investigação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3" name="TextBox 8"/>
          <p:cNvSpPr/>
          <p:nvPr/>
        </p:nvSpPr>
        <p:spPr>
          <a:xfrm>
            <a:off x="850320" y="1993320"/>
            <a:ext cx="3135960" cy="13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ps — o que está rodando?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logs &lt;id&gt; — o que o processo disse?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exec -it &lt;id&gt; sh — inspecionar por dentro.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 inspect &lt;id&gt; — configuração completa.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Rounded Rectangle 9"/>
          <p:cNvSpPr/>
          <p:nvPr/>
        </p:nvSpPr>
        <p:spPr>
          <a:xfrm>
            <a:off x="438912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5" name="Rectangle 10"/>
          <p:cNvSpPr/>
          <p:nvPr/>
        </p:nvSpPr>
        <p:spPr>
          <a:xfrm>
            <a:off x="4389120" y="1508760"/>
            <a:ext cx="72720" cy="231300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6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Falhas comuns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Porta não exposta ou não mapeada.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Variável de ambiente faltando.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(banco) ainda não está pronta.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de arquivo incorreta.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Rounded Rectangle 13"/>
          <p:cNvSpPr/>
          <p:nvPr/>
        </p:nvSpPr>
        <p:spPr>
          <a:xfrm>
            <a:off x="8092440" y="1508760"/>
            <a:ext cx="342864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19" name="Rectangle 14"/>
          <p:cNvSpPr/>
          <p:nvPr/>
        </p:nvSpPr>
        <p:spPr>
          <a:xfrm>
            <a:off x="8092440" y="1508760"/>
            <a:ext cx="72720" cy="2313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20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Ordem de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container subiu? Os logs mostram erro? A variável está correta? A dependência está saudável?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Siga essa ordem antes de reescrever código.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22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223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4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4 -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Sair do “funciona na minha máquina” com evidência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2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229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0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1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TextBox 8"/>
          <p:cNvSpPr/>
          <p:nvPr/>
        </p:nvSpPr>
        <p:spPr>
          <a:xfrm>
            <a:off x="850320" y="1993320"/>
            <a:ext cx="3135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aplicação sobe com um único comando, a partir de um clone limpo?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variável de ambiente é obrigatória?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diagnosticou a primeira falha de container?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a IA sugeriu que precisou ser corrigido?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4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5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TextBox 12"/>
          <p:cNvSpPr/>
          <p:nvPr/>
        </p:nvSpPr>
        <p:spPr>
          <a:xfrm>
            <a:off x="4553640" y="1993320"/>
            <a:ext cx="3135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 e compose.yaml versionados.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respondendo após docker compose up.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Print ou log da stack subindo com sucesso.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Uma falha de container diagnosticada e resolvida.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7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8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9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Dockerfile, compose.yaml e README atualizados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 de execução anexada.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1" name="Rounded Rectangle 17"/>
          <p:cNvSpPr/>
          <p:nvPr/>
        </p:nvSpPr>
        <p:spPr>
          <a:xfrm>
            <a:off x="685800" y="422460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2" name="Rectangle 18"/>
          <p:cNvSpPr/>
          <p:nvPr/>
        </p:nvSpPr>
        <p:spPr>
          <a:xfrm>
            <a:off x="685800" y="422460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43" name="TextBox 19"/>
          <p:cNvSpPr/>
          <p:nvPr/>
        </p:nvSpPr>
        <p:spPr>
          <a:xfrm>
            <a:off x="850320" y="435240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TextBox 20"/>
          <p:cNvSpPr/>
          <p:nvPr/>
        </p:nvSpPr>
        <p:spPr>
          <a:xfrm>
            <a:off x="850320" y="470916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Compõe os 20% de Containers/Compose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45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246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7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Containers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Use IA para diagnosticar, não para colar segredos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5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1252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253" name="Rounded Rectangle 6"/>
          <p:cNvSpPr/>
          <p:nvPr/>
        </p:nvSpPr>
        <p:spPr>
          <a:xfrm>
            <a:off x="68580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4" name="Rectangle 7"/>
          <p:cNvSpPr/>
          <p:nvPr/>
        </p:nvSpPr>
        <p:spPr>
          <a:xfrm>
            <a:off x="685800" y="1508760"/>
            <a:ext cx="72720" cy="1737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5" name="TextBox 8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Erro de build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6" name="TextBox 9"/>
          <p:cNvSpPr/>
          <p:nvPr/>
        </p:nvSpPr>
        <p:spPr>
          <a:xfrm>
            <a:off x="85032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Este build Docker falhou. Liste causas prováveis e comandos para validar antes de alterar o Dockerfile.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Dockerfile: &lt;trecho&gt;. Log: &lt;trecho sem segredos&gt;.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Rounded Rectangle 10"/>
          <p:cNvSpPr/>
          <p:nvPr/>
        </p:nvSpPr>
        <p:spPr>
          <a:xfrm>
            <a:off x="438912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8" name="Rectangle 11"/>
          <p:cNvSpPr/>
          <p:nvPr/>
        </p:nvSpPr>
        <p:spPr>
          <a:xfrm>
            <a:off x="4389120" y="1508760"/>
            <a:ext cx="72720" cy="1737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59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Compose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TextBox 13"/>
          <p:cNvSpPr/>
          <p:nvPr/>
        </p:nvSpPr>
        <p:spPr>
          <a:xfrm>
            <a:off x="4553640" y="1993320"/>
            <a:ext cx="313596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este compose.yaml e aponte problemas de rede, portas, variáveis, depends_on, volumes e health checks.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Arquivo: &lt;trecho&gt;.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Rounded Rectangle 14"/>
          <p:cNvSpPr/>
          <p:nvPr/>
        </p:nvSpPr>
        <p:spPr>
          <a:xfrm>
            <a:off x="809244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2" name="Rectangle 15"/>
          <p:cNvSpPr/>
          <p:nvPr/>
        </p:nvSpPr>
        <p:spPr>
          <a:xfrm>
            <a:off x="8092440" y="1508760"/>
            <a:ext cx="72720" cy="1737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63" name="TextBox 16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README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TextBox 17"/>
          <p:cNvSpPr/>
          <p:nvPr/>
        </p:nvSpPr>
        <p:spPr>
          <a:xfrm>
            <a:off x="825696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Gere instruções curtas para executar este projeto com Docker Compose: pré-requisitos, comando de subida, teste de saúde e limpeza.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Contexto: &lt;stack&gt;.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65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266" name="TextBox 19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7" name="TextBox 20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4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5: CD e governança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27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272" name="Rounded Rectangle 5"/>
          <p:cNvSpPr/>
          <p:nvPr/>
        </p:nvSpPr>
        <p:spPr>
          <a:xfrm>
            <a:off x="685800" y="1508760"/>
            <a:ext cx="108352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3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4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5" name="TextBox 8"/>
          <p:cNvSpPr/>
          <p:nvPr/>
        </p:nvSpPr>
        <p:spPr>
          <a:xfrm>
            <a:off x="850320" y="1993320"/>
            <a:ext cx="105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Integrar build de imagem ao pipeline, se possível.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uma versão candidata para release.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Levar para o Encontro 5: critérios de promoção e rollback.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76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277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8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5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0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25/09/2026 | CD, configuração, segurança e governança de IA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1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64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82" name="Picture 4" descr="e5_shield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1283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4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5 - Entrega e Governança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Automação com controle, segurança, rollback e governança de 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7" name="Rounded Rectangle 4"/>
          <p:cNvSpPr/>
          <p:nvPr/>
        </p:nvSpPr>
        <p:spPr>
          <a:xfrm>
            <a:off x="68580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8" name="Rectangle 5"/>
          <p:cNvSpPr/>
          <p:nvPr/>
        </p:nvSpPr>
        <p:spPr>
          <a:xfrm>
            <a:off x="685800" y="1417320"/>
            <a:ext cx="72720" cy="21484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89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0" name="TextBox 7"/>
          <p:cNvSpPr/>
          <p:nvPr/>
        </p:nvSpPr>
        <p:spPr>
          <a:xfrm>
            <a:off x="85032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Promoção de artefatos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Ambientes e aprovações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 e feature flags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Rounded Rectangle 8"/>
          <p:cNvSpPr/>
          <p:nvPr/>
        </p:nvSpPr>
        <p:spPr>
          <a:xfrm>
            <a:off x="438912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2" name="Rectangle 9"/>
          <p:cNvSpPr/>
          <p:nvPr/>
        </p:nvSpPr>
        <p:spPr>
          <a:xfrm>
            <a:off x="4389120" y="1417320"/>
            <a:ext cx="72720" cy="214848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3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Configuração e IaC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TextBox 11"/>
          <p:cNvSpPr/>
          <p:nvPr/>
        </p:nvSpPr>
        <p:spPr>
          <a:xfrm>
            <a:off x="455364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Configuração declarativa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Noções de IaC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 como evolução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Padronização e rastreabilidade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5" name="Rounded Rectangle 12"/>
          <p:cNvSpPr/>
          <p:nvPr/>
        </p:nvSpPr>
        <p:spPr>
          <a:xfrm>
            <a:off x="809244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6" name="Rectangle 13"/>
          <p:cNvSpPr/>
          <p:nvPr/>
        </p:nvSpPr>
        <p:spPr>
          <a:xfrm>
            <a:off x="8092440" y="1417320"/>
            <a:ext cx="72720" cy="214848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97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Segurança e IA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TextBox 15"/>
          <p:cNvSpPr/>
          <p:nvPr/>
        </p:nvSpPr>
        <p:spPr>
          <a:xfrm>
            <a:off x="825696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Segredos fora do código e dos prompts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Permissões mínimas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Scan de dependências/imagens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Gates de segurança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Validar alucinação, vazamento e prompt injection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9" name="Rounded Rectangle 16"/>
          <p:cNvSpPr/>
          <p:nvPr/>
        </p:nvSpPr>
        <p:spPr>
          <a:xfrm>
            <a:off x="685800" y="4069080"/>
            <a:ext cx="1083528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0" name="Rectangle 17"/>
          <p:cNvSpPr/>
          <p:nvPr/>
        </p:nvSpPr>
        <p:spPr>
          <a:xfrm>
            <a:off x="685800" y="4069080"/>
            <a:ext cx="72720" cy="914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01" name="TextBox 18"/>
          <p:cNvSpPr/>
          <p:nvPr/>
        </p:nvSpPr>
        <p:spPr>
          <a:xfrm>
            <a:off x="850320" y="419724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TextBox 19"/>
          <p:cNvSpPr/>
          <p:nvPr/>
        </p:nvSpPr>
        <p:spPr>
          <a:xfrm>
            <a:off x="850320" y="4572000"/>
            <a:ext cx="1054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release com critérios de promoção, rollback, segurança mínima, rastreabilidade e regras de uso responsável de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3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4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05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306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CD na Prática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foco é controlar a mudança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1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11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2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 contínua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4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 gerado no CI é promovido.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Ambiente recebe versão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explicam mudança e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6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1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Aprovação quando houver risco.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 e segredos fora do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Permissões mínimas no 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0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2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Rollback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2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Voltar para versão anterior.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Reverter feature flag.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Restaurar configuração conhecida.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Ter plano documentado antes do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2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Estratégias de Deploy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Comparar abordagens antes de escolher uma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2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30" name="Rounded Rectangle 5"/>
          <p:cNvSpPr/>
          <p:nvPr/>
        </p:nvSpPr>
        <p:spPr>
          <a:xfrm>
            <a:off x="685800" y="1600200"/>
            <a:ext cx="3428640" cy="2331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1" name="Rectangle 6"/>
          <p:cNvSpPr/>
          <p:nvPr/>
        </p:nvSpPr>
        <p:spPr>
          <a:xfrm>
            <a:off x="685800" y="1600200"/>
            <a:ext cx="72720" cy="2331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2" name="TextBox 7"/>
          <p:cNvSpPr/>
          <p:nvPr/>
        </p:nvSpPr>
        <p:spPr>
          <a:xfrm>
            <a:off x="850320" y="172836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Rolling deploy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Rounded Rectangle 8"/>
          <p:cNvSpPr/>
          <p:nvPr/>
        </p:nvSpPr>
        <p:spPr>
          <a:xfrm>
            <a:off x="85032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4" name="Rounded Rectangle 9"/>
          <p:cNvSpPr/>
          <p:nvPr/>
        </p:nvSpPr>
        <p:spPr>
          <a:xfrm>
            <a:off x="121608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5" name="Rounded Rectangle 10"/>
          <p:cNvSpPr/>
          <p:nvPr/>
        </p:nvSpPr>
        <p:spPr>
          <a:xfrm>
            <a:off x="158184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6" name="Rounded Rectangle 11"/>
          <p:cNvSpPr/>
          <p:nvPr/>
        </p:nvSpPr>
        <p:spPr>
          <a:xfrm>
            <a:off x="194760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7" name="TextBox 12"/>
          <p:cNvSpPr/>
          <p:nvPr/>
        </p:nvSpPr>
        <p:spPr>
          <a:xfrm>
            <a:off x="850320" y="2560320"/>
            <a:ext cx="3135960" cy="60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Substitui instâncias antigas pelas novas aos poucos.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Simples, mas o rollback não é instantâneo.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Rounded Rectangle 13"/>
          <p:cNvSpPr/>
          <p:nvPr/>
        </p:nvSpPr>
        <p:spPr>
          <a:xfrm>
            <a:off x="4389120" y="1600200"/>
            <a:ext cx="3428640" cy="2331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39" name="Rectangle 14"/>
          <p:cNvSpPr/>
          <p:nvPr/>
        </p:nvSpPr>
        <p:spPr>
          <a:xfrm>
            <a:off x="4389120" y="1600200"/>
            <a:ext cx="72720" cy="233136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0" name="TextBox 15"/>
          <p:cNvSpPr/>
          <p:nvPr/>
        </p:nvSpPr>
        <p:spPr>
          <a:xfrm>
            <a:off x="4553640" y="172836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Blue-green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Rounded Rectangle 16"/>
          <p:cNvSpPr/>
          <p:nvPr/>
        </p:nvSpPr>
        <p:spPr>
          <a:xfrm>
            <a:off x="455364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2" name="Rounded Rectangle 17"/>
          <p:cNvSpPr/>
          <p:nvPr/>
        </p:nvSpPr>
        <p:spPr>
          <a:xfrm>
            <a:off x="491940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3" name="Rounded Rectangle 18"/>
          <p:cNvSpPr/>
          <p:nvPr/>
        </p:nvSpPr>
        <p:spPr>
          <a:xfrm>
            <a:off x="528516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4" name="Rounded Rectangle 19"/>
          <p:cNvSpPr/>
          <p:nvPr/>
        </p:nvSpPr>
        <p:spPr>
          <a:xfrm>
            <a:off x="565092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5" name="TextBox 20"/>
          <p:cNvSpPr/>
          <p:nvPr/>
        </p:nvSpPr>
        <p:spPr>
          <a:xfrm>
            <a:off x="4553640" y="2560320"/>
            <a:ext cx="3135960" cy="77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Duas versões completas rodando; a troca de tráfego é instantânea.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Rollback rápido, porém custa recursos em dobro.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6" name="Rounded Rectangle 21"/>
          <p:cNvSpPr/>
          <p:nvPr/>
        </p:nvSpPr>
        <p:spPr>
          <a:xfrm>
            <a:off x="8092440" y="1600200"/>
            <a:ext cx="3428640" cy="2331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7" name="Rectangle 22"/>
          <p:cNvSpPr/>
          <p:nvPr/>
        </p:nvSpPr>
        <p:spPr>
          <a:xfrm>
            <a:off x="8092440" y="1600200"/>
            <a:ext cx="72720" cy="2331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48" name="TextBox 23"/>
          <p:cNvSpPr/>
          <p:nvPr/>
        </p:nvSpPr>
        <p:spPr>
          <a:xfrm>
            <a:off x="8256960" y="172836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Canary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9" name="Rounded Rectangle 24"/>
          <p:cNvSpPr/>
          <p:nvPr/>
        </p:nvSpPr>
        <p:spPr>
          <a:xfrm>
            <a:off x="825696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0" name="Rounded Rectangle 25"/>
          <p:cNvSpPr/>
          <p:nvPr/>
        </p:nvSpPr>
        <p:spPr>
          <a:xfrm>
            <a:off x="862272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1" name="Rounded Rectangle 26"/>
          <p:cNvSpPr/>
          <p:nvPr/>
        </p:nvSpPr>
        <p:spPr>
          <a:xfrm>
            <a:off x="898848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2" name="Rounded Rectangle 27"/>
          <p:cNvSpPr/>
          <p:nvPr/>
        </p:nvSpPr>
        <p:spPr>
          <a:xfrm>
            <a:off x="9354240" y="2103120"/>
            <a:ext cx="292320" cy="292320"/>
          </a:xfrm>
          <a:prstGeom prst="roundRect">
            <a:avLst>
              <a:gd name="adj" fmla="val 25000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3" name="TextBox 28"/>
          <p:cNvSpPr/>
          <p:nvPr/>
        </p:nvSpPr>
        <p:spPr>
          <a:xfrm>
            <a:off x="8256960" y="2560320"/>
            <a:ext cx="3135960" cy="95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Libera para uma fatia pequena de usuários primeiro.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30" spc="-1" strike="noStrike">
                <a:solidFill>
                  <a:srgbClr val="0f172a"/>
                </a:solidFill>
                <a:latin typeface="Aptos"/>
              </a:rPr>
              <a:t>Expande se as métricas estiverem saudáveis — risco pequeno em caso de erro.</a:t>
            </a:r>
            <a:endParaRPr b="0" lang="pt-BR" sz="11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Rounded Rectangle 29"/>
          <p:cNvSpPr/>
          <p:nvPr/>
        </p:nvSpPr>
        <p:spPr>
          <a:xfrm>
            <a:off x="685800" y="4160520"/>
            <a:ext cx="255600" cy="255600"/>
          </a:xfrm>
          <a:prstGeom prst="roundRect">
            <a:avLst>
              <a:gd name="adj" fmla="val 16667"/>
            </a:avLst>
          </a:prstGeom>
          <a:solidFill>
            <a:srgbClr val="aeb4c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5" name="TextBox 30"/>
          <p:cNvSpPr/>
          <p:nvPr/>
        </p:nvSpPr>
        <p:spPr>
          <a:xfrm>
            <a:off x="1005840" y="414216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antiga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Rounded Rectangle 31"/>
          <p:cNvSpPr/>
          <p:nvPr/>
        </p:nvSpPr>
        <p:spPr>
          <a:xfrm>
            <a:off x="2743200" y="4160520"/>
            <a:ext cx="255600" cy="255600"/>
          </a:xfrm>
          <a:prstGeom prst="roundRect">
            <a:avLst>
              <a:gd name="adj" fmla="val 16667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57" name="TextBox 32"/>
          <p:cNvSpPr/>
          <p:nvPr/>
        </p:nvSpPr>
        <p:spPr>
          <a:xfrm>
            <a:off x="3063240" y="4142160"/>
            <a:ext cx="201132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5e6c7a"/>
                </a:solidFill>
                <a:latin typeface="Aptos"/>
              </a:rPr>
              <a:t>versão nova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8" name="Picture 3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59" name="TextBox 34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TextBox 35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Feature Flags: Separando Deploy de Release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Colocar código em produção não é o mesmo que ativá-lo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conceito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Deployar o código não significa ativar a funcionalidade para todo mundo.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flag decide quem vê o quê e quando.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Usos práticos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Lançamento gradual para grupos de usuários.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 A/B entre variações.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Desligar rapidamente uma funcionalidade com bug, sem reverter o deploy inteiro.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Cuidado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Flags esquecidas viram dívida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Toda flag precisa ter dono e prazo previsto de remoção.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0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Configuração, Segredos e IaC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Conceitos que sustentam a prática de entrega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8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84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5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6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Configuração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7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Valores que mudam por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Exemplos: URL, porta, modo debug, timeout.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deve exigir alteração de código para trocar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89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0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Segredos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1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Senha, token, chave privada, connection string sensível.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Nunca versionar ou colar em prompt.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Usar secrets do provedor de CI/CD.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2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3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94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IaC/GitOps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5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Infra declarada em arquivo e revisada por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GitOps: estado desejado versionado.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Entra como noção e evolução, não como laboratório obrigatório.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6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97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69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DevSecOps Mínimo para 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Gates simples que cabem no projeto integrador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03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4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5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Código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6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Lint/análise estática.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 mínimos em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de entrada de usuário e tratamento de erro.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8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09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Dependências/imagem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Checar pacotes vulneráveis.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imagem desatualizada ou grande demais.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rodar container com privilégio desnecessário.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2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13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Segredos mascarados.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Permissão mínima do token.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Falha de segurança deve bloquear ou justificar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1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416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7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Governança de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Regras que entram na avaliação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2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22" name="Rounded Rectangle 5"/>
          <p:cNvSpPr/>
          <p:nvPr/>
        </p:nvSpPr>
        <p:spPr>
          <a:xfrm>
            <a:off x="685800" y="1508760"/>
            <a:ext cx="528048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3" name="Rectangle 6"/>
          <p:cNvSpPr/>
          <p:nvPr/>
        </p:nvSpPr>
        <p:spPr>
          <a:xfrm>
            <a:off x="685800" y="1508760"/>
            <a:ext cx="72720" cy="23130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4" name="TextBox 7"/>
          <p:cNvSpPr/>
          <p:nvPr/>
        </p:nvSpPr>
        <p:spPr>
          <a:xfrm>
            <a:off x="85032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Riscos a tratar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5" name="TextBox 8"/>
          <p:cNvSpPr/>
          <p:nvPr/>
        </p:nvSpPr>
        <p:spPr>
          <a:xfrm>
            <a:off x="850320" y="1993320"/>
            <a:ext cx="49878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Vazamento de segredos em prompts.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Alucinação de comandos, APIs ou flags.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Código inseguro gerado com confiança excessiva.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Prompt injection em contexto de logs, issues ou documentação.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Dependência intelectual: não saber defender o que foi entregue.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Rounded Rectangle 9"/>
          <p:cNvSpPr/>
          <p:nvPr/>
        </p:nvSpPr>
        <p:spPr>
          <a:xfrm>
            <a:off x="6240960" y="1508760"/>
            <a:ext cx="5280480" cy="231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7" name="Rectangle 10"/>
          <p:cNvSpPr/>
          <p:nvPr/>
        </p:nvSpPr>
        <p:spPr>
          <a:xfrm>
            <a:off x="6240960" y="1508760"/>
            <a:ext cx="72720" cy="2313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8" name="TextBox 11"/>
          <p:cNvSpPr/>
          <p:nvPr/>
        </p:nvSpPr>
        <p:spPr>
          <a:xfrm>
            <a:off x="640548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Controles esperados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TextBox 12"/>
          <p:cNvSpPr/>
          <p:nvPr/>
        </p:nvSpPr>
        <p:spPr>
          <a:xfrm>
            <a:off x="6405480" y="1993320"/>
            <a:ext cx="498780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Mascarar dados sensíveis antes de usar 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hipóteses e validações, não só resposta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testes, build e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Manter diff pequeno e rastreável.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prompt, saída útil, decisão e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30" name="Picture 13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431" name="TextBox 14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2" name="TextBox 15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Atividade 5 - Release e Rollback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Controlar a mudança, não só publicá-la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3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37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8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3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TextBox 8"/>
          <p:cNvSpPr/>
          <p:nvPr/>
        </p:nvSpPr>
        <p:spPr>
          <a:xfrm>
            <a:off x="850320" y="1993320"/>
            <a:ext cx="3135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precisa ser verdade para promover esta versão?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seria o primeiro sinal de que algo deu errado?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o grupo voltaria para a versão anterior em produção?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segredo não pode aparecer em log ou prompt?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1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2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3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preenchidas com o modelo fornecido.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Plano de rollback documentado.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básica revisado.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de uso de IA em decisão de entrega, quando houver.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5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6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47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notes e plano de rollback no repositório.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Checklist de segurança preenchido.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9" name="Rounded Rectangle 17"/>
          <p:cNvSpPr/>
          <p:nvPr/>
        </p:nvSpPr>
        <p:spPr>
          <a:xfrm>
            <a:off x="685800" y="422460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0" name="Rectangle 18"/>
          <p:cNvSpPr/>
          <p:nvPr/>
        </p:nvSpPr>
        <p:spPr>
          <a:xfrm>
            <a:off x="685800" y="422460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51" name="TextBox 19"/>
          <p:cNvSpPr/>
          <p:nvPr/>
        </p:nvSpPr>
        <p:spPr>
          <a:xfrm>
            <a:off x="850320" y="435240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TextBox 20"/>
          <p:cNvSpPr/>
          <p:nvPr/>
        </p:nvSpPr>
        <p:spPr>
          <a:xfrm>
            <a:off x="850320" y="470916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Alimenta os 15% de Entrega e Operação da rubrica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5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454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Release Notes e Rollback - Modelo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Artefato simples para o Encontro 5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60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1" name="TextBox 6"/>
          <p:cNvSpPr/>
          <p:nvPr/>
        </p:nvSpPr>
        <p:spPr>
          <a:xfrm>
            <a:off x="896040" y="1609200"/>
            <a:ext cx="10414800" cy="37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Release v0.2.0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&lt;qual problema esta versao resolve&gt;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Mudancas: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&lt;mudanca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CI: &lt;link/print&gt;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Testes: &lt;resumo&gt;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Container: &lt;comando/print&gt;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&lt;risco e mitigacao&gt;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Plano de rollback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Quando acionar: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&lt;sinal de falha&gt;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Como voltar: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Identificar versao anterior estavel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Reverter tag/imagem/configuracao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Validar endpoint 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Comunicar impacto e decisao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62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463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Depois do Encontro 5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levar pronto para o Encontro 6: observabilidade e apresentação final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469" name="Rounded Rectangle 5"/>
          <p:cNvSpPr/>
          <p:nvPr/>
        </p:nvSpPr>
        <p:spPr>
          <a:xfrm>
            <a:off x="685800" y="1508760"/>
            <a:ext cx="108352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0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71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Tarefa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TextBox 8"/>
          <p:cNvSpPr/>
          <p:nvPr/>
        </p:nvSpPr>
        <p:spPr>
          <a:xfrm>
            <a:off x="850320" y="1993320"/>
            <a:ext cx="10542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Preparar observabilidade mínima.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Simular uma falha ou incidente simples.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Organizar apresentação final com evidências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473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474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5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6" name="TextBox 1"/>
          <p:cNvSpPr/>
          <p:nvPr/>
        </p:nvSpPr>
        <p:spPr>
          <a:xfrm>
            <a:off x="777240" y="2286000"/>
            <a:ext cx="1060668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Encontro 6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7" name="TextBox 2"/>
          <p:cNvSpPr/>
          <p:nvPr/>
        </p:nvSpPr>
        <p:spPr>
          <a:xfrm>
            <a:off x="1920240" y="3090600"/>
            <a:ext cx="832068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2200" spc="-1" strike="noStrike">
                <a:solidFill>
                  <a:srgbClr val="475569"/>
                </a:solidFill>
                <a:latin typeface="Aptos"/>
              </a:rPr>
              <a:t>26/09/2026 | Observabilidade, IA aplicada e projeto final</a:t>
            </a:r>
            <a:endParaRPr b="0" lang="pt-BR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8" name="TextBox 3"/>
          <p:cNvSpPr/>
          <p:nvPr/>
        </p:nvSpPr>
        <p:spPr>
          <a:xfrm>
            <a:off x="5532120" y="6263640"/>
            <a:ext cx="1188360" cy="25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77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79" name="Picture 4" descr="e6_pulse.png"/>
          <p:cNvPicPr/>
          <p:nvPr/>
        </p:nvPicPr>
        <p:blipFill>
          <a:blip r:embed="rId1"/>
          <a:stretch/>
        </p:blipFill>
        <p:spPr>
          <a:xfrm>
            <a:off x="5615640" y="914400"/>
            <a:ext cx="959760" cy="959760"/>
          </a:xfrm>
          <a:prstGeom prst="rect">
            <a:avLst/>
          </a:prstGeom>
          <a:ln w="0">
            <a:noFill/>
          </a:ln>
        </p:spPr>
      </p:pic>
      <p:pic>
        <p:nvPicPr>
          <p:cNvPr id="1480" name="Picture 5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Encontro 6 - Operação e Evidências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2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com dados, aprendizagem e análise assistida validada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4" name="Rounded Rectangle 4"/>
          <p:cNvSpPr/>
          <p:nvPr/>
        </p:nvSpPr>
        <p:spPr>
          <a:xfrm>
            <a:off x="68580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5" name="Rectangle 5"/>
          <p:cNvSpPr/>
          <p:nvPr/>
        </p:nvSpPr>
        <p:spPr>
          <a:xfrm>
            <a:off x="685800" y="1417320"/>
            <a:ext cx="72720" cy="214848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6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Observabilidade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TextBox 7"/>
          <p:cNvSpPr/>
          <p:nvPr/>
        </p:nvSpPr>
        <p:spPr>
          <a:xfrm>
            <a:off x="85032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Logs, métricas e traces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Dashboards e alertas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SLI/SLO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para sumarizar logs e levantar hipóteses de causa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Validação operacional de release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8" name="Rounded Rectangle 8"/>
          <p:cNvSpPr/>
          <p:nvPr/>
        </p:nvSpPr>
        <p:spPr>
          <a:xfrm>
            <a:off x="438912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89" name="Rectangle 9"/>
          <p:cNvSpPr/>
          <p:nvPr/>
        </p:nvSpPr>
        <p:spPr>
          <a:xfrm>
            <a:off x="4389120" y="1417320"/>
            <a:ext cx="72720" cy="214848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0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500" spc="-1" strike="noStrike">
                <a:solidFill>
                  <a:srgbClr val="0f172a"/>
                </a:solidFill>
                <a:latin typeface="Aptos"/>
              </a:rPr>
              <a:t>Evolução do pipeline</a:t>
            </a:r>
            <a:endParaRPr b="0" lang="pt-B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TextBox 11"/>
          <p:cNvSpPr/>
          <p:nvPr/>
        </p:nvSpPr>
        <p:spPr>
          <a:xfrm>
            <a:off x="455364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Dados como base da automação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IA aplicada a troubleshooting e documentação operacional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AIOps como tendência, não substituto de decisão técnica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Automação orientada por eventos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40" spc="-1" strike="noStrike">
                <a:solidFill>
                  <a:srgbClr val="0f172a"/>
                </a:solidFill>
                <a:latin typeface="Aptos"/>
              </a:rPr>
              <a:t>Limites e próximos passos</a:t>
            </a:r>
            <a:endParaRPr b="0" lang="pt-BR" sz="11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2" name="Rounded Rectangle 12"/>
          <p:cNvSpPr/>
          <p:nvPr/>
        </p:nvSpPr>
        <p:spPr>
          <a:xfrm>
            <a:off x="8092440" y="1417320"/>
            <a:ext cx="3428640" cy="21484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3" name="Rectangle 13"/>
          <p:cNvSpPr/>
          <p:nvPr/>
        </p:nvSpPr>
        <p:spPr>
          <a:xfrm>
            <a:off x="8092440" y="1417320"/>
            <a:ext cx="72720" cy="214848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4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Apresentações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TextBox 15"/>
          <p:cNvSpPr/>
          <p:nvPr/>
        </p:nvSpPr>
        <p:spPr>
          <a:xfrm>
            <a:off x="8256960" y="1920240"/>
            <a:ext cx="3135960" cy="15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Demonstração do projeto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Evidências do pipeline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Diagnóstico, proposta e registro de IA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próximos passos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Rounded Rectangle 16"/>
          <p:cNvSpPr/>
          <p:nvPr/>
        </p:nvSpPr>
        <p:spPr>
          <a:xfrm>
            <a:off x="685800" y="4069080"/>
            <a:ext cx="10835280" cy="9140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7" name="Rectangle 17"/>
          <p:cNvSpPr/>
          <p:nvPr/>
        </p:nvSpPr>
        <p:spPr>
          <a:xfrm>
            <a:off x="685800" y="4069080"/>
            <a:ext cx="72720" cy="9140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98" name="TextBox 18"/>
          <p:cNvSpPr/>
          <p:nvPr/>
        </p:nvSpPr>
        <p:spPr>
          <a:xfrm>
            <a:off x="850320" y="4197240"/>
            <a:ext cx="1054260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Saída do encontro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9" name="TextBox 19"/>
          <p:cNvSpPr/>
          <p:nvPr/>
        </p:nvSpPr>
        <p:spPr>
          <a:xfrm>
            <a:off x="850320" y="4572000"/>
            <a:ext cx="105426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Entrega final avaliada por evidências: repositório, pipeline, container, release, observabilidade, registro crítico de IA e defesa técnica.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TextBox 20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1" name="TextBox 21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02" name="Picture 22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503" name="Picture 23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Observabilidade Sem Complicar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Usar dados para explicar se a entrega funcionou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0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508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09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0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Eventos textuais: erro, início, fim, exceção.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Devem permitir entender o que aconteceu.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Evitar dados sensíveis em logs.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2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3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4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Métricas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Números ao longo do tempo: latência, taxa de erro, uso de CPU/memória.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Podem alimentar alertas e decisões.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No laboratório pode ser simples: tempo, status e contadores.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7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18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Traces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Caminho de uma requisição entre serviços.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Útil para sistemas distribuídos.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Na disciplina: conceitual ou demonstração curta.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20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521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2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SLI, SLO, SLA e Error Budget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vocabulário que conecta observabilidade a decisão de negócio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2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527" name="Chevron 5"/>
          <p:cNvSpPr/>
          <p:nvPr/>
        </p:nvSpPr>
        <p:spPr>
          <a:xfrm>
            <a:off x="685800" y="1417320"/>
            <a:ext cx="3702960" cy="566640"/>
          </a:xfrm>
          <a:prstGeom prst="chevron">
            <a:avLst>
              <a:gd name="adj" fmla="val 50000"/>
            </a:avLst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SLI — o indicador medido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8" name="Chevron 6"/>
          <p:cNvSpPr/>
          <p:nvPr/>
        </p:nvSpPr>
        <p:spPr>
          <a:xfrm>
            <a:off x="4133160" y="1417320"/>
            <a:ext cx="3702960" cy="566640"/>
          </a:xfrm>
          <a:prstGeom prst="chevron">
            <a:avLst>
              <a:gd name="adj" fmla="val 50000"/>
            </a:avLst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SLO — a meta interna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9" name="Chevron 7"/>
          <p:cNvSpPr/>
          <p:nvPr/>
        </p:nvSpPr>
        <p:spPr>
          <a:xfrm>
            <a:off x="7580520" y="1417320"/>
            <a:ext cx="3702960" cy="566640"/>
          </a:xfrm>
          <a:prstGeom prst="chevron">
            <a:avLst>
              <a:gd name="adj" fmla="val 50000"/>
            </a:avLst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SLA — o compromisso formal</a:t>
            </a:r>
            <a:endParaRPr b="0" lang="pt-B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0" name="Rounded Rectangle 8"/>
          <p:cNvSpPr/>
          <p:nvPr/>
        </p:nvSpPr>
        <p:spPr>
          <a:xfrm>
            <a:off x="685800" y="225864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1" name="Rectangle 9"/>
          <p:cNvSpPr/>
          <p:nvPr/>
        </p:nvSpPr>
        <p:spPr>
          <a:xfrm>
            <a:off x="685800" y="225864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2" name="TextBox 10"/>
          <p:cNvSpPr/>
          <p:nvPr/>
        </p:nvSpPr>
        <p:spPr>
          <a:xfrm>
            <a:off x="850320" y="23864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SLI — indicador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3" name="TextBox 11"/>
          <p:cNvSpPr/>
          <p:nvPr/>
        </p:nvSpPr>
        <p:spPr>
          <a:xfrm>
            <a:off x="850320" y="274320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métrica medida na prática.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% de requisições respondidas em menos de 300ms.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4" name="Rounded Rectangle 12"/>
          <p:cNvSpPr/>
          <p:nvPr/>
        </p:nvSpPr>
        <p:spPr>
          <a:xfrm>
            <a:off x="4389120" y="225864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5" name="Rectangle 13"/>
          <p:cNvSpPr/>
          <p:nvPr/>
        </p:nvSpPr>
        <p:spPr>
          <a:xfrm>
            <a:off x="4389120" y="225864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6" name="TextBox 14"/>
          <p:cNvSpPr/>
          <p:nvPr/>
        </p:nvSpPr>
        <p:spPr>
          <a:xfrm>
            <a:off x="4553640" y="23864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SLO — objetivo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TextBox 15"/>
          <p:cNvSpPr/>
          <p:nvPr/>
        </p:nvSpPr>
        <p:spPr>
          <a:xfrm>
            <a:off x="4553640" y="274320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meta interna que o time define para esse indicador.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Exemplo: 99% das requisições abaixo de 300ms no mês.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8" name="Rounded Rectangle 16"/>
          <p:cNvSpPr/>
          <p:nvPr/>
        </p:nvSpPr>
        <p:spPr>
          <a:xfrm>
            <a:off x="8092440" y="225864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39" name="Rectangle 17"/>
          <p:cNvSpPr/>
          <p:nvPr/>
        </p:nvSpPr>
        <p:spPr>
          <a:xfrm>
            <a:off x="8092440" y="2258640"/>
            <a:ext cx="72720" cy="183744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40" name="TextBox 18"/>
          <p:cNvSpPr/>
          <p:nvPr/>
        </p:nvSpPr>
        <p:spPr>
          <a:xfrm>
            <a:off x="8256960" y="238644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SLA e error budget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19"/>
          <p:cNvSpPr/>
          <p:nvPr/>
        </p:nvSpPr>
        <p:spPr>
          <a:xfrm>
            <a:off x="8256960" y="274320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SLA: compromisso formal, às vezes contratual, com penalidade.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Error budget: quanto de falha o SLO tolera — se estourar, prioridade vira estabilidade, não feature nova.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42" name="Picture 20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543" name="TextBox 21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4" name="TextBox 22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Anatomia de um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ciclo que fecha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4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549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0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1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Detecção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2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alerta dispara, por métrica ou por log.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MTTD (mean time to detect): tempo até perceber o problema.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4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5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Resposta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Diagnosticar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mitigação, mesmo que temporária.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MTTR (mean time to restore): tempo até resolver.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7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8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59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Post-mortem sem culpa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Documentar o que aconteceu, por que e o que preveniria.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é aprendizado do sistema, não achar um culpado.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61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562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3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Incidente Simulado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ciclo operação -&gt; melhoria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6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568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69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0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Preparar falha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Quebrar variável de ambiente.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Subir dependência indisponível.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Provocar erro em endpoint ou teste de saúde.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2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3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4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Investigar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Coletar logs e status do container/pipeline.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Pedir à IA hipóteses e validações.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Não aceitar correção antes de confirmar a causa.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6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7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78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Resolver e aprender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Aplicar correção pequena.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Rodar validação.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Atualizar README, runbook ou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Registrar causa, ação e prevenção.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0" name="Rounded Rectangle 17"/>
          <p:cNvSpPr/>
          <p:nvPr/>
        </p:nvSpPr>
        <p:spPr>
          <a:xfrm>
            <a:off x="685800" y="351144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1" name="Rectangle 18"/>
          <p:cNvSpPr/>
          <p:nvPr/>
        </p:nvSpPr>
        <p:spPr>
          <a:xfrm>
            <a:off x="685800" y="351144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82" name="TextBox 19"/>
          <p:cNvSpPr/>
          <p:nvPr/>
        </p:nvSpPr>
        <p:spPr>
          <a:xfrm>
            <a:off x="850320" y="363924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TextBox 20"/>
          <p:cNvSpPr/>
          <p:nvPr/>
        </p:nvSpPr>
        <p:spPr>
          <a:xfrm>
            <a:off x="850320" y="399600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de incidente: sintoma, hipótese, evidência, causa, correção, prevenção e papel da IA, se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84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585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Alertas: Sinal vs Ruído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Para provocar debate sobre fadiga de alerta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590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591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2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3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bom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Acionável: existe uma ação clara a tomar.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Específico e ligado a impacto real no usuário.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6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597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Alerta ruim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8" name="TextBox 12"/>
          <p:cNvSpPr/>
          <p:nvPr/>
        </p:nvSpPr>
        <p:spPr>
          <a:xfrm>
            <a:off x="455364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Dispara sem ação clara do que fazer.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É ignorado com frequência — fadiga de alerta.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Mede o sintoma errado.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0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01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 para discussão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2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time que recebe 50 alertas por dia e ignora a maioria — qual é o risco real disso?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vocês fariam para reduzir o ruído sem perder sinal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03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604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TextBox 1"/>
          <p:cNvSpPr/>
          <p:nvPr/>
        </p:nvSpPr>
        <p:spPr>
          <a:xfrm>
            <a:off x="594360" y="320040"/>
            <a:ext cx="98751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Atividade 6 - Observabilidade e Apresentação Final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Fechar o projeto com dados e defesa técnica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0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610" name="Rounded Rectangle 5"/>
          <p:cNvSpPr/>
          <p:nvPr/>
        </p:nvSpPr>
        <p:spPr>
          <a:xfrm>
            <a:off x="68580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1" name="Rectangle 6"/>
          <p:cNvSpPr/>
          <p:nvPr/>
        </p:nvSpPr>
        <p:spPr>
          <a:xfrm>
            <a:off x="685800" y="1508760"/>
            <a:ext cx="72720" cy="25509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2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Perguntas guia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TextBox 8"/>
          <p:cNvSpPr/>
          <p:nvPr/>
        </p:nvSpPr>
        <p:spPr>
          <a:xfrm>
            <a:off x="850320" y="1993320"/>
            <a:ext cx="3135960" cy="15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dado prova que a entrega realmente funciona?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foi a causa real do incidente simulado, não só o sintoma?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grupo consegue defender cada decisão em poucos minutos?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a IA ajudou e onde precisou ser corrigida?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Rounded Rectangle 9"/>
          <p:cNvSpPr/>
          <p:nvPr/>
        </p:nvSpPr>
        <p:spPr>
          <a:xfrm>
            <a:off x="438912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5" name="Rectangle 10"/>
          <p:cNvSpPr/>
          <p:nvPr/>
        </p:nvSpPr>
        <p:spPr>
          <a:xfrm>
            <a:off x="4389120" y="1508760"/>
            <a:ext cx="72720" cy="25509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6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Evidências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7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 mínimas da aplicação.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Mini relatório do 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cobrindo repositório, pipeline, container, release e operação.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Registro consolidado de uso de IA no projeto.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Rounded Rectangle 13"/>
          <p:cNvSpPr/>
          <p:nvPr/>
        </p:nvSpPr>
        <p:spPr>
          <a:xfrm>
            <a:off x="8092440" y="1508760"/>
            <a:ext cx="3428640" cy="255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19" name="Rectangle 14"/>
          <p:cNvSpPr/>
          <p:nvPr/>
        </p:nvSpPr>
        <p:spPr>
          <a:xfrm>
            <a:off x="8092440" y="1508760"/>
            <a:ext cx="72720" cy="25509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0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1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Apresentação de 5 a 7 minutos.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final com todas as evidências do projeto integrador.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Rounded Rectangle 17"/>
          <p:cNvSpPr/>
          <p:nvPr/>
        </p:nvSpPr>
        <p:spPr>
          <a:xfrm>
            <a:off x="685800" y="422460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3" name="Rectangle 18"/>
          <p:cNvSpPr/>
          <p:nvPr/>
        </p:nvSpPr>
        <p:spPr>
          <a:xfrm>
            <a:off x="685800" y="422460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24" name="TextBox 19"/>
          <p:cNvSpPr/>
          <p:nvPr/>
        </p:nvSpPr>
        <p:spPr>
          <a:xfrm>
            <a:off x="850320" y="435240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Conexão com avaliação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TextBox 20"/>
          <p:cNvSpPr/>
          <p:nvPr/>
        </p:nvSpPr>
        <p:spPr>
          <a:xfrm>
            <a:off x="850320" y="470916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Fecha os 10% de Diagnóstico DevOps e os 5% de Apresentação final da rubrica.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26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627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8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9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Prompts Úteis - Operação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IA como apoio à investigação, não como diagnóstico definitivo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1633" name="Picture 5" descr="ic_prompt.png"/>
          <p:cNvPicPr/>
          <p:nvPr/>
        </p:nvPicPr>
        <p:blipFill>
          <a:blip r:embed="rId2"/>
          <a:stretch/>
        </p:blipFill>
        <p:spPr>
          <a:xfrm>
            <a:off x="10817280" y="694800"/>
            <a:ext cx="402120" cy="402120"/>
          </a:xfrm>
          <a:prstGeom prst="rect">
            <a:avLst/>
          </a:prstGeom>
          <a:ln w="0">
            <a:noFill/>
          </a:ln>
        </p:spPr>
      </p:pic>
      <p:sp>
        <p:nvSpPr>
          <p:cNvPr id="1634" name="Rounded Rectangle 6"/>
          <p:cNvSpPr/>
          <p:nvPr/>
        </p:nvSpPr>
        <p:spPr>
          <a:xfrm>
            <a:off x="68580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5" name="Rectangle 7"/>
          <p:cNvSpPr/>
          <p:nvPr/>
        </p:nvSpPr>
        <p:spPr>
          <a:xfrm>
            <a:off x="685800" y="1508760"/>
            <a:ext cx="72720" cy="17370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6" name="TextBox 8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Logs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7" name="TextBox 9"/>
          <p:cNvSpPr/>
          <p:nvPr/>
        </p:nvSpPr>
        <p:spPr>
          <a:xfrm>
            <a:off x="85032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Analise os logs abaixo e liste hipóteses de causa em ordem de probabilidade. Para cada hipótese, diga qual evidência confirma ou descarta.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Logs: &lt;trecho sem dados sensíveis&gt;.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Rounded Rectangle 10"/>
          <p:cNvSpPr/>
          <p:nvPr/>
        </p:nvSpPr>
        <p:spPr>
          <a:xfrm>
            <a:off x="438912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39" name="Rectangle 11"/>
          <p:cNvSpPr/>
          <p:nvPr/>
        </p:nvSpPr>
        <p:spPr>
          <a:xfrm>
            <a:off x="4389120" y="1508760"/>
            <a:ext cx="72720" cy="17370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0" name="TextBox 12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Runbook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1" name="TextBox 13"/>
          <p:cNvSpPr/>
          <p:nvPr/>
        </p:nvSpPr>
        <p:spPr>
          <a:xfrm>
            <a:off x="455364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Transforme esta solução de incidente em um runbook curto com sintomas, comandos de diagnóstico, ação corretiva e validação final.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Incidente: &lt;resumo&gt;.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Rounded Rectangle 14"/>
          <p:cNvSpPr/>
          <p:nvPr/>
        </p:nvSpPr>
        <p:spPr>
          <a:xfrm>
            <a:off x="8092440" y="1508760"/>
            <a:ext cx="3428640" cy="1737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3" name="Rectangle 15"/>
          <p:cNvSpPr/>
          <p:nvPr/>
        </p:nvSpPr>
        <p:spPr>
          <a:xfrm>
            <a:off x="8092440" y="1508760"/>
            <a:ext cx="72720" cy="173700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44" name="TextBox 16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Apresentação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5" name="TextBox 17"/>
          <p:cNvSpPr/>
          <p:nvPr/>
        </p:nvSpPr>
        <p:spPr>
          <a:xfrm>
            <a:off x="8256960" y="1993320"/>
            <a:ext cx="313596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Com base nas evidências abaixo, ajude a montar uma narrativa técnica de 5 minutos: problema, decisões, pipeline, operação, riscos e próximos passos.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100" spc="-1" strike="noStrike">
                <a:solidFill>
                  <a:srgbClr val="0f172a"/>
                </a:solidFill>
                <a:latin typeface="Aptos"/>
              </a:rPr>
              <a:t>Evidências: &lt;lista&gt;.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46" name="Picture 18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647" name="TextBox 19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8" name="TextBox 20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9" name="TextBox 1"/>
          <p:cNvSpPr/>
          <p:nvPr/>
        </p:nvSpPr>
        <p:spPr>
          <a:xfrm>
            <a:off x="594360" y="320040"/>
            <a:ext cx="987516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200" spc="-1" strike="noStrike">
                <a:solidFill>
                  <a:srgbClr val="132b42"/>
                </a:solidFill>
                <a:latin typeface="Aptos"/>
              </a:rPr>
              <a:t>Apresentação Final - Roteiro de 5 a 7 Minutos</a:t>
            </a:r>
            <a:endParaRPr b="0" lang="pt-B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Ordem padrão para todos os grupos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1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52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653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4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5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1. Contexto e diagnóstico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6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problema o projeto representa.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Quais gargalos DevOps foram priorizados.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decidido fazer dentro do tempo disponível.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8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9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2. Demonstração técnica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0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Repositório e PRs.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rodando.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Aplicação em container/Compose.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 ou rollback/plano.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Logs/métricas/incidente simulado.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2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63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3. Defesa crítica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4" name="TextBox 16"/>
          <p:cNvSpPr/>
          <p:nvPr/>
        </p:nvSpPr>
        <p:spPr>
          <a:xfrm>
            <a:off x="825696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Tradeoffs e limitações.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IA: onde ajudou, onde falhou, como foi validada.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Próximos passos para evolução real.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65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666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Rubrica Final - Perguntas de Avaliação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Perguntas curtas, respondidas com evidências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7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672" name="Rounded Rectangle 5"/>
          <p:cNvSpPr/>
          <p:nvPr/>
        </p:nvSpPr>
        <p:spPr>
          <a:xfrm>
            <a:off x="68580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3" name="Rectangle 6"/>
          <p:cNvSpPr/>
          <p:nvPr/>
        </p:nvSpPr>
        <p:spPr>
          <a:xfrm>
            <a:off x="685800" y="1508760"/>
            <a:ext cx="72720" cy="18374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4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Projeto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5" name="TextBox 8"/>
          <p:cNvSpPr/>
          <p:nvPr/>
        </p:nvSpPr>
        <p:spPr>
          <a:xfrm>
            <a:off x="85032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executo do zero?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Onde está o README?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decisão técnica foi mais importante?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ficou fora do escopo?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Rounded Rectangle 9"/>
          <p:cNvSpPr/>
          <p:nvPr/>
        </p:nvSpPr>
        <p:spPr>
          <a:xfrm>
            <a:off x="438912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7" name="Rectangle 10"/>
          <p:cNvSpPr/>
          <p:nvPr/>
        </p:nvSpPr>
        <p:spPr>
          <a:xfrm>
            <a:off x="4389120" y="1508760"/>
            <a:ext cx="72720" cy="18374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78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Pipeline/entrega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TextBox 12"/>
          <p:cNvSpPr/>
          <p:nvPr/>
        </p:nvSpPr>
        <p:spPr>
          <a:xfrm>
            <a:off x="455364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faz o pipeline falhar?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teste prova comportamento relevante?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artefato é promovido?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voltar para versão anterior?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Rounded Rectangle 13"/>
          <p:cNvSpPr/>
          <p:nvPr/>
        </p:nvSpPr>
        <p:spPr>
          <a:xfrm>
            <a:off x="8092440" y="1508760"/>
            <a:ext cx="3428640" cy="183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1" name="Rectangle 14"/>
          <p:cNvSpPr/>
          <p:nvPr/>
        </p:nvSpPr>
        <p:spPr>
          <a:xfrm>
            <a:off x="8092440" y="1508760"/>
            <a:ext cx="72720" cy="1837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82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Operação/IA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3" name="TextBox 16"/>
          <p:cNvSpPr/>
          <p:nvPr/>
        </p:nvSpPr>
        <p:spPr>
          <a:xfrm>
            <a:off x="8256960" y="1993320"/>
            <a:ext cx="3135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logs/métricas indicam saúde?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 incidente foi simulado?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Que sugestão de IA foi aceita ou rejeitada?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Como vocês validaram?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84" name="Picture 1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685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6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7" name="TextBox 1"/>
          <p:cNvSpPr/>
          <p:nvPr/>
        </p:nvSpPr>
        <p:spPr>
          <a:xfrm>
            <a:off x="594360" y="320040"/>
            <a:ext cx="98751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Checklist do Projeto Integrador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8" name="TextBox 2"/>
          <p:cNvSpPr/>
          <p:nvPr/>
        </p:nvSpPr>
        <p:spPr>
          <a:xfrm>
            <a:off x="621720" y="841320"/>
            <a:ext cx="98751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Trilha de acompanhamento dos entregáveis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0" name="Rounded Rectangle 4"/>
          <p:cNvSpPr/>
          <p:nvPr/>
        </p:nvSpPr>
        <p:spPr>
          <a:xfrm>
            <a:off x="68580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1" name="Rectangle 5"/>
          <p:cNvSpPr/>
          <p:nvPr/>
        </p:nvSpPr>
        <p:spPr>
          <a:xfrm>
            <a:off x="685800" y="1417320"/>
            <a:ext cx="72720" cy="201132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2" name="TextBox 6"/>
          <p:cNvSpPr/>
          <p:nvPr/>
        </p:nvSpPr>
        <p:spPr>
          <a:xfrm>
            <a:off x="85032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Repositório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TextBox 7"/>
          <p:cNvSpPr/>
          <p:nvPr/>
        </p:nvSpPr>
        <p:spPr>
          <a:xfrm>
            <a:off x="85032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README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Commits e PRs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Tags/releases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Decisões documentadas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4" name="Rounded Rectangle 8"/>
          <p:cNvSpPr/>
          <p:nvPr/>
        </p:nvSpPr>
        <p:spPr>
          <a:xfrm>
            <a:off x="438912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5" name="Rectangle 9"/>
          <p:cNvSpPr/>
          <p:nvPr/>
        </p:nvSpPr>
        <p:spPr>
          <a:xfrm>
            <a:off x="4389120" y="1417320"/>
            <a:ext cx="72720" cy="201132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6" name="TextBox 10"/>
          <p:cNvSpPr/>
          <p:nvPr/>
        </p:nvSpPr>
        <p:spPr>
          <a:xfrm>
            <a:off x="455364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Automação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TextBox 11"/>
          <p:cNvSpPr/>
          <p:nvPr/>
        </p:nvSpPr>
        <p:spPr>
          <a:xfrm>
            <a:off x="455364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Pipeline CI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Qualidade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Artefato/imagem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Rounded Rectangle 12"/>
          <p:cNvSpPr/>
          <p:nvPr/>
        </p:nvSpPr>
        <p:spPr>
          <a:xfrm>
            <a:off x="8092440" y="1417320"/>
            <a:ext cx="3428640" cy="2011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99" name="Rectangle 13"/>
          <p:cNvSpPr/>
          <p:nvPr/>
        </p:nvSpPr>
        <p:spPr>
          <a:xfrm>
            <a:off x="8092440" y="1417320"/>
            <a:ext cx="72720" cy="201132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0" name="TextBox 14"/>
          <p:cNvSpPr/>
          <p:nvPr/>
        </p:nvSpPr>
        <p:spPr>
          <a:xfrm>
            <a:off x="8256960" y="154548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Execução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1" name="TextBox 15"/>
          <p:cNvSpPr/>
          <p:nvPr/>
        </p:nvSpPr>
        <p:spPr>
          <a:xfrm>
            <a:off x="8256960" y="192024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Dockerfile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compose.yaml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Variáveis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Health check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Rounded Rectangle 16"/>
          <p:cNvSpPr/>
          <p:nvPr/>
        </p:nvSpPr>
        <p:spPr>
          <a:xfrm>
            <a:off x="685800" y="388620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3" name="Rectangle 17"/>
          <p:cNvSpPr/>
          <p:nvPr/>
        </p:nvSpPr>
        <p:spPr>
          <a:xfrm>
            <a:off x="685800" y="3886200"/>
            <a:ext cx="72720" cy="1828440"/>
          </a:xfrm>
          <a:prstGeom prst="rect">
            <a:avLst/>
          </a:prstGeom>
          <a:solidFill>
            <a:srgbClr val="b736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4" name="TextBox 18"/>
          <p:cNvSpPr/>
          <p:nvPr/>
        </p:nvSpPr>
        <p:spPr>
          <a:xfrm>
            <a:off x="850320" y="401436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5" name="TextBox 19"/>
          <p:cNvSpPr/>
          <p:nvPr/>
        </p:nvSpPr>
        <p:spPr>
          <a:xfrm>
            <a:off x="850320" y="438912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Release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Rollback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Segurança mínima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Rounded Rectangle 20"/>
          <p:cNvSpPr/>
          <p:nvPr/>
        </p:nvSpPr>
        <p:spPr>
          <a:xfrm>
            <a:off x="4389120" y="388620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7" name="Rectangle 21"/>
          <p:cNvSpPr/>
          <p:nvPr/>
        </p:nvSpPr>
        <p:spPr>
          <a:xfrm>
            <a:off x="4389120" y="3886200"/>
            <a:ext cx="72720" cy="1828440"/>
          </a:xfrm>
          <a:prstGeom prst="rect">
            <a:avLst/>
          </a:prstGeom>
          <a:solidFill>
            <a:srgbClr val="2e7d3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08" name="TextBox 22"/>
          <p:cNvSpPr/>
          <p:nvPr/>
        </p:nvSpPr>
        <p:spPr>
          <a:xfrm>
            <a:off x="4553640" y="401436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Operação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TextBox 23"/>
          <p:cNvSpPr/>
          <p:nvPr/>
        </p:nvSpPr>
        <p:spPr>
          <a:xfrm>
            <a:off x="4553640" y="438912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Logs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Métricas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 simulado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Hipóteses com IA validadas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Rounded Rectangle 24"/>
          <p:cNvSpPr/>
          <p:nvPr/>
        </p:nvSpPr>
        <p:spPr>
          <a:xfrm>
            <a:off x="8092440" y="3886200"/>
            <a:ext cx="3428640" cy="1828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1" name="Rectangle 25"/>
          <p:cNvSpPr/>
          <p:nvPr/>
        </p:nvSpPr>
        <p:spPr>
          <a:xfrm>
            <a:off x="8092440" y="3886200"/>
            <a:ext cx="72720" cy="1828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12" name="TextBox 26"/>
          <p:cNvSpPr/>
          <p:nvPr/>
        </p:nvSpPr>
        <p:spPr>
          <a:xfrm>
            <a:off x="8256960" y="4014360"/>
            <a:ext cx="3135960" cy="29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132b42"/>
                </a:solidFill>
                <a:latin typeface="Aptos"/>
              </a:rPr>
              <a:t>Análise e IA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TextBox 27"/>
          <p:cNvSpPr/>
          <p:nvPr/>
        </p:nvSpPr>
        <p:spPr>
          <a:xfrm>
            <a:off x="8256960" y="4389120"/>
            <a:ext cx="313596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73080" rIns="73080" tIns="450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Diagnóstico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Gargalos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Uso de IA registrado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Validações e riscos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Evolução proposta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4" name="TextBox 28"/>
          <p:cNvSpPr/>
          <p:nvPr/>
        </p:nvSpPr>
        <p:spPr>
          <a:xfrm>
            <a:off x="1298520" y="6446520"/>
            <a:ext cx="58791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TextBox 29"/>
          <p:cNvSpPr/>
          <p:nvPr/>
        </p:nvSpPr>
        <p:spPr>
          <a:xfrm>
            <a:off x="11201400" y="6446520"/>
            <a:ext cx="5025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16" name="Picture 30" descr="Logo Unifor.png"/>
          <p:cNvPicPr/>
          <p:nvPr/>
        </p:nvPicPr>
        <p:blipFill>
          <a:blip r:embed="rId1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pic>
        <p:nvPicPr>
          <p:cNvPr id="1717" name="Picture 31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Fechamento da Disciplina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9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Conectando prática, maturidade e evolução profissional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21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22" name="Rounded Rectangle 5"/>
          <p:cNvSpPr/>
          <p:nvPr/>
        </p:nvSpPr>
        <p:spPr>
          <a:xfrm>
            <a:off x="685800" y="1508760"/>
            <a:ext cx="1083528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3" name="Rectangle 6"/>
          <p:cNvSpPr/>
          <p:nvPr/>
        </p:nvSpPr>
        <p:spPr>
          <a:xfrm>
            <a:off x="685800" y="1508760"/>
            <a:ext cx="72720" cy="15998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24" name="TextBox 7"/>
          <p:cNvSpPr/>
          <p:nvPr/>
        </p:nvSpPr>
        <p:spPr>
          <a:xfrm>
            <a:off x="850320" y="163692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Síntese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TextBox 8"/>
          <p:cNvSpPr/>
          <p:nvPr/>
        </p:nvSpPr>
        <p:spPr>
          <a:xfrm>
            <a:off x="850320" y="1993320"/>
            <a:ext cx="1054260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DevOps é fluxo de entrega com responsabilidade compartilhada.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Automação sem feedback e evidência vira ritual vazio.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aumenta velocidade, mas também exige validação e governança.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valor está em entregar software reproduzível, seguro, observável e evolutivo.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26" name="Picture 9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27" name="TextBox 10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TextBox 11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2b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9" name="TextBox 1"/>
          <p:cNvSpPr/>
          <p:nvPr/>
        </p:nvSpPr>
        <p:spPr>
          <a:xfrm>
            <a:off x="777240" y="2286000"/>
            <a:ext cx="10606680" cy="60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3400" spc="-1" strike="noStrike">
                <a:solidFill>
                  <a:srgbClr val="ffffff"/>
                </a:solidFill>
                <a:latin typeface="Aptos"/>
              </a:rPr>
              <a:t>Anexos</a:t>
            </a:r>
            <a:endParaRPr b="0" lang="pt-B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0" name="TextBox 2"/>
          <p:cNvSpPr/>
          <p:nvPr/>
        </p:nvSpPr>
        <p:spPr>
          <a:xfrm>
            <a:off x="1463040" y="3090600"/>
            <a:ext cx="92350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800" spc="-1" strike="noStrike">
                <a:solidFill>
                  <a:srgbClr val="dde7f0"/>
                </a:solidFill>
                <a:latin typeface="Aptos"/>
              </a:rPr>
              <a:t>Modelos rápidos, comandos de apoio e bibliografia</a:t>
            </a:r>
            <a:endParaRPr b="0" lang="pt-BR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31" name="Picture 3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32" name="TextBox 4"/>
          <p:cNvSpPr/>
          <p:nvPr/>
        </p:nvSpPr>
        <p:spPr>
          <a:xfrm>
            <a:off x="5532120" y="6263640"/>
            <a:ext cx="11883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dde7f0"/>
                </a:solidFill>
                <a:latin typeface="Aptos"/>
              </a:rPr>
              <a:t>91</a:t>
            </a:r>
            <a:endParaRPr b="0" lang="pt-BR" sz="1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Registro de Uso de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Um registro simples, não burocrático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3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37" name="Rounded Rectangle 5"/>
          <p:cNvSpPr/>
          <p:nvPr/>
        </p:nvSpPr>
        <p:spPr>
          <a:xfrm>
            <a:off x="68580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8" name="Rectangle 6"/>
          <p:cNvSpPr/>
          <p:nvPr/>
        </p:nvSpPr>
        <p:spPr>
          <a:xfrm>
            <a:off x="685800" y="1508760"/>
            <a:ext cx="72720" cy="15998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39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Contexto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0" name="TextBox 8"/>
          <p:cNvSpPr/>
          <p:nvPr/>
        </p:nvSpPr>
        <p:spPr>
          <a:xfrm>
            <a:off x="850320" y="1993320"/>
            <a:ext cx="313596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Ferramenta usada.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Objetivo do uso.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Trecho/contexto fornecido, sem dados sensíveis.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Rounded Rectangle 9"/>
          <p:cNvSpPr/>
          <p:nvPr/>
        </p:nvSpPr>
        <p:spPr>
          <a:xfrm>
            <a:off x="438912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2" name="Rectangle 10"/>
          <p:cNvSpPr/>
          <p:nvPr/>
        </p:nvSpPr>
        <p:spPr>
          <a:xfrm>
            <a:off x="4389120" y="1508760"/>
            <a:ext cx="72720" cy="15998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3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Resultado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4" name="TextBox 12"/>
          <p:cNvSpPr/>
          <p:nvPr/>
        </p:nvSpPr>
        <p:spPr>
          <a:xfrm>
            <a:off x="455364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Saída útil recebida.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aceito.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que foi rejeitado ou corrigido.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Rounded Rectangle 13"/>
          <p:cNvSpPr/>
          <p:nvPr/>
        </p:nvSpPr>
        <p:spPr>
          <a:xfrm>
            <a:off x="8092440" y="1508760"/>
            <a:ext cx="3428640" cy="1599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6" name="Rectangle 14"/>
          <p:cNvSpPr/>
          <p:nvPr/>
        </p:nvSpPr>
        <p:spPr>
          <a:xfrm>
            <a:off x="8092440" y="1508760"/>
            <a:ext cx="72720" cy="15998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47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Validação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8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Teste, build, revisão ou execução feita.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Risco identificado.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Decisão humana final.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9" name="Rounded Rectangle 17"/>
          <p:cNvSpPr/>
          <p:nvPr/>
        </p:nvSpPr>
        <p:spPr>
          <a:xfrm>
            <a:off x="685800" y="3273480"/>
            <a:ext cx="108352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0" name="Rectangle 18"/>
          <p:cNvSpPr/>
          <p:nvPr/>
        </p:nvSpPr>
        <p:spPr>
          <a:xfrm>
            <a:off x="685800" y="327348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51" name="TextBox 19"/>
          <p:cNvSpPr/>
          <p:nvPr/>
        </p:nvSpPr>
        <p:spPr>
          <a:xfrm>
            <a:off x="850320" y="340164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Entrega/evidência ao final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2" name="TextBox 20"/>
          <p:cNvSpPr/>
          <p:nvPr/>
        </p:nvSpPr>
        <p:spPr>
          <a:xfrm>
            <a:off x="850320" y="3758040"/>
            <a:ext cx="105426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Um parágrafo ou tabela no README/relatório final basta, desde que permita defender a decisão.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53" name="Picture 21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54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6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Diagnóstico DevOps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7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1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59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60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1" name="TextBox 6"/>
          <p:cNvSpPr/>
          <p:nvPr/>
        </p:nvSpPr>
        <p:spPr>
          <a:xfrm>
            <a:off x="896040" y="1609200"/>
            <a:ext cx="1041480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Diagnostico DevOps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Fluxo atual: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1. Pedido/demanda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2. Desenvolvimento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3. Teste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4. Entrega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5. Operacao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Gargalos: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1&gt;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2&gt;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&lt;gargalo 3&gt;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Priorizacao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Melhoria escolhida: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Impacto esperado: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sucesso: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IA pode ajudar em: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necessaria: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62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63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PR e Repositório em 1 Página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2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6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69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0" name="TextBox 6"/>
          <p:cNvSpPr/>
          <p:nvPr/>
        </p:nvSpPr>
        <p:spPr>
          <a:xfrm>
            <a:off x="896040" y="1609200"/>
            <a:ext cx="10414800" cy="276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Repositorio e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Repositorio: &lt;link&gt;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Pull 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Objetivo da mudanca: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de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Risco conhecido: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Checklist de revisao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Codigo revisado por outra pessoa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Testes relevantes passando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Sem segredo exposto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[ ] README atualizado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Sugestao recebida: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Aceito / corrigido: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71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72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Evidência de Pipeline CI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3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77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78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79" name="TextBox 6"/>
          <p:cNvSpPr/>
          <p:nvPr/>
        </p:nvSpPr>
        <p:spPr>
          <a:xfrm>
            <a:off x="896040" y="1609200"/>
            <a:ext cx="10414800" cy="290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Evidencia de Pipeline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Trigger utilizado: push / pull_request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Link ou print do pipeline: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Status: verde / vermelho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Teste que prova o comportamento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Nome do teste: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O que ele valida: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analisada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Uso de IA (se aplicavel)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Validacao humana feita: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0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81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95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3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Checklist de Containerização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4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5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86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87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88" name="TextBox 6"/>
          <p:cNvSpPr/>
          <p:nvPr/>
        </p:nvSpPr>
        <p:spPr>
          <a:xfrm>
            <a:off x="896040" y="1609200"/>
            <a:ext cx="10414800" cy="236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Checklist de Containerizacao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Execucao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Comando de subida: 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Porta exposta: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Variaveis obrigatorias: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Evidencia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Print/log da aplicacao respondendo: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Endpoint testado: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## Falha diagnosticada (se houve)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89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90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96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2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Template - Mini Relatório de Incidente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3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Entregável do Encontro 6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48c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795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796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97" name="TextBox 6"/>
          <p:cNvSpPr/>
          <p:nvPr/>
        </p:nvSpPr>
        <p:spPr>
          <a:xfrm>
            <a:off x="896040" y="1609200"/>
            <a:ext cx="10414800" cy="263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Mini Relatorio de Incidente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Projeto/grupo: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Sintoma observado: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Hipotese inicial: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Evidencia coletada (log/metrica):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Causa confirmada: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Correcao aplicada: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Prevencao futura: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Papel da IA (se usada):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Hipotese sugerida: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- Validacao humana: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8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799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0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97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Comandos Rápidos para Consulta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Referência para destravar o laboratório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55647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04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805" name="Rounded Rectangle 5"/>
          <p:cNvSpPr/>
          <p:nvPr/>
        </p:nvSpPr>
        <p:spPr>
          <a:xfrm>
            <a:off x="731520" y="1481400"/>
            <a:ext cx="10743840" cy="4205880"/>
          </a:xfrm>
          <a:prstGeom prst="roundRect">
            <a:avLst>
              <a:gd name="adj" fmla="val 3500"/>
            </a:avLst>
          </a:prstGeom>
          <a:solidFill>
            <a:srgbClr val="0f172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06" name="TextBox 6"/>
          <p:cNvSpPr/>
          <p:nvPr/>
        </p:nvSpPr>
        <p:spPr>
          <a:xfrm>
            <a:off x="896040" y="1609200"/>
            <a:ext cx="10414800" cy="330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Git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status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diff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switch -c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add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commit -m "tipo: mensagem"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push -u origin feature/x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pull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tag v0.1.0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git log --oneline --graph --decorate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CI/CD (conferir local antes do pipeline)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ci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test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npm run 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 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# Docker/Compose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build -t app:local .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run --rm -p 3000:3000 app:local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up --build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logs -f app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ps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docker compose down -v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880" spc="-1" strike="noStrike">
                <a:solidFill>
                  <a:srgbClr val="e2e8f0"/>
                </a:solidFill>
                <a:latin typeface="Aptos Mono"/>
              </a:rPr>
              <a:t>curl http://localhost:3000/health</a:t>
            </a:r>
            <a:endParaRPr b="0" lang="pt-BR" sz="8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07" name="Picture 7" descr="Logo Unifor.png"/>
          <p:cNvPicPr/>
          <p:nvPr/>
        </p:nvPicPr>
        <p:blipFill>
          <a:blip r:embed="rId2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808" name="TextBox 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TextBox 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0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Básica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1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Os quatro livros de referência do plano de ensino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13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1814" name="Picture 5" descr="continuous_delivery.jpg"/>
          <p:cNvPicPr/>
          <p:nvPr/>
        </p:nvPicPr>
        <p:blipFill>
          <a:blip r:embed="rId2"/>
          <a:stretch/>
        </p:blipFill>
        <p:spPr>
          <a:xfrm>
            <a:off x="1154520" y="1691640"/>
            <a:ext cx="1714320" cy="22856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15" name="TextBox 6"/>
          <p:cNvSpPr/>
          <p:nvPr/>
        </p:nvSpPr>
        <p:spPr>
          <a:xfrm>
            <a:off x="594360" y="406908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HUMBLE, J.; 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Continuous Delivery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2010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6" name="Picture 7" descr="devops_handbook.jpg"/>
          <p:cNvPicPr/>
          <p:nvPr/>
        </p:nvPicPr>
        <p:blipFill>
          <a:blip r:embed="rId3"/>
          <a:stretch/>
        </p:blipFill>
        <p:spPr>
          <a:xfrm>
            <a:off x="3917520" y="1691640"/>
            <a:ext cx="1491480" cy="22856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17" name="TextBox 8"/>
          <p:cNvSpPr/>
          <p:nvPr/>
        </p:nvSpPr>
        <p:spPr>
          <a:xfrm>
            <a:off x="3246120" y="406908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KIM, G. et al.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The DevOps Handbook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IT Revolution,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18" name="Picture 9" descr="accelerate.jpg"/>
          <p:cNvPicPr/>
          <p:nvPr/>
        </p:nvPicPr>
        <p:blipFill>
          <a:blip r:embed="rId4"/>
          <a:stretch/>
        </p:blipFill>
        <p:spPr>
          <a:xfrm>
            <a:off x="6558480" y="1691640"/>
            <a:ext cx="1513080" cy="22856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19" name="TextBox 10"/>
          <p:cNvSpPr/>
          <p:nvPr/>
        </p:nvSpPr>
        <p:spPr>
          <a:xfrm>
            <a:off x="5897880" y="406908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FORSGREN, N.; HUMBLE, J.; KIM, G.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Accelerate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IT Revolution, 2018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0" name="Picture 11" descr="modern_swe.jpg"/>
          <p:cNvPicPr/>
          <p:nvPr/>
        </p:nvPicPr>
        <p:blipFill>
          <a:blip r:embed="rId5"/>
          <a:stretch/>
        </p:blipFill>
        <p:spPr>
          <a:xfrm>
            <a:off x="9041040" y="1691640"/>
            <a:ext cx="1851480" cy="228564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21" name="TextBox 12"/>
          <p:cNvSpPr/>
          <p:nvPr/>
        </p:nvSpPr>
        <p:spPr>
          <a:xfrm>
            <a:off x="8549640" y="406908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FARLEY, D.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Modern Software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Addison-Wesley,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22" name="Picture 13" descr="Logo Unifor.png"/>
          <p:cNvPicPr/>
          <p:nvPr/>
        </p:nvPicPr>
        <p:blipFill>
          <a:blip r:embed="rId6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823" name="TextBox 14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TextBox 15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99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5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Bibliografia Complementar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Aprofundamento em microsserviços, infraestrutura e operação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828" name="Picture 4" descr="Logo Unifor Pos.png"/>
          <p:cNvPicPr/>
          <p:nvPr/>
        </p:nvPicPr>
        <p:blipFill>
          <a:blip r:embed="rId1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pic>
        <p:nvPicPr>
          <p:cNvPr id="1829" name="Picture 5" descr="microservices.jpg"/>
          <p:cNvPicPr/>
          <p:nvPr/>
        </p:nvPicPr>
        <p:blipFill>
          <a:blip r:embed="rId2"/>
          <a:stretch/>
        </p:blipFill>
        <p:spPr>
          <a:xfrm>
            <a:off x="1447560" y="1600200"/>
            <a:ext cx="1493640" cy="19656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30" name="TextBox 6"/>
          <p:cNvSpPr/>
          <p:nvPr/>
        </p:nvSpPr>
        <p:spPr>
          <a:xfrm>
            <a:off x="777240" y="365760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NEWMAN, S.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Building Microservices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2021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1" name="Picture 7" descr="iac.jpg"/>
          <p:cNvPicPr/>
          <p:nvPr/>
        </p:nvPicPr>
        <p:blipFill>
          <a:blip r:embed="rId3"/>
          <a:stretch/>
        </p:blipFill>
        <p:spPr>
          <a:xfrm>
            <a:off x="5345280" y="1600200"/>
            <a:ext cx="1497600" cy="19656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32" name="TextBox 8"/>
          <p:cNvSpPr/>
          <p:nvPr/>
        </p:nvSpPr>
        <p:spPr>
          <a:xfrm>
            <a:off x="4677120" y="365760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MORRIS, K.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Infrastructure as Code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2. ed. O'Reilly, 2020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3" name="Picture 9" descr="sre.jpg"/>
          <p:cNvPicPr/>
          <p:nvPr/>
        </p:nvPicPr>
        <p:blipFill>
          <a:blip r:embed="rId4"/>
          <a:stretch/>
        </p:blipFill>
        <p:spPr>
          <a:xfrm>
            <a:off x="9245520" y="1600200"/>
            <a:ext cx="1497600" cy="1965600"/>
          </a:xfrm>
          <a:prstGeom prst="rect">
            <a:avLst/>
          </a:prstGeom>
          <a:ln w="9525">
            <a:solidFill>
              <a:srgbClr val="dae0e7"/>
            </a:solidFill>
            <a:round/>
          </a:ln>
        </p:spPr>
      </p:pic>
      <p:sp>
        <p:nvSpPr>
          <p:cNvPr id="1834" name="TextBox 10"/>
          <p:cNvSpPr/>
          <p:nvPr/>
        </p:nvSpPr>
        <p:spPr>
          <a:xfrm>
            <a:off x="8577000" y="3657600"/>
            <a:ext cx="2834280" cy="58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1" lang="en-US" sz="1100" spc="-1" strike="noStrike">
                <a:solidFill>
                  <a:srgbClr val="132b42"/>
                </a:solidFill>
                <a:latin typeface="Aptos"/>
              </a:rPr>
              <a:t>BEYER, B. et al. (org.)</a:t>
            </a:r>
            <a:endParaRPr b="0" lang="pt-BR" sz="110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1" lang="en-US" sz="1150" spc="-1" strike="noStrike">
                <a:solidFill>
                  <a:srgbClr val="132b42"/>
                </a:solidFill>
                <a:latin typeface="Aptos"/>
              </a:rPr>
              <a:t>Site Reliability Engineering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5e6c7a"/>
                </a:solidFill>
                <a:latin typeface="Aptos"/>
              </a:rPr>
              <a:t>O'Reilly, 2016</a:t>
            </a:r>
            <a:endParaRPr b="0" lang="pt-B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Rounded Rectangle 11"/>
          <p:cNvSpPr/>
          <p:nvPr/>
        </p:nvSpPr>
        <p:spPr>
          <a:xfrm>
            <a:off x="685800" y="4572000"/>
            <a:ext cx="10835280" cy="1828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6" name="Rectangle 12"/>
          <p:cNvSpPr/>
          <p:nvPr/>
        </p:nvSpPr>
        <p:spPr>
          <a:xfrm>
            <a:off x="685800" y="4572000"/>
            <a:ext cx="72720" cy="1828440"/>
          </a:xfrm>
          <a:prstGeom prst="rect">
            <a:avLst/>
          </a:prstGeom>
          <a:solidFill>
            <a:srgbClr val="6750a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837" name="TextBox 13"/>
          <p:cNvSpPr/>
          <p:nvPr/>
        </p:nvSpPr>
        <p:spPr>
          <a:xfrm>
            <a:off x="850320" y="4700160"/>
            <a:ext cx="105426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Ferramentas, métricas e governança de IA — referências online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TextBox 14"/>
          <p:cNvSpPr/>
          <p:nvPr/>
        </p:nvSpPr>
        <p:spPr>
          <a:xfrm>
            <a:off x="850320" y="5056560"/>
            <a:ext cx="1054260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DORA; Google Cloud. DORA's software delivery performance metrics.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GitHub. GitHub Actions documentation. | GitHub. GitHub Copilot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Docker. Docker Compose documentation. | HashiCorp. Terraform Documentation.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OpenAI. Codex: AI coding agents for software engineering. | Google. Gemini Code Assist overview.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NIST. Artificial Intelligence Risk Management Framework (AI RMF 1.0), 2023.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080" spc="-1" strike="noStrike">
                <a:solidFill>
                  <a:srgbClr val="0f172a"/>
                </a:solidFill>
                <a:latin typeface="Aptos"/>
              </a:rPr>
              <a:t>OWASP. OWASP GenAI LLM Top 10 2026.</a:t>
            </a:r>
            <a:endParaRPr b="0" lang="pt-BR" sz="108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839" name="Picture 15" descr="Logo Unifor.png"/>
          <p:cNvPicPr/>
          <p:nvPr/>
        </p:nvPicPr>
        <p:blipFill>
          <a:blip r:embed="rId5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840" name="TextBox 16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1" name="TextBox 17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100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54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DORA 2026: O Que os Dados Dizem Sobre IA em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Antes de usar IA em DevOps, veja o que a pesquisa mais citada da área já mediu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457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458" name="Rounded Rectangle 5"/>
          <p:cNvSpPr/>
          <p:nvPr/>
        </p:nvSpPr>
        <p:spPr>
          <a:xfrm>
            <a:off x="685800" y="1508760"/>
            <a:ext cx="52804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59" name="Rectangle 6"/>
          <p:cNvSpPr/>
          <p:nvPr/>
        </p:nvSpPr>
        <p:spPr>
          <a:xfrm>
            <a:off x="685800" y="1508760"/>
            <a:ext cx="72720" cy="136224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0" name="TextBox 7"/>
          <p:cNvSpPr/>
          <p:nvPr/>
        </p:nvSpPr>
        <p:spPr>
          <a:xfrm>
            <a:off x="85032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Adoção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8"/>
          <p:cNvSpPr/>
          <p:nvPr/>
        </p:nvSpPr>
        <p:spPr>
          <a:xfrm>
            <a:off x="850320" y="199332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90% dos profissionais de tecnologia já usam IA no trabalho.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de 80% relatam ganho de produtividade individual.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9"/>
          <p:cNvSpPr/>
          <p:nvPr/>
        </p:nvSpPr>
        <p:spPr>
          <a:xfrm>
            <a:off x="6240960" y="1508760"/>
            <a:ext cx="5280480" cy="1362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3" name="Rectangle 10"/>
          <p:cNvSpPr/>
          <p:nvPr/>
        </p:nvSpPr>
        <p:spPr>
          <a:xfrm>
            <a:off x="6240960" y="1508760"/>
            <a:ext cx="72720" cy="136224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4" name="TextBox 11"/>
          <p:cNvSpPr/>
          <p:nvPr/>
        </p:nvSpPr>
        <p:spPr>
          <a:xfrm>
            <a:off x="6405480" y="163692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Efeito colateral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2"/>
          <p:cNvSpPr/>
          <p:nvPr/>
        </p:nvSpPr>
        <p:spPr>
          <a:xfrm>
            <a:off x="6405480" y="199332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cada 25% de aumento na adoção de IA, throughput de entrega cai 1,5%.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Estabilidade de entrega cai 7,2% no mesmo cenário.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13"/>
          <p:cNvSpPr/>
          <p:nvPr/>
        </p:nvSpPr>
        <p:spPr>
          <a:xfrm>
            <a:off x="685800" y="3035880"/>
            <a:ext cx="52804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7" name="Rectangle 14"/>
          <p:cNvSpPr/>
          <p:nvPr/>
        </p:nvSpPr>
        <p:spPr>
          <a:xfrm>
            <a:off x="685800" y="3035880"/>
            <a:ext cx="72720" cy="118836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68" name="TextBox 15"/>
          <p:cNvSpPr/>
          <p:nvPr/>
        </p:nvSpPr>
        <p:spPr>
          <a:xfrm>
            <a:off x="850320" y="316368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Paradoxo da produtividade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Box 16"/>
          <p:cNvSpPr/>
          <p:nvPr/>
        </p:nvSpPr>
        <p:spPr>
          <a:xfrm>
            <a:off x="850320" y="352044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Incidentes por Pull Request subiram 242,7%.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 tempo economizado na criação de código é realocado para auditoria e verificação.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Rounded Rectangle 17"/>
          <p:cNvSpPr/>
          <p:nvPr/>
        </p:nvSpPr>
        <p:spPr>
          <a:xfrm>
            <a:off x="6240960" y="3035880"/>
            <a:ext cx="5280480" cy="1188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1" name="Rectangle 18"/>
          <p:cNvSpPr/>
          <p:nvPr/>
        </p:nvSpPr>
        <p:spPr>
          <a:xfrm>
            <a:off x="6240960" y="3035880"/>
            <a:ext cx="72720" cy="1188360"/>
          </a:xfrm>
          <a:prstGeom prst="rect">
            <a:avLst/>
          </a:prstGeom>
          <a:solidFill>
            <a:srgbClr val="b7353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472" name="TextBox 19"/>
          <p:cNvSpPr/>
          <p:nvPr/>
        </p:nvSpPr>
        <p:spPr>
          <a:xfrm>
            <a:off x="6405480" y="3163680"/>
            <a:ext cx="49878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Conclusão do DORA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TextBox 20"/>
          <p:cNvSpPr/>
          <p:nvPr/>
        </p:nvSpPr>
        <p:spPr>
          <a:xfrm>
            <a:off x="6405480" y="3520440"/>
            <a:ext cx="498780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IA é um amplificador, não substituto de boa engenharia.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Só expande capacidade em times com testes sólidos, PRs pequenos e fluxo saudável.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4" name="Picture 21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475" name="TextBox 22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TextBox 23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13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Ferramentas de IA na Revisão de Código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que o mercado usa hoje para revisar Pull Requests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Nativo dos provedores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code review, integrado ao próprio PR.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Revisão "agentic" (2026): a IA já gera o PR de correção, não só comenta.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Plataformas dedicadas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CodeRabbit é o app de revisão mais instalado no GitHub (2M+ repositórios).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Outros players: Qodo, Greptile, Graphite Diamond.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muda para o revisor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vira "primeiro leitor": aponta antes, a pessoa decide.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Mais útil em PRs grandes e complexos do que em mudanças triviais.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34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IA em Pipelines: Self-Healing e Geração de Testes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Como o mercado já automatiza a resposta a falhas de CI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Pipeline self-healing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Detecta falha, analisa causa, propõe/aplica correção e roda de novo para validar.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Já é tratado como padrão de arquitetura de CI/CD em 2026.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Geração de testes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Diffblue Cover (Java/JUnit), CodiumAI, Copilot/Amazon Q para scaffolding de teste.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gera o teste; cobertura de caminho crítico ainda é revisão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Retry e flakiness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Retry inteligente reduz falhas causadas por flakiness.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Seleção preditiva de testes prioriza os mais propensos a pegar o bug.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48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Correção de Vulnerabilidades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De "encontrado" para "corrigido" — automaticamente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GitHub Copilot Autofix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Usa CodeQL + LLM; cobre 90%+ dos tipos de alerta em JS/TS/Java/Python.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Resolve 2/3 das vulnerabilidades com pouca edição — 3x mais rápido que manual.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Snyk Agent Fix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Arquitetura agêntica (2026), usa base de 35 mil correções de especialistas como contexto.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Se a correção falhar no re-scan, o erro volta pro modelo tentar de novo.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IA prioriza por risco e exploitabilidade, não só severidade.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Aceitar o fix ainda exige revisão humana e re-execução de testes.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71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Agentes Autônomos de DevOps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A fronteira mais recente do uso de IA — e por que a validação humana continua obrigatória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que já existe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Recebem uma issue, analisam o repositório, escrevem código, rodam teste e scan de segurança.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Trabalham em background, de forma assíncrona, sem intervenção durante a execução.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Onde já é realidade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GitHub Copilot coding agent (GA) e agentes equivalentes de outros provedores.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Integrados a VS Code, JetBrains, Visual Studio e outros editores.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limite que não muda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Mesmo o agente mais autônomo para no Pull Request — não faz merge sozinho.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Quanto mais autônoma a IA, mais crítica fica a revisão humana antes da produção.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73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61" name="TextBox 1"/>
          <p:cNvSpPr/>
          <p:nvPr/>
        </p:nvSpPr>
        <p:spPr>
          <a:xfrm>
            <a:off x="594360" y="320040"/>
            <a:ext cx="987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2600" spc="-1" strike="noStrike">
                <a:solidFill>
                  <a:srgbClr val="132b42"/>
                </a:solidFill>
                <a:latin typeface="Aptos"/>
              </a:rPr>
              <a:t>AIOps: Observabilidade e Resposta a Incidentes com IA</a:t>
            </a:r>
            <a:endParaRPr b="0" lang="pt-B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2" name="TextBox 2"/>
          <p:cNvSpPr/>
          <p:nvPr/>
        </p:nvSpPr>
        <p:spPr>
          <a:xfrm>
            <a:off x="621720" y="841320"/>
            <a:ext cx="98751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150" spc="-1" strike="noStrike">
                <a:solidFill>
                  <a:srgbClr val="5e6c7a"/>
                </a:solidFill>
                <a:latin typeface="Aptos"/>
              </a:rPr>
              <a:t>O problema de "sinal vs. ruído" já tem produto de mercado resolvendo</a:t>
            </a:r>
            <a:endParaRPr b="0" lang="pt-B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Rectangle 3"/>
          <p:cNvSpPr/>
          <p:nvPr/>
        </p:nvSpPr>
        <p:spPr>
          <a:xfrm>
            <a:off x="594360" y="1152000"/>
            <a:ext cx="1234080" cy="4536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720" bIns="7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364" name="Picture 4" descr="Logo Unifor Pos.png"/>
          <p:cNvPicPr/>
          <p:nvPr/>
        </p:nvPicPr>
        <p:blipFill>
          <a:blip r:embed="rId2"/>
          <a:stretch/>
        </p:blipFill>
        <p:spPr>
          <a:xfrm>
            <a:off x="10522080" y="255960"/>
            <a:ext cx="999360" cy="347040"/>
          </a:xfrm>
          <a:prstGeom prst="rect">
            <a:avLst/>
          </a:prstGeom>
          <a:ln w="0">
            <a:noFill/>
          </a:ln>
        </p:spPr>
      </p:pic>
      <p:sp>
        <p:nvSpPr>
          <p:cNvPr id="1365" name="Rounded Rectangle 5"/>
          <p:cNvSpPr/>
          <p:nvPr/>
        </p:nvSpPr>
        <p:spPr>
          <a:xfrm>
            <a:off x="68580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6" name="Rectangle 6"/>
          <p:cNvSpPr/>
          <p:nvPr/>
        </p:nvSpPr>
        <p:spPr>
          <a:xfrm>
            <a:off x="685800" y="1508760"/>
            <a:ext cx="72720" cy="2075400"/>
          </a:xfrm>
          <a:prstGeom prst="rect">
            <a:avLst/>
          </a:prstGeom>
          <a:solidFill>
            <a:srgbClr val="00897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7" name="TextBox 7"/>
          <p:cNvSpPr/>
          <p:nvPr/>
        </p:nvSpPr>
        <p:spPr>
          <a:xfrm>
            <a:off x="85032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Datadog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TextBox 8"/>
          <p:cNvSpPr/>
          <p:nvPr/>
        </p:nvSpPr>
        <p:spPr>
          <a:xfrm>
            <a:off x="85032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Watchdog AI: detecção de anomalia, causa raiz automática e forecasting.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Bits AI apoia a investigação durante o incidente.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Rounded Rectangle 9"/>
          <p:cNvSpPr/>
          <p:nvPr/>
        </p:nvSpPr>
        <p:spPr>
          <a:xfrm>
            <a:off x="438912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0" name="Rectangle 10"/>
          <p:cNvSpPr/>
          <p:nvPr/>
        </p:nvSpPr>
        <p:spPr>
          <a:xfrm>
            <a:off x="4389120" y="1508760"/>
            <a:ext cx="72720" cy="2075400"/>
          </a:xfrm>
          <a:prstGeom prst="rect">
            <a:avLst/>
          </a:prstGeom>
          <a:solidFill>
            <a:srgbClr val="2666a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1" name="TextBox 11"/>
          <p:cNvSpPr/>
          <p:nvPr/>
        </p:nvSpPr>
        <p:spPr>
          <a:xfrm>
            <a:off x="455364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PagerDuty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2" name="TextBox 12"/>
          <p:cNvSpPr/>
          <p:nvPr/>
        </p:nvSpPr>
        <p:spPr>
          <a:xfrm>
            <a:off x="4553640" y="1993320"/>
            <a:ext cx="31359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Módulo de AIOps treinado em 86 bilhões de eventos históricos.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Reduz ruído de alerta em até 91% — transforma 50 alertas em ~3 incidentes reais.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Rounded Rectangle 13"/>
          <p:cNvSpPr/>
          <p:nvPr/>
        </p:nvSpPr>
        <p:spPr>
          <a:xfrm>
            <a:off x="8092440" y="1508760"/>
            <a:ext cx="3428640" cy="2075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ae0e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4" name="Rectangle 14"/>
          <p:cNvSpPr/>
          <p:nvPr/>
        </p:nvSpPr>
        <p:spPr>
          <a:xfrm>
            <a:off x="8092440" y="1508760"/>
            <a:ext cx="72720" cy="2075400"/>
          </a:xfrm>
          <a:prstGeom prst="rect">
            <a:avLst/>
          </a:prstGeom>
          <a:solidFill>
            <a:srgbClr val="e88b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75" name="TextBox 15"/>
          <p:cNvSpPr/>
          <p:nvPr/>
        </p:nvSpPr>
        <p:spPr>
          <a:xfrm>
            <a:off x="8256960" y="1636920"/>
            <a:ext cx="31359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1" lang="en-US" sz="1400" spc="-1" strike="noStrike">
                <a:solidFill>
                  <a:srgbClr val="132b42"/>
                </a:solidFill>
                <a:latin typeface="Aptos"/>
              </a:rPr>
              <a:t>O papel da IA aqui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6" name="TextBox 16"/>
          <p:cNvSpPr/>
          <p:nvPr/>
        </p:nvSpPr>
        <p:spPr>
          <a:xfrm>
            <a:off x="8256960" y="1993320"/>
            <a:ext cx="3135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Ela correlaciona, prioriza e roteia para a pessoa certa.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• </a:t>
            </a:r>
            <a:r>
              <a:rPr b="0" lang="en-US" sz="1200" spc="-1" strike="noStrike">
                <a:solidFill>
                  <a:srgbClr val="0f172a"/>
                </a:solidFill>
                <a:latin typeface="Aptos"/>
              </a:rPr>
              <a:t>A causa raiz confirmada e a correção continuam sendo decisão humana.</a:t>
            </a:r>
            <a:endParaRPr b="0" lang="pt-B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77" name="Picture 17" descr="Logo Unifor.png"/>
          <p:cNvPicPr/>
          <p:nvPr/>
        </p:nvPicPr>
        <p:blipFill>
          <a:blip r:embed="rId3"/>
          <a:stretch/>
        </p:blipFill>
        <p:spPr>
          <a:xfrm>
            <a:off x="594360" y="6473880"/>
            <a:ext cx="564120" cy="173520"/>
          </a:xfrm>
          <a:prstGeom prst="rect">
            <a:avLst/>
          </a:prstGeom>
          <a:ln w="0">
            <a:noFill/>
          </a:ln>
        </p:spPr>
      </p:pic>
      <p:sp>
        <p:nvSpPr>
          <p:cNvPr id="1378" name="TextBox 18"/>
          <p:cNvSpPr/>
          <p:nvPr/>
        </p:nvSpPr>
        <p:spPr>
          <a:xfrm>
            <a:off x="1298520" y="6446520"/>
            <a:ext cx="6583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PG2305-04-Z251 | Desenvolvimento de Software Integrado - DevOps | Turma 4 - Z251 | 2026.2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9" name="TextBox 19"/>
          <p:cNvSpPr/>
          <p:nvPr/>
        </p:nvSpPr>
        <p:spPr>
          <a:xfrm>
            <a:off x="10972800" y="6446520"/>
            <a:ext cx="731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 defTabSz="457200">
              <a:lnSpc>
                <a:spcPct val="100000"/>
              </a:lnSpc>
            </a:pPr>
            <a:r>
              <a:rPr b="0" lang="en-US" sz="850" spc="-1" strike="noStrike">
                <a:solidFill>
                  <a:srgbClr val="5e6c7a"/>
                </a:solidFill>
                <a:latin typeface="Aptos"/>
              </a:rPr>
              <a:t>84</a:t>
            </a:r>
            <a:endParaRPr b="0" lang="pt-BR" sz="8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pt-BR</dc:language>
  <cp:lastModifiedBy/>
  <dcterms:modified xsi:type="dcterms:W3CDTF">2026-09-01T16:38:12Z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