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356" r:id="rId114"/>
    <p:sldId id="272" r:id="rId29"/>
    <p:sldId id="357" r:id="rId115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  <p:sldId id="311" r:id="rId68"/>
    <p:sldId id="312" r:id="rId69"/>
    <p:sldId id="313" r:id="rId70"/>
    <p:sldId id="314" r:id="rId71"/>
    <p:sldId id="315" r:id="rId72"/>
    <p:sldId id="316" r:id="rId73"/>
    <p:sldId id="317" r:id="rId74"/>
    <p:sldId id="318" r:id="rId75"/>
    <p:sldId id="319" r:id="rId76"/>
    <p:sldId id="320" r:id="rId77"/>
    <p:sldId id="321" r:id="rId78"/>
    <p:sldId id="322" r:id="rId79"/>
    <p:sldId id="323" r:id="rId80"/>
    <p:sldId id="324" r:id="rId81"/>
    <p:sldId id="325" r:id="rId82"/>
    <p:sldId id="326" r:id="rId83"/>
    <p:sldId id="327" r:id="rId84"/>
    <p:sldId id="328" r:id="rId85"/>
    <p:sldId id="329" r:id="rId86"/>
    <p:sldId id="330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  <p:sldId id="348" r:id="rId105"/>
    <p:sldId id="349" r:id="rId106"/>
    <p:sldId id="350" r:id="rId107"/>
    <p:sldId id="351" r:id="rId108"/>
    <p:sldId id="352" r:id="rId109"/>
    <p:sldId id="353" r:id="rId110"/>
    <p:sldId id="354" r:id="rId111"/>
    <p:sldId id="355" r:id="rId1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51" Type="http://schemas.openxmlformats.org/officeDocument/2006/relationships/slide" Target="slides/slide40.xml"/><Relationship Id="rId52" Type="http://schemas.openxmlformats.org/officeDocument/2006/relationships/slide" Target="slides/slide41.xml"/><Relationship Id="rId53" Type="http://schemas.openxmlformats.org/officeDocument/2006/relationships/slide" Target="slides/slide42.xml"/><Relationship Id="rId54" Type="http://schemas.openxmlformats.org/officeDocument/2006/relationships/slide" Target="slides/slide43.xml"/><Relationship Id="rId55" Type="http://schemas.openxmlformats.org/officeDocument/2006/relationships/slide" Target="slides/slide44.xml"/><Relationship Id="rId56" Type="http://schemas.openxmlformats.org/officeDocument/2006/relationships/slide" Target="slides/slide45.xml"/><Relationship Id="rId57" Type="http://schemas.openxmlformats.org/officeDocument/2006/relationships/slide" Target="slides/slide46.xml"/><Relationship Id="rId58" Type="http://schemas.openxmlformats.org/officeDocument/2006/relationships/slide" Target="slides/slide47.xml"/><Relationship Id="rId59" Type="http://schemas.openxmlformats.org/officeDocument/2006/relationships/slide" Target="slides/slide48.xml"/><Relationship Id="rId60" Type="http://schemas.openxmlformats.org/officeDocument/2006/relationships/slide" Target="slides/slide49.xml"/><Relationship Id="rId61" Type="http://schemas.openxmlformats.org/officeDocument/2006/relationships/slide" Target="slides/slide50.xml"/><Relationship Id="rId62" Type="http://schemas.openxmlformats.org/officeDocument/2006/relationships/slide" Target="slides/slide51.xml"/><Relationship Id="rId63" Type="http://schemas.openxmlformats.org/officeDocument/2006/relationships/slide" Target="slides/slide52.xml"/><Relationship Id="rId64" Type="http://schemas.openxmlformats.org/officeDocument/2006/relationships/slide" Target="slides/slide53.xml"/><Relationship Id="rId65" Type="http://schemas.openxmlformats.org/officeDocument/2006/relationships/slide" Target="slides/slide54.xml"/><Relationship Id="rId66" Type="http://schemas.openxmlformats.org/officeDocument/2006/relationships/slide" Target="slides/slide55.xml"/><Relationship Id="rId67" Type="http://schemas.openxmlformats.org/officeDocument/2006/relationships/slide" Target="slides/slide56.xml"/><Relationship Id="rId68" Type="http://schemas.openxmlformats.org/officeDocument/2006/relationships/slide" Target="slides/slide57.xml"/><Relationship Id="rId69" Type="http://schemas.openxmlformats.org/officeDocument/2006/relationships/slide" Target="slides/slide58.xml"/><Relationship Id="rId70" Type="http://schemas.openxmlformats.org/officeDocument/2006/relationships/slide" Target="slides/slide59.xml"/><Relationship Id="rId71" Type="http://schemas.openxmlformats.org/officeDocument/2006/relationships/slide" Target="slides/slide60.xml"/><Relationship Id="rId72" Type="http://schemas.openxmlformats.org/officeDocument/2006/relationships/slide" Target="slides/slide61.xml"/><Relationship Id="rId73" Type="http://schemas.openxmlformats.org/officeDocument/2006/relationships/slide" Target="slides/slide62.xml"/><Relationship Id="rId74" Type="http://schemas.openxmlformats.org/officeDocument/2006/relationships/slide" Target="slides/slide63.xml"/><Relationship Id="rId75" Type="http://schemas.openxmlformats.org/officeDocument/2006/relationships/slide" Target="slides/slide64.xml"/><Relationship Id="rId76" Type="http://schemas.openxmlformats.org/officeDocument/2006/relationships/slide" Target="slides/slide65.xml"/><Relationship Id="rId77" Type="http://schemas.openxmlformats.org/officeDocument/2006/relationships/slide" Target="slides/slide66.xml"/><Relationship Id="rId78" Type="http://schemas.openxmlformats.org/officeDocument/2006/relationships/slide" Target="slides/slide67.xml"/><Relationship Id="rId79" Type="http://schemas.openxmlformats.org/officeDocument/2006/relationships/slide" Target="slides/slide68.xml"/><Relationship Id="rId80" Type="http://schemas.openxmlformats.org/officeDocument/2006/relationships/slide" Target="slides/slide69.xml"/><Relationship Id="rId81" Type="http://schemas.openxmlformats.org/officeDocument/2006/relationships/slide" Target="slides/slide70.xml"/><Relationship Id="rId82" Type="http://schemas.openxmlformats.org/officeDocument/2006/relationships/slide" Target="slides/slide71.xml"/><Relationship Id="rId83" Type="http://schemas.openxmlformats.org/officeDocument/2006/relationships/slide" Target="slides/slide72.xml"/><Relationship Id="rId84" Type="http://schemas.openxmlformats.org/officeDocument/2006/relationships/slide" Target="slides/slide73.xml"/><Relationship Id="rId85" Type="http://schemas.openxmlformats.org/officeDocument/2006/relationships/slide" Target="slides/slide74.xml"/><Relationship Id="rId86" Type="http://schemas.openxmlformats.org/officeDocument/2006/relationships/slide" Target="slides/slide75.xml"/><Relationship Id="rId87" Type="http://schemas.openxmlformats.org/officeDocument/2006/relationships/slide" Target="slides/slide76.xml"/><Relationship Id="rId88" Type="http://schemas.openxmlformats.org/officeDocument/2006/relationships/slide" Target="slides/slide77.xml"/><Relationship Id="rId89" Type="http://schemas.openxmlformats.org/officeDocument/2006/relationships/slide" Target="slides/slide78.xml"/><Relationship Id="rId90" Type="http://schemas.openxmlformats.org/officeDocument/2006/relationships/slide" Target="slides/slide79.xml"/><Relationship Id="rId91" Type="http://schemas.openxmlformats.org/officeDocument/2006/relationships/slide" Target="slides/slide80.xml"/><Relationship Id="rId92" Type="http://schemas.openxmlformats.org/officeDocument/2006/relationships/slide" Target="slides/slide81.xml"/><Relationship Id="rId93" Type="http://schemas.openxmlformats.org/officeDocument/2006/relationships/slide" Target="slides/slide82.xml"/><Relationship Id="rId94" Type="http://schemas.openxmlformats.org/officeDocument/2006/relationships/slide" Target="slides/slide83.xml"/><Relationship Id="rId95" Type="http://schemas.openxmlformats.org/officeDocument/2006/relationships/slide" Target="slides/slide84.xml"/><Relationship Id="rId96" Type="http://schemas.openxmlformats.org/officeDocument/2006/relationships/slide" Target="slides/slide85.xml"/><Relationship Id="rId97" Type="http://schemas.openxmlformats.org/officeDocument/2006/relationships/slide" Target="slides/slide86.xml"/><Relationship Id="rId98" Type="http://schemas.openxmlformats.org/officeDocument/2006/relationships/slide" Target="slides/slide87.xml"/><Relationship Id="rId99" Type="http://schemas.openxmlformats.org/officeDocument/2006/relationships/slide" Target="slides/slide88.xml"/><Relationship Id="rId100" Type="http://schemas.openxmlformats.org/officeDocument/2006/relationships/slide" Target="slides/slide89.xml"/><Relationship Id="rId101" Type="http://schemas.openxmlformats.org/officeDocument/2006/relationships/slide" Target="slides/slide90.xml"/><Relationship Id="rId102" Type="http://schemas.openxmlformats.org/officeDocument/2006/relationships/slide" Target="slides/slide91.xml"/><Relationship Id="rId103" Type="http://schemas.openxmlformats.org/officeDocument/2006/relationships/slide" Target="slides/slide92.xml"/><Relationship Id="rId104" Type="http://schemas.openxmlformats.org/officeDocument/2006/relationships/slide" Target="slides/slide93.xml"/><Relationship Id="rId105" Type="http://schemas.openxmlformats.org/officeDocument/2006/relationships/slide" Target="slides/slide94.xml"/><Relationship Id="rId106" Type="http://schemas.openxmlformats.org/officeDocument/2006/relationships/slide" Target="slides/slide95.xml"/><Relationship Id="rId107" Type="http://schemas.openxmlformats.org/officeDocument/2006/relationships/slide" Target="slides/slide96.xml"/><Relationship Id="rId108" Type="http://schemas.openxmlformats.org/officeDocument/2006/relationships/slide" Target="slides/slide97.xml"/><Relationship Id="rId109" Type="http://schemas.openxmlformats.org/officeDocument/2006/relationships/slide" Target="slides/slide98.xml"/><Relationship Id="rId110" Type="http://schemas.openxmlformats.org/officeDocument/2006/relationships/slide" Target="slides/slide99.xml"/><Relationship Id="rId111" Type="http://schemas.openxmlformats.org/officeDocument/2006/relationships/slide" Target="slides/slide100.xml"/><Relationship Id="rId112" Type="http://schemas.openxmlformats.org/officeDocument/2006/relationships/slide" Target="slides/slide101.xml"/><Relationship Id="rId113" Type="http://schemas.openxmlformats.org/officeDocument/2006/relationships/presProps" Target="presProps.xml"/><Relationship Id="rId114" Type="http://schemas.openxmlformats.org/officeDocument/2006/relationships/slide" Target="slides/slide17.xml"/><Relationship Id="rId115" Type="http://schemas.openxmlformats.org/officeDocument/2006/relationships/slide" Target="slides/slide10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6D781D8-4E47-483D-BA5A-F040393B467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3E3A73F-CC1C-46C2-B4EE-71CBFCE7CC6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6B30D82-EE8D-4A94-9B89-3A8F6379361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6557563-6B56-4EA0-995C-765A498251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EFCC03B-70CC-4806-84E2-7D0415BB1A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D66E015-AB27-4922-9DDC-BC4ACCEF4F0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9EC226A-4CAB-4F8A-AE23-DB1CE570303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4E3F02B-5052-44DD-BD28-7A0F3DE8DF1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CBEE139-37B8-4188-BB7C-B4C536B10CC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D846747-DB56-40A3-AEE6-8AF49969325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45F5930-336A-4FA5-8C5C-D84C5D1F4E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EC1281E-46D6-4B7F-B3DF-05EC3D58F57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AEDF26B-7D8A-464C-823A-AAD9D4E5E4D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03F3DBA-4B20-412D-8CF7-CAAD1991681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1DC8AB1-65DD-4374-B3BE-588C36306EE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5441130-4890-460B-8EBA-F90D65D24C7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o formato do texto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2180D9A-E1D5-47D4-AEAD-1C156861C95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3E00653-BA60-4DFE-8050-05C22B11B61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05B7357-77E8-4932-9B9C-FE08C36B960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83019C6-A39E-499A-A4A2-4340FEECAAF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B166D09-CF02-4121-86EA-AECD010D479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D7C30AC-8D02-4970-972D-6A5C5D07078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5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6.png"/><Relationship Id="rId15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6.png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1.jpeg"/><Relationship Id="rId3" Type="http://schemas.openxmlformats.org/officeDocument/2006/relationships/image" Target="../media/image42.jpeg"/><Relationship Id="rId4" Type="http://schemas.openxmlformats.org/officeDocument/2006/relationships/image" Target="../media/image43.jpeg"/><Relationship Id="rId5" Type="http://schemas.openxmlformats.org/officeDocument/2006/relationships/image" Target="../media/image44.jpe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9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5.jpeg"/><Relationship Id="rId3" Type="http://schemas.openxmlformats.org/officeDocument/2006/relationships/image" Target="../media/image46.jpeg"/><Relationship Id="rId4" Type="http://schemas.openxmlformats.org/officeDocument/2006/relationships/image" Target="../media/image47.jpe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1"/>
          <p:cNvSpPr/>
          <p:nvPr/>
        </p:nvSpPr>
        <p:spPr>
          <a:xfrm>
            <a:off x="731520" y="1005840"/>
            <a:ext cx="106063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ffffff"/>
                </a:solidFill>
                <a:latin typeface="Aptos"/>
              </a:rPr>
              <a:t>Desenvolvimento de Software Integrado - DevOps</a:t>
            </a:r>
            <a:endParaRPr b="0" lang="pt-BR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Box 2"/>
          <p:cNvSpPr/>
          <p:nvPr/>
        </p:nvSpPr>
        <p:spPr>
          <a:xfrm>
            <a:off x="1508760" y="1737360"/>
            <a:ext cx="91432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ae5ed"/>
                </a:solidFill>
                <a:latin typeface="Aptos"/>
              </a:rPr>
              <a:t>Slides da disciplina | Turma 4 - Z251 | Semestre 2026.2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Rounded Rectangle 3"/>
          <p:cNvSpPr/>
          <p:nvPr/>
        </p:nvSpPr>
        <p:spPr>
          <a:xfrm>
            <a:off x="91440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" name="TextBox 4"/>
          <p:cNvSpPr/>
          <p:nvPr/>
        </p:nvSpPr>
        <p:spPr>
          <a:xfrm>
            <a:off x="91440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Plan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Rounded Rectangle 5"/>
          <p:cNvSpPr/>
          <p:nvPr/>
        </p:nvSpPr>
        <p:spPr>
          <a:xfrm>
            <a:off x="221292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" name="TextBox 6"/>
          <p:cNvSpPr/>
          <p:nvPr/>
        </p:nvSpPr>
        <p:spPr>
          <a:xfrm>
            <a:off x="221292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Code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Rounded Rectangle 7"/>
          <p:cNvSpPr/>
          <p:nvPr/>
        </p:nvSpPr>
        <p:spPr>
          <a:xfrm>
            <a:off x="351144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" name="TextBox 8"/>
          <p:cNvSpPr/>
          <p:nvPr/>
        </p:nvSpPr>
        <p:spPr>
          <a:xfrm>
            <a:off x="351144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Rounded Rectangle 9"/>
          <p:cNvSpPr/>
          <p:nvPr/>
        </p:nvSpPr>
        <p:spPr>
          <a:xfrm>
            <a:off x="480960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480960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Test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Rounded Rectangle 11"/>
          <p:cNvSpPr/>
          <p:nvPr/>
        </p:nvSpPr>
        <p:spPr>
          <a:xfrm>
            <a:off x="610812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" name="TextBox 12"/>
          <p:cNvSpPr/>
          <p:nvPr/>
        </p:nvSpPr>
        <p:spPr>
          <a:xfrm>
            <a:off x="610812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13"/>
          <p:cNvSpPr/>
          <p:nvPr/>
        </p:nvSpPr>
        <p:spPr>
          <a:xfrm>
            <a:off x="740664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" name="TextBox 14"/>
          <p:cNvSpPr/>
          <p:nvPr/>
        </p:nvSpPr>
        <p:spPr>
          <a:xfrm>
            <a:off x="740664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Deploy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15"/>
          <p:cNvSpPr/>
          <p:nvPr/>
        </p:nvSpPr>
        <p:spPr>
          <a:xfrm>
            <a:off x="870516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" name="TextBox 16"/>
          <p:cNvSpPr/>
          <p:nvPr/>
        </p:nvSpPr>
        <p:spPr>
          <a:xfrm>
            <a:off x="870516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Operate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Rounded Rectangle 17"/>
          <p:cNvSpPr/>
          <p:nvPr/>
        </p:nvSpPr>
        <p:spPr>
          <a:xfrm>
            <a:off x="10003680" y="3246120"/>
            <a:ext cx="986760" cy="529560"/>
          </a:xfrm>
          <a:prstGeom prst="roundRect">
            <a:avLst>
              <a:gd name="adj" fmla="val 16667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" name="TextBox 18"/>
          <p:cNvSpPr/>
          <p:nvPr/>
        </p:nvSpPr>
        <p:spPr>
          <a:xfrm>
            <a:off x="10003680" y="3401640"/>
            <a:ext cx="9867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Monitor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Box 20"/>
          <p:cNvSpPr/>
          <p:nvPr/>
        </p:nvSpPr>
        <p:spPr>
          <a:xfrm>
            <a:off x="4983480" y="6217920"/>
            <a:ext cx="2239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ae5ed"/>
                </a:solidFill>
                <a:latin typeface="Aptos"/>
              </a:rPr>
              <a:t>Arimatéia Júnior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9" name="Picture 21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Sobre o Professor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Quem conduz esta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74" name="Picture 5" descr="Foto Perfil JR.png"/>
          <p:cNvPicPr/>
          <p:nvPr/>
        </p:nvPicPr>
        <p:blipFill>
          <a:blip r:embed="rId2"/>
          <a:stretch/>
        </p:blipFill>
        <p:spPr>
          <a:xfrm>
            <a:off x="800280" y="1508760"/>
            <a:ext cx="3062520" cy="306252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75" name="TextBox 6"/>
          <p:cNvSpPr/>
          <p:nvPr/>
        </p:nvSpPr>
        <p:spPr>
          <a:xfrm>
            <a:off x="914400" y="4663440"/>
            <a:ext cx="283392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32b42"/>
                </a:solidFill>
                <a:latin typeface="Aptos"/>
              </a:rPr>
              <a:t>Arimatéia Júnior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30" spc="-1" strike="noStrike">
                <a:solidFill>
                  <a:srgbClr val="5e6c7a"/>
                </a:solidFill>
                <a:latin typeface="Aptos"/>
              </a:rPr>
              <a:t>Professor - Desenvolvimento de Software Integrado - DevOps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ounded Rectangle 7"/>
          <p:cNvSpPr/>
          <p:nvPr/>
        </p:nvSpPr>
        <p:spPr>
          <a:xfrm>
            <a:off x="4846320" y="1508760"/>
            <a:ext cx="6445800" cy="1690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Rectangle 8"/>
          <p:cNvSpPr/>
          <p:nvPr/>
        </p:nvSpPr>
        <p:spPr>
          <a:xfrm>
            <a:off x="4846320" y="1508760"/>
            <a:ext cx="72360" cy="1690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TextBox 9"/>
          <p:cNvSpPr/>
          <p:nvPr/>
        </p:nvSpPr>
        <p:spPr>
          <a:xfrm>
            <a:off x="5010840" y="1636920"/>
            <a:ext cx="6153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Formação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" name="Picture 10" descr="ic_grad.png"/>
          <p:cNvPicPr/>
          <p:nvPr/>
        </p:nvPicPr>
        <p:blipFill>
          <a:blip r:embed="rId3"/>
          <a:stretch/>
        </p:blipFill>
        <p:spPr>
          <a:xfrm>
            <a:off x="501084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80" name="TextBox 11"/>
          <p:cNvSpPr/>
          <p:nvPr/>
        </p:nvSpPr>
        <p:spPr>
          <a:xfrm>
            <a:off x="5010840" y="2312280"/>
            <a:ext cx="6153120" cy="74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Pós-graduado em Engenharia de Software com ênfase em DevOps — UNIFOR (2025).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MBA em Arquitetura de Software e Soluções — XP Educação (2023).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Especialização em Segurança da Informação — UNINASSAU (2021).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Formado em Redes de Computadores — Faculdade Lourenço Filho (2014).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ounded Rectangle 12"/>
          <p:cNvSpPr/>
          <p:nvPr/>
        </p:nvSpPr>
        <p:spPr>
          <a:xfrm>
            <a:off x="4846320" y="3337560"/>
            <a:ext cx="3131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Rectangle 13"/>
          <p:cNvSpPr/>
          <p:nvPr/>
        </p:nvSpPr>
        <p:spPr>
          <a:xfrm>
            <a:off x="4846320" y="3337560"/>
            <a:ext cx="72360" cy="1736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TextBox 14"/>
          <p:cNvSpPr/>
          <p:nvPr/>
        </p:nvSpPr>
        <p:spPr>
          <a:xfrm>
            <a:off x="5010840" y="3465720"/>
            <a:ext cx="2838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Experiência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4" name="Picture 15" descr="ic_briefcase.png"/>
          <p:cNvPicPr/>
          <p:nvPr/>
        </p:nvPicPr>
        <p:blipFill>
          <a:blip r:embed="rId4"/>
          <a:stretch/>
        </p:blipFill>
        <p:spPr>
          <a:xfrm>
            <a:off x="5010840" y="38131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85" name="TextBox 16"/>
          <p:cNvSpPr/>
          <p:nvPr/>
        </p:nvSpPr>
        <p:spPr>
          <a:xfrm>
            <a:off x="5010840" y="4270320"/>
            <a:ext cx="2838600" cy="74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Arquiteto de Software e Soluções — TIVIT (cliente Petrobras).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Consultor de Tecnologia — ARI JR Technology.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17"/>
          <p:cNvSpPr/>
          <p:nvPr/>
        </p:nvSpPr>
        <p:spPr>
          <a:xfrm>
            <a:off x="8160840" y="3337560"/>
            <a:ext cx="3131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Rectangle 18"/>
          <p:cNvSpPr/>
          <p:nvPr/>
        </p:nvSpPr>
        <p:spPr>
          <a:xfrm>
            <a:off x="8160840" y="3337560"/>
            <a:ext cx="72360" cy="1736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19"/>
          <p:cNvSpPr/>
          <p:nvPr/>
        </p:nvSpPr>
        <p:spPr>
          <a:xfrm>
            <a:off x="8325720" y="3465720"/>
            <a:ext cx="2838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Certificações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Picture 20" descr="ic_medal.png"/>
          <p:cNvPicPr/>
          <p:nvPr/>
        </p:nvPicPr>
        <p:blipFill>
          <a:blip r:embed="rId5"/>
          <a:stretch/>
        </p:blipFill>
        <p:spPr>
          <a:xfrm>
            <a:off x="8325720" y="38131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90" name="TextBox 21"/>
          <p:cNvSpPr/>
          <p:nvPr/>
        </p:nvSpPr>
        <p:spPr>
          <a:xfrm>
            <a:off x="8325720" y="4270320"/>
            <a:ext cx="283860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Microsoft, AWS, Google Cloud, Oracle e VMware.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ounded Rectangle 22"/>
          <p:cNvSpPr/>
          <p:nvPr/>
        </p:nvSpPr>
        <p:spPr>
          <a:xfrm>
            <a:off x="4846320" y="5212080"/>
            <a:ext cx="6493320" cy="90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Rectangle 23"/>
          <p:cNvSpPr/>
          <p:nvPr/>
        </p:nvSpPr>
        <p:spPr>
          <a:xfrm>
            <a:off x="4846320" y="5212080"/>
            <a:ext cx="72360" cy="54792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24"/>
          <p:cNvSpPr/>
          <p:nvPr/>
        </p:nvSpPr>
        <p:spPr>
          <a:xfrm>
            <a:off x="5010840" y="5340240"/>
            <a:ext cx="6153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Sobre mim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25"/>
          <p:cNvSpPr/>
          <p:nvPr/>
        </p:nvSpPr>
        <p:spPr>
          <a:xfrm>
            <a:off x="5010840" y="5651280"/>
            <a:ext cx="6153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Apaixonado por família, tecnologia e futebol.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" name="Picture 26" descr="Logo Unifor.png"/>
          <p:cNvPicPr/>
          <p:nvPr/>
        </p:nvPicPr>
        <p:blipFill>
          <a:blip r:embed="rId6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96" name="TextBox 27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28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Visão Geral da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24h em seis encontros: cultura, automação, entrega, operação e IA aplicada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Rounded Rectangle 4"/>
          <p:cNvSpPr/>
          <p:nvPr/>
        </p:nvSpPr>
        <p:spPr>
          <a:xfrm>
            <a:off x="685800" y="1508760"/>
            <a:ext cx="342828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5"/>
          <p:cNvSpPr/>
          <p:nvPr/>
        </p:nvSpPr>
        <p:spPr>
          <a:xfrm>
            <a:off x="685800" y="1508760"/>
            <a:ext cx="72360" cy="1828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6"/>
          <p:cNvSpPr/>
          <p:nvPr/>
        </p:nvSpPr>
        <p:spPr>
          <a:xfrm>
            <a:off x="850320" y="163692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Objetivo da turma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7"/>
          <p:cNvSpPr/>
          <p:nvPr/>
        </p:nvSpPr>
        <p:spPr>
          <a:xfrm>
            <a:off x="850320" y="2011680"/>
            <a:ext cx="31356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Conectar desenvolvimento, qualidade e operação em um fluxo único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Trabalhar com artefatos reais: repositório, pipeline, containers, evidências 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Fechar com projeto integrador e uso responsável de IA registrado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Rounded Rectangle 8"/>
          <p:cNvSpPr/>
          <p:nvPr/>
        </p:nvSpPr>
        <p:spPr>
          <a:xfrm>
            <a:off x="4389120" y="1508760"/>
            <a:ext cx="342828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Rectangle 9"/>
          <p:cNvSpPr/>
          <p:nvPr/>
        </p:nvSpPr>
        <p:spPr>
          <a:xfrm>
            <a:off x="4389120" y="1508760"/>
            <a:ext cx="72360" cy="1828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4553640" y="163692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Eixo prático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1"/>
          <p:cNvSpPr/>
          <p:nvPr/>
        </p:nvSpPr>
        <p:spPr>
          <a:xfrm>
            <a:off x="4553640" y="2011680"/>
            <a:ext cx="31356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Diagnóstico + IA no SDLC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Git, PR e revisão assistida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CI, testes e qualidade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Docker/Compose e troubleshooting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CD, segurança, observabilidade e evidências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ounded Rectangle 12"/>
          <p:cNvSpPr/>
          <p:nvPr/>
        </p:nvSpPr>
        <p:spPr>
          <a:xfrm>
            <a:off x="8092440" y="1508760"/>
            <a:ext cx="342828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Rectangle 13"/>
          <p:cNvSpPr/>
          <p:nvPr/>
        </p:nvSpPr>
        <p:spPr>
          <a:xfrm>
            <a:off x="8092440" y="1508760"/>
            <a:ext cx="72360" cy="18280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14"/>
          <p:cNvSpPr/>
          <p:nvPr/>
        </p:nvSpPr>
        <p:spPr>
          <a:xfrm>
            <a:off x="8256960" y="163692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Resultado esperado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5"/>
          <p:cNvSpPr/>
          <p:nvPr/>
        </p:nvSpPr>
        <p:spPr>
          <a:xfrm>
            <a:off x="8256960" y="2011680"/>
            <a:ext cx="31356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Aplicação executável em ambiente reproduzível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Pipeline com validações e evidências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Uso de IA documentado e validado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Release/rollback ou plano de rollback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Evidências de operação e melhoria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Rounded Rectangle 16"/>
          <p:cNvSpPr/>
          <p:nvPr/>
        </p:nvSpPr>
        <p:spPr>
          <a:xfrm>
            <a:off x="685800" y="3794760"/>
            <a:ext cx="10834920" cy="1370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Rectangle 17"/>
          <p:cNvSpPr/>
          <p:nvPr/>
        </p:nvSpPr>
        <p:spPr>
          <a:xfrm>
            <a:off x="685800" y="3794760"/>
            <a:ext cx="72360" cy="1370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18"/>
          <p:cNvSpPr/>
          <p:nvPr/>
        </p:nvSpPr>
        <p:spPr>
          <a:xfrm>
            <a:off x="850320" y="3922920"/>
            <a:ext cx="1054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orientadora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19"/>
          <p:cNvSpPr/>
          <p:nvPr/>
        </p:nvSpPr>
        <p:spPr>
          <a:xfrm>
            <a:off x="850320" y="4297680"/>
            <a:ext cx="105422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transformar uma aplicação em um produto entregável, observável, seguro e evolutivo usando DevOps e IA com validação humana?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120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Objetivos de Aprendizagem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você deve conseguir fazer ao final da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25" name="Rounded Rectangle 5"/>
          <p:cNvSpPr/>
          <p:nvPr/>
        </p:nvSpPr>
        <p:spPr>
          <a:xfrm>
            <a:off x="68580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Rectangle 6"/>
          <p:cNvSpPr/>
          <p:nvPr/>
        </p:nvSpPr>
        <p:spPr>
          <a:xfrm>
            <a:off x="685800" y="1508760"/>
            <a:ext cx="72360" cy="2550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Compreender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Explicar cultura DevOps e responsabilidade compartilhada.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Identificar gargalos entre desenvolvimento, qualidade e operação.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Relacionar métricas, feedback e melhoria contínua.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ounded Rectangle 9"/>
          <p:cNvSpPr/>
          <p:nvPr/>
        </p:nvSpPr>
        <p:spPr>
          <a:xfrm>
            <a:off x="438912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Rectangle 10"/>
          <p:cNvSpPr/>
          <p:nvPr/>
        </p:nvSpPr>
        <p:spPr>
          <a:xfrm>
            <a:off x="4389120" y="1508760"/>
            <a:ext cx="72360" cy="2550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Construir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12"/>
          <p:cNvSpPr/>
          <p:nvPr/>
        </p:nvSpPr>
        <p:spPr>
          <a:xfrm>
            <a:off x="4553640" y="1993320"/>
            <a:ext cx="3135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Git e PRs com revisão objetiva.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pipeline de CI com testes e artefatos.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Containerizar uma aplicação e padronizar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Planejar CD com segurança básica e 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Rounded Rectangle 13"/>
          <p:cNvSpPr/>
          <p:nvPr/>
        </p:nvSpPr>
        <p:spPr>
          <a:xfrm>
            <a:off x="809244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Rectangle 14"/>
          <p:cNvSpPr/>
          <p:nvPr/>
        </p:nvSpPr>
        <p:spPr>
          <a:xfrm>
            <a:off x="8092440" y="1508760"/>
            <a:ext cx="72360" cy="2550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Avaliar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criticamente no SDLC.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Analisar logs, falhas, riscos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Defender o projeto final com evidências executáveis.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38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Linha do Tempo dos Encontros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Datas oficiais da turma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Rounded Rectangle 4"/>
          <p:cNvSpPr/>
          <p:nvPr/>
        </p:nvSpPr>
        <p:spPr>
          <a:xfrm>
            <a:off x="685800" y="1508760"/>
            <a:ext cx="342828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Rectangle 5"/>
          <p:cNvSpPr/>
          <p:nvPr/>
        </p:nvSpPr>
        <p:spPr>
          <a:xfrm>
            <a:off x="685800" y="1508760"/>
            <a:ext cx="72360" cy="1416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TextBox 6"/>
          <p:cNvSpPr/>
          <p:nvPr/>
        </p:nvSpPr>
        <p:spPr>
          <a:xfrm>
            <a:off x="850320" y="163692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10/09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850320" y="2011680"/>
            <a:ext cx="31356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Cultura DevOps, IA no SDLC e diagnóstico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ounded Rectangle 8"/>
          <p:cNvSpPr/>
          <p:nvPr/>
        </p:nvSpPr>
        <p:spPr>
          <a:xfrm>
            <a:off x="4434840" y="1508760"/>
            <a:ext cx="342828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Rectangle 9"/>
          <p:cNvSpPr/>
          <p:nvPr/>
        </p:nvSpPr>
        <p:spPr>
          <a:xfrm>
            <a:off x="4434840" y="1508760"/>
            <a:ext cx="72360" cy="1416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10"/>
          <p:cNvSpPr/>
          <p:nvPr/>
        </p:nvSpPr>
        <p:spPr>
          <a:xfrm>
            <a:off x="4599360" y="163692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11/09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11"/>
          <p:cNvSpPr/>
          <p:nvPr/>
        </p:nvSpPr>
        <p:spPr>
          <a:xfrm>
            <a:off x="4599360" y="2011680"/>
            <a:ext cx="31356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Git, colaboração, qualidade e IA assistida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Rounded Rectangle 12"/>
          <p:cNvSpPr/>
          <p:nvPr/>
        </p:nvSpPr>
        <p:spPr>
          <a:xfrm>
            <a:off x="8183880" y="1508760"/>
            <a:ext cx="342828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Rectangle 13"/>
          <p:cNvSpPr/>
          <p:nvPr/>
        </p:nvSpPr>
        <p:spPr>
          <a:xfrm>
            <a:off x="8183880" y="1508760"/>
            <a:ext cx="72360" cy="1416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14"/>
          <p:cNvSpPr/>
          <p:nvPr/>
        </p:nvSpPr>
        <p:spPr>
          <a:xfrm>
            <a:off x="8348400" y="163692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12/09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15"/>
          <p:cNvSpPr/>
          <p:nvPr/>
        </p:nvSpPr>
        <p:spPr>
          <a:xfrm>
            <a:off x="8348400" y="2011680"/>
            <a:ext cx="31356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CI, testes automatizados e IA para automação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ounded Rectangle 16"/>
          <p:cNvSpPr/>
          <p:nvPr/>
        </p:nvSpPr>
        <p:spPr>
          <a:xfrm>
            <a:off x="685800" y="3474720"/>
            <a:ext cx="342828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Rectangle 17"/>
          <p:cNvSpPr/>
          <p:nvPr/>
        </p:nvSpPr>
        <p:spPr>
          <a:xfrm>
            <a:off x="685800" y="3474720"/>
            <a:ext cx="72360" cy="14166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18"/>
          <p:cNvSpPr/>
          <p:nvPr/>
        </p:nvSpPr>
        <p:spPr>
          <a:xfrm>
            <a:off x="850320" y="36028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24/09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19"/>
          <p:cNvSpPr/>
          <p:nvPr/>
        </p:nvSpPr>
        <p:spPr>
          <a:xfrm>
            <a:off x="850320" y="3977640"/>
            <a:ext cx="31356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Containers, integração e troubleshooting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ounded Rectangle 20"/>
          <p:cNvSpPr/>
          <p:nvPr/>
        </p:nvSpPr>
        <p:spPr>
          <a:xfrm>
            <a:off x="4434840" y="3474720"/>
            <a:ext cx="342828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Rectangle 21"/>
          <p:cNvSpPr/>
          <p:nvPr/>
        </p:nvSpPr>
        <p:spPr>
          <a:xfrm>
            <a:off x="4434840" y="3474720"/>
            <a:ext cx="72360" cy="14166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TextBox 22"/>
          <p:cNvSpPr/>
          <p:nvPr/>
        </p:nvSpPr>
        <p:spPr>
          <a:xfrm>
            <a:off x="4599360" y="36028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25/09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23"/>
          <p:cNvSpPr/>
          <p:nvPr/>
        </p:nvSpPr>
        <p:spPr>
          <a:xfrm>
            <a:off x="4599360" y="3977640"/>
            <a:ext cx="31356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CD, configuração, segurança e governança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ounded Rectangle 24"/>
          <p:cNvSpPr/>
          <p:nvPr/>
        </p:nvSpPr>
        <p:spPr>
          <a:xfrm>
            <a:off x="8183880" y="3474720"/>
            <a:ext cx="342828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Rectangle 25"/>
          <p:cNvSpPr/>
          <p:nvPr/>
        </p:nvSpPr>
        <p:spPr>
          <a:xfrm>
            <a:off x="8183880" y="3474720"/>
            <a:ext cx="72360" cy="141660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" name="TextBox 26"/>
          <p:cNvSpPr/>
          <p:nvPr/>
        </p:nvSpPr>
        <p:spPr>
          <a:xfrm>
            <a:off x="8348400" y="36028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26/09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27"/>
          <p:cNvSpPr/>
          <p:nvPr/>
        </p:nvSpPr>
        <p:spPr>
          <a:xfrm>
            <a:off x="8348400" y="3977640"/>
            <a:ext cx="31356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Observabilidade, IA aplicada e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28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29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9" name="Picture 30" descr="e1_magnifier_dark.png"/>
          <p:cNvPicPr/>
          <p:nvPr/>
        </p:nvPicPr>
        <p:blipFill>
          <a:blip r:embed="rId1"/>
          <a:stretch/>
        </p:blipFill>
        <p:spPr>
          <a:xfrm>
            <a:off x="3593520" y="1618560"/>
            <a:ext cx="383400" cy="383400"/>
          </a:xfrm>
          <a:prstGeom prst="rect">
            <a:avLst/>
          </a:prstGeom>
          <a:ln w="0">
            <a:noFill/>
          </a:ln>
        </p:spPr>
      </p:pic>
      <p:pic>
        <p:nvPicPr>
          <p:cNvPr id="170" name="Picture 31" descr="e2_git_dark.png"/>
          <p:cNvPicPr/>
          <p:nvPr/>
        </p:nvPicPr>
        <p:blipFill>
          <a:blip r:embed="rId2"/>
          <a:stretch/>
        </p:blipFill>
        <p:spPr>
          <a:xfrm>
            <a:off x="7342560" y="1618560"/>
            <a:ext cx="383400" cy="383400"/>
          </a:xfrm>
          <a:prstGeom prst="rect">
            <a:avLst/>
          </a:prstGeom>
          <a:ln w="0">
            <a:noFill/>
          </a:ln>
        </p:spPr>
      </p:pic>
      <p:pic>
        <p:nvPicPr>
          <p:cNvPr id="171" name="Picture 32" descr="e3_refresh_dark.png"/>
          <p:cNvPicPr/>
          <p:nvPr/>
        </p:nvPicPr>
        <p:blipFill>
          <a:blip r:embed="rId3"/>
          <a:stretch/>
        </p:blipFill>
        <p:spPr>
          <a:xfrm>
            <a:off x="11091600" y="1618560"/>
            <a:ext cx="383400" cy="383400"/>
          </a:xfrm>
          <a:prstGeom prst="rect">
            <a:avLst/>
          </a:prstGeom>
          <a:ln w="0">
            <a:noFill/>
          </a:ln>
        </p:spPr>
      </p:pic>
      <p:pic>
        <p:nvPicPr>
          <p:cNvPr id="172" name="Picture 33" descr="e4_container_dark.png"/>
          <p:cNvPicPr/>
          <p:nvPr/>
        </p:nvPicPr>
        <p:blipFill>
          <a:blip r:embed="rId4"/>
          <a:stretch/>
        </p:blipFill>
        <p:spPr>
          <a:xfrm>
            <a:off x="3593520" y="3584520"/>
            <a:ext cx="383400" cy="383400"/>
          </a:xfrm>
          <a:prstGeom prst="rect">
            <a:avLst/>
          </a:prstGeom>
          <a:ln w="0">
            <a:noFill/>
          </a:ln>
        </p:spPr>
      </p:pic>
      <p:pic>
        <p:nvPicPr>
          <p:cNvPr id="173" name="Picture 34" descr="e5_shield_dark.png"/>
          <p:cNvPicPr/>
          <p:nvPr/>
        </p:nvPicPr>
        <p:blipFill>
          <a:blip r:embed="rId5"/>
          <a:stretch/>
        </p:blipFill>
        <p:spPr>
          <a:xfrm>
            <a:off x="7342560" y="3584520"/>
            <a:ext cx="383400" cy="383400"/>
          </a:xfrm>
          <a:prstGeom prst="rect">
            <a:avLst/>
          </a:prstGeom>
          <a:ln w="0">
            <a:noFill/>
          </a:ln>
        </p:spPr>
      </p:pic>
      <p:pic>
        <p:nvPicPr>
          <p:cNvPr id="174" name="Picture 35" descr="e6_pulse_dark.png"/>
          <p:cNvPicPr/>
          <p:nvPr/>
        </p:nvPicPr>
        <p:blipFill>
          <a:blip r:embed="rId6"/>
          <a:stretch/>
        </p:blipFill>
        <p:spPr>
          <a:xfrm>
            <a:off x="11091600" y="3584520"/>
            <a:ext cx="383400" cy="383400"/>
          </a:xfrm>
          <a:prstGeom prst="rect">
            <a:avLst/>
          </a:prstGeom>
          <a:ln w="0">
            <a:noFill/>
          </a:ln>
        </p:spPr>
      </p:pic>
      <p:pic>
        <p:nvPicPr>
          <p:cNvPr id="175" name="Picture 36" descr="Logo Unifor.png"/>
          <p:cNvPicPr/>
          <p:nvPr/>
        </p:nvPicPr>
        <p:blipFill>
          <a:blip r:embed="rId7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176" name="Picture 37" descr="Logo Unifor Pos.png"/>
          <p:cNvPicPr/>
          <p:nvPr/>
        </p:nvPicPr>
        <p:blipFill>
          <a:blip r:embed="rId8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Projeto Integrador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fluxo DevOps completo em pequena escala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Rounded Rectangle 4"/>
          <p:cNvSpPr/>
          <p:nvPr/>
        </p:nvSpPr>
        <p:spPr>
          <a:xfrm>
            <a:off x="685800" y="1600200"/>
            <a:ext cx="1352520" cy="65772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685800" y="1810440"/>
            <a:ext cx="13525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Repositório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6"/>
          <p:cNvSpPr/>
          <p:nvPr/>
        </p:nvSpPr>
        <p:spPr>
          <a:xfrm>
            <a:off x="2084760" y="1783080"/>
            <a:ext cx="3650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Rounded Rectangle 7"/>
          <p:cNvSpPr/>
          <p:nvPr/>
        </p:nvSpPr>
        <p:spPr>
          <a:xfrm>
            <a:off x="2560320" y="1600200"/>
            <a:ext cx="1352520" cy="65772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TextBox 8"/>
          <p:cNvSpPr/>
          <p:nvPr/>
        </p:nvSpPr>
        <p:spPr>
          <a:xfrm>
            <a:off x="2560320" y="1810440"/>
            <a:ext cx="13525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Pipeline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3959280" y="1783080"/>
            <a:ext cx="3650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4434840" y="1600200"/>
            <a:ext cx="1352520" cy="65772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4434840" y="1810440"/>
            <a:ext cx="13525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Imagem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5833800" y="1783080"/>
            <a:ext cx="3650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Rounded Rectangle 13"/>
          <p:cNvSpPr/>
          <p:nvPr/>
        </p:nvSpPr>
        <p:spPr>
          <a:xfrm>
            <a:off x="6309360" y="1600200"/>
            <a:ext cx="1352520" cy="65772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6309360" y="1810440"/>
            <a:ext cx="13525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Ambiente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7708320" y="1783080"/>
            <a:ext cx="3650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ounded Rectangle 16"/>
          <p:cNvSpPr/>
          <p:nvPr/>
        </p:nvSpPr>
        <p:spPr>
          <a:xfrm>
            <a:off x="8183880" y="1600200"/>
            <a:ext cx="1352520" cy="657720"/>
          </a:xfrm>
          <a:prstGeom prst="roundRect">
            <a:avLst>
              <a:gd name="adj" fmla="val 16667"/>
            </a:avLst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TextBox 17"/>
          <p:cNvSpPr/>
          <p:nvPr/>
        </p:nvSpPr>
        <p:spPr>
          <a:xfrm>
            <a:off x="8183880" y="1810440"/>
            <a:ext cx="13525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Box 18"/>
          <p:cNvSpPr/>
          <p:nvPr/>
        </p:nvSpPr>
        <p:spPr>
          <a:xfrm>
            <a:off x="9582840" y="1783080"/>
            <a:ext cx="3650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Rounded Rectangle 19"/>
          <p:cNvSpPr/>
          <p:nvPr/>
        </p:nvSpPr>
        <p:spPr>
          <a:xfrm>
            <a:off x="10058400" y="1600200"/>
            <a:ext cx="1352520" cy="65772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10058400" y="1810440"/>
            <a:ext cx="13525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Observabilidade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ounded Rectangle 21"/>
          <p:cNvSpPr/>
          <p:nvPr/>
        </p:nvSpPr>
        <p:spPr>
          <a:xfrm>
            <a:off x="685800" y="2788920"/>
            <a:ext cx="3428280" cy="1782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Rectangle 22"/>
          <p:cNvSpPr/>
          <p:nvPr/>
        </p:nvSpPr>
        <p:spPr>
          <a:xfrm>
            <a:off x="685800" y="2788920"/>
            <a:ext cx="72360" cy="1782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TextBox 23"/>
          <p:cNvSpPr/>
          <p:nvPr/>
        </p:nvSpPr>
        <p:spPr>
          <a:xfrm>
            <a:off x="850320" y="29170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Artefatos mínimos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Box 24"/>
          <p:cNvSpPr/>
          <p:nvPr/>
        </p:nvSpPr>
        <p:spPr>
          <a:xfrm>
            <a:off x="850320" y="3291840"/>
            <a:ext cx="313560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de execução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versionado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de build/teste/release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do uso de IA quando aplicado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Rounded Rectangle 25"/>
          <p:cNvSpPr/>
          <p:nvPr/>
        </p:nvSpPr>
        <p:spPr>
          <a:xfrm>
            <a:off x="4389120" y="2788920"/>
            <a:ext cx="3428280" cy="1782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Rectangle 26"/>
          <p:cNvSpPr/>
          <p:nvPr/>
        </p:nvSpPr>
        <p:spPr>
          <a:xfrm>
            <a:off x="4389120" y="2788920"/>
            <a:ext cx="72360" cy="1782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27"/>
          <p:cNvSpPr/>
          <p:nvPr/>
        </p:nvSpPr>
        <p:spPr>
          <a:xfrm>
            <a:off x="4553640" y="29170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Critérios técnicos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28"/>
          <p:cNvSpPr/>
          <p:nvPr/>
        </p:nvSpPr>
        <p:spPr>
          <a:xfrm>
            <a:off x="4553640" y="3291840"/>
            <a:ext cx="313560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Automação rastreável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visível e tratável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 reproduzível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 ou plano de rollback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Sugestões de IA validadas por teste 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29"/>
          <p:cNvSpPr/>
          <p:nvPr/>
        </p:nvSpPr>
        <p:spPr>
          <a:xfrm>
            <a:off x="8092440" y="2788920"/>
            <a:ext cx="3428280" cy="1782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Rectangle 30"/>
          <p:cNvSpPr/>
          <p:nvPr/>
        </p:nvSpPr>
        <p:spPr>
          <a:xfrm>
            <a:off x="8092440" y="2788920"/>
            <a:ext cx="72360" cy="1782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31"/>
          <p:cNvSpPr/>
          <p:nvPr/>
        </p:nvSpPr>
        <p:spPr>
          <a:xfrm>
            <a:off x="8256960" y="29170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Defesa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32"/>
          <p:cNvSpPr/>
          <p:nvPr/>
        </p:nvSpPr>
        <p:spPr>
          <a:xfrm>
            <a:off x="8256960" y="3291840"/>
            <a:ext cx="313560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Decisões técnicas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crítico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limitações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Evolução proposta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Box 33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Box 34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1" name="Picture 35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212" name="Picture 36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Box 1"/>
          <p:cNvSpPr/>
          <p:nvPr/>
        </p:nvSpPr>
        <p:spPr>
          <a:xfrm>
            <a:off x="594360" y="320040"/>
            <a:ext cx="98748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Projeto Integrador - Incrementos por Encontro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único projeto evolui ao longo dos seis encontros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217" name="Rounded Rectangle 5"/>
          <p:cNvSpPr/>
          <p:nvPr/>
        </p:nvSpPr>
        <p:spPr>
          <a:xfrm>
            <a:off x="68580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Rectangle 6"/>
          <p:cNvSpPr/>
          <p:nvPr/>
        </p:nvSpPr>
        <p:spPr>
          <a:xfrm>
            <a:off x="685800" y="1508760"/>
            <a:ext cx="72360" cy="2312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Incrementos por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E1: diagnóstico e proposta priorizada.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E2: repositório, PR e tag inicial.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E3: pipeline CI com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E4: execução com Docker/Compose.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E5: release, rollback 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E6: observabilidade e defesa.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Rounded Rectangle 9"/>
          <p:cNvSpPr/>
          <p:nvPr/>
        </p:nvSpPr>
        <p:spPr>
          <a:xfrm>
            <a:off x="438912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" name="Rectangle 10"/>
          <p:cNvSpPr/>
          <p:nvPr/>
        </p:nvSpPr>
        <p:spPr>
          <a:xfrm>
            <a:off x="4389120" y="1508760"/>
            <a:ext cx="72360" cy="2312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Critério de escolha da aplicação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pequena, mas realista.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 ter build, teste e execução local.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Ideal ter API + dependência externa ou banco.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stack complexa que consuma o tempo 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ounded Rectangle 13"/>
          <p:cNvSpPr/>
          <p:nvPr/>
        </p:nvSpPr>
        <p:spPr>
          <a:xfrm>
            <a:off x="809244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Rectangle 14"/>
          <p:cNvSpPr/>
          <p:nvPr/>
        </p:nvSpPr>
        <p:spPr>
          <a:xfrm>
            <a:off x="8092440" y="1508760"/>
            <a:ext cx="72360" cy="2312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 mínima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Print/log de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release/rollback.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uso de IA, quando aplicado.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230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Ferramentas e Ambiente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ter pronto antes do primeiro encontro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236" name="Rounded Rectangle 5"/>
          <p:cNvSpPr/>
          <p:nvPr/>
        </p:nvSpPr>
        <p:spPr>
          <a:xfrm>
            <a:off x="685800" y="1508760"/>
            <a:ext cx="3428280" cy="2605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Rectangle 6"/>
          <p:cNvSpPr/>
          <p:nvPr/>
        </p:nvSpPr>
        <p:spPr>
          <a:xfrm>
            <a:off x="685800" y="1508760"/>
            <a:ext cx="72360" cy="2605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Essencial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9" name="Picture 8" descr="git.png"/>
          <p:cNvPicPr/>
          <p:nvPr/>
        </p:nvPicPr>
        <p:blipFill>
          <a:blip r:embed="rId2"/>
          <a:stretch/>
        </p:blipFill>
        <p:spPr>
          <a:xfrm>
            <a:off x="85032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40" name="Picture 9" descr="github.png"/>
          <p:cNvPicPr/>
          <p:nvPr/>
        </p:nvPicPr>
        <p:blipFill>
          <a:blip r:embed="rId3"/>
          <a:stretch/>
        </p:blipFill>
        <p:spPr>
          <a:xfrm>
            <a:off x="134424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41" name="Picture 10" descr="gitlab.png"/>
          <p:cNvPicPr/>
          <p:nvPr/>
        </p:nvPicPr>
        <p:blipFill>
          <a:blip r:embed="rId4"/>
          <a:stretch/>
        </p:blipFill>
        <p:spPr>
          <a:xfrm>
            <a:off x="183780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42" name="Picture 11" descr="docker.png"/>
          <p:cNvPicPr/>
          <p:nvPr/>
        </p:nvPicPr>
        <p:blipFill>
          <a:blip r:embed="rId5"/>
          <a:stretch/>
        </p:blipFill>
        <p:spPr>
          <a:xfrm>
            <a:off x="233172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243" name="TextBox 12"/>
          <p:cNvSpPr/>
          <p:nvPr/>
        </p:nvSpPr>
        <p:spPr>
          <a:xfrm>
            <a:off x="850320" y="2441520"/>
            <a:ext cx="313560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 instalado e configurado.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Conta em GitHub, GitLab ou Azure DevOps.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Editor com terminal integrado.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Docker Desktop ou Docker Engine + Compose.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Rounded Rectangle 13"/>
          <p:cNvSpPr/>
          <p:nvPr/>
        </p:nvSpPr>
        <p:spPr>
          <a:xfrm>
            <a:off x="4389120" y="1508760"/>
            <a:ext cx="3428280" cy="2605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" name="Rectangle 14"/>
          <p:cNvSpPr/>
          <p:nvPr/>
        </p:nvSpPr>
        <p:spPr>
          <a:xfrm>
            <a:off x="4389120" y="1508760"/>
            <a:ext cx="72360" cy="2605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" name="TextBox 15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Picture 16" descr="githubactions.png"/>
          <p:cNvPicPr/>
          <p:nvPr/>
        </p:nvPicPr>
        <p:blipFill>
          <a:blip r:embed="rId6"/>
          <a:stretch/>
        </p:blipFill>
        <p:spPr>
          <a:xfrm>
            <a:off x="455364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48" name="Picture 17" descr="azuredevops.png"/>
          <p:cNvPicPr/>
          <p:nvPr/>
        </p:nvPicPr>
        <p:blipFill>
          <a:blip r:embed="rId7"/>
          <a:stretch/>
        </p:blipFill>
        <p:spPr>
          <a:xfrm>
            <a:off x="504756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49" name="Picture 18" descr="gitlab.png"/>
          <p:cNvPicPr/>
          <p:nvPr/>
        </p:nvPicPr>
        <p:blipFill>
          <a:blip r:embed="rId8"/>
          <a:stretch/>
        </p:blipFill>
        <p:spPr>
          <a:xfrm>
            <a:off x="554112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250" name="TextBox 19"/>
          <p:cNvSpPr/>
          <p:nvPr/>
        </p:nvSpPr>
        <p:spPr>
          <a:xfrm>
            <a:off x="4553640" y="2441520"/>
            <a:ext cx="313560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GitHub Actions é a opção mais simples para laboratório.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GitLab CI ou Azure Pipelines seguem a mesma lógica.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Exemplos curtos e versionados no repositório da turma.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ounded Rectangle 20"/>
          <p:cNvSpPr/>
          <p:nvPr/>
        </p:nvSpPr>
        <p:spPr>
          <a:xfrm>
            <a:off x="8092440" y="1508760"/>
            <a:ext cx="3428280" cy="2605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Rectangle 21"/>
          <p:cNvSpPr/>
          <p:nvPr/>
        </p:nvSpPr>
        <p:spPr>
          <a:xfrm>
            <a:off x="8092440" y="1508760"/>
            <a:ext cx="72360" cy="26053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IA assistida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4" name="Picture 23" descr="githubcopilot.png"/>
          <p:cNvPicPr/>
          <p:nvPr/>
        </p:nvPicPr>
        <p:blipFill>
          <a:blip r:embed="rId9"/>
          <a:stretch/>
        </p:blipFill>
        <p:spPr>
          <a:xfrm>
            <a:off x="825696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55" name="Picture 24" descr="openai.png"/>
          <p:cNvPicPr/>
          <p:nvPr/>
        </p:nvPicPr>
        <p:blipFill>
          <a:blip r:embed="rId10"/>
          <a:stretch/>
        </p:blipFill>
        <p:spPr>
          <a:xfrm>
            <a:off x="875088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56" name="Picture 25" descr="cursor.png"/>
          <p:cNvPicPr/>
          <p:nvPr/>
        </p:nvPicPr>
        <p:blipFill>
          <a:blip r:embed="rId11"/>
          <a:stretch/>
        </p:blipFill>
        <p:spPr>
          <a:xfrm>
            <a:off x="924444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57" name="Picture 26" descr="googlegemini.png"/>
          <p:cNvPicPr/>
          <p:nvPr/>
        </p:nvPicPr>
        <p:blipFill>
          <a:blip r:embed="rId12"/>
          <a:stretch/>
        </p:blipFill>
        <p:spPr>
          <a:xfrm>
            <a:off x="9738360" y="198432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258" name="Picture 27" descr="amazonaws.png"/>
          <p:cNvPicPr/>
          <p:nvPr/>
        </p:nvPicPr>
        <p:blipFill>
          <a:blip r:embed="rId13"/>
          <a:stretch/>
        </p:blipFill>
        <p:spPr>
          <a:xfrm>
            <a:off x="1023228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259" name="TextBox 28"/>
          <p:cNvSpPr/>
          <p:nvPr/>
        </p:nvSpPr>
        <p:spPr>
          <a:xfrm>
            <a:off x="8256960" y="2441520"/>
            <a:ext cx="31356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GitHub Copilot, ChatGPT/Codex, Cursor, Gemini Code Assist, Amazon Q ou equivalente.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Acesso opcional, com demonstrações em sala.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0" name="Picture 29" descr="Logo Unifor.png"/>
          <p:cNvPicPr/>
          <p:nvPr/>
        </p:nvPicPr>
        <p:blipFill>
          <a:blip r:embed="rId14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261" name="TextBox 3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Box 3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extBox 25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26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27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Avaliação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Distribuição final alinhada ao plano de ensino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Rectangle 29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" name="Rounded Rectangle 30"/>
          <p:cNvSpPr/>
          <p:nvPr/>
        </p:nvSpPr>
        <p:spPr>
          <a:xfrm>
            <a:off x="749880" y="1481400"/>
            <a:ext cx="3400920" cy="1306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Rectangle 31"/>
          <p:cNvSpPr/>
          <p:nvPr/>
        </p:nvSpPr>
        <p:spPr>
          <a:xfrm>
            <a:off x="749880" y="1481400"/>
            <a:ext cx="72360" cy="13068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TextBox 32"/>
          <p:cNvSpPr/>
          <p:nvPr/>
        </p:nvSpPr>
        <p:spPr>
          <a:xfrm>
            <a:off x="951120" y="1645920"/>
            <a:ext cx="7765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00897b"/>
                </a:solidFill>
                <a:latin typeface="Aptos"/>
              </a:rPr>
              <a:t>25%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33"/>
          <p:cNvSpPr/>
          <p:nvPr/>
        </p:nvSpPr>
        <p:spPr>
          <a:xfrm>
            <a:off x="1710000" y="1645920"/>
            <a:ext cx="2148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Projeto funcional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Box 34"/>
          <p:cNvSpPr/>
          <p:nvPr/>
        </p:nvSpPr>
        <p:spPr>
          <a:xfrm>
            <a:off x="951120" y="210312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Repositório organizado, aplicação executável, documentação e registro crítico de IA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Rounded Rectangle 35"/>
          <p:cNvSpPr/>
          <p:nvPr/>
        </p:nvSpPr>
        <p:spPr>
          <a:xfrm>
            <a:off x="4480560" y="1481400"/>
            <a:ext cx="3400920" cy="1306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" name="Rectangle 36"/>
          <p:cNvSpPr/>
          <p:nvPr/>
        </p:nvSpPr>
        <p:spPr>
          <a:xfrm>
            <a:off x="4480560" y="1481400"/>
            <a:ext cx="72360" cy="13068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" name="TextBox 37"/>
          <p:cNvSpPr/>
          <p:nvPr/>
        </p:nvSpPr>
        <p:spPr>
          <a:xfrm>
            <a:off x="4681800" y="1645920"/>
            <a:ext cx="7765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666ab"/>
                </a:solidFill>
                <a:latin typeface="Aptos"/>
              </a:rPr>
              <a:t>25%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Box 38"/>
          <p:cNvSpPr/>
          <p:nvPr/>
        </p:nvSpPr>
        <p:spPr>
          <a:xfrm>
            <a:off x="5440680" y="1645920"/>
            <a:ext cx="2148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Pipeline CI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39"/>
          <p:cNvSpPr/>
          <p:nvPr/>
        </p:nvSpPr>
        <p:spPr>
          <a:xfrm>
            <a:off x="4681800" y="210312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Build, testes, qualidade, análise de falhas e artefatos/imagens publicados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Rounded Rectangle 40"/>
          <p:cNvSpPr/>
          <p:nvPr/>
        </p:nvSpPr>
        <p:spPr>
          <a:xfrm>
            <a:off x="8211240" y="1481400"/>
            <a:ext cx="3400920" cy="1306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" name="Rectangle 41"/>
          <p:cNvSpPr/>
          <p:nvPr/>
        </p:nvSpPr>
        <p:spPr>
          <a:xfrm>
            <a:off x="8211240" y="1481400"/>
            <a:ext cx="72360" cy="13068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" name="TextBox 42"/>
          <p:cNvSpPr/>
          <p:nvPr/>
        </p:nvSpPr>
        <p:spPr>
          <a:xfrm>
            <a:off x="8412480" y="1645920"/>
            <a:ext cx="7765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750a4"/>
                </a:solidFill>
                <a:latin typeface="Aptos"/>
              </a:rPr>
              <a:t>20%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43"/>
          <p:cNvSpPr/>
          <p:nvPr/>
        </p:nvSpPr>
        <p:spPr>
          <a:xfrm>
            <a:off x="9171360" y="1645920"/>
            <a:ext cx="2148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Containers/Compose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44"/>
          <p:cNvSpPr/>
          <p:nvPr/>
        </p:nvSpPr>
        <p:spPr>
          <a:xfrm>
            <a:off x="8412480" y="210312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Dockerfile, compose.yaml, variáveis, volumes e health checks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45"/>
          <p:cNvSpPr/>
          <p:nvPr/>
        </p:nvSpPr>
        <p:spPr>
          <a:xfrm>
            <a:off x="749880" y="3264480"/>
            <a:ext cx="3400920" cy="1306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" name="Rectangle 46"/>
          <p:cNvSpPr/>
          <p:nvPr/>
        </p:nvSpPr>
        <p:spPr>
          <a:xfrm>
            <a:off x="749880" y="3264480"/>
            <a:ext cx="72360" cy="13068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" name="TextBox 47"/>
          <p:cNvSpPr/>
          <p:nvPr/>
        </p:nvSpPr>
        <p:spPr>
          <a:xfrm>
            <a:off x="951120" y="3429000"/>
            <a:ext cx="7765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e88b26"/>
                </a:solidFill>
                <a:latin typeface="Aptos"/>
              </a:rPr>
              <a:t>15%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48"/>
          <p:cNvSpPr/>
          <p:nvPr/>
        </p:nvSpPr>
        <p:spPr>
          <a:xfrm>
            <a:off x="1710000" y="3429000"/>
            <a:ext cx="2148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Entrega e operação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49"/>
          <p:cNvSpPr/>
          <p:nvPr/>
        </p:nvSpPr>
        <p:spPr>
          <a:xfrm>
            <a:off x="951120" y="388620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Release, rollback/plano, segurança básica, logs, métricas e governança de IA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Rounded Rectangle 50"/>
          <p:cNvSpPr/>
          <p:nvPr/>
        </p:nvSpPr>
        <p:spPr>
          <a:xfrm>
            <a:off x="4480560" y="3264480"/>
            <a:ext cx="3400920" cy="1306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" name="Rectangle 51"/>
          <p:cNvSpPr/>
          <p:nvPr/>
        </p:nvSpPr>
        <p:spPr>
          <a:xfrm>
            <a:off x="4480560" y="3264480"/>
            <a:ext cx="72360" cy="13068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0" name="TextBox 52"/>
          <p:cNvSpPr/>
          <p:nvPr/>
        </p:nvSpPr>
        <p:spPr>
          <a:xfrm>
            <a:off x="4681800" y="3429000"/>
            <a:ext cx="7765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e7d32"/>
                </a:solidFill>
                <a:latin typeface="Aptos"/>
              </a:rPr>
              <a:t>10%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53"/>
          <p:cNvSpPr/>
          <p:nvPr/>
        </p:nvSpPr>
        <p:spPr>
          <a:xfrm>
            <a:off x="5440680" y="3429000"/>
            <a:ext cx="2148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Diagnóstico DevOps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Box 54"/>
          <p:cNvSpPr/>
          <p:nvPr/>
        </p:nvSpPr>
        <p:spPr>
          <a:xfrm>
            <a:off x="4681800" y="388620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Gargalos, riscos, oportunidades de IA e proposta de evolução da automação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Rounded Rectangle 55"/>
          <p:cNvSpPr/>
          <p:nvPr/>
        </p:nvSpPr>
        <p:spPr>
          <a:xfrm>
            <a:off x="8211240" y="3264480"/>
            <a:ext cx="3400920" cy="1306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Rectangle 56"/>
          <p:cNvSpPr/>
          <p:nvPr/>
        </p:nvSpPr>
        <p:spPr>
          <a:xfrm>
            <a:off x="8211240" y="3264480"/>
            <a:ext cx="72360" cy="130680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" name="TextBox 57"/>
          <p:cNvSpPr/>
          <p:nvPr/>
        </p:nvSpPr>
        <p:spPr>
          <a:xfrm>
            <a:off x="8412480" y="3429000"/>
            <a:ext cx="7765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b73636"/>
                </a:solidFill>
                <a:latin typeface="Aptos"/>
              </a:rPr>
              <a:t>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Box 58"/>
          <p:cNvSpPr/>
          <p:nvPr/>
        </p:nvSpPr>
        <p:spPr>
          <a:xfrm>
            <a:off x="9171360" y="3429000"/>
            <a:ext cx="2148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Apresentação final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59"/>
          <p:cNvSpPr/>
          <p:nvPr/>
        </p:nvSpPr>
        <p:spPr>
          <a:xfrm>
            <a:off x="8412480" y="388620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Defesa técnica das decisões, uso de IA, tradeoffs e próximos passos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60"/>
          <p:cNvSpPr/>
          <p:nvPr/>
        </p:nvSpPr>
        <p:spPr>
          <a:xfrm>
            <a:off x="749880" y="5230440"/>
            <a:ext cx="10606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Leitura da rubrica: a IA pode apoiar o trabalho, mas a nota depende de evidências executáveis, validação humana, testes e decisões técnicas defendidas.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" name="Picture 61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300" name="Picture 62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2263f"/>
                </a:solidFill>
                <a:latin typeface="Aptos"/>
              </a:rPr>
              <a:t>IA Aplicada ao SDLC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2"/>
          <p:cNvSpPr/>
          <p:nvPr/>
        </p:nvSpPr>
        <p:spPr>
          <a:xfrm>
            <a:off x="621720" y="841320"/>
            <a:ext cx="97833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Aptos"/>
              </a:rPr>
              <a:t>Onde usar durante o fluxo DevOps sem perder rigor técnico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4"/>
          <p:cNvSpPr/>
          <p:nvPr/>
        </p:nvSpPr>
        <p:spPr>
          <a:xfrm>
            <a:off x="1298520" y="6446520"/>
            <a:ext cx="5878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5"/>
          <p:cNvSpPr/>
          <p:nvPr/>
        </p:nvSpPr>
        <p:spPr>
          <a:xfrm>
            <a:off x="11201400" y="6446520"/>
            <a:ext cx="502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10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"/>
          <p:cNvSpPr/>
          <p:nvPr/>
        </p:nvSpPr>
        <p:spPr>
          <a:xfrm>
            <a:off x="685800" y="1508760"/>
            <a:ext cx="3245400" cy="150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" name="Rectangle 7"/>
          <p:cNvSpPr/>
          <p:nvPr/>
        </p:nvSpPr>
        <p:spPr>
          <a:xfrm>
            <a:off x="685800" y="1508760"/>
            <a:ext cx="63360" cy="15080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8" name="TextBox 8"/>
          <p:cNvSpPr/>
          <p:nvPr/>
        </p:nvSpPr>
        <p:spPr>
          <a:xfrm>
            <a:off x="850320" y="1618560"/>
            <a:ext cx="297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Planejar e entender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9"/>
          <p:cNvSpPr/>
          <p:nvPr/>
        </p:nvSpPr>
        <p:spPr>
          <a:xfrm>
            <a:off x="850320" y="1984320"/>
            <a:ext cx="2925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Refinar histórias e critérios de aceite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Resumir contexto técnico do repositório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Mapear riscos, dependências e premissas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Rounded Rectangle 10"/>
          <p:cNvSpPr/>
          <p:nvPr/>
        </p:nvSpPr>
        <p:spPr>
          <a:xfrm>
            <a:off x="4251960" y="1508760"/>
            <a:ext cx="3245400" cy="150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Rectangle 11"/>
          <p:cNvSpPr/>
          <p:nvPr/>
        </p:nvSpPr>
        <p:spPr>
          <a:xfrm>
            <a:off x="4251960" y="1508760"/>
            <a:ext cx="63360" cy="150804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" name="TextBox 12"/>
          <p:cNvSpPr/>
          <p:nvPr/>
        </p:nvSpPr>
        <p:spPr>
          <a:xfrm>
            <a:off x="4416480" y="1618560"/>
            <a:ext cx="297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Codificar e refatorar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13"/>
          <p:cNvSpPr/>
          <p:nvPr/>
        </p:nvSpPr>
        <p:spPr>
          <a:xfrm>
            <a:off x="4416480" y="1984320"/>
            <a:ext cx="2925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Sugerir implementação incremental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código legado ou desconhecido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Propor refatoração pequena e revisável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Rounded Rectangle 14"/>
          <p:cNvSpPr/>
          <p:nvPr/>
        </p:nvSpPr>
        <p:spPr>
          <a:xfrm>
            <a:off x="7818120" y="1508760"/>
            <a:ext cx="3245400" cy="150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Rectangle 15"/>
          <p:cNvSpPr/>
          <p:nvPr/>
        </p:nvSpPr>
        <p:spPr>
          <a:xfrm>
            <a:off x="7818120" y="1508760"/>
            <a:ext cx="63360" cy="150804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6" name="TextBox 16"/>
          <p:cNvSpPr/>
          <p:nvPr/>
        </p:nvSpPr>
        <p:spPr>
          <a:xfrm>
            <a:off x="7982640" y="1618560"/>
            <a:ext cx="297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Testar e revisar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Box 17"/>
          <p:cNvSpPr/>
          <p:nvPr/>
        </p:nvSpPr>
        <p:spPr>
          <a:xfrm>
            <a:off x="7982640" y="1984320"/>
            <a:ext cx="2925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Gerar casos de teste e dados de borda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Revisar diff/PR com checklist explícito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Conferir cobertura, legibilidade e regressão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Rounded Rectangle 18"/>
          <p:cNvSpPr/>
          <p:nvPr/>
        </p:nvSpPr>
        <p:spPr>
          <a:xfrm>
            <a:off x="685800" y="3337560"/>
            <a:ext cx="3245400" cy="150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9" name="Rectangle 19"/>
          <p:cNvSpPr/>
          <p:nvPr/>
        </p:nvSpPr>
        <p:spPr>
          <a:xfrm>
            <a:off x="685800" y="3337560"/>
            <a:ext cx="63360" cy="1508040"/>
          </a:xfrm>
          <a:prstGeom prst="rect">
            <a:avLst/>
          </a:prstGeom>
          <a:solidFill>
            <a:srgbClr val="ea580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0" name="TextBox 20"/>
          <p:cNvSpPr/>
          <p:nvPr/>
        </p:nvSpPr>
        <p:spPr>
          <a:xfrm>
            <a:off x="850320" y="3447360"/>
            <a:ext cx="297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Automatizar pipeline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21"/>
          <p:cNvSpPr/>
          <p:nvPr/>
        </p:nvSpPr>
        <p:spPr>
          <a:xfrm>
            <a:off x="850320" y="3813120"/>
            <a:ext cx="2925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YAML de CI/CD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Sugerir correção para falha de job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Documentar etapas e variáveis necessárias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Rounded Rectangle 22"/>
          <p:cNvSpPr/>
          <p:nvPr/>
        </p:nvSpPr>
        <p:spPr>
          <a:xfrm>
            <a:off x="4251960" y="3337560"/>
            <a:ext cx="3245400" cy="150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" name="Rectangle 23"/>
          <p:cNvSpPr/>
          <p:nvPr/>
        </p:nvSpPr>
        <p:spPr>
          <a:xfrm>
            <a:off x="4251960" y="3337560"/>
            <a:ext cx="63360" cy="150804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4" name="TextBox 24"/>
          <p:cNvSpPr/>
          <p:nvPr/>
        </p:nvSpPr>
        <p:spPr>
          <a:xfrm>
            <a:off x="4416480" y="3447360"/>
            <a:ext cx="297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Operar e observar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25"/>
          <p:cNvSpPr/>
          <p:nvPr/>
        </p:nvSpPr>
        <p:spPr>
          <a:xfrm>
            <a:off x="4416480" y="3813120"/>
            <a:ext cx="2925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Sumarizar logs e levantar hipóteses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Relacionar métrica, erro e deploy recente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Gerar runbook inicial para incidentes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26"/>
          <p:cNvSpPr/>
          <p:nvPr/>
        </p:nvSpPr>
        <p:spPr>
          <a:xfrm>
            <a:off x="7818120" y="3337560"/>
            <a:ext cx="3245400" cy="15080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7" name="Rectangle 27"/>
          <p:cNvSpPr/>
          <p:nvPr/>
        </p:nvSpPr>
        <p:spPr>
          <a:xfrm>
            <a:off x="7818120" y="3337560"/>
            <a:ext cx="63360" cy="150804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8" name="TextBox 28"/>
          <p:cNvSpPr/>
          <p:nvPr/>
        </p:nvSpPr>
        <p:spPr>
          <a:xfrm>
            <a:off x="7982640" y="3447360"/>
            <a:ext cx="2971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Documentar decisão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Box 29"/>
          <p:cNvSpPr/>
          <p:nvPr/>
        </p:nvSpPr>
        <p:spPr>
          <a:xfrm>
            <a:off x="7982640" y="3813120"/>
            <a:ext cx="2925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Produzir README e release notes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Registrar prompts, saídas e validações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o que foi aceito, rejeitado e por quê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0" name="Picture 30" descr="ic_lightbulb.png"/>
          <p:cNvPicPr/>
          <p:nvPr/>
        </p:nvPicPr>
        <p:blipFill>
          <a:blip r:embed="rId1"/>
          <a:stretch/>
        </p:blipFill>
        <p:spPr>
          <a:xfrm>
            <a:off x="3429000" y="162756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331" name="Picture 31" descr="ic_code.png"/>
          <p:cNvPicPr/>
          <p:nvPr/>
        </p:nvPicPr>
        <p:blipFill>
          <a:blip r:embed="rId2"/>
          <a:stretch/>
        </p:blipFill>
        <p:spPr>
          <a:xfrm>
            <a:off x="6995160" y="162756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332" name="Picture 32" descr="ic_check.png"/>
          <p:cNvPicPr/>
          <p:nvPr/>
        </p:nvPicPr>
        <p:blipFill>
          <a:blip r:embed="rId3"/>
          <a:stretch/>
        </p:blipFill>
        <p:spPr>
          <a:xfrm>
            <a:off x="10561320" y="162756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333" name="Picture 33" descr="ic_gear.png"/>
          <p:cNvPicPr/>
          <p:nvPr/>
        </p:nvPicPr>
        <p:blipFill>
          <a:blip r:embed="rId4"/>
          <a:stretch/>
        </p:blipFill>
        <p:spPr>
          <a:xfrm>
            <a:off x="3429000" y="345636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334" name="Picture 34" descr="ic_eye.png"/>
          <p:cNvPicPr/>
          <p:nvPr/>
        </p:nvPicPr>
        <p:blipFill>
          <a:blip r:embed="rId5"/>
          <a:stretch/>
        </p:blipFill>
        <p:spPr>
          <a:xfrm>
            <a:off x="6995160" y="345636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335" name="Picture 35" descr="ic_document.png"/>
          <p:cNvPicPr/>
          <p:nvPr/>
        </p:nvPicPr>
        <p:blipFill>
          <a:blip r:embed="rId6"/>
          <a:stretch/>
        </p:blipFill>
        <p:spPr>
          <a:xfrm>
            <a:off x="10561320" y="3456360"/>
            <a:ext cx="346680" cy="346680"/>
          </a:xfrm>
          <a:prstGeom prst="rect">
            <a:avLst/>
          </a:prstGeom>
          <a:ln w="0">
            <a:noFill/>
          </a:ln>
        </p:spPr>
      </p:pic>
      <p:pic>
        <p:nvPicPr>
          <p:cNvPr id="336" name="Picture 36" descr="Logo Unifor.png"/>
          <p:cNvPicPr/>
          <p:nvPr/>
        </p:nvPicPr>
        <p:blipFill>
          <a:blip r:embed="rId7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337" name="Picture 37" descr="Logo Unifor Pos.png"/>
          <p:cNvPicPr/>
          <p:nvPr/>
        </p:nvPicPr>
        <p:blipFill>
          <a:blip r:embed="rId8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2263f"/>
                </a:solidFill>
                <a:latin typeface="Aptos"/>
              </a:rPr>
              <a:t>Uso Seguro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2"/>
          <p:cNvSpPr/>
          <p:nvPr/>
        </p:nvSpPr>
        <p:spPr>
          <a:xfrm>
            <a:off x="621720" y="841320"/>
            <a:ext cx="97833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Aptos"/>
              </a:rPr>
              <a:t>Regras práticas para laboratório, projeto e avaliação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" name="TextBox 4"/>
          <p:cNvSpPr/>
          <p:nvPr/>
        </p:nvSpPr>
        <p:spPr>
          <a:xfrm>
            <a:off x="1298520" y="6446520"/>
            <a:ext cx="5878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5"/>
          <p:cNvSpPr/>
          <p:nvPr/>
        </p:nvSpPr>
        <p:spPr>
          <a:xfrm>
            <a:off x="11201400" y="6446520"/>
            <a:ext cx="502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11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ounded Rectangle 6"/>
          <p:cNvSpPr/>
          <p:nvPr/>
        </p:nvSpPr>
        <p:spPr>
          <a:xfrm>
            <a:off x="685800" y="1508760"/>
            <a:ext cx="4891320" cy="15994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" name="Rectangle 7"/>
          <p:cNvSpPr/>
          <p:nvPr/>
        </p:nvSpPr>
        <p:spPr>
          <a:xfrm>
            <a:off x="685800" y="1508760"/>
            <a:ext cx="63360" cy="15994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" name="TextBox 8"/>
          <p:cNvSpPr/>
          <p:nvPr/>
        </p:nvSpPr>
        <p:spPr>
          <a:xfrm>
            <a:off x="850320" y="1618560"/>
            <a:ext cx="4617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Antes de perguntar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9"/>
          <p:cNvSpPr/>
          <p:nvPr/>
        </p:nvSpPr>
        <p:spPr>
          <a:xfrm>
            <a:off x="850320" y="1984320"/>
            <a:ext cx="45712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Não enviar segredos, tokens, chaves, dados pessoais ou código sensível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Fornecer contexto mínimo: objetivo, stack, erro, restrições e trecho relevante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Pedir plano curto ou hipóteses antes de aceitar código pronto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Rounded Rectangle 10"/>
          <p:cNvSpPr/>
          <p:nvPr/>
        </p:nvSpPr>
        <p:spPr>
          <a:xfrm>
            <a:off x="5989320" y="1508760"/>
            <a:ext cx="4891320" cy="15994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8" name="Rectangle 11"/>
          <p:cNvSpPr/>
          <p:nvPr/>
        </p:nvSpPr>
        <p:spPr>
          <a:xfrm>
            <a:off x="5989320" y="1508760"/>
            <a:ext cx="63360" cy="1599480"/>
          </a:xfrm>
          <a:prstGeom prst="rect">
            <a:avLst/>
          </a:prstGeom>
          <a:solidFill>
            <a:srgbClr val="ea580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6153840" y="1618560"/>
            <a:ext cx="4617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Durante 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13"/>
          <p:cNvSpPr/>
          <p:nvPr/>
        </p:nvSpPr>
        <p:spPr>
          <a:xfrm>
            <a:off x="6153840" y="1984320"/>
            <a:ext cx="45712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Checar se a solução respeita arquitetura, dependências e padrões do projeto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Tratar saída da IA como sugestão, não como fonte de verdade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Investigar alucinações, comandos perigosos e permissões excessivas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Rounded Rectangle 14"/>
          <p:cNvSpPr/>
          <p:nvPr/>
        </p:nvSpPr>
        <p:spPr>
          <a:xfrm>
            <a:off x="685800" y="3493080"/>
            <a:ext cx="4891320" cy="15994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" name="Rectangle 15"/>
          <p:cNvSpPr/>
          <p:nvPr/>
        </p:nvSpPr>
        <p:spPr>
          <a:xfrm>
            <a:off x="685800" y="3493080"/>
            <a:ext cx="63360" cy="159948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3" name="TextBox 16"/>
          <p:cNvSpPr/>
          <p:nvPr/>
        </p:nvSpPr>
        <p:spPr>
          <a:xfrm>
            <a:off x="850320" y="3602880"/>
            <a:ext cx="4617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Depois de aplicar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Box 17"/>
          <p:cNvSpPr/>
          <p:nvPr/>
        </p:nvSpPr>
        <p:spPr>
          <a:xfrm>
            <a:off x="850320" y="3968640"/>
            <a:ext cx="45712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Rodar testes, lint, build e validação manual relevante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Revisar segurança: segredos, entrada de usuário, dependências e logs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Manter diff pequeno para facilitar revisão humana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Rounded Rectangle 18"/>
          <p:cNvSpPr/>
          <p:nvPr/>
        </p:nvSpPr>
        <p:spPr>
          <a:xfrm>
            <a:off x="5989320" y="3493080"/>
            <a:ext cx="4891320" cy="15994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" name="Rectangle 19"/>
          <p:cNvSpPr/>
          <p:nvPr/>
        </p:nvSpPr>
        <p:spPr>
          <a:xfrm>
            <a:off x="5989320" y="3493080"/>
            <a:ext cx="63360" cy="159948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7" name="TextBox 20"/>
          <p:cNvSpPr/>
          <p:nvPr/>
        </p:nvSpPr>
        <p:spPr>
          <a:xfrm>
            <a:off x="6153840" y="3602880"/>
            <a:ext cx="4617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Evidência para avaliação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21"/>
          <p:cNvSpPr/>
          <p:nvPr/>
        </p:nvSpPr>
        <p:spPr>
          <a:xfrm>
            <a:off x="6153840" y="3968640"/>
            <a:ext cx="45712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Registrar prompt/contexto, saída útil, alterações aceitas e descartadas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Explicar validações feitas e correções humanas realizadas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Citar limites, riscos e próximos passos quando a IA foi usada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9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360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Aprofundamento em Segurança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Leitura complementar disponível nos materiais do EAD desta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6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365" name="Picture 5" descr="nist_cover.png"/>
          <p:cNvPicPr/>
          <p:nvPr/>
        </p:nvPicPr>
        <p:blipFill>
          <a:blip r:embed="rId2"/>
          <a:stretch/>
        </p:blipFill>
        <p:spPr>
          <a:xfrm>
            <a:off x="2345400" y="1691640"/>
            <a:ext cx="1801080" cy="233100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66" name="TextBox 6"/>
          <p:cNvSpPr/>
          <p:nvPr/>
        </p:nvSpPr>
        <p:spPr>
          <a:xfrm>
            <a:off x="1828800" y="4114800"/>
            <a:ext cx="2833920" cy="61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NIST AI RMF 1.0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e6c7a"/>
                </a:solidFill>
                <a:latin typeface="Aptos"/>
              </a:rPr>
              <a:t>Artificial Intelligence Risk Management Framework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7"/>
          <p:cNvSpPr/>
          <p:nvPr/>
        </p:nvSpPr>
        <p:spPr>
          <a:xfrm>
            <a:off x="914400" y="4645080"/>
            <a:ext cx="466272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Framework de referência para gerenciar riscos de sistemas de IA.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Base para pensar governança, confiabilidade e uso responsável no projeto integrador.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8" name="Picture 8" descr="owasp_cover.png"/>
          <p:cNvPicPr/>
          <p:nvPr/>
        </p:nvPicPr>
        <p:blipFill>
          <a:blip r:embed="rId3"/>
          <a:stretch/>
        </p:blipFill>
        <p:spPr>
          <a:xfrm>
            <a:off x="7420320" y="1691640"/>
            <a:ext cx="1801080" cy="233100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69" name="TextBox 9"/>
          <p:cNvSpPr/>
          <p:nvPr/>
        </p:nvSpPr>
        <p:spPr>
          <a:xfrm>
            <a:off x="6903720" y="4114800"/>
            <a:ext cx="2833920" cy="66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OWASP Top 10 for LLM Applications 2026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e6c7a"/>
                </a:solidFill>
                <a:latin typeface="Aptos"/>
              </a:rPr>
              <a:t>OWASP GenAI Security Project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10"/>
          <p:cNvSpPr/>
          <p:nvPr/>
        </p:nvSpPr>
        <p:spPr>
          <a:xfrm>
            <a:off x="5989320" y="4645080"/>
            <a:ext cx="466272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Os 10 riscos mais críticos em aplicações que usam LLM.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Referência direta para prompt injection, vazamento de dados e alucinação.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11"/>
          <p:cNvSpPr/>
          <p:nvPr/>
        </p:nvSpPr>
        <p:spPr>
          <a:xfrm>
            <a:off x="685800" y="5989320"/>
            <a:ext cx="10606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5e6c7a"/>
                </a:solidFill>
                <a:latin typeface="Aptos"/>
              </a:rPr>
              <a:t>Disponível na área de materiais de apoio do EAD — leitura recomendada antes do Encontro 5.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2" name="Picture 12" descr="Logo Unifor.png"/>
          <p:cNvPicPr/>
          <p:nvPr/>
        </p:nvPicPr>
        <p:blipFill>
          <a:blip r:embed="rId4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373" name="TextBox 13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14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Box 1"/>
          <p:cNvSpPr/>
          <p:nvPr/>
        </p:nvSpPr>
        <p:spPr>
          <a:xfrm>
            <a:off x="565200" y="360000"/>
            <a:ext cx="987480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DORA </a:t>
            </a: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2026: O Que os Dados Dizem Sobre IA em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Box 2"/>
          <p:cNvSpPr/>
          <p:nvPr/>
        </p:nvSpPr>
        <p:spPr>
          <a:xfrm>
            <a:off x="591840" y="261504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Antes de usar IA em DevOps, veja o que a pesquisa mais citada da área já mediu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Rectangle 3"/>
          <p:cNvSpPr/>
          <p:nvPr/>
        </p:nvSpPr>
        <p:spPr>
          <a:xfrm>
            <a:off x="618120" y="3015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7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379" name="Rounded Rectangle 5"/>
          <p:cNvSpPr/>
          <p:nvPr/>
        </p:nvSpPr>
        <p:spPr>
          <a:xfrm>
            <a:off x="591840" y="3404880"/>
            <a:ext cx="52801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Rectangle 6"/>
          <p:cNvSpPr/>
          <p:nvPr/>
        </p:nvSpPr>
        <p:spPr>
          <a:xfrm>
            <a:off x="591840" y="340488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7"/>
          <p:cNvSpPr/>
          <p:nvPr/>
        </p:nvSpPr>
        <p:spPr>
          <a:xfrm>
            <a:off x="756360" y="353304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Adoção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8"/>
          <p:cNvSpPr/>
          <p:nvPr/>
        </p:nvSpPr>
        <p:spPr>
          <a:xfrm>
            <a:off x="756360" y="3889440"/>
            <a:ext cx="4987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90% dos profissionais de tecnologia já usam IA no trabalho.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de 80% relatam ganho de produtividade individual.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Rounded Rectangle 9"/>
          <p:cNvSpPr/>
          <p:nvPr/>
        </p:nvSpPr>
        <p:spPr>
          <a:xfrm>
            <a:off x="6147000" y="3404880"/>
            <a:ext cx="52801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4" name="Rectangle 10"/>
          <p:cNvSpPr/>
          <p:nvPr/>
        </p:nvSpPr>
        <p:spPr>
          <a:xfrm>
            <a:off x="6147000" y="3404880"/>
            <a:ext cx="72360" cy="1361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5" name="TextBox 11"/>
          <p:cNvSpPr/>
          <p:nvPr/>
        </p:nvSpPr>
        <p:spPr>
          <a:xfrm>
            <a:off x="6311520" y="353304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Efeito colateral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12"/>
          <p:cNvSpPr/>
          <p:nvPr/>
        </p:nvSpPr>
        <p:spPr>
          <a:xfrm>
            <a:off x="6311520" y="3889440"/>
            <a:ext cx="4987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cada 25% de aumento na adoção de IA, throughput de entrega cai 1,5%.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Estabilidade de entrega cai 7,2% no mesmo cenário.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13"/>
          <p:cNvSpPr/>
          <p:nvPr/>
        </p:nvSpPr>
        <p:spPr>
          <a:xfrm>
            <a:off x="591840" y="4932000"/>
            <a:ext cx="52801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8" name="Rectangle 14"/>
          <p:cNvSpPr/>
          <p:nvPr/>
        </p:nvSpPr>
        <p:spPr>
          <a:xfrm>
            <a:off x="591840" y="493200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9" name="TextBox 15"/>
          <p:cNvSpPr/>
          <p:nvPr/>
        </p:nvSpPr>
        <p:spPr>
          <a:xfrm>
            <a:off x="756360" y="505980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Paradoxo da produtividade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16"/>
          <p:cNvSpPr/>
          <p:nvPr/>
        </p:nvSpPr>
        <p:spPr>
          <a:xfrm>
            <a:off x="756360" y="5416560"/>
            <a:ext cx="4987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Incidentes por Pull Request subiram 242,7%.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tempo economizado na criação de código é realocado para auditoria e verificação.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ounded Rectangle 17"/>
          <p:cNvSpPr/>
          <p:nvPr/>
        </p:nvSpPr>
        <p:spPr>
          <a:xfrm>
            <a:off x="6147000" y="4932000"/>
            <a:ext cx="52801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Rectangle 18"/>
          <p:cNvSpPr/>
          <p:nvPr/>
        </p:nvSpPr>
        <p:spPr>
          <a:xfrm>
            <a:off x="6147000" y="4932000"/>
            <a:ext cx="72360" cy="11880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TextBox 19"/>
          <p:cNvSpPr/>
          <p:nvPr/>
        </p:nvSpPr>
        <p:spPr>
          <a:xfrm>
            <a:off x="6311520" y="505980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Conclusão do DORA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20"/>
          <p:cNvSpPr/>
          <p:nvPr/>
        </p:nvSpPr>
        <p:spPr>
          <a:xfrm>
            <a:off x="6311520" y="5416560"/>
            <a:ext cx="4987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é um amplificador, não substituto de boa engenharia.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Só expande capacidade em times com testes sólidos, PRs pequenos e fluxo saudável.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5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396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"/>
          <p:cNvSpPr/>
          <p:nvPr/>
        </p:nvSpPr>
        <p:spPr>
          <a:xfrm>
            <a:off x="659880" y="1080000"/>
            <a:ext cx="10680120" cy="12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4ea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9" name="Rectangle 1"/>
          <p:cNvSpPr/>
          <p:nvPr/>
        </p:nvSpPr>
        <p:spPr>
          <a:xfrm>
            <a:off x="659880" y="1080000"/>
            <a:ext cx="72360" cy="1361880"/>
          </a:xfrm>
          <a:prstGeom prst="rect">
            <a:avLst/>
          </a:prstGeom>
          <a:solidFill>
            <a:srgbClr val="81d4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0" name="TextBox 36"/>
          <p:cNvSpPr/>
          <p:nvPr/>
        </p:nvSpPr>
        <p:spPr>
          <a:xfrm>
            <a:off x="824400" y="120816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DORA (DevOps Research and Assessment)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40"/>
          <p:cNvSpPr/>
          <p:nvPr/>
        </p:nvSpPr>
        <p:spPr>
          <a:xfrm>
            <a:off x="824400" y="1564560"/>
            <a:ext cx="10155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Programa de pesquisa do Google Cloud que estuda o desempenho de equipes de engenharia de software e identifica as práticas capazes de impulsionar a entrega e as operações de tecnologia.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extBox 1"/>
          <p:cNvSpPr/>
          <p:nvPr/>
        </p:nvSpPr>
        <p:spPr>
          <a:xfrm>
            <a:off x="777240" y="2286000"/>
            <a:ext cx="106063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1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2"/>
          <p:cNvSpPr/>
          <p:nvPr/>
        </p:nvSpPr>
        <p:spPr>
          <a:xfrm>
            <a:off x="1920240" y="3090600"/>
            <a:ext cx="8320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10/09/2026 | Cultura DevOps, IA no SDLC e diagnóstico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3"/>
          <p:cNvSpPr/>
          <p:nvPr/>
        </p:nvSpPr>
        <p:spPr>
          <a:xfrm>
            <a:off x="5532120" y="626364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14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05" name="Picture 4" descr="e1_magnifier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400" cy="959400"/>
          </a:xfrm>
          <a:prstGeom prst="rect">
            <a:avLst/>
          </a:prstGeom>
          <a:ln w="0">
            <a:noFill/>
          </a:ln>
        </p:spPr>
      </p:pic>
      <p:pic>
        <p:nvPicPr>
          <p:cNvPr id="406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1 - Cultura e Diagnóstico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Base: cultura DevOps + diagnóstico de maturidade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0" name="Rounded Rectangle 4"/>
          <p:cNvSpPr/>
          <p:nvPr/>
        </p:nvSpPr>
        <p:spPr>
          <a:xfrm>
            <a:off x="68580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1" name="Rectangle 5"/>
          <p:cNvSpPr/>
          <p:nvPr/>
        </p:nvSpPr>
        <p:spPr>
          <a:xfrm>
            <a:off x="685800" y="1417320"/>
            <a:ext cx="72360" cy="2010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2" name="TextBox 6"/>
          <p:cNvSpPr/>
          <p:nvPr/>
        </p:nvSpPr>
        <p:spPr>
          <a:xfrm>
            <a:off x="85032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1. Abertura e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7"/>
          <p:cNvSpPr/>
          <p:nvPr/>
        </p:nvSpPr>
        <p:spPr>
          <a:xfrm>
            <a:off x="85032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da disciplina, conhecimentos prévios e projeto integrador.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Papel da IA como apoio, não substituição da engenharia.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Rounded Rectangle 8"/>
          <p:cNvSpPr/>
          <p:nvPr/>
        </p:nvSpPr>
        <p:spPr>
          <a:xfrm>
            <a:off x="438912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5" name="Rectangle 9"/>
          <p:cNvSpPr/>
          <p:nvPr/>
        </p:nvSpPr>
        <p:spPr>
          <a:xfrm>
            <a:off x="4389120" y="1417320"/>
            <a:ext cx="72360" cy="2010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6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2. Cultura e ciclo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11"/>
          <p:cNvSpPr/>
          <p:nvPr/>
        </p:nvSpPr>
        <p:spPr>
          <a:xfrm>
            <a:off x="455364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 x Ops e responsabilidade compartilhada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Plan, Code, Build, Test, Release, Deploy, Operate, Monitor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IA apoia análise, código, testes, operação e feedback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Rounded Rectangle 12"/>
          <p:cNvSpPr/>
          <p:nvPr/>
        </p:nvSpPr>
        <p:spPr>
          <a:xfrm>
            <a:off x="809244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9" name="Rectangle 13"/>
          <p:cNvSpPr/>
          <p:nvPr/>
        </p:nvSpPr>
        <p:spPr>
          <a:xfrm>
            <a:off x="8092440" y="1417320"/>
            <a:ext cx="72360" cy="20109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0" name="TextBox 14"/>
          <p:cNvSpPr/>
          <p:nvPr/>
        </p:nvSpPr>
        <p:spPr>
          <a:xfrm>
            <a:off x="825696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3.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15"/>
          <p:cNvSpPr/>
          <p:nvPr/>
        </p:nvSpPr>
        <p:spPr>
          <a:xfrm>
            <a:off x="825696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Quick check em grupos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Mapear gargalos e tarefas manuais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Identificar oportunidades e riscos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hipóteses de melhoria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Rounded Rectangle 16"/>
          <p:cNvSpPr/>
          <p:nvPr/>
        </p:nvSpPr>
        <p:spPr>
          <a:xfrm>
            <a:off x="685800" y="3886200"/>
            <a:ext cx="10834920" cy="1233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3" name="Rectangle 17"/>
          <p:cNvSpPr/>
          <p:nvPr/>
        </p:nvSpPr>
        <p:spPr>
          <a:xfrm>
            <a:off x="685800" y="3886200"/>
            <a:ext cx="72360" cy="12337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TextBox 18"/>
          <p:cNvSpPr/>
          <p:nvPr/>
        </p:nvSpPr>
        <p:spPr>
          <a:xfrm>
            <a:off x="850320" y="4014360"/>
            <a:ext cx="1054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Box 19"/>
          <p:cNvSpPr/>
          <p:nvPr/>
        </p:nvSpPr>
        <p:spPr>
          <a:xfrm>
            <a:off x="850320" y="4389120"/>
            <a:ext cx="10542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Documento curto: diagnóstico DevOps + uma proposta priorizada, incluindo oportunidade de IA e validação necessária quando fizer sentido.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8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429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Conceitos Essenciais -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sustenta a prática do encontro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3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434" name="Rounded Rectangle 5"/>
          <p:cNvSpPr/>
          <p:nvPr/>
        </p:nvSpPr>
        <p:spPr>
          <a:xfrm>
            <a:off x="731520" y="1417320"/>
            <a:ext cx="2075040" cy="4562680"/>
          </a:xfrm>
          <a:prstGeom prst="roundRect">
            <a:avLst>
              <a:gd name="adj" fmla="val 12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5" name="TextBox 6"/>
          <p:cNvSpPr/>
          <p:nvPr/>
        </p:nvSpPr>
        <p:spPr>
          <a:xfrm>
            <a:off x="685800" y="1490400"/>
            <a:ext cx="216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7"/>
          <p:cNvSpPr/>
          <p:nvPr/>
        </p:nvSpPr>
        <p:spPr>
          <a:xfrm>
            <a:off x="731520" y="1929240"/>
            <a:ext cx="2075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Cultura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Rounded Rectangle 8"/>
          <p:cNvSpPr/>
          <p:nvPr/>
        </p:nvSpPr>
        <p:spPr>
          <a:xfrm>
            <a:off x="2898720" y="1417320"/>
            <a:ext cx="2075040" cy="4562680"/>
          </a:xfrm>
          <a:prstGeom prst="roundRect">
            <a:avLst>
              <a:gd name="adj" fmla="val 12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8" name="TextBox 9"/>
          <p:cNvSpPr/>
          <p:nvPr/>
        </p:nvSpPr>
        <p:spPr>
          <a:xfrm>
            <a:off x="2853000" y="1490400"/>
            <a:ext cx="216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10"/>
          <p:cNvSpPr/>
          <p:nvPr/>
        </p:nvSpPr>
        <p:spPr>
          <a:xfrm>
            <a:off x="2898720" y="1929240"/>
            <a:ext cx="2075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Automação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Rounded Rectangle 11"/>
          <p:cNvSpPr/>
          <p:nvPr/>
        </p:nvSpPr>
        <p:spPr>
          <a:xfrm>
            <a:off x="5065920" y="1417320"/>
            <a:ext cx="2075040" cy="4562680"/>
          </a:xfrm>
          <a:prstGeom prst="roundRect">
            <a:avLst>
              <a:gd name="adj" fmla="val 12000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1" name="TextBox 12"/>
          <p:cNvSpPr/>
          <p:nvPr/>
        </p:nvSpPr>
        <p:spPr>
          <a:xfrm>
            <a:off x="5020200" y="1490400"/>
            <a:ext cx="216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L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13"/>
          <p:cNvSpPr/>
          <p:nvPr/>
        </p:nvSpPr>
        <p:spPr>
          <a:xfrm>
            <a:off x="5065920" y="1929240"/>
            <a:ext cx="2075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Lean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Rounded Rectangle 14"/>
          <p:cNvSpPr/>
          <p:nvPr/>
        </p:nvSpPr>
        <p:spPr>
          <a:xfrm>
            <a:off x="7232760" y="1417320"/>
            <a:ext cx="2075040" cy="4562680"/>
          </a:xfrm>
          <a:prstGeom prst="roundRect">
            <a:avLst>
              <a:gd name="adj" fmla="val 12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15"/>
          <p:cNvSpPr/>
          <p:nvPr/>
        </p:nvSpPr>
        <p:spPr>
          <a:xfrm>
            <a:off x="7187040" y="1490400"/>
            <a:ext cx="216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M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16"/>
          <p:cNvSpPr/>
          <p:nvPr/>
        </p:nvSpPr>
        <p:spPr>
          <a:xfrm>
            <a:off x="7232760" y="1929240"/>
            <a:ext cx="2075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Medição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Rounded Rectangle 17"/>
          <p:cNvSpPr/>
          <p:nvPr/>
        </p:nvSpPr>
        <p:spPr>
          <a:xfrm>
            <a:off x="9399960" y="1417320"/>
            <a:ext cx="2075040" cy="456268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7" name="TextBox 18"/>
          <p:cNvSpPr/>
          <p:nvPr/>
        </p:nvSpPr>
        <p:spPr>
          <a:xfrm>
            <a:off x="9354240" y="1490400"/>
            <a:ext cx="216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19"/>
          <p:cNvSpPr/>
          <p:nvPr/>
        </p:nvSpPr>
        <p:spPr>
          <a:xfrm>
            <a:off x="9399960" y="1929240"/>
            <a:ext cx="2075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Compartilhamento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61" name="Picture 32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462" name="TextBox 33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Box 34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63"/>
          <p:cNvSpPr txBox="1"/>
          <p:nvPr/>
        </p:nvSpPr>
        <p:spPr>
          <a:xfrm>
            <a:off x="777240" y="2232360"/>
            <a:ext cx="1983600" cy="3701920"/>
          </a:xfrm>
          <a:prstGeom prst="rect">
            <a:avLst/>
          </a:prstGeom>
          <a:noFill/>
        </p:spPr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Foco nas pessoas, na colaboração e na responsabilidade compartilhada entre os times.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464"/>
          <p:cNvSpPr txBox="1"/>
          <p:nvPr/>
        </p:nvSpPr>
        <p:spPr>
          <a:xfrm>
            <a:off x="2944440" y="2232360"/>
            <a:ext cx="1983600" cy="3701920"/>
          </a:xfrm>
          <a:prstGeom prst="rect">
            <a:avLst/>
          </a:prstGeom>
          <a:noFill/>
        </p:spPr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Eliminar tarefas manuais repetitivas para evitar erros e acelerar processos.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Box 465"/>
          <p:cNvSpPr txBox="1"/>
          <p:nvPr/>
        </p:nvSpPr>
        <p:spPr>
          <a:xfrm>
            <a:off x="5111640" y="2232360"/>
            <a:ext cx="1983600" cy="3701920"/>
          </a:xfrm>
          <a:prstGeom prst="rect">
            <a:avLst/>
          </a:prstGeom>
          <a:noFill/>
        </p:spPr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princípios enxutos para eliminar desperdícios e focar no que gera valor real para o cliente.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Box 466"/>
          <p:cNvSpPr txBox="1"/>
          <p:nvPr/>
        </p:nvSpPr>
        <p:spPr>
          <a:xfrm>
            <a:off x="7278480" y="2232360"/>
            <a:ext cx="1983600" cy="3701920"/>
          </a:xfrm>
          <a:prstGeom prst="rect">
            <a:avLst/>
          </a:prstGeom>
          <a:noFill/>
        </p:spPr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Coletar dados e métricas (como as métricas DORA) para entender se os processos estão melhorando.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467"/>
          <p:cNvSpPr txBox="1"/>
          <p:nvPr/>
        </p:nvSpPr>
        <p:spPr>
          <a:xfrm>
            <a:off x="9445680" y="2232360"/>
            <a:ext cx="1983600" cy="3701920"/>
          </a:xfrm>
          <a:prstGeom prst="rect">
            <a:avLst/>
          </a:prstGeom>
          <a:noFill/>
        </p:spPr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Dividir conhecimento, sucessos e erros entre toda a organização.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3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DevOps em Uma Frase: Mensagem, Modelos e Métricas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amarrar CALMS ao vocabulário de decisão do dia a dia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33" name="Picture 4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449" name="Rounded Rectangle 20"/>
          <p:cNvSpPr/>
          <p:nvPr/>
        </p:nvSpPr>
        <p:spPr>
          <a:xfrm>
            <a:off x="685800" y="175000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0" name="Rectangle 21"/>
          <p:cNvSpPr/>
          <p:nvPr/>
        </p:nvSpPr>
        <p:spPr>
          <a:xfrm>
            <a:off x="685800" y="175000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1" name="TextBox 22"/>
          <p:cNvSpPr/>
          <p:nvPr/>
        </p:nvSpPr>
        <p:spPr>
          <a:xfrm>
            <a:off x="850320" y="187780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Mensagem central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23"/>
          <p:cNvSpPr/>
          <p:nvPr/>
        </p:nvSpPr>
        <p:spPr>
          <a:xfrm>
            <a:off x="850320" y="223456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DevOps não é uma ferramenta.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É integração entre cultura, processo, automação e medição.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objetivo é reduzir tempo de ciclo sem perder qualidade 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Rounded Rectangle 24"/>
          <p:cNvSpPr/>
          <p:nvPr/>
        </p:nvSpPr>
        <p:spPr>
          <a:xfrm>
            <a:off x="4389120" y="175000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4" name="Rectangle 25"/>
          <p:cNvSpPr/>
          <p:nvPr/>
        </p:nvSpPr>
        <p:spPr>
          <a:xfrm>
            <a:off x="4389120" y="175000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5" name="TextBox 26"/>
          <p:cNvSpPr/>
          <p:nvPr/>
        </p:nvSpPr>
        <p:spPr>
          <a:xfrm>
            <a:off x="4553640" y="187780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Modelos úteis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27"/>
          <p:cNvSpPr/>
          <p:nvPr/>
        </p:nvSpPr>
        <p:spPr>
          <a:xfrm>
            <a:off x="4553640" y="223456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CALMS: cultura, automação, lean, medição e compartilhamento.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Fluxo de valor: do pedido ao software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Feedback rápido: erro descoberto cedo é mais barato.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Rounded Rectangle 28"/>
          <p:cNvSpPr/>
          <p:nvPr/>
        </p:nvSpPr>
        <p:spPr>
          <a:xfrm>
            <a:off x="8092440" y="175000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8" name="Rectangle 29"/>
          <p:cNvSpPr/>
          <p:nvPr/>
        </p:nvSpPr>
        <p:spPr>
          <a:xfrm>
            <a:off x="8092440" y="1750000"/>
            <a:ext cx="72360" cy="20750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9" name="TextBox 30"/>
          <p:cNvSpPr/>
          <p:nvPr/>
        </p:nvSpPr>
        <p:spPr>
          <a:xfrm>
            <a:off x="8256960" y="187780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Métricas para citar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Box 31"/>
          <p:cNvSpPr/>
          <p:nvPr/>
        </p:nvSpPr>
        <p:spPr>
          <a:xfrm>
            <a:off x="8256960" y="223456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Lead time for changes.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Deployment frequency.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Change failure rate.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Mean time to restore.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Use como linguagem de decisão, não como decoração.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61" name="Picture 32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462" name="TextBox 33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Box 34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As 4 Métricas DORA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medir a saúde da entrega de software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6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468" name="Rounded Rectangle 5"/>
          <p:cNvSpPr/>
          <p:nvPr/>
        </p:nvSpPr>
        <p:spPr>
          <a:xfrm>
            <a:off x="685800" y="1508760"/>
            <a:ext cx="52801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9" name="Rectangle 6"/>
          <p:cNvSpPr/>
          <p:nvPr/>
        </p:nvSpPr>
        <p:spPr>
          <a:xfrm>
            <a:off x="685800" y="150876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0" name="TextBox 7"/>
          <p:cNvSpPr/>
          <p:nvPr/>
        </p:nvSpPr>
        <p:spPr>
          <a:xfrm>
            <a:off x="850320" y="163692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Deployment Frequency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Box 8"/>
          <p:cNvSpPr/>
          <p:nvPr/>
        </p:nvSpPr>
        <p:spPr>
          <a:xfrm>
            <a:off x="850320" y="1993320"/>
            <a:ext cx="4987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 que frequência o time entrega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sob demanda, múltiplas vezes ao dia.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Rounded Rectangle 9"/>
          <p:cNvSpPr/>
          <p:nvPr/>
        </p:nvSpPr>
        <p:spPr>
          <a:xfrm>
            <a:off x="6240960" y="1508760"/>
            <a:ext cx="52801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3" name="Rectangle 10"/>
          <p:cNvSpPr/>
          <p:nvPr/>
        </p:nvSpPr>
        <p:spPr>
          <a:xfrm>
            <a:off x="6240960" y="1508760"/>
            <a:ext cx="72360" cy="1361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4" name="TextBox 11"/>
          <p:cNvSpPr/>
          <p:nvPr/>
        </p:nvSpPr>
        <p:spPr>
          <a:xfrm>
            <a:off x="6405480" y="163692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Lead Time for Changes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12"/>
          <p:cNvSpPr/>
          <p:nvPr/>
        </p:nvSpPr>
        <p:spPr>
          <a:xfrm>
            <a:off x="6405480" y="1993320"/>
            <a:ext cx="4987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do commit até rodar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menos de uma hora.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3"/>
          <p:cNvSpPr/>
          <p:nvPr/>
        </p:nvSpPr>
        <p:spPr>
          <a:xfrm>
            <a:off x="685800" y="3035880"/>
            <a:ext cx="52801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7" name="Rectangle 14"/>
          <p:cNvSpPr/>
          <p:nvPr/>
        </p:nvSpPr>
        <p:spPr>
          <a:xfrm>
            <a:off x="685800" y="303588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8" name="TextBox 15"/>
          <p:cNvSpPr/>
          <p:nvPr/>
        </p:nvSpPr>
        <p:spPr>
          <a:xfrm>
            <a:off x="850320" y="316368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Change Failure Rate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Box 16"/>
          <p:cNvSpPr/>
          <p:nvPr/>
        </p:nvSpPr>
        <p:spPr>
          <a:xfrm>
            <a:off x="850320" y="3520440"/>
            <a:ext cx="4987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Percentual de mudanças que causam falha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entre 0% e 15%.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Rounded Rectangle 17"/>
          <p:cNvSpPr/>
          <p:nvPr/>
        </p:nvSpPr>
        <p:spPr>
          <a:xfrm>
            <a:off x="6240960" y="3035880"/>
            <a:ext cx="52801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1" name="Rectangle 18"/>
          <p:cNvSpPr/>
          <p:nvPr/>
        </p:nvSpPr>
        <p:spPr>
          <a:xfrm>
            <a:off x="6240960" y="3035880"/>
            <a:ext cx="72360" cy="11880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TextBox 19"/>
          <p:cNvSpPr/>
          <p:nvPr/>
        </p:nvSpPr>
        <p:spPr>
          <a:xfrm>
            <a:off x="6405480" y="316368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Time to Restore (MTTR)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20"/>
          <p:cNvSpPr/>
          <p:nvPr/>
        </p:nvSpPr>
        <p:spPr>
          <a:xfrm>
            <a:off x="6405480" y="3520440"/>
            <a:ext cx="4987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para recuperar de uma falha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menos de uma hora.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4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485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Por Que o DevOps Surgiu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Origem e contexto do movimento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9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491" name="Rounded Rectangle 5"/>
          <p:cNvSpPr/>
          <p:nvPr/>
        </p:nvSpPr>
        <p:spPr>
          <a:xfrm>
            <a:off x="68580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Rectangle 6"/>
          <p:cNvSpPr/>
          <p:nvPr/>
        </p:nvSpPr>
        <p:spPr>
          <a:xfrm>
            <a:off x="685800" y="1508760"/>
            <a:ext cx="72360" cy="23126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muro da confusão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Box 8"/>
          <p:cNvSpPr/>
          <p:nvPr/>
        </p:nvSpPr>
        <p:spPr>
          <a:xfrm>
            <a:off x="850320" y="1993320"/>
            <a:ext cx="3135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 quer lançar rápido; Ops quer estabilidade — metas em conflito.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Cada lado media sucesso de um jeito diferente e se culpava pelos problemas.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Passagem de bastão sem responsabilidade compartilhada gerava atrito.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ounded Rectangle 9"/>
          <p:cNvSpPr/>
          <p:nvPr/>
        </p:nvSpPr>
        <p:spPr>
          <a:xfrm>
            <a:off x="438912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Rectangle 10"/>
          <p:cNvSpPr/>
          <p:nvPr/>
        </p:nvSpPr>
        <p:spPr>
          <a:xfrm>
            <a:off x="4389120" y="1508760"/>
            <a:ext cx="72360" cy="2312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7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Raízes do movimento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Agile (2001): entrega iterativa e feedback frequente.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Lean: eliminar desperdício, otimizar o fluxo de valor.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Gestão de operações: disciplina de mudança e confiabilidade.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13"/>
          <p:cNvSpPr/>
          <p:nvPr/>
        </p:nvSpPr>
        <p:spPr>
          <a:xfrm>
            <a:off x="809244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0" name="Rectangle 14"/>
          <p:cNvSpPr/>
          <p:nvPr/>
        </p:nvSpPr>
        <p:spPr>
          <a:xfrm>
            <a:off x="8092440" y="1508760"/>
            <a:ext cx="72360" cy="2312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1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Mudança de mentalidade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 “jogar por cima do muro” para “you build it, you run it”.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Responsabilidade compartilhada do código até a operação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504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 Ciclo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loop contínuo de feedback, não uma linha reta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0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510" name="Donut 5"/>
          <p:cNvSpPr/>
          <p:nvPr/>
        </p:nvSpPr>
        <p:spPr>
          <a:xfrm>
            <a:off x="4276080" y="1883520"/>
            <a:ext cx="3638520" cy="3638520"/>
          </a:xfrm>
          <a:prstGeom prst="donut">
            <a:avLst>
              <a:gd name="adj" fmla="val 2500"/>
            </a:avLst>
          </a:prstGeom>
          <a:solidFill>
            <a:srgbClr val="dae0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1" name="TextBox 6"/>
          <p:cNvSpPr/>
          <p:nvPr/>
        </p:nvSpPr>
        <p:spPr>
          <a:xfrm>
            <a:off x="4907160" y="3566160"/>
            <a:ext cx="2376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e6c7a"/>
                </a:solidFill>
                <a:latin typeface="Aptos"/>
              </a:rPr>
              <a:t>ciclo contínuo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Rounded Rectangle 7"/>
          <p:cNvSpPr/>
          <p:nvPr/>
        </p:nvSpPr>
        <p:spPr>
          <a:xfrm>
            <a:off x="5387040" y="166428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Plan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Rounded Rectangle 8"/>
          <p:cNvSpPr/>
          <p:nvPr/>
        </p:nvSpPr>
        <p:spPr>
          <a:xfrm>
            <a:off x="6648120" y="218664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Code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Rounded Rectangle 9"/>
          <p:cNvSpPr/>
          <p:nvPr/>
        </p:nvSpPr>
        <p:spPr>
          <a:xfrm>
            <a:off x="7170120" y="344736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Rounded Rectangle 10"/>
          <p:cNvSpPr/>
          <p:nvPr/>
        </p:nvSpPr>
        <p:spPr>
          <a:xfrm>
            <a:off x="6648120" y="470808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Test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11"/>
          <p:cNvSpPr/>
          <p:nvPr/>
        </p:nvSpPr>
        <p:spPr>
          <a:xfrm>
            <a:off x="5387040" y="523044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Rounded Rectangle 12"/>
          <p:cNvSpPr/>
          <p:nvPr/>
        </p:nvSpPr>
        <p:spPr>
          <a:xfrm>
            <a:off x="4126320" y="470808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Deploy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13"/>
          <p:cNvSpPr/>
          <p:nvPr/>
        </p:nvSpPr>
        <p:spPr>
          <a:xfrm>
            <a:off x="3603960" y="344736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Operate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4"/>
          <p:cNvSpPr/>
          <p:nvPr/>
        </p:nvSpPr>
        <p:spPr>
          <a:xfrm>
            <a:off x="4126320" y="2186640"/>
            <a:ext cx="1416600" cy="511200"/>
          </a:xfrm>
          <a:prstGeom prst="roundRect">
            <a:avLst>
              <a:gd name="adj" fmla="val 16667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Monitor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15"/>
          <p:cNvSpPr/>
          <p:nvPr/>
        </p:nvSpPr>
        <p:spPr>
          <a:xfrm>
            <a:off x="1463040" y="5806440"/>
            <a:ext cx="923472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250" spc="-1" strike="noStrike">
                <a:solidFill>
                  <a:srgbClr val="0f172a"/>
                </a:solidFill>
                <a:latin typeface="Aptos"/>
              </a:rPr>
              <a:t>Monitor alimenta o próximo Plan: feedback rápido é o que fecha o loop e sustenta a melhoria contínua.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1" name="Picture 16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522" name="TextBox 17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TextBox 18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 Ciclo DevOps: Cada Etapa em Detalhe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loop contínuo, não uma linha reta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2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528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9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0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Loop de desenvolvimento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Plan: entender o problema e definir critérios de aceite.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Code: implementar em mudanças pequenas e revisáveis.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Build: compilar, empacotar e testar automaticamente.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3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4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Loop de operação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Release: preparar e aprovar uma versão para entrega.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Deploy: colocar a versão no ambiente de destino.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Operate/Monitor: manter saudável e observar o comportamento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7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8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ponto de conexão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Monitor alimenta o próximo Plan — é um ciclo, não uma linha.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Feedback rápido é o que fecha o loop e sustenta a melhoria contínua.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4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541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Sinais de que um Time Precisa de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Para provocar debate: quais desses sintomas vocês já viveram?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4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547" name="Rounded Rectangle 5"/>
          <p:cNvSpPr/>
          <p:nvPr/>
        </p:nvSpPr>
        <p:spPr>
          <a:xfrm>
            <a:off x="68580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8" name="Rectangle 6"/>
          <p:cNvSpPr/>
          <p:nvPr/>
        </p:nvSpPr>
        <p:spPr>
          <a:xfrm>
            <a:off x="685800" y="1508760"/>
            <a:ext cx="72360" cy="231264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Sintomas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8"/>
          <p:cNvSpPr/>
          <p:nvPr/>
        </p:nvSpPr>
        <p:spPr>
          <a:xfrm>
            <a:off x="850320" y="1993320"/>
            <a:ext cx="3135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Deploys manuais, longos e concentrados em uma pessoa.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Medo de lançar em sexta-feira.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“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Funciona na minha máquina”, mas não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Falta de rastreabilidade: ninguém sabe o que mudou entre versões.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Rounded Rectangle 9"/>
          <p:cNvSpPr/>
          <p:nvPr/>
        </p:nvSpPr>
        <p:spPr>
          <a:xfrm>
            <a:off x="438912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2" name="Rectangle 10"/>
          <p:cNvSpPr/>
          <p:nvPr/>
        </p:nvSpPr>
        <p:spPr>
          <a:xfrm>
            <a:off x="4389120" y="1508760"/>
            <a:ext cx="72360" cy="2312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Custos escondidos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perdido coordenando quem pode mudar o quê e quando.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Bugs descobertos tarde custam muito mais para corrigir.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Burnout de quem sempre “segura” a produção sozinho.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Rounded Rectangle 13"/>
          <p:cNvSpPr/>
          <p:nvPr/>
        </p:nvSpPr>
        <p:spPr>
          <a:xfrm>
            <a:off x="809244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6" name="Rectangle 14"/>
          <p:cNvSpPr/>
          <p:nvPr/>
        </p:nvSpPr>
        <p:spPr>
          <a:xfrm>
            <a:off x="8092440" y="1508760"/>
            <a:ext cx="72360" cy="23126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Quais desses sintomas vocês já viveram — como dev, como usuário ou como cliente?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mudaria se a responsabilidade fosse compartilhada desde o início?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560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IA no SDLC: Onde Ajuda e Onde Exige Cautela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Ganhos reais e riscos reais, lado a lado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6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566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7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8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Ganhos reais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Reduz tempo em tarefas repetitivas: boilerplate, testes, documentação.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Acelera entendimento de código legado e análise de logs.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Ajuda a levantar hipóteses e alternativas técnicas rapidamente.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1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2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Riscos reais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Alucinação de comandos, APIs ou flags que não existem.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intelectual: aceitar sem entender o que foi gerado.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Vazamento de dado sensível quando colado sem cuidado no prompt.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5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6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Regra prática da disciplina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Toda saída de IA é hipótese até ser validada por teste, execução ou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Quem usa precisa conseguir explicar e defender o resultado.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579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1 - Diagnóstico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Transformar conceitos em decisão técnica, em grupo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Rounded Rectangle 4"/>
          <p:cNvSpPr/>
          <p:nvPr/>
        </p:nvSpPr>
        <p:spPr>
          <a:xfrm>
            <a:off x="731520" y="1417320"/>
            <a:ext cx="3428280" cy="1965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5" name="Rectangle 5"/>
          <p:cNvSpPr/>
          <p:nvPr/>
        </p:nvSpPr>
        <p:spPr>
          <a:xfrm>
            <a:off x="731520" y="1417320"/>
            <a:ext cx="72360" cy="1965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6" name="TextBox 6"/>
          <p:cNvSpPr/>
          <p:nvPr/>
        </p:nvSpPr>
        <p:spPr>
          <a:xfrm>
            <a:off x="8960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Box 7"/>
          <p:cNvSpPr/>
          <p:nvPr/>
        </p:nvSpPr>
        <p:spPr>
          <a:xfrm>
            <a:off x="896040" y="1920240"/>
            <a:ext cx="31356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há espera manual?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falta feedback?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falha só aparece tarde?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Quem é dono da operação?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IA reduz esforço sem ocultar risco?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Rounded Rectangle 8"/>
          <p:cNvSpPr/>
          <p:nvPr/>
        </p:nvSpPr>
        <p:spPr>
          <a:xfrm>
            <a:off x="4389120" y="1417320"/>
            <a:ext cx="3428280" cy="1965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9" name="Rectangle 9"/>
          <p:cNvSpPr/>
          <p:nvPr/>
        </p:nvSpPr>
        <p:spPr>
          <a:xfrm>
            <a:off x="4389120" y="1417320"/>
            <a:ext cx="72360" cy="19652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0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11"/>
          <p:cNvSpPr/>
          <p:nvPr/>
        </p:nvSpPr>
        <p:spPr>
          <a:xfrm>
            <a:off x="4553640" y="1920240"/>
            <a:ext cx="31356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Mapa simples do fluxo atual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Lista de gargalos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Risco por gargalo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Oportunidade de IA e validação necessária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Métrica que mostraria melhoria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12"/>
          <p:cNvSpPr/>
          <p:nvPr/>
        </p:nvSpPr>
        <p:spPr>
          <a:xfrm>
            <a:off x="8046720" y="1417320"/>
            <a:ext cx="3428280" cy="1965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3" name="Rectangle 13"/>
          <p:cNvSpPr/>
          <p:nvPr/>
        </p:nvSpPr>
        <p:spPr>
          <a:xfrm>
            <a:off x="8046720" y="1417320"/>
            <a:ext cx="72360" cy="1965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4" name="TextBox 14"/>
          <p:cNvSpPr/>
          <p:nvPr/>
        </p:nvSpPr>
        <p:spPr>
          <a:xfrm>
            <a:off x="82112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15"/>
          <p:cNvSpPr/>
          <p:nvPr/>
        </p:nvSpPr>
        <p:spPr>
          <a:xfrm>
            <a:off x="8211240" y="1920240"/>
            <a:ext cx="31356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1 página por grupo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Priorizar 3 melhorias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Classificar em cultura, processo, ferramenta, dado ou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Rounded Rectangle 16"/>
          <p:cNvSpPr/>
          <p:nvPr/>
        </p:nvSpPr>
        <p:spPr>
          <a:xfrm>
            <a:off x="731520" y="3886200"/>
            <a:ext cx="10743480" cy="1233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7" name="Rectangle 17"/>
          <p:cNvSpPr/>
          <p:nvPr/>
        </p:nvSpPr>
        <p:spPr>
          <a:xfrm>
            <a:off x="731520" y="3886200"/>
            <a:ext cx="72360" cy="12337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8" name="TextBox 18"/>
          <p:cNvSpPr/>
          <p:nvPr/>
        </p:nvSpPr>
        <p:spPr>
          <a:xfrm>
            <a:off x="896040" y="4014360"/>
            <a:ext cx="104508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Box 19"/>
          <p:cNvSpPr/>
          <p:nvPr/>
        </p:nvSpPr>
        <p:spPr>
          <a:xfrm>
            <a:off x="896040" y="4389120"/>
            <a:ext cx="104508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 diagnóstico vira insumo para a proposta de implantação/evolução DevOps do projeto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02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603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Diagnóstico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Sem dados sensíveis no conteúdo do prompt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0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608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760" cy="401760"/>
          </a:xfrm>
          <a:prstGeom prst="rect">
            <a:avLst/>
          </a:prstGeom>
          <a:ln w="0">
            <a:noFill/>
          </a:ln>
        </p:spPr>
      </p:pic>
      <p:sp>
        <p:nvSpPr>
          <p:cNvPr id="609" name="Rounded Rectangle 6"/>
          <p:cNvSpPr/>
          <p:nvPr/>
        </p:nvSpPr>
        <p:spPr>
          <a:xfrm>
            <a:off x="685800" y="1508760"/>
            <a:ext cx="3428280" cy="195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0" name="Rectangle 7"/>
          <p:cNvSpPr/>
          <p:nvPr/>
        </p:nvSpPr>
        <p:spPr>
          <a:xfrm>
            <a:off x="685800" y="1508760"/>
            <a:ext cx="72360" cy="1956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1" name="TextBox 8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Mapear fluxo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Box 9"/>
          <p:cNvSpPr/>
          <p:nvPr/>
        </p:nvSpPr>
        <p:spPr>
          <a:xfrm>
            <a:off x="850320" y="1993320"/>
            <a:ext cx="31356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Atue como consultor DevOps. Com base no fluxo abaixo, identifique gargalos, riscos e pontos de automação.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Fluxo: &lt;descrever sem dados sensíveis&gt;.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Responda em tabela: etapa, gargalo, impacto, evidência, melhoria.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Rounded Rectangle 10"/>
          <p:cNvSpPr/>
          <p:nvPr/>
        </p:nvSpPr>
        <p:spPr>
          <a:xfrm>
            <a:off x="4389120" y="1508760"/>
            <a:ext cx="3428280" cy="195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4" name="Rectangle 11"/>
          <p:cNvSpPr/>
          <p:nvPr/>
        </p:nvSpPr>
        <p:spPr>
          <a:xfrm>
            <a:off x="4389120" y="1508760"/>
            <a:ext cx="72360" cy="1956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5" name="TextBox 12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Criticar melhoria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13"/>
          <p:cNvSpPr/>
          <p:nvPr/>
        </p:nvSpPr>
        <p:spPr>
          <a:xfrm>
            <a:off x="4553640" y="1993320"/>
            <a:ext cx="3135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Avalie esta proposta de melhoria DevOps. Aponte premissas frágeis, riscos operacionais e como medir se funcionou.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Proposta: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ounded Rectangle 14"/>
          <p:cNvSpPr/>
          <p:nvPr/>
        </p:nvSpPr>
        <p:spPr>
          <a:xfrm>
            <a:off x="8092440" y="1508760"/>
            <a:ext cx="3428280" cy="195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8" name="Rectangle 15"/>
          <p:cNvSpPr/>
          <p:nvPr/>
        </p:nvSpPr>
        <p:spPr>
          <a:xfrm>
            <a:off x="8092440" y="1508760"/>
            <a:ext cx="72360" cy="19562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9" name="TextBox 16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Definir métrica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17"/>
          <p:cNvSpPr/>
          <p:nvPr/>
        </p:nvSpPr>
        <p:spPr>
          <a:xfrm>
            <a:off x="8256960" y="1993320"/>
            <a:ext cx="3135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Para o gargalo abaixo, sugira uma métrica simples, como coletar a evidência e qual decisão essa métrica apoiaria.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Gargalo: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1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622" name="TextBox 19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Box 20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1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2: Git e colaboração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2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628" name="Rounded Rectangle 5"/>
          <p:cNvSpPr/>
          <p:nvPr/>
        </p:nvSpPr>
        <p:spPr>
          <a:xfrm>
            <a:off x="685800" y="1508760"/>
            <a:ext cx="108349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9" name="Rectangle 6"/>
          <p:cNvSpPr/>
          <p:nvPr/>
        </p:nvSpPr>
        <p:spPr>
          <a:xfrm>
            <a:off x="685800" y="150876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0" name="TextBox 7"/>
          <p:cNvSpPr/>
          <p:nvPr/>
        </p:nvSpPr>
        <p:spPr>
          <a:xfrm>
            <a:off x="850320" y="163692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8"/>
          <p:cNvSpPr/>
          <p:nvPr/>
        </p:nvSpPr>
        <p:spPr>
          <a:xfrm>
            <a:off x="850320" y="1993320"/>
            <a:ext cx="105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Refinar a proposta de melhoria escolhida.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ou escolher a aplicação base do grupo.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ao próximo encontro: nome do projeto, stack, comandos de execução e principal risco técnico.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2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633" name="TextBox 1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Box 1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TextBox 1"/>
          <p:cNvSpPr/>
          <p:nvPr/>
        </p:nvSpPr>
        <p:spPr>
          <a:xfrm>
            <a:off x="777240" y="2286000"/>
            <a:ext cx="106063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2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Box 2"/>
          <p:cNvSpPr/>
          <p:nvPr/>
        </p:nvSpPr>
        <p:spPr>
          <a:xfrm>
            <a:off x="1920240" y="3090600"/>
            <a:ext cx="8320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11/09/2026 | Git, colaboração, qualidade e IA assistida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Box 3"/>
          <p:cNvSpPr/>
          <p:nvPr/>
        </p:nvSpPr>
        <p:spPr>
          <a:xfrm>
            <a:off x="5532120" y="626364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28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38" name="Picture 4" descr="e2_git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400" cy="959400"/>
          </a:xfrm>
          <a:prstGeom prst="rect">
            <a:avLst/>
          </a:prstGeom>
          <a:ln w="0">
            <a:noFill/>
          </a:ln>
        </p:spPr>
      </p:pic>
      <p:pic>
        <p:nvPicPr>
          <p:cNvPr id="639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2 - Colaboração e Qualidade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Do código individual ao fluxo colaborativo com assistência crítica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3" name="Rounded Rectangle 4"/>
          <p:cNvSpPr/>
          <p:nvPr/>
        </p:nvSpPr>
        <p:spPr>
          <a:xfrm>
            <a:off x="68580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4" name="Rectangle 5"/>
          <p:cNvSpPr/>
          <p:nvPr/>
        </p:nvSpPr>
        <p:spPr>
          <a:xfrm>
            <a:off x="685800" y="1417320"/>
            <a:ext cx="72360" cy="2010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5" name="TextBox 6"/>
          <p:cNvSpPr/>
          <p:nvPr/>
        </p:nvSpPr>
        <p:spPr>
          <a:xfrm>
            <a:off x="85032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Conceitos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7"/>
          <p:cNvSpPr/>
          <p:nvPr/>
        </p:nvSpPr>
        <p:spPr>
          <a:xfrm>
            <a:off x="85032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 remoto, branches e histórico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Pull request 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Tags, releases e rastreabilidade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Contexto e limites para assistentes de código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8"/>
          <p:cNvSpPr/>
          <p:nvPr/>
        </p:nvSpPr>
        <p:spPr>
          <a:xfrm>
            <a:off x="438912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8" name="Rectangle 9"/>
          <p:cNvSpPr/>
          <p:nvPr/>
        </p:nvSpPr>
        <p:spPr>
          <a:xfrm>
            <a:off x="4389120" y="1417320"/>
            <a:ext cx="72360" cy="2010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9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Qualidade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TextBox 11"/>
          <p:cNvSpPr/>
          <p:nvPr/>
        </p:nvSpPr>
        <p:spPr>
          <a:xfrm>
            <a:off x="455364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mínimo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Padrões de commit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Lint e análise estática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assistida por IA com checklist humano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Dependências e versão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Rounded Rectangle 12"/>
          <p:cNvSpPr/>
          <p:nvPr/>
        </p:nvSpPr>
        <p:spPr>
          <a:xfrm>
            <a:off x="809244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Rectangle 13"/>
          <p:cNvSpPr/>
          <p:nvPr/>
        </p:nvSpPr>
        <p:spPr>
          <a:xfrm>
            <a:off x="8092440" y="1417320"/>
            <a:ext cx="72360" cy="20109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3" name="TextBox 14"/>
          <p:cNvSpPr/>
          <p:nvPr/>
        </p:nvSpPr>
        <p:spPr>
          <a:xfrm>
            <a:off x="825696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Box 15"/>
          <p:cNvSpPr/>
          <p:nvPr/>
        </p:nvSpPr>
        <p:spPr>
          <a:xfrm>
            <a:off x="825696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repositório do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Abrir PR com alteração pequena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para explicar trecho, sugerir teste/refatoração e revisar diff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checklist de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tag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Rounded Rectangle 16"/>
          <p:cNvSpPr/>
          <p:nvPr/>
        </p:nvSpPr>
        <p:spPr>
          <a:xfrm>
            <a:off x="685800" y="3886200"/>
            <a:ext cx="10834920" cy="1233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6" name="Rectangle 17"/>
          <p:cNvSpPr/>
          <p:nvPr/>
        </p:nvSpPr>
        <p:spPr>
          <a:xfrm>
            <a:off x="685800" y="3886200"/>
            <a:ext cx="72360" cy="12337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7" name="TextBox 18"/>
          <p:cNvSpPr/>
          <p:nvPr/>
        </p:nvSpPr>
        <p:spPr>
          <a:xfrm>
            <a:off x="850320" y="4014360"/>
            <a:ext cx="1054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Box 19"/>
          <p:cNvSpPr/>
          <p:nvPr/>
        </p:nvSpPr>
        <p:spPr>
          <a:xfrm>
            <a:off x="850320" y="4389120"/>
            <a:ext cx="10542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organizado com fluxo colaborativo, primeira versão rastreável e registro do que a IA sugeriu, do que foi aceito e do que foi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61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662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Fluxo Git Recomendado para 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Mantenha simples e rastreável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6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667" name="Rounded Rectangle 5"/>
          <p:cNvSpPr/>
          <p:nvPr/>
        </p:nvSpPr>
        <p:spPr>
          <a:xfrm>
            <a:off x="685800" y="1508760"/>
            <a:ext cx="3428280" cy="2513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Rectangle 6"/>
          <p:cNvSpPr/>
          <p:nvPr/>
        </p:nvSpPr>
        <p:spPr>
          <a:xfrm>
            <a:off x="685800" y="1508760"/>
            <a:ext cx="72360" cy="2513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Branches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0" name="Picture 8" descr="e2_git_dark.png"/>
          <p:cNvPicPr/>
          <p:nvPr/>
        </p:nvPicPr>
        <p:blipFill>
          <a:blip r:embed="rId2"/>
          <a:stretch/>
        </p:blipFill>
        <p:spPr>
          <a:xfrm>
            <a:off x="85032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671" name="TextBox 9"/>
          <p:cNvSpPr/>
          <p:nvPr/>
        </p:nvSpPr>
        <p:spPr>
          <a:xfrm>
            <a:off x="850320" y="2441520"/>
            <a:ext cx="3135600" cy="9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main: versão estável do projeto.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feature/&lt;tema&gt;: alteração pequena e revisável.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Evitar commits direto na main depois do primeiro encontro prático.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Rounded Rectangle 10"/>
          <p:cNvSpPr/>
          <p:nvPr/>
        </p:nvSpPr>
        <p:spPr>
          <a:xfrm>
            <a:off x="4389120" y="1508760"/>
            <a:ext cx="3428280" cy="2513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3" name="Rectangle 11"/>
          <p:cNvSpPr/>
          <p:nvPr/>
        </p:nvSpPr>
        <p:spPr>
          <a:xfrm>
            <a:off x="4389120" y="1508760"/>
            <a:ext cx="72360" cy="2513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4" name="TextBox 12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Pull request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5" name="Picture 13" descr="ic_merge.png"/>
          <p:cNvPicPr/>
          <p:nvPr/>
        </p:nvPicPr>
        <p:blipFill>
          <a:blip r:embed="rId3"/>
          <a:stretch/>
        </p:blipFill>
        <p:spPr>
          <a:xfrm>
            <a:off x="455364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676" name="TextBox 14"/>
          <p:cNvSpPr/>
          <p:nvPr/>
        </p:nvSpPr>
        <p:spPr>
          <a:xfrm>
            <a:off x="4553640" y="2441520"/>
            <a:ext cx="3135600" cy="9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Toda mudança relevante passa por PR.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PR deve ter objetivo, evidência de teste e risco conhecido.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Comentário de revisão deve discutir comportamento, não preferência pessoal.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Rounded Rectangle 15"/>
          <p:cNvSpPr/>
          <p:nvPr/>
        </p:nvSpPr>
        <p:spPr>
          <a:xfrm>
            <a:off x="8092440" y="1508760"/>
            <a:ext cx="3428280" cy="2513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8" name="Rectangle 16"/>
          <p:cNvSpPr/>
          <p:nvPr/>
        </p:nvSpPr>
        <p:spPr>
          <a:xfrm>
            <a:off x="8092440" y="1508760"/>
            <a:ext cx="72360" cy="2513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9" name="TextBox 17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Versionamento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0" name="Picture 18" descr="ic_tag.png"/>
          <p:cNvPicPr/>
          <p:nvPr/>
        </p:nvPicPr>
        <p:blipFill>
          <a:blip r:embed="rId4"/>
          <a:stretch/>
        </p:blipFill>
        <p:spPr>
          <a:xfrm>
            <a:off x="8256960" y="1984320"/>
            <a:ext cx="346680" cy="346680"/>
          </a:xfrm>
          <a:prstGeom prst="rect">
            <a:avLst/>
          </a:prstGeom>
          <a:ln w="0">
            <a:noFill/>
          </a:ln>
        </p:spPr>
      </p:pic>
      <p:sp>
        <p:nvSpPr>
          <p:cNvPr id="681" name="TextBox 19"/>
          <p:cNvSpPr/>
          <p:nvPr/>
        </p:nvSpPr>
        <p:spPr>
          <a:xfrm>
            <a:off x="8256960" y="2441520"/>
            <a:ext cx="3135600" cy="9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Tag inicial: v0.1.0 ou aula-02.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Tags posteriores para releases de laboratório.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README deve indicar como executar a versão atual.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2" name="Picture 20" descr="Logo Unifor.png"/>
          <p:cNvPicPr/>
          <p:nvPr/>
        </p:nvPicPr>
        <p:blipFill>
          <a:blip r:embed="rId5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683" name="TextBox 21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Box 22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Modelos de Branching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Comparar trade-offs antes de escolher um padrão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8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689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0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1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Trunk-based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Todo mundo integra na main com frequência.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Branches de vida curta, de horas.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Exige testes fortes e, muitas vezes, feature flags.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4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5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GitHub Flow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branch por feature, com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Merge na main costuma já habilitar o deploy.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Simples e alinhado com entrega contínua — é o que a disciplina 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8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9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GitFlow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Branches de release, develop e hotfix.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estrutura e mais overhead de coordenação.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Comum em produtos com ciclos de release longos e formais.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702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Laboratório Git - Comandos Base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Roteiro mínimo; adapte para GitHub, GitLab ou Azure DevOps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0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708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9" name="TextBox 6"/>
          <p:cNvSpPr/>
          <p:nvPr/>
        </p:nvSpPr>
        <p:spPr>
          <a:xfrm>
            <a:off x="896040" y="1609200"/>
            <a:ext cx="10414440" cy="357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1. Clonar ou iniciar repositorio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clone &lt;url-do-repositorio&gt;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cd &lt;nome-do-projeto&gt;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2. Criar branch de trabalho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-c feature/readme-inicial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3. Alterar README e conferir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status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diff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4. Registrar alteracao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add README.md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commit -m "docs: adiciona instrucoes iniciais"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5. Enviar branch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-u origin feature/readme-inicial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6. Abrir Pull Request no provedor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preencher objetivo, evidencias e riscos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7. Depois do merge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main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pull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tag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origin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0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711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Bom Commit e Pull Request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Convenções que economizam tempo do time inteiro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1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717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8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Commit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Mensagem no imperativo: “adiciona”, não “adicionado”.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propósito por commit — não misture assuntos diferentes.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Prefixo por tipo: feat, fix, docs, refactor, test.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2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Pull Request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Título claro e descrição do problema e da solução.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 de teste anexada (log, print, resultado).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pequeno: mais fácil de revisar, mais fácil de reverter.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6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TextBox 16"/>
          <p:cNvSpPr/>
          <p:nvPr/>
        </p:nvSpPr>
        <p:spPr>
          <a:xfrm>
            <a:off x="825696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Commits gigantes misturando várias mudanças.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Mensagens genéricas como “fix” ou “ajustes”.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sem contexto, obrigando o revisor a adivinhar a intenção.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2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730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Definition of Done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critério objetivo, não uma sensação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3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736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7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8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Checklist típico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Código revisado por outra pessoa.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relevantes passando.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Sem segredo exposto no código ou no histórico.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 localmente a partir de um clone limpo.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1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2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Por que importa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 que cada pessoa do time tenha um “pronto” diferente.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Vira critério objetivo de avaliação também nesta disciplina.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5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6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aconteceria se cada integrante do grupo tivesse uma definição diferente de “pronto”?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4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749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Revisão de PR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usar sem perder o controle técnico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5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755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6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7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Preparar o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Explicar objetivo da mudança.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Colar apenas diff ou trecho não sensível.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Informar stack, testes existentes e critérios de aceite.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0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1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Pedir revisão objetiva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Solicitar bugs, regressões, segurança e testes faltantes.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severidade e justificativa.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pergunta genérica: “está bom?”.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4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5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Validar resultado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Conferir cada sugestão no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Executar testes/lint/build.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o que foi aceito, rejeitado e por quê.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Rounded Rectangle 17"/>
          <p:cNvSpPr/>
          <p:nvPr/>
        </p:nvSpPr>
        <p:spPr>
          <a:xfrm>
            <a:off x="685800" y="351144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8" name="Rectangle 18"/>
          <p:cNvSpPr/>
          <p:nvPr/>
        </p:nvSpPr>
        <p:spPr>
          <a:xfrm>
            <a:off x="685800" y="351144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9" name="TextBox 19"/>
          <p:cNvSpPr/>
          <p:nvPr/>
        </p:nvSpPr>
        <p:spPr>
          <a:xfrm>
            <a:off x="850320" y="363924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TextBox 20"/>
          <p:cNvSpPr/>
          <p:nvPr/>
        </p:nvSpPr>
        <p:spPr>
          <a:xfrm>
            <a:off x="850320" y="399600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com checklist humano, comentário de revisão ou resumo da análise e registro do uso de IA, caso tenha sido aplicada.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1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772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Ferramentas de IA na Revisão de Código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o mercado usa hoje para revisar Pull Requests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7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778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9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0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Nativo dos provedores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GitHub Copilot code review, integrado ao próprio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"agentic" (2026): a IA já gera o PR de correção, não só comenta.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3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4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Plataformas dedicadas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CodeRabbit é o app de revisão mais instalado no GitHub (2M+ repositórios).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Outros players: Qodo, Greptile, Graphite Diamond.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7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8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muda para o revisor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vira "primeiro leitor": aponta antes, a pessoa decide.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útil em PRs grandes e complexos do que em mudanças triviais.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791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Qualidade Além do Olho Humano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cada camada de checagem realmente pega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797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8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lint pega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TextBox 8"/>
          <p:cNvSpPr/>
          <p:nvPr/>
        </p:nvSpPr>
        <p:spPr>
          <a:xfrm>
            <a:off x="85032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Estilo, formatação e convenções.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Imports e variáveis não usadas.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Rápido, barato e roda a cada commit.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2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análise estática pega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Vulnerabilidades conhecidas em dependências.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Complexidade excessiva e código morto.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Más práticas de segurança no próprio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6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só a revisão humana pega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Intenção de negócio errada.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Nome ruim, decisão de arquitetura questionável.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Dívida técnica sendo introduzida — ferramenta não substitui isso.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810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2 - Repositório e Pull Request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Transformar colaboração em fluxo rastreável, em grupo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1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816" name="Rounded Rectangle 5"/>
          <p:cNvSpPr/>
          <p:nvPr/>
        </p:nvSpPr>
        <p:spPr>
          <a:xfrm>
            <a:off x="68580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7" name="Rectangle 6"/>
          <p:cNvSpPr/>
          <p:nvPr/>
        </p:nvSpPr>
        <p:spPr>
          <a:xfrm>
            <a:off x="685800" y="1508760"/>
            <a:ext cx="72360" cy="2550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8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TextBox 8"/>
          <p:cNvSpPr/>
          <p:nvPr/>
        </p:nvSpPr>
        <p:spPr>
          <a:xfrm>
            <a:off x="850320" y="1993320"/>
            <a:ext cx="31356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é o menor incremento que já vale um PR?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precisa estar no README para alguém rodar o projeto do zero?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checklist de revisão faz sentido para este projeto?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ajuda sem esconder uma lacuna de entendimento?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Rounded Rectangle 9"/>
          <p:cNvSpPr/>
          <p:nvPr/>
        </p:nvSpPr>
        <p:spPr>
          <a:xfrm>
            <a:off x="438912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1" name="Rectangle 10"/>
          <p:cNvSpPr/>
          <p:nvPr/>
        </p:nvSpPr>
        <p:spPr>
          <a:xfrm>
            <a:off x="4389120" y="1508760"/>
            <a:ext cx="72360" cy="2550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2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com pelo menos um PR revisado.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com comando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 inicial (v0.1.0).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do que a IA sugeriu e do que foi aceito ou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Rounded Rectangle 13"/>
          <p:cNvSpPr/>
          <p:nvPr/>
        </p:nvSpPr>
        <p:spPr>
          <a:xfrm>
            <a:off x="809244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5" name="Rectangle 14"/>
          <p:cNvSpPr/>
          <p:nvPr/>
        </p:nvSpPr>
        <p:spPr>
          <a:xfrm>
            <a:off x="8092440" y="1508760"/>
            <a:ext cx="72360" cy="2550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6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repositório por grupo, acessível ao professor.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com objetivo, evidência de teste e risco descritos.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Rounded Rectangle 17"/>
          <p:cNvSpPr/>
          <p:nvPr/>
        </p:nvSpPr>
        <p:spPr>
          <a:xfrm>
            <a:off x="685800" y="422460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9" name="Rectangle 18"/>
          <p:cNvSpPr/>
          <p:nvPr/>
        </p:nvSpPr>
        <p:spPr>
          <a:xfrm>
            <a:off x="685800" y="422460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0" name="TextBox 19"/>
          <p:cNvSpPr/>
          <p:nvPr/>
        </p:nvSpPr>
        <p:spPr>
          <a:xfrm>
            <a:off x="850320" y="435240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TextBox 20"/>
          <p:cNvSpPr/>
          <p:nvPr/>
        </p:nvSpPr>
        <p:spPr>
          <a:xfrm>
            <a:off x="850320" y="470916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 repositório e PR alimentam a nota de pipeline/entrega e o registro crítico de uso de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32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833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Revisão e Qualidade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Modelos de prompt para revisão e qualidade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3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839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760" cy="401760"/>
          </a:xfrm>
          <a:prstGeom prst="rect">
            <a:avLst/>
          </a:prstGeom>
          <a:ln w="0">
            <a:noFill/>
          </a:ln>
        </p:spPr>
      </p:pic>
      <p:sp>
        <p:nvSpPr>
          <p:cNvPr id="840" name="Rounded Rectangle 6"/>
          <p:cNvSpPr/>
          <p:nvPr/>
        </p:nvSpPr>
        <p:spPr>
          <a:xfrm>
            <a:off x="685800" y="1508760"/>
            <a:ext cx="3428280" cy="2385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1" name="Rectangle 7"/>
          <p:cNvSpPr/>
          <p:nvPr/>
        </p:nvSpPr>
        <p:spPr>
          <a:xfrm>
            <a:off x="685800" y="1508760"/>
            <a:ext cx="72360" cy="23857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2" name="TextBox 8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Revisar PR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TextBox 9"/>
          <p:cNvSpPr/>
          <p:nvPr/>
        </p:nvSpPr>
        <p:spPr>
          <a:xfrm>
            <a:off x="850320" y="1993320"/>
            <a:ext cx="31356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Atue como revisor sênior. Revise apenas o diff abaixo buscando bugs, regressões, riscos de segurança e testes ausentes.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Formato: severidade, arquivo/trecho, problema, sugestão e validação necessária.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Diff: &lt;colar diff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Rounded Rectangle 10"/>
          <p:cNvSpPr/>
          <p:nvPr/>
        </p:nvSpPr>
        <p:spPr>
          <a:xfrm>
            <a:off x="4389120" y="1508760"/>
            <a:ext cx="3428280" cy="2385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5" name="Rectangle 11"/>
          <p:cNvSpPr/>
          <p:nvPr/>
        </p:nvSpPr>
        <p:spPr>
          <a:xfrm>
            <a:off x="4389120" y="1508760"/>
            <a:ext cx="72360" cy="23857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6" name="TextBox 12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Gerar teste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TextBox 13"/>
          <p:cNvSpPr/>
          <p:nvPr/>
        </p:nvSpPr>
        <p:spPr>
          <a:xfrm>
            <a:off x="455364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Com base nesta função e nos critérios de aceite, sugira testes unitários e casos de borda. Não altere a API pública sem justificar.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Código: &lt;trecho&gt;. Critérios: &lt;lista&gt;.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Rounded Rectangle 14"/>
          <p:cNvSpPr/>
          <p:nvPr/>
        </p:nvSpPr>
        <p:spPr>
          <a:xfrm>
            <a:off x="8092440" y="1508760"/>
            <a:ext cx="3428280" cy="2385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9" name="Rectangle 15"/>
          <p:cNvSpPr/>
          <p:nvPr/>
        </p:nvSpPr>
        <p:spPr>
          <a:xfrm>
            <a:off x="8092440" y="1508760"/>
            <a:ext cx="72360" cy="23857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0" name="TextBox 16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Melhorar README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TextBox 17"/>
          <p:cNvSpPr/>
          <p:nvPr/>
        </p:nvSpPr>
        <p:spPr>
          <a:xfrm>
            <a:off x="8256960" y="1993320"/>
            <a:ext cx="3135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Reescreva as instruções de execução abaixo para ficarem reproduzíveis por quem acabou de clonar o projeto.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README atual: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2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853" name="TextBox 19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TextBox 20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2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3: integração contínua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5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859" name="Rounded Rectangle 5"/>
          <p:cNvSpPr/>
          <p:nvPr/>
        </p:nvSpPr>
        <p:spPr>
          <a:xfrm>
            <a:off x="685800" y="1508760"/>
            <a:ext cx="108349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0" name="Rectangle 6"/>
          <p:cNvSpPr/>
          <p:nvPr/>
        </p:nvSpPr>
        <p:spPr>
          <a:xfrm>
            <a:off x="685800" y="150876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1" name="TextBox 7"/>
          <p:cNvSpPr/>
          <p:nvPr/>
        </p:nvSpPr>
        <p:spPr>
          <a:xfrm>
            <a:off x="850320" y="163692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TextBox 8"/>
          <p:cNvSpPr/>
          <p:nvPr/>
        </p:nvSpPr>
        <p:spPr>
          <a:xfrm>
            <a:off x="850320" y="1993320"/>
            <a:ext cx="105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Garantir que o projeto rode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pelo menos um teste simples se ainda não existir.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3: comando de instalação, build e teste.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3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864" name="TextBox 1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TextBox 1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TextBox 1"/>
          <p:cNvSpPr/>
          <p:nvPr/>
        </p:nvSpPr>
        <p:spPr>
          <a:xfrm>
            <a:off x="777240" y="2286000"/>
            <a:ext cx="106063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3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7" name="TextBox 2"/>
          <p:cNvSpPr/>
          <p:nvPr/>
        </p:nvSpPr>
        <p:spPr>
          <a:xfrm>
            <a:off x="1920240" y="3090600"/>
            <a:ext cx="8320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12/09/2026 | Integração contínua, testes e IA para automação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TextBox 3"/>
          <p:cNvSpPr/>
          <p:nvPr/>
        </p:nvSpPr>
        <p:spPr>
          <a:xfrm>
            <a:off x="5532120" y="626364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41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69" name="Picture 4" descr="e3_refresh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400" cy="959400"/>
          </a:xfrm>
          <a:prstGeom prst="rect">
            <a:avLst/>
          </a:prstGeom>
          <a:ln w="0">
            <a:noFill/>
          </a:ln>
        </p:spPr>
      </p:pic>
      <p:pic>
        <p:nvPicPr>
          <p:cNvPr id="870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3 - Pipeline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Feedback rápido para reduzir risco de integração e validar sugestões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4" name="Chevron 4"/>
          <p:cNvSpPr/>
          <p:nvPr/>
        </p:nvSpPr>
        <p:spPr>
          <a:xfrm>
            <a:off x="914400" y="1600200"/>
            <a:ext cx="1690920" cy="785520"/>
          </a:xfrm>
          <a:prstGeom prst="chevron">
            <a:avLst>
              <a:gd name="adj" fmla="val 50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5" name="TextBox 5"/>
          <p:cNvSpPr/>
          <p:nvPr/>
        </p:nvSpPr>
        <p:spPr>
          <a:xfrm>
            <a:off x="1005840" y="1865520"/>
            <a:ext cx="1325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Trigger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Chevron 6"/>
          <p:cNvSpPr/>
          <p:nvPr/>
        </p:nvSpPr>
        <p:spPr>
          <a:xfrm>
            <a:off x="3063240" y="1600200"/>
            <a:ext cx="1690920" cy="785520"/>
          </a:xfrm>
          <a:prstGeom prst="chevron">
            <a:avLst>
              <a:gd name="adj" fmla="val 50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7" name="TextBox 7"/>
          <p:cNvSpPr/>
          <p:nvPr/>
        </p:nvSpPr>
        <p:spPr>
          <a:xfrm>
            <a:off x="3154680" y="1865520"/>
            <a:ext cx="1325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Chevron 8"/>
          <p:cNvSpPr/>
          <p:nvPr/>
        </p:nvSpPr>
        <p:spPr>
          <a:xfrm>
            <a:off x="5212080" y="1600200"/>
            <a:ext cx="1690920" cy="785520"/>
          </a:xfrm>
          <a:prstGeom prst="chevron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9" name="TextBox 9"/>
          <p:cNvSpPr/>
          <p:nvPr/>
        </p:nvSpPr>
        <p:spPr>
          <a:xfrm>
            <a:off x="5303520" y="1865520"/>
            <a:ext cx="1325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Chevron 10"/>
          <p:cNvSpPr/>
          <p:nvPr/>
        </p:nvSpPr>
        <p:spPr>
          <a:xfrm>
            <a:off x="7360920" y="1600200"/>
            <a:ext cx="1690920" cy="785520"/>
          </a:xfrm>
          <a:prstGeom prst="chevron">
            <a:avLst>
              <a:gd name="adj" fmla="val 50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1" name="TextBox 11"/>
          <p:cNvSpPr/>
          <p:nvPr/>
        </p:nvSpPr>
        <p:spPr>
          <a:xfrm>
            <a:off x="7452360" y="1865520"/>
            <a:ext cx="1325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Chevron 12"/>
          <p:cNvSpPr/>
          <p:nvPr/>
        </p:nvSpPr>
        <p:spPr>
          <a:xfrm>
            <a:off x="9509760" y="1600200"/>
            <a:ext cx="1690920" cy="785520"/>
          </a:xfrm>
          <a:prstGeom prst="chevron">
            <a:avLst>
              <a:gd name="adj" fmla="val 50000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3" name="TextBox 13"/>
          <p:cNvSpPr/>
          <p:nvPr/>
        </p:nvSpPr>
        <p:spPr>
          <a:xfrm>
            <a:off x="9601200" y="1865520"/>
            <a:ext cx="13251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Artefato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Rounded Rectangle 14"/>
          <p:cNvSpPr/>
          <p:nvPr/>
        </p:nvSpPr>
        <p:spPr>
          <a:xfrm>
            <a:off x="731520" y="2926080"/>
            <a:ext cx="3428280" cy="1782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5" name="Rectangle 15"/>
          <p:cNvSpPr/>
          <p:nvPr/>
        </p:nvSpPr>
        <p:spPr>
          <a:xfrm>
            <a:off x="731520" y="2926080"/>
            <a:ext cx="72360" cy="1782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6" name="TextBox 16"/>
          <p:cNvSpPr/>
          <p:nvPr/>
        </p:nvSpPr>
        <p:spPr>
          <a:xfrm>
            <a:off x="896040" y="305424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Conceitos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TextBox 17"/>
          <p:cNvSpPr/>
          <p:nvPr/>
        </p:nvSpPr>
        <p:spPr>
          <a:xfrm>
            <a:off x="896040" y="3429000"/>
            <a:ext cx="313560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Runners, jobs e etapas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Variáveis, cache e artefatos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como feedback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para interpretar logs e sugerir 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Rounded Rectangle 18"/>
          <p:cNvSpPr/>
          <p:nvPr/>
        </p:nvSpPr>
        <p:spPr>
          <a:xfrm>
            <a:off x="4389120" y="2926080"/>
            <a:ext cx="3428280" cy="1782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9" name="Rectangle 19"/>
          <p:cNvSpPr/>
          <p:nvPr/>
        </p:nvSpPr>
        <p:spPr>
          <a:xfrm>
            <a:off x="4389120" y="2926080"/>
            <a:ext cx="72360" cy="1782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0" name="TextBox 20"/>
          <p:cNvSpPr/>
          <p:nvPr/>
        </p:nvSpPr>
        <p:spPr>
          <a:xfrm>
            <a:off x="4553640" y="305424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TextBox 21"/>
          <p:cNvSpPr/>
          <p:nvPr/>
        </p:nvSpPr>
        <p:spPr>
          <a:xfrm>
            <a:off x="4553640" y="3429000"/>
            <a:ext cx="313560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pipeline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Executar 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Gerar ou melhorar testes com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Gerar artefato/imagem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Analisar logs de falha com validação humana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Rounded Rectangle 22"/>
          <p:cNvSpPr/>
          <p:nvPr/>
        </p:nvSpPr>
        <p:spPr>
          <a:xfrm>
            <a:off x="8046720" y="2926080"/>
            <a:ext cx="3428280" cy="1782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3" name="Rectangle 23"/>
          <p:cNvSpPr/>
          <p:nvPr/>
        </p:nvSpPr>
        <p:spPr>
          <a:xfrm>
            <a:off x="8046720" y="2926080"/>
            <a:ext cx="72360" cy="1782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4" name="TextBox 24"/>
          <p:cNvSpPr/>
          <p:nvPr/>
        </p:nvSpPr>
        <p:spPr>
          <a:xfrm>
            <a:off x="8211240" y="305424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TextBox 25"/>
          <p:cNvSpPr/>
          <p:nvPr/>
        </p:nvSpPr>
        <p:spPr>
          <a:xfrm>
            <a:off x="8211240" y="3429000"/>
            <a:ext cx="313560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executando a cada PR/push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de teste e 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Sugestões de IA validadas por execução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Ação corretiva registrada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TextBox 26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TextBox 27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8" name="Picture 28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899" name="Picture 29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CI Explicado de Forma Prática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Sempre com o log como evidência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0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904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5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6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Por que existe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Detectar quebra de integração cedo.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Padronizar build e testes fora da máquina do aluno.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evidência objetiva para PR e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9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0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Componentes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Trigger: quando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Runner: onde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Job/step: o que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Artifact/cache: o que guardar ou reaproveitar.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3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4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verde sem teste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Comando que só funciona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Segredo exposto em variável/log.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ignorada para “passar” a entrega.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917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Job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acontece por trás do YAML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2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923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4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5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Trigger e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push, pull_request, schedule ou disparo manual.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Escolher o gatilho certo evita pipeline rodando à toa.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8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9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Execução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Runner: máquina efêmera que nasce só para o job.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Steps sequenciais; cache acelera reinstalação de dependências.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Matrix roda o mesmo job em várias versões/SOs em paralelo.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2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3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Artefato: binário, imagem ou relatório gerado.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detalhados e status final: verde ou vermelho.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Notificação para quem precisa agir.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3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936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Pipeline Mínimo - Exemplo GitHub Actions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Troque os comandos conforme a stack do projeto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4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942" name="Rounded Rectangle 5"/>
          <p:cNvSpPr/>
          <p:nvPr/>
        </p:nvSpPr>
        <p:spPr>
          <a:xfrm>
            <a:off x="731520" y="1481400"/>
            <a:ext cx="534852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3" name="TextBox 6"/>
          <p:cNvSpPr/>
          <p:nvPr/>
        </p:nvSpPr>
        <p:spPr>
          <a:xfrm>
            <a:off x="896040" y="1609200"/>
            <a:ext cx="5019480" cy="263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name: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on: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pull_request: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push: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branches: [main]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jobs: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build-test: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runs-on: ubuntu-latest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steps: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uses: actions/checkout@v4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uses: actions/setup-node@v4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with: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node-version: 22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cache: npm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run 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Rounded Rectangle 7"/>
          <p:cNvSpPr/>
          <p:nvPr/>
        </p:nvSpPr>
        <p:spPr>
          <a:xfrm>
            <a:off x="6355080" y="148140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5" name="Rectangle 8"/>
          <p:cNvSpPr/>
          <p:nvPr/>
        </p:nvSpPr>
        <p:spPr>
          <a:xfrm>
            <a:off x="6355080" y="1481400"/>
            <a:ext cx="72360" cy="1328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6" name="TextBox 9"/>
          <p:cNvSpPr/>
          <p:nvPr/>
        </p:nvSpPr>
        <p:spPr>
          <a:xfrm>
            <a:off x="6519600" y="160920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explicar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TextBox 10"/>
          <p:cNvSpPr/>
          <p:nvPr/>
        </p:nvSpPr>
        <p:spPr>
          <a:xfrm>
            <a:off x="6519600" y="1965960"/>
            <a:ext cx="469008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YAML declara quando executar e a sequência de validação.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pipeline deve falhar quando build ou testes falharem.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Rounded Rectangle 11"/>
          <p:cNvSpPr/>
          <p:nvPr/>
        </p:nvSpPr>
        <p:spPr>
          <a:xfrm>
            <a:off x="6355080" y="291996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9" name="Rectangle 12"/>
          <p:cNvSpPr/>
          <p:nvPr/>
        </p:nvSpPr>
        <p:spPr>
          <a:xfrm>
            <a:off x="6355080" y="2919960"/>
            <a:ext cx="72360" cy="1328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0" name="TextBox 13"/>
          <p:cNvSpPr/>
          <p:nvPr/>
        </p:nvSpPr>
        <p:spPr>
          <a:xfrm>
            <a:off x="6519600" y="304812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adaptar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TextBox 14"/>
          <p:cNvSpPr/>
          <p:nvPr/>
        </p:nvSpPr>
        <p:spPr>
          <a:xfrm>
            <a:off x="6519600" y="3404520"/>
            <a:ext cx="469008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Node pode virar Python, Java, Go ou .NET.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A lógica se mantém: checkout, setup, dependências, testes, build e artefato.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Rounded Rectangle 15"/>
          <p:cNvSpPr/>
          <p:nvPr/>
        </p:nvSpPr>
        <p:spPr>
          <a:xfrm>
            <a:off x="6355080" y="435852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3" name="Rectangle 16"/>
          <p:cNvSpPr/>
          <p:nvPr/>
        </p:nvSpPr>
        <p:spPr>
          <a:xfrm>
            <a:off x="6355080" y="4358520"/>
            <a:ext cx="72360" cy="1328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4" name="TextBox 17"/>
          <p:cNvSpPr/>
          <p:nvPr/>
        </p:nvSpPr>
        <p:spPr>
          <a:xfrm>
            <a:off x="6519600" y="448668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validar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TextBox 18"/>
          <p:cNvSpPr/>
          <p:nvPr/>
        </p:nvSpPr>
        <p:spPr>
          <a:xfrm>
            <a:off x="6519600" y="4843440"/>
            <a:ext cx="469008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Abrir a aba Actions/Pipelines.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Conferir logs, tempo de execução e commit associado.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6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957" name="TextBox 2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TextBox 2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 Pirâmide de Testes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Testes lentos no topo custam feedback; equilíbrio é decisão estratégica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6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963" name="Freeform 5"/>
          <p:cNvSpPr/>
          <p:nvPr/>
        </p:nvSpPr>
        <p:spPr>
          <a:xfrm>
            <a:off x="2270880" y="1691640"/>
            <a:ext cx="1127160" cy="1279440"/>
          </a:xfrm>
          <a:custGeom>
            <a:avLst/>
            <a:gdLst>
              <a:gd name="textAreaLeft" fmla="*/ 0 w 1127160"/>
              <a:gd name="textAreaRight" fmla="*/ 1127880 w 1127160"/>
              <a:gd name="textAreaTop" fmla="*/ 0 h 1279440"/>
              <a:gd name="textAreaBottom" fmla="*/ 1280160 h 1279440"/>
            </a:gdLst>
            <a:ahLst/>
            <a:rect l="textAreaLeft" t="textAreaTop" r="textAreaRight" b="textAreaBottom"/>
            <a:pathLst>
              <a:path w="1127760" h="1280160">
                <a:moveTo>
                  <a:pt x="563880" y="0"/>
                </a:moveTo>
                <a:lnTo>
                  <a:pt x="563880" y="0"/>
                </a:lnTo>
                <a:lnTo>
                  <a:pt x="112776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6750a4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4" name="Freeform 6"/>
          <p:cNvSpPr/>
          <p:nvPr/>
        </p:nvSpPr>
        <p:spPr>
          <a:xfrm>
            <a:off x="1706760" y="2971800"/>
            <a:ext cx="2254680" cy="1279440"/>
          </a:xfrm>
          <a:custGeom>
            <a:avLst/>
            <a:gdLst>
              <a:gd name="textAreaLeft" fmla="*/ 0 w 2254680"/>
              <a:gd name="textAreaRight" fmla="*/ 2255400 w 2254680"/>
              <a:gd name="textAreaTop" fmla="*/ 0 h 1279440"/>
              <a:gd name="textAreaBottom" fmla="*/ 1280160 h 1279440"/>
            </a:gdLst>
            <a:ahLst/>
            <a:rect l="textAreaLeft" t="textAreaTop" r="textAreaRight" b="textAreaBottom"/>
            <a:pathLst>
              <a:path w="2255520" h="1280160">
                <a:moveTo>
                  <a:pt x="563880" y="0"/>
                </a:moveTo>
                <a:lnTo>
                  <a:pt x="1691640" y="0"/>
                </a:lnTo>
                <a:lnTo>
                  <a:pt x="225552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2666ab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5" name="Freeform 7"/>
          <p:cNvSpPr/>
          <p:nvPr/>
        </p:nvSpPr>
        <p:spPr>
          <a:xfrm>
            <a:off x="1143000" y="4251960"/>
            <a:ext cx="3382560" cy="1279440"/>
          </a:xfrm>
          <a:custGeom>
            <a:avLst/>
            <a:gdLst>
              <a:gd name="textAreaLeft" fmla="*/ 0 w 3382560"/>
              <a:gd name="textAreaRight" fmla="*/ 3383280 w 3382560"/>
              <a:gd name="textAreaTop" fmla="*/ 0 h 1279440"/>
              <a:gd name="textAreaBottom" fmla="*/ 1280160 h 1279440"/>
            </a:gdLst>
            <a:ahLst/>
            <a:rect l="textAreaLeft" t="textAreaTop" r="textAreaRight" b="textAreaBottom"/>
            <a:pathLst>
              <a:path w="3383280" h="1280160">
                <a:moveTo>
                  <a:pt x="563880" y="0"/>
                </a:moveTo>
                <a:lnTo>
                  <a:pt x="2819400" y="0"/>
                </a:lnTo>
                <a:lnTo>
                  <a:pt x="338328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00897b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6" name="TextBox 8"/>
          <p:cNvSpPr/>
          <p:nvPr/>
        </p:nvSpPr>
        <p:spPr>
          <a:xfrm>
            <a:off x="4892040" y="1691640"/>
            <a:ext cx="6400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Ponta a ponta / smoke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TextBox 9"/>
          <p:cNvSpPr/>
          <p:nvPr/>
        </p:nvSpPr>
        <p:spPr>
          <a:xfrm>
            <a:off x="4892040" y="2039040"/>
            <a:ext cx="6400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Poucos e lentos.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o fluxo completo do usuário.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Rectangle 10"/>
          <p:cNvSpPr/>
          <p:nvPr/>
        </p:nvSpPr>
        <p:spPr>
          <a:xfrm>
            <a:off x="4745880" y="1710000"/>
            <a:ext cx="54000" cy="9594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9" name="TextBox 11"/>
          <p:cNvSpPr/>
          <p:nvPr/>
        </p:nvSpPr>
        <p:spPr>
          <a:xfrm>
            <a:off x="4892040" y="3017520"/>
            <a:ext cx="6400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Integração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TextBox 12"/>
          <p:cNvSpPr/>
          <p:nvPr/>
        </p:nvSpPr>
        <p:spPr>
          <a:xfrm>
            <a:off x="4892040" y="3364920"/>
            <a:ext cx="6400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Menos numerosos, mais lentos.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a colaboração entre partes (API + banco).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Rectangle 13"/>
          <p:cNvSpPr/>
          <p:nvPr/>
        </p:nvSpPr>
        <p:spPr>
          <a:xfrm>
            <a:off x="4745880" y="3035880"/>
            <a:ext cx="54000" cy="959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2" name="TextBox 14"/>
          <p:cNvSpPr/>
          <p:nvPr/>
        </p:nvSpPr>
        <p:spPr>
          <a:xfrm>
            <a:off x="4892040" y="4343400"/>
            <a:ext cx="6400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Unitários (base larga)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TextBox 15"/>
          <p:cNvSpPr/>
          <p:nvPr/>
        </p:nvSpPr>
        <p:spPr>
          <a:xfrm>
            <a:off x="4892040" y="4690800"/>
            <a:ext cx="6400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Muitos, rápidos e baratos.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uma função ou regra isolada.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Rectangle 16"/>
          <p:cNvSpPr/>
          <p:nvPr/>
        </p:nvSpPr>
        <p:spPr>
          <a:xfrm>
            <a:off x="4745880" y="4361760"/>
            <a:ext cx="54000" cy="959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7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976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Testes para Caber em 24h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Escolha testes que provem o fluxo, não tente cobrir tudo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982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3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4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Unitário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TextBox 8"/>
          <p:cNvSpPr/>
          <p:nvPr/>
        </p:nvSpPr>
        <p:spPr>
          <a:xfrm>
            <a:off x="85032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Funções puras, regras de negócio e validações.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Rápido, barato e ideal para CI inicial.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7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8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Integração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API + banco ou API + dependência.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para Compose e projeto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 ser simplificado com serviço fake ou banco local.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1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2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Smoke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Verifica se a aplicação sobe e responde.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Bom para container e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curl /health ou chamada simples no endpoint principal.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995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Métricas de CI que Contam a Verdade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Ligando de volta às métricas DORA do Encontro 1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0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001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2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3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Tempo de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Quanto mais rápido, mais vezes o time integra.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Builds de 20+ minutos matam a prática de CI na rotina.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6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7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Taxa de flakiness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que falham aleatoriamente destroem a confiança no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Precisa ser tratado como bug, não ignorado ou re-executado sem investigar.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0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1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Cobertura de teste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como sinal de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Perigosa como meta: 100% de cobertura não garante ausência de bugs.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014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Testes Frágeis (Flaky Tests)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dos maiores destruidores de confiança em CI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020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1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2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Causas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de tempo ou de ordem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Chamadas de rede reais em vez de simuladas.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Dados compartilhados entre testes; condições de corrida.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5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6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Como resolver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Isolar estado entre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mocks/fakes para dependências externas.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Tornar o teste determinístico, sem depender de sorte.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9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0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teste que falha 1 vez a cada 20 execuções — vocês confiam nele?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fazer com ele: consertar, isolar ou remover do pipeline?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033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IA em Pipelines: Self-Healing e Geração de Testes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o mercado já automatiza a resposta a falhas de CI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039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0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1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 self-healing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Detecta falha, analisa causa, propõe/aplica correção e roda de novo para validar.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Já é tratado como padrão de arquitetura de CI/CD em 2026.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4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5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Geração de testes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Diffblue Cover (Java/JUnit), CodiumAI, Copilot/Amazon Q para scaffolding de teste.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gera o teste; cobertura de caminho crítico ainda é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8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9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Retry e flakiness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Retry inteligente reduz falhas causadas por flakiness.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Seleção preditiva de testes prioriza os mais propensos a pegar o bug.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052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3 - Pipeline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Provar, com log, que o pipeline protege a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5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058" name="Rounded Rectangle 5"/>
          <p:cNvSpPr/>
          <p:nvPr/>
        </p:nvSpPr>
        <p:spPr>
          <a:xfrm>
            <a:off x="68580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9" name="Rectangle 6"/>
          <p:cNvSpPr/>
          <p:nvPr/>
        </p:nvSpPr>
        <p:spPr>
          <a:xfrm>
            <a:off x="685800" y="1508760"/>
            <a:ext cx="72360" cy="2550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0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TextBox 8"/>
          <p:cNvSpPr/>
          <p:nvPr/>
        </p:nvSpPr>
        <p:spPr>
          <a:xfrm>
            <a:off x="850320" y="1993320"/>
            <a:ext cx="3135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pipeline falha quando deveria falhar?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teste realmente prova que o código funciona?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log do erro é suficiente para outra pessoa entender a causa?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ajudou a interpretar uma falha?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Rounded Rectangle 9"/>
          <p:cNvSpPr/>
          <p:nvPr/>
        </p:nvSpPr>
        <p:spPr>
          <a:xfrm>
            <a:off x="438912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3" name="Rectangle 10"/>
          <p:cNvSpPr/>
          <p:nvPr/>
        </p:nvSpPr>
        <p:spPr>
          <a:xfrm>
            <a:off x="4389120" y="1508760"/>
            <a:ext cx="72360" cy="2550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4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executando a cada push/PR.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Ao menos um teste real, não trivial.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log de falha analisado e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Badge ou print do pipeline em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Rounded Rectangle 13"/>
          <p:cNvSpPr/>
          <p:nvPr/>
        </p:nvSpPr>
        <p:spPr>
          <a:xfrm>
            <a:off x="809244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7" name="Rectangle 14"/>
          <p:cNvSpPr/>
          <p:nvPr/>
        </p:nvSpPr>
        <p:spPr>
          <a:xfrm>
            <a:off x="8092440" y="1508760"/>
            <a:ext cx="72360" cy="2550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8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Arquivo de pipeline versionado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 ou link do pipeline executando com sucesso.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Rounded Rectangle 17"/>
          <p:cNvSpPr/>
          <p:nvPr/>
        </p:nvSpPr>
        <p:spPr>
          <a:xfrm>
            <a:off x="685800" y="422460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1" name="Rectangle 18"/>
          <p:cNvSpPr/>
          <p:nvPr/>
        </p:nvSpPr>
        <p:spPr>
          <a:xfrm>
            <a:off x="685800" y="422460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2" name="TextBox 19"/>
          <p:cNvSpPr/>
          <p:nvPr/>
        </p:nvSpPr>
        <p:spPr>
          <a:xfrm>
            <a:off x="850320" y="435240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TextBox 20"/>
          <p:cNvSpPr/>
          <p:nvPr/>
        </p:nvSpPr>
        <p:spPr>
          <a:xfrm>
            <a:off x="850320" y="470916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Entra diretamente nos 25% de Pipeline CI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4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075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Testes e Logs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IA como acelerador de investigação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8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1081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760" cy="401760"/>
          </a:xfrm>
          <a:prstGeom prst="rect">
            <a:avLst/>
          </a:prstGeom>
          <a:ln w="0">
            <a:noFill/>
          </a:ln>
        </p:spPr>
      </p:pic>
      <p:sp>
        <p:nvSpPr>
          <p:cNvPr id="1082" name="Rounded Rectangle 6"/>
          <p:cNvSpPr/>
          <p:nvPr/>
        </p:nvSpPr>
        <p:spPr>
          <a:xfrm>
            <a:off x="68580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3" name="Rectangle 7"/>
          <p:cNvSpPr/>
          <p:nvPr/>
        </p:nvSpPr>
        <p:spPr>
          <a:xfrm>
            <a:off x="685800" y="1508760"/>
            <a:ext cx="72360" cy="1736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4" name="TextBox 8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Teste de borda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TextBox 9"/>
          <p:cNvSpPr/>
          <p:nvPr/>
        </p:nvSpPr>
        <p:spPr>
          <a:xfrm>
            <a:off x="850320" y="1993320"/>
            <a:ext cx="3135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a função abaixo e sugira casos de teste relevantes, incluindo entradas inválidas, limites e regressões prováveis.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Código: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Rounded Rectangle 10"/>
          <p:cNvSpPr/>
          <p:nvPr/>
        </p:nvSpPr>
        <p:spPr>
          <a:xfrm>
            <a:off x="438912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7" name="Rectangle 11"/>
          <p:cNvSpPr/>
          <p:nvPr/>
        </p:nvSpPr>
        <p:spPr>
          <a:xfrm>
            <a:off x="4389120" y="1508760"/>
            <a:ext cx="72360" cy="1736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8" name="TextBox 12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 de 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TextBox 13"/>
          <p:cNvSpPr/>
          <p:nvPr/>
        </p:nvSpPr>
        <p:spPr>
          <a:xfrm>
            <a:off x="455364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Este job de CI falhou. Explique a provável causa, liste hipóteses em ordem de probabilidade e sugira validações antes de alterar código.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Log: &lt;colar trecho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Rounded Rectangle 14"/>
          <p:cNvSpPr/>
          <p:nvPr/>
        </p:nvSpPr>
        <p:spPr>
          <a:xfrm>
            <a:off x="809244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1" name="Rectangle 15"/>
          <p:cNvSpPr/>
          <p:nvPr/>
        </p:nvSpPr>
        <p:spPr>
          <a:xfrm>
            <a:off x="8092440" y="1508760"/>
            <a:ext cx="72360" cy="1736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2" name="TextBox 16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YAML de CI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TextBox 17"/>
          <p:cNvSpPr/>
          <p:nvPr/>
        </p:nvSpPr>
        <p:spPr>
          <a:xfrm>
            <a:off x="8256960" y="1993320"/>
            <a:ext cx="3135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Revise este pipeline e aponte riscos: cache incorreto, comandos frágeis, segredos em log, falta de testes e etapas sem valor.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YAML: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4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095" name="TextBox 19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TextBox 20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3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4: containers e Compose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0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101" name="Rounded Rectangle 5"/>
          <p:cNvSpPr/>
          <p:nvPr/>
        </p:nvSpPr>
        <p:spPr>
          <a:xfrm>
            <a:off x="685800" y="1508760"/>
            <a:ext cx="108349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2" name="Rectangle 6"/>
          <p:cNvSpPr/>
          <p:nvPr/>
        </p:nvSpPr>
        <p:spPr>
          <a:xfrm>
            <a:off x="685800" y="150876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3" name="TextBox 7"/>
          <p:cNvSpPr/>
          <p:nvPr/>
        </p:nvSpPr>
        <p:spPr>
          <a:xfrm>
            <a:off x="850320" y="163692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TextBox 8"/>
          <p:cNvSpPr/>
          <p:nvPr/>
        </p:nvSpPr>
        <p:spPr>
          <a:xfrm>
            <a:off x="850320" y="1993320"/>
            <a:ext cx="105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Corrigir pendências do CI.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comandos de build/teste no README.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4: porta da aplicação, variáveis e dependências externas.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5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106" name="TextBox 1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TextBox 1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TextBox 1"/>
          <p:cNvSpPr/>
          <p:nvPr/>
        </p:nvSpPr>
        <p:spPr>
          <a:xfrm>
            <a:off x="777240" y="2286000"/>
            <a:ext cx="106063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4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9" name="TextBox 2"/>
          <p:cNvSpPr/>
          <p:nvPr/>
        </p:nvSpPr>
        <p:spPr>
          <a:xfrm>
            <a:off x="1920240" y="3090600"/>
            <a:ext cx="8320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24/09/2026 | Containers, integração e troubleshooting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0" name="TextBox 3"/>
          <p:cNvSpPr/>
          <p:nvPr/>
        </p:nvSpPr>
        <p:spPr>
          <a:xfrm>
            <a:off x="5532120" y="626364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54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11" name="Picture 4" descr="e4_container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400" cy="959400"/>
          </a:xfrm>
          <a:prstGeom prst="rect">
            <a:avLst/>
          </a:prstGeom>
          <a:ln w="0">
            <a:noFill/>
          </a:ln>
        </p:spPr>
      </p:pic>
      <p:pic>
        <p:nvPicPr>
          <p:cNvPr id="1112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4 - Containers e Compose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Ambiente reproduzível para desenvolvimento, validação e diagnóstico assistido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6" name="Rounded Rectangle 4"/>
          <p:cNvSpPr/>
          <p:nvPr/>
        </p:nvSpPr>
        <p:spPr>
          <a:xfrm>
            <a:off x="685800" y="1417320"/>
            <a:ext cx="3428280" cy="20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7" name="Rectangle 5"/>
          <p:cNvSpPr/>
          <p:nvPr/>
        </p:nvSpPr>
        <p:spPr>
          <a:xfrm>
            <a:off x="685800" y="1417320"/>
            <a:ext cx="72360" cy="20566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8" name="TextBox 6"/>
          <p:cNvSpPr/>
          <p:nvPr/>
        </p:nvSpPr>
        <p:spPr>
          <a:xfrm>
            <a:off x="85032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Dockerfile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TextBox 7"/>
          <p:cNvSpPr/>
          <p:nvPr/>
        </p:nvSpPr>
        <p:spPr>
          <a:xfrm>
            <a:off x="850320" y="1920240"/>
            <a:ext cx="313560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Imagem mínima e reproduzível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Camadas e cache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 de ambiente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Execução local previsível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para explicar erros de build sem expor segredos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Rounded Rectangle 8"/>
          <p:cNvSpPr/>
          <p:nvPr/>
        </p:nvSpPr>
        <p:spPr>
          <a:xfrm>
            <a:off x="4389120" y="1417320"/>
            <a:ext cx="3428280" cy="20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1" name="Rectangle 9"/>
          <p:cNvSpPr/>
          <p:nvPr/>
        </p:nvSpPr>
        <p:spPr>
          <a:xfrm>
            <a:off x="4389120" y="1417320"/>
            <a:ext cx="72360" cy="20566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2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TextBox 11"/>
          <p:cNvSpPr/>
          <p:nvPr/>
        </p:nvSpPr>
        <p:spPr>
          <a:xfrm>
            <a:off x="4553640" y="1920240"/>
            <a:ext cx="313560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Serviços, redes e volumes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Banco e dependências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Health checks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de serviços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Rounded Rectangle 12"/>
          <p:cNvSpPr/>
          <p:nvPr/>
        </p:nvSpPr>
        <p:spPr>
          <a:xfrm>
            <a:off x="8092440" y="1417320"/>
            <a:ext cx="3428280" cy="20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5" name="Rectangle 13"/>
          <p:cNvSpPr/>
          <p:nvPr/>
        </p:nvSpPr>
        <p:spPr>
          <a:xfrm>
            <a:off x="8092440" y="1417320"/>
            <a:ext cx="72360" cy="20566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6" name="TextBox 14"/>
          <p:cNvSpPr/>
          <p:nvPr/>
        </p:nvSpPr>
        <p:spPr>
          <a:xfrm>
            <a:off x="825696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TextBox 15"/>
          <p:cNvSpPr/>
          <p:nvPr/>
        </p:nvSpPr>
        <p:spPr>
          <a:xfrm>
            <a:off x="8256960" y="1920240"/>
            <a:ext cx="313560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Containerizar aplicação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Subir stack local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Validar integração API + banco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para diagnosticar falha de container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comandos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Rounded Rectangle 16"/>
          <p:cNvSpPr/>
          <p:nvPr/>
        </p:nvSpPr>
        <p:spPr>
          <a:xfrm>
            <a:off x="685800" y="3977640"/>
            <a:ext cx="10834920" cy="1050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9" name="Rectangle 17"/>
          <p:cNvSpPr/>
          <p:nvPr/>
        </p:nvSpPr>
        <p:spPr>
          <a:xfrm>
            <a:off x="685800" y="3977640"/>
            <a:ext cx="72360" cy="10508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0" name="TextBox 18"/>
          <p:cNvSpPr/>
          <p:nvPr/>
        </p:nvSpPr>
        <p:spPr>
          <a:xfrm>
            <a:off x="850320" y="4105800"/>
            <a:ext cx="1054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TextBox 19"/>
          <p:cNvSpPr/>
          <p:nvPr/>
        </p:nvSpPr>
        <p:spPr>
          <a:xfrm>
            <a:off x="850320" y="4480560"/>
            <a:ext cx="10542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executável por comando padronizado, com instruções, evidências de execução e correções explicadas.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4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1135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Containers Explicados Sem Excesso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essencial para operar e diagnosticar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140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1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2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Imagem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Pacote versionável da aplicação.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Criada por Dockerfile.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 ser reproduzível, pequena e sem segredos.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5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6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Container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Processo isolado criado a partir da imagem.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 logs, portas, variáveis e ciclo de vida.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 morrer: por isso health check e logs importam.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9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0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Orquestra múltiplos serviços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 API, banco, rede e volumes.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Ótimo para laboratório e validação integrada.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153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Por Que Containers?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problema que containers resolvem de verdade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159" name="Rounded Rectangle 5"/>
          <p:cNvSpPr/>
          <p:nvPr/>
        </p:nvSpPr>
        <p:spPr>
          <a:xfrm>
            <a:off x="685800" y="1508760"/>
            <a:ext cx="342828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0" name="Rectangle 6"/>
          <p:cNvSpPr/>
          <p:nvPr/>
        </p:nvSpPr>
        <p:spPr>
          <a:xfrm>
            <a:off x="685800" y="1508760"/>
            <a:ext cx="72360" cy="15994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1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problema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TextBox 8"/>
          <p:cNvSpPr/>
          <p:nvPr/>
        </p:nvSpPr>
        <p:spPr>
          <a:xfrm>
            <a:off x="85032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Diferenças de SO, versão de linguagem e dependências geram bugs que só aparecem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Rounded Rectangle 9"/>
          <p:cNvSpPr/>
          <p:nvPr/>
        </p:nvSpPr>
        <p:spPr>
          <a:xfrm>
            <a:off x="4389120" y="1508760"/>
            <a:ext cx="342828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4" name="Rectangle 10"/>
          <p:cNvSpPr/>
          <p:nvPr/>
        </p:nvSpPr>
        <p:spPr>
          <a:xfrm>
            <a:off x="4389120" y="1508760"/>
            <a:ext cx="72360" cy="15994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5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VM vs container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VM virtualiza o hardware inteiro: pesada, minutos para subir.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 compartilha o kernel do host: leve, segundos para subir.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Rounded Rectangle 13"/>
          <p:cNvSpPr/>
          <p:nvPr/>
        </p:nvSpPr>
        <p:spPr>
          <a:xfrm>
            <a:off x="8092440" y="1508760"/>
            <a:ext cx="342828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8" name="Rectangle 14"/>
          <p:cNvSpPr/>
          <p:nvPr/>
        </p:nvSpPr>
        <p:spPr>
          <a:xfrm>
            <a:off x="8092440" y="1508760"/>
            <a:ext cx="72360" cy="15994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9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o container garante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mesmo ambiente do laptop do dev até a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Elimina uma classe inteira de bugs “ambiente-dependentes”.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172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Dockerfile - Roteiro de Explicação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Use como base e adapte para a stack escolhida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7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178" name="Rounded Rectangle 5"/>
          <p:cNvSpPr/>
          <p:nvPr/>
        </p:nvSpPr>
        <p:spPr>
          <a:xfrm>
            <a:off x="731520" y="1481400"/>
            <a:ext cx="534852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9" name="TextBox 6"/>
          <p:cNvSpPr/>
          <p:nvPr/>
        </p:nvSpPr>
        <p:spPr>
          <a:xfrm>
            <a:off x="896040" y="1609200"/>
            <a:ext cx="5019480" cy="18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FROM node:22-alpine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WORKDIR /app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COPY package*.json ./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RUN npm ci --omit=dev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COPY .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 NODE_ENV=production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EXPOSE 3000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CMD ["npm", "start"]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Rounded Rectangle 7"/>
          <p:cNvSpPr/>
          <p:nvPr/>
        </p:nvSpPr>
        <p:spPr>
          <a:xfrm>
            <a:off x="6355080" y="148140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1" name="Rectangle 8"/>
          <p:cNvSpPr/>
          <p:nvPr/>
        </p:nvSpPr>
        <p:spPr>
          <a:xfrm>
            <a:off x="6355080" y="1481400"/>
            <a:ext cx="72360" cy="1328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2" name="TextBox 9"/>
          <p:cNvSpPr/>
          <p:nvPr/>
        </p:nvSpPr>
        <p:spPr>
          <a:xfrm>
            <a:off x="6519600" y="160920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O que comentar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TextBox 10"/>
          <p:cNvSpPr/>
          <p:nvPr/>
        </p:nvSpPr>
        <p:spPr>
          <a:xfrm>
            <a:off x="6519600" y="1965960"/>
            <a:ext cx="469008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Base image, diretório de trabalho, cópia de dependências, cache, variáveis, porta e comando final.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Rounded Rectangle 11"/>
          <p:cNvSpPr/>
          <p:nvPr/>
        </p:nvSpPr>
        <p:spPr>
          <a:xfrm>
            <a:off x="6355080" y="291996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5" name="Rectangle 12"/>
          <p:cNvSpPr/>
          <p:nvPr/>
        </p:nvSpPr>
        <p:spPr>
          <a:xfrm>
            <a:off x="6355080" y="2919960"/>
            <a:ext cx="72360" cy="1328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6" name="TextBox 13"/>
          <p:cNvSpPr/>
          <p:nvPr/>
        </p:nvSpPr>
        <p:spPr>
          <a:xfrm>
            <a:off x="6519600" y="304812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Cuidados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TextBox 14"/>
          <p:cNvSpPr/>
          <p:nvPr/>
        </p:nvSpPr>
        <p:spPr>
          <a:xfrm>
            <a:off x="6519600" y="3404520"/>
            <a:ext cx="469008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Não copiar .env, node_modules, chaves ou arquivos desnecessários.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Usar .dockerignore e imagem base adequada.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Rounded Rectangle 15"/>
          <p:cNvSpPr/>
          <p:nvPr/>
        </p:nvSpPr>
        <p:spPr>
          <a:xfrm>
            <a:off x="6355080" y="435852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9" name="Rectangle 16"/>
          <p:cNvSpPr/>
          <p:nvPr/>
        </p:nvSpPr>
        <p:spPr>
          <a:xfrm>
            <a:off x="6355080" y="4358520"/>
            <a:ext cx="72360" cy="1328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0" name="TextBox 17"/>
          <p:cNvSpPr/>
          <p:nvPr/>
        </p:nvSpPr>
        <p:spPr>
          <a:xfrm>
            <a:off x="6519600" y="448668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1" name="TextBox 18"/>
          <p:cNvSpPr/>
          <p:nvPr/>
        </p:nvSpPr>
        <p:spPr>
          <a:xfrm>
            <a:off x="6519600" y="4843440"/>
            <a:ext cx="469008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build deve funcionar do zero.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run deve expor porta e responder endpoint simples.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2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193" name="TextBox 2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TextBox 2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Boas Práticas de Dockerfile: Camadas e Cache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Imagens mais rápidas de construir e mais leves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9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199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0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1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Como o cache funciona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Cada instrução vira uma camada.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reaproveita camadas que não mudaram.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 isso: copiar package.json antes de copiar todo 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4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5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Multi-stage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etapa compila o projeto.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Outra etapa final só carrega o artefato pronto.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Imagem final menor, sem ferramentas de build sobrando.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8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9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Escolha de imagem base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TextBox 16"/>
          <p:cNvSpPr/>
          <p:nvPr/>
        </p:nvSpPr>
        <p:spPr>
          <a:xfrm>
            <a:off x="825696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alpine: mínima, pode faltar biblioteca do sistema.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slim: equilíbrio entre tamanho e compatibilidade.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full: mais compatível, porém mais pesada.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1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212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Compose - Roteiro de Laboratório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Padronizar execução local com serviços integrados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1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218" name="Rounded Rectangle 5"/>
          <p:cNvSpPr/>
          <p:nvPr/>
        </p:nvSpPr>
        <p:spPr>
          <a:xfrm>
            <a:off x="731520" y="1481400"/>
            <a:ext cx="534852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9" name="TextBox 6"/>
          <p:cNvSpPr/>
          <p:nvPr/>
        </p:nvSpPr>
        <p:spPr>
          <a:xfrm>
            <a:off x="896040" y="1609200"/>
            <a:ext cx="5019480" cy="29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services: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app: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build: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ports: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"3000:3000"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environment: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DATABASE_URL: postgres://app:app@db:5432/app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depends_on: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db: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condition: service_healthy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db: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image: postgres:16-alpine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environment: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POSTGRES_USER: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POSTGRES_PASSWORD: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POSTGRES_DB: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healthcheck: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test: ["CMD-SHELL", "pg_isready -U app"]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interval: 5s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retries: 5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Rounded Rectangle 7"/>
          <p:cNvSpPr/>
          <p:nvPr/>
        </p:nvSpPr>
        <p:spPr>
          <a:xfrm>
            <a:off x="6355080" y="148140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1" name="Rectangle 8"/>
          <p:cNvSpPr/>
          <p:nvPr/>
        </p:nvSpPr>
        <p:spPr>
          <a:xfrm>
            <a:off x="6355080" y="1481400"/>
            <a:ext cx="72360" cy="1328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2" name="TextBox 9"/>
          <p:cNvSpPr/>
          <p:nvPr/>
        </p:nvSpPr>
        <p:spPr>
          <a:xfrm>
            <a:off x="6519600" y="160920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explicar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TextBox 10"/>
          <p:cNvSpPr/>
          <p:nvPr/>
        </p:nvSpPr>
        <p:spPr>
          <a:xfrm>
            <a:off x="6519600" y="1965960"/>
            <a:ext cx="469008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Cada serviço tem imagem/build, portas, variáveis e dependências.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nome do serviço vira hostname na rede do Compose.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Rounded Rectangle 11"/>
          <p:cNvSpPr/>
          <p:nvPr/>
        </p:nvSpPr>
        <p:spPr>
          <a:xfrm>
            <a:off x="6355080" y="291996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5" name="Rectangle 12"/>
          <p:cNvSpPr/>
          <p:nvPr/>
        </p:nvSpPr>
        <p:spPr>
          <a:xfrm>
            <a:off x="6355080" y="2919960"/>
            <a:ext cx="72360" cy="1328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6" name="TextBox 13"/>
          <p:cNvSpPr/>
          <p:nvPr/>
        </p:nvSpPr>
        <p:spPr>
          <a:xfrm>
            <a:off x="6519600" y="304812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Comandos em sala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TextBox 14"/>
          <p:cNvSpPr/>
          <p:nvPr/>
        </p:nvSpPr>
        <p:spPr>
          <a:xfrm>
            <a:off x="6519600" y="3404520"/>
            <a:ext cx="469008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up --build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logs -f app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down -v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Rounded Rectangle 15"/>
          <p:cNvSpPr/>
          <p:nvPr/>
        </p:nvSpPr>
        <p:spPr>
          <a:xfrm>
            <a:off x="6355080" y="4358520"/>
            <a:ext cx="4982760" cy="1328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9" name="Rectangle 16"/>
          <p:cNvSpPr/>
          <p:nvPr/>
        </p:nvSpPr>
        <p:spPr>
          <a:xfrm>
            <a:off x="6355080" y="4358520"/>
            <a:ext cx="72360" cy="1328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0" name="TextBox 17"/>
          <p:cNvSpPr/>
          <p:nvPr/>
        </p:nvSpPr>
        <p:spPr>
          <a:xfrm>
            <a:off x="6519600" y="4486680"/>
            <a:ext cx="46900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Evidência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TextBox 18"/>
          <p:cNvSpPr/>
          <p:nvPr/>
        </p:nvSpPr>
        <p:spPr>
          <a:xfrm>
            <a:off x="6519600" y="4843440"/>
            <a:ext cx="469008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Print/log da aplicação subindo.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Endpoint funcionando.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README com comando único de execução.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2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233" name="TextBox 2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TextBox 2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Redes e Volumes no Docker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Dois conceitos que resolvem a maioria das dúvidas de Compose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3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239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0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1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Containers no mesmo Compose se enxergam pelo nome do serviço, como hostname.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Portas expostas ligam o container ao host.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4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5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Volumes nomeados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Dados sobrevivem à recriação do container.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Essencial para banco de dados e qualquer estado persistente.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8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9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Bind mounts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Mapeiam uma pasta do host para dentro do container.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Úteis em desenvolvimento para hot-reload de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5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252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Troubleshooting de Containers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Uma ordem para não perder tempo reescrevendo código à toa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5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258" name="Rounded Rectangle 5"/>
          <p:cNvSpPr/>
          <p:nvPr/>
        </p:nvSpPr>
        <p:spPr>
          <a:xfrm>
            <a:off x="68580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9" name="Rectangle 6"/>
          <p:cNvSpPr/>
          <p:nvPr/>
        </p:nvSpPr>
        <p:spPr>
          <a:xfrm>
            <a:off x="685800" y="1508760"/>
            <a:ext cx="72360" cy="2312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0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Comandos de investigação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TextBox 8"/>
          <p:cNvSpPr/>
          <p:nvPr/>
        </p:nvSpPr>
        <p:spPr>
          <a:xfrm>
            <a:off x="850320" y="1993320"/>
            <a:ext cx="3135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ps — o que está rodando?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logs &lt;id&gt; — o que o processo disse?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exec -it &lt;id&gt; sh — inspecionar por dentro.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inspect &lt;id&gt; — configuração completa.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Rounded Rectangle 9"/>
          <p:cNvSpPr/>
          <p:nvPr/>
        </p:nvSpPr>
        <p:spPr>
          <a:xfrm>
            <a:off x="438912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3" name="Rectangle 10"/>
          <p:cNvSpPr/>
          <p:nvPr/>
        </p:nvSpPr>
        <p:spPr>
          <a:xfrm>
            <a:off x="4389120" y="1508760"/>
            <a:ext cx="72360" cy="231264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4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Falhas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Porta não exposta ou não mapeada.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Variável de ambiente faltando.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(banco) ainda não está pronta.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Permissão de arquivo incorreta.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Rounded Rectangle 13"/>
          <p:cNvSpPr/>
          <p:nvPr/>
        </p:nvSpPr>
        <p:spPr>
          <a:xfrm>
            <a:off x="8092440" y="1508760"/>
            <a:ext cx="342828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7" name="Rectangle 14"/>
          <p:cNvSpPr/>
          <p:nvPr/>
        </p:nvSpPr>
        <p:spPr>
          <a:xfrm>
            <a:off x="8092440" y="1508760"/>
            <a:ext cx="72360" cy="2312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8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Ordem de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container subiu? Os logs mostram erro? A variável está correta? A dependência está saudável?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Siga essa ordem antes de reescrever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271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4 - Containerização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Sair do “funciona na minha máquina” com evidência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7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277" name="Rounded Rectangle 5"/>
          <p:cNvSpPr/>
          <p:nvPr/>
        </p:nvSpPr>
        <p:spPr>
          <a:xfrm>
            <a:off x="68580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8" name="Rectangle 6"/>
          <p:cNvSpPr/>
          <p:nvPr/>
        </p:nvSpPr>
        <p:spPr>
          <a:xfrm>
            <a:off x="685800" y="1508760"/>
            <a:ext cx="72360" cy="2550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TextBox 8"/>
          <p:cNvSpPr/>
          <p:nvPr/>
        </p:nvSpPr>
        <p:spPr>
          <a:xfrm>
            <a:off x="850320" y="1993320"/>
            <a:ext cx="31356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aplicação sobe com um único comando, a partir de um clone limpo?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variável de ambiente é obrigatória?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o grupo diagnosticou a primeira falha de container?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a IA sugeriu que precisou ser corrigido?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1" name="Rounded Rectangle 9"/>
          <p:cNvSpPr/>
          <p:nvPr/>
        </p:nvSpPr>
        <p:spPr>
          <a:xfrm>
            <a:off x="438912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2" name="Rectangle 10"/>
          <p:cNvSpPr/>
          <p:nvPr/>
        </p:nvSpPr>
        <p:spPr>
          <a:xfrm>
            <a:off x="4389120" y="1508760"/>
            <a:ext cx="72360" cy="2550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" name="TextBox 12"/>
          <p:cNvSpPr/>
          <p:nvPr/>
        </p:nvSpPr>
        <p:spPr>
          <a:xfrm>
            <a:off x="4553640" y="1993320"/>
            <a:ext cx="31356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 versionados.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respondendo após docker compose up.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 ou log da stack subindo com sucesso.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falha de container diagnosticada e resolvida.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Rounded Rectangle 13"/>
          <p:cNvSpPr/>
          <p:nvPr/>
        </p:nvSpPr>
        <p:spPr>
          <a:xfrm>
            <a:off x="809244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6" name="Rectangle 14"/>
          <p:cNvSpPr/>
          <p:nvPr/>
        </p:nvSpPr>
        <p:spPr>
          <a:xfrm>
            <a:off x="8092440" y="1508760"/>
            <a:ext cx="72360" cy="2550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Dockerfile, compose.yaml e README atualizados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 de execução anexada.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Rounded Rectangle 17"/>
          <p:cNvSpPr/>
          <p:nvPr/>
        </p:nvSpPr>
        <p:spPr>
          <a:xfrm>
            <a:off x="685800" y="422460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0" name="Rectangle 18"/>
          <p:cNvSpPr/>
          <p:nvPr/>
        </p:nvSpPr>
        <p:spPr>
          <a:xfrm>
            <a:off x="685800" y="422460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1" name="TextBox 19"/>
          <p:cNvSpPr/>
          <p:nvPr/>
        </p:nvSpPr>
        <p:spPr>
          <a:xfrm>
            <a:off x="850320" y="435240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TextBox 20"/>
          <p:cNvSpPr/>
          <p:nvPr/>
        </p:nvSpPr>
        <p:spPr>
          <a:xfrm>
            <a:off x="850320" y="470916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Compõe os 20% de Containers/Compose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93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294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5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Containers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Use IA para diagnosticar, não para colar segredos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9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1300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760" cy="401760"/>
          </a:xfrm>
          <a:prstGeom prst="rect">
            <a:avLst/>
          </a:prstGeom>
          <a:ln w="0">
            <a:noFill/>
          </a:ln>
        </p:spPr>
      </p:pic>
      <p:sp>
        <p:nvSpPr>
          <p:cNvPr id="1301" name="Rounded Rectangle 6"/>
          <p:cNvSpPr/>
          <p:nvPr/>
        </p:nvSpPr>
        <p:spPr>
          <a:xfrm>
            <a:off x="68580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2" name="Rectangle 7"/>
          <p:cNvSpPr/>
          <p:nvPr/>
        </p:nvSpPr>
        <p:spPr>
          <a:xfrm>
            <a:off x="685800" y="1508760"/>
            <a:ext cx="72360" cy="1736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3" name="TextBox 8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 de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TextBox 9"/>
          <p:cNvSpPr/>
          <p:nvPr/>
        </p:nvSpPr>
        <p:spPr>
          <a:xfrm>
            <a:off x="85032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Este build Docker falhou. Liste causas prováveis e comandos para validar antes de alterar o Dockerfile.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Dockerfile: &lt;trecho&gt;. Log: &lt;trecho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Rounded Rectangle 10"/>
          <p:cNvSpPr/>
          <p:nvPr/>
        </p:nvSpPr>
        <p:spPr>
          <a:xfrm>
            <a:off x="438912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6" name="Rectangle 11"/>
          <p:cNvSpPr/>
          <p:nvPr/>
        </p:nvSpPr>
        <p:spPr>
          <a:xfrm>
            <a:off x="4389120" y="1508760"/>
            <a:ext cx="72360" cy="1736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7" name="TextBox 12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" name="TextBox 13"/>
          <p:cNvSpPr/>
          <p:nvPr/>
        </p:nvSpPr>
        <p:spPr>
          <a:xfrm>
            <a:off x="4553640" y="1993320"/>
            <a:ext cx="3135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este compose.yaml e aponte problemas de rede, portas, variáveis, depends_on, volumes e health checks.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Arquivo: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9" name="Rounded Rectangle 14"/>
          <p:cNvSpPr/>
          <p:nvPr/>
        </p:nvSpPr>
        <p:spPr>
          <a:xfrm>
            <a:off x="809244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0" name="Rectangle 15"/>
          <p:cNvSpPr/>
          <p:nvPr/>
        </p:nvSpPr>
        <p:spPr>
          <a:xfrm>
            <a:off x="8092440" y="1508760"/>
            <a:ext cx="72360" cy="1736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1" name="TextBox 16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README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2" name="TextBox 17"/>
          <p:cNvSpPr/>
          <p:nvPr/>
        </p:nvSpPr>
        <p:spPr>
          <a:xfrm>
            <a:off x="825696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Gere instruções curtas para executar este projeto com Docker Compose: pré-requisitos, comando de subida, teste de saúde e limpeza.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Contexto: &lt;stack&gt;.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13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314" name="TextBox 19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5" name="TextBox 20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4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5: CD e governança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1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320" name="Rounded Rectangle 5"/>
          <p:cNvSpPr/>
          <p:nvPr/>
        </p:nvSpPr>
        <p:spPr>
          <a:xfrm>
            <a:off x="685800" y="1508760"/>
            <a:ext cx="108349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1" name="Rectangle 6"/>
          <p:cNvSpPr/>
          <p:nvPr/>
        </p:nvSpPr>
        <p:spPr>
          <a:xfrm>
            <a:off x="685800" y="150876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2" name="TextBox 7"/>
          <p:cNvSpPr/>
          <p:nvPr/>
        </p:nvSpPr>
        <p:spPr>
          <a:xfrm>
            <a:off x="850320" y="163692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3" name="TextBox 8"/>
          <p:cNvSpPr/>
          <p:nvPr/>
        </p:nvSpPr>
        <p:spPr>
          <a:xfrm>
            <a:off x="850320" y="1993320"/>
            <a:ext cx="105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Integrar build de imagem ao pipeline, se possível.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Preparar uma versão candidata para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5: critérios de promoção e 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4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325" name="TextBox 1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6" name="TextBox 1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TextBox 1"/>
          <p:cNvSpPr/>
          <p:nvPr/>
        </p:nvSpPr>
        <p:spPr>
          <a:xfrm>
            <a:off x="777240" y="2286000"/>
            <a:ext cx="106063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5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8" name="TextBox 2"/>
          <p:cNvSpPr/>
          <p:nvPr/>
        </p:nvSpPr>
        <p:spPr>
          <a:xfrm>
            <a:off x="1920240" y="3090600"/>
            <a:ext cx="8320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475569"/>
                </a:solidFill>
                <a:latin typeface="Aptos"/>
              </a:rPr>
              <a:t>25/09/2026 | CD, configuração, segurança e governança de IA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9" name="TextBox 3"/>
          <p:cNvSpPr/>
          <p:nvPr/>
        </p:nvSpPr>
        <p:spPr>
          <a:xfrm>
            <a:off x="5532120" y="626364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66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30" name="Picture 4" descr="e5_shield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400" cy="959400"/>
          </a:xfrm>
          <a:prstGeom prst="rect">
            <a:avLst/>
          </a:prstGeom>
          <a:ln w="0">
            <a:noFill/>
          </a:ln>
        </p:spPr>
      </p:pic>
      <p:pic>
        <p:nvPicPr>
          <p:cNvPr id="1331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5 - Entrega e Governança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Automação com controle, segurança, rollback e governança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5" name="Rounded Rectangle 4"/>
          <p:cNvSpPr/>
          <p:nvPr/>
        </p:nvSpPr>
        <p:spPr>
          <a:xfrm>
            <a:off x="685800" y="1417320"/>
            <a:ext cx="342828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6" name="Rectangle 5"/>
          <p:cNvSpPr/>
          <p:nvPr/>
        </p:nvSpPr>
        <p:spPr>
          <a:xfrm>
            <a:off x="685800" y="1417320"/>
            <a:ext cx="72360" cy="21481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7" name="TextBox 6"/>
          <p:cNvSpPr/>
          <p:nvPr/>
        </p:nvSpPr>
        <p:spPr>
          <a:xfrm>
            <a:off x="85032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 contínua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TextBox 7"/>
          <p:cNvSpPr/>
          <p:nvPr/>
        </p:nvSpPr>
        <p:spPr>
          <a:xfrm>
            <a:off x="850320" y="1920240"/>
            <a:ext cx="31356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Promoção de artefatos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Ambientes e aprovações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 e feature flags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Rounded Rectangle 8"/>
          <p:cNvSpPr/>
          <p:nvPr/>
        </p:nvSpPr>
        <p:spPr>
          <a:xfrm>
            <a:off x="4389120" y="1417320"/>
            <a:ext cx="342828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0" name="Rectangle 9"/>
          <p:cNvSpPr/>
          <p:nvPr/>
        </p:nvSpPr>
        <p:spPr>
          <a:xfrm>
            <a:off x="4389120" y="1417320"/>
            <a:ext cx="72360" cy="21481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1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Configuração e IaC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" name="TextBox 11"/>
          <p:cNvSpPr/>
          <p:nvPr/>
        </p:nvSpPr>
        <p:spPr>
          <a:xfrm>
            <a:off x="4553640" y="1920240"/>
            <a:ext cx="31356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Configuração declarativa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Noções de IaC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GitOps como evolução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Padronização e rastreabilidade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Rounded Rectangle 12"/>
          <p:cNvSpPr/>
          <p:nvPr/>
        </p:nvSpPr>
        <p:spPr>
          <a:xfrm>
            <a:off x="8092440" y="1417320"/>
            <a:ext cx="342828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4" name="Rectangle 13"/>
          <p:cNvSpPr/>
          <p:nvPr/>
        </p:nvSpPr>
        <p:spPr>
          <a:xfrm>
            <a:off x="8092440" y="1417320"/>
            <a:ext cx="72360" cy="214812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5" name="TextBox 14"/>
          <p:cNvSpPr/>
          <p:nvPr/>
        </p:nvSpPr>
        <p:spPr>
          <a:xfrm>
            <a:off x="825696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Segurança e IA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TextBox 15"/>
          <p:cNvSpPr/>
          <p:nvPr/>
        </p:nvSpPr>
        <p:spPr>
          <a:xfrm>
            <a:off x="8256960" y="1920240"/>
            <a:ext cx="31356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Segredos fora do código e dos prompts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Permissões mínimas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Scan de dependências/imagens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Gates de segurança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Validar alucinação, vazamento e prompt injection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7" name="Rounded Rectangle 16"/>
          <p:cNvSpPr/>
          <p:nvPr/>
        </p:nvSpPr>
        <p:spPr>
          <a:xfrm>
            <a:off x="685800" y="4069080"/>
            <a:ext cx="10834920" cy="913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8" name="Rectangle 17"/>
          <p:cNvSpPr/>
          <p:nvPr/>
        </p:nvSpPr>
        <p:spPr>
          <a:xfrm>
            <a:off x="685800" y="4069080"/>
            <a:ext cx="72360" cy="9136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9" name="TextBox 18"/>
          <p:cNvSpPr/>
          <p:nvPr/>
        </p:nvSpPr>
        <p:spPr>
          <a:xfrm>
            <a:off x="850320" y="4197240"/>
            <a:ext cx="1054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TextBox 19"/>
          <p:cNvSpPr/>
          <p:nvPr/>
        </p:nvSpPr>
        <p:spPr>
          <a:xfrm>
            <a:off x="850320" y="4572000"/>
            <a:ext cx="10542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Plano de release com critérios de promoção, rollback, segurança mínima, rastreabilidade e regras de uso responsável de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2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53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1354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CD na Prática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foco é controlar a mudança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5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359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0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1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 contínua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 gerado no CI é promovido.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 recebe versão rastreável.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explicam mudança e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4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5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Controle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Aprovação quando houver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 e segredos fora do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Permissões mínimas no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8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9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Rollback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Voltar para versão anterior.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Reverter feature flag.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Restaurar configuração conhecida.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Ter plano documentado antes do problema.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372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Estratégias de Deploy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Comparar abordagens antes de escolher uma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7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378" name="Rounded Rectangle 5"/>
          <p:cNvSpPr/>
          <p:nvPr/>
        </p:nvSpPr>
        <p:spPr>
          <a:xfrm>
            <a:off x="685800" y="1600200"/>
            <a:ext cx="3428280" cy="233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9" name="Rectangle 6"/>
          <p:cNvSpPr/>
          <p:nvPr/>
        </p:nvSpPr>
        <p:spPr>
          <a:xfrm>
            <a:off x="685800" y="1600200"/>
            <a:ext cx="72360" cy="2331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0" name="TextBox 7"/>
          <p:cNvSpPr/>
          <p:nvPr/>
        </p:nvSpPr>
        <p:spPr>
          <a:xfrm>
            <a:off x="850320" y="172836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Rolling deploy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Rounded Rectangle 8"/>
          <p:cNvSpPr/>
          <p:nvPr/>
        </p:nvSpPr>
        <p:spPr>
          <a:xfrm>
            <a:off x="85032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2" name="Rounded Rectangle 9"/>
          <p:cNvSpPr/>
          <p:nvPr/>
        </p:nvSpPr>
        <p:spPr>
          <a:xfrm>
            <a:off x="121608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3" name="Rounded Rectangle 10"/>
          <p:cNvSpPr/>
          <p:nvPr/>
        </p:nvSpPr>
        <p:spPr>
          <a:xfrm>
            <a:off x="158184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4" name="Rounded Rectangle 11"/>
          <p:cNvSpPr/>
          <p:nvPr/>
        </p:nvSpPr>
        <p:spPr>
          <a:xfrm>
            <a:off x="194760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5" name="TextBox 12"/>
          <p:cNvSpPr/>
          <p:nvPr/>
        </p:nvSpPr>
        <p:spPr>
          <a:xfrm>
            <a:off x="850320" y="2560320"/>
            <a:ext cx="313560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Substitui instâncias antigas pelas novas aos poucos.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Simples, mas o rollback não é instantâneo.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6" name="Rounded Rectangle 13"/>
          <p:cNvSpPr/>
          <p:nvPr/>
        </p:nvSpPr>
        <p:spPr>
          <a:xfrm>
            <a:off x="4389120" y="1600200"/>
            <a:ext cx="3428280" cy="233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7" name="Rectangle 14"/>
          <p:cNvSpPr/>
          <p:nvPr/>
        </p:nvSpPr>
        <p:spPr>
          <a:xfrm>
            <a:off x="4389120" y="1600200"/>
            <a:ext cx="72360" cy="23310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8" name="TextBox 15"/>
          <p:cNvSpPr/>
          <p:nvPr/>
        </p:nvSpPr>
        <p:spPr>
          <a:xfrm>
            <a:off x="4553640" y="172836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Blue-green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Rounded Rectangle 16"/>
          <p:cNvSpPr/>
          <p:nvPr/>
        </p:nvSpPr>
        <p:spPr>
          <a:xfrm>
            <a:off x="455364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0" name="Rounded Rectangle 17"/>
          <p:cNvSpPr/>
          <p:nvPr/>
        </p:nvSpPr>
        <p:spPr>
          <a:xfrm>
            <a:off x="491940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1" name="Rounded Rectangle 18"/>
          <p:cNvSpPr/>
          <p:nvPr/>
        </p:nvSpPr>
        <p:spPr>
          <a:xfrm>
            <a:off x="528516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2" name="Rounded Rectangle 19"/>
          <p:cNvSpPr/>
          <p:nvPr/>
        </p:nvSpPr>
        <p:spPr>
          <a:xfrm>
            <a:off x="565092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3" name="TextBox 20"/>
          <p:cNvSpPr/>
          <p:nvPr/>
        </p:nvSpPr>
        <p:spPr>
          <a:xfrm>
            <a:off x="4553640" y="2560320"/>
            <a:ext cx="3135600" cy="77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Duas versões completas rodando; a troca de tráfego é instantânea.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Rollback rápido, porém custa recursos em dobro.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Rounded Rectangle 21"/>
          <p:cNvSpPr/>
          <p:nvPr/>
        </p:nvSpPr>
        <p:spPr>
          <a:xfrm>
            <a:off x="8092440" y="1600200"/>
            <a:ext cx="3428280" cy="233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5" name="Rectangle 22"/>
          <p:cNvSpPr/>
          <p:nvPr/>
        </p:nvSpPr>
        <p:spPr>
          <a:xfrm>
            <a:off x="8092440" y="1600200"/>
            <a:ext cx="72360" cy="2331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6" name="TextBox 23"/>
          <p:cNvSpPr/>
          <p:nvPr/>
        </p:nvSpPr>
        <p:spPr>
          <a:xfrm>
            <a:off x="8256960" y="172836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Canary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Rounded Rectangle 24"/>
          <p:cNvSpPr/>
          <p:nvPr/>
        </p:nvSpPr>
        <p:spPr>
          <a:xfrm>
            <a:off x="825696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8" name="Rounded Rectangle 25"/>
          <p:cNvSpPr/>
          <p:nvPr/>
        </p:nvSpPr>
        <p:spPr>
          <a:xfrm>
            <a:off x="862272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9" name="Rounded Rectangle 26"/>
          <p:cNvSpPr/>
          <p:nvPr/>
        </p:nvSpPr>
        <p:spPr>
          <a:xfrm>
            <a:off x="898848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0" name="Rounded Rectangle 27"/>
          <p:cNvSpPr/>
          <p:nvPr/>
        </p:nvSpPr>
        <p:spPr>
          <a:xfrm>
            <a:off x="9354240" y="2103120"/>
            <a:ext cx="291960" cy="29196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1" name="TextBox 28"/>
          <p:cNvSpPr/>
          <p:nvPr/>
        </p:nvSpPr>
        <p:spPr>
          <a:xfrm>
            <a:off x="8256960" y="2560320"/>
            <a:ext cx="313560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Libera para uma fatia pequena de usuários primeiro.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Expande se as métricas estiverem saudáveis — risco pequeno em caso de erro.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Rounded Rectangle 29"/>
          <p:cNvSpPr/>
          <p:nvPr/>
        </p:nvSpPr>
        <p:spPr>
          <a:xfrm>
            <a:off x="685800" y="4160520"/>
            <a:ext cx="255240" cy="255240"/>
          </a:xfrm>
          <a:prstGeom prst="roundRect">
            <a:avLst>
              <a:gd name="adj" fmla="val 16667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3" name="TextBox 30"/>
          <p:cNvSpPr/>
          <p:nvPr/>
        </p:nvSpPr>
        <p:spPr>
          <a:xfrm>
            <a:off x="1005840" y="4142160"/>
            <a:ext cx="20109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e6c7a"/>
                </a:solidFill>
                <a:latin typeface="Aptos"/>
              </a:rPr>
              <a:t>versão antiga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Rounded Rectangle 31"/>
          <p:cNvSpPr/>
          <p:nvPr/>
        </p:nvSpPr>
        <p:spPr>
          <a:xfrm>
            <a:off x="2743200" y="4160520"/>
            <a:ext cx="255240" cy="25524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5" name="TextBox 32"/>
          <p:cNvSpPr/>
          <p:nvPr/>
        </p:nvSpPr>
        <p:spPr>
          <a:xfrm>
            <a:off x="3063240" y="4142160"/>
            <a:ext cx="20109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e6c7a"/>
                </a:solidFill>
                <a:latin typeface="Aptos"/>
              </a:rPr>
              <a:t>versão nova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06" name="Picture 33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07" name="TextBox 34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TextBox 35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Feature Flags: Separando Deploy de Release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Colocar código em produção não é o mesmo que ativá-lo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413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4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5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conceito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TextBox 8"/>
          <p:cNvSpPr/>
          <p:nvPr/>
        </p:nvSpPr>
        <p:spPr>
          <a:xfrm>
            <a:off x="85032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Deployar o código não significa ativar a funcionalidade para todo mundo.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flag decide quem vê o quê e quando.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8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9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Usos práticos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0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Lançamento gradual para grupos de usuários.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 A/B entre variações.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Desligar rapidamente uma funcionalidade com bug, sem reverter o deploy inteiro.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2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3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Cuidado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4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Flags esquecidas viram dívida técnica.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Toda flag precisa ter dono e prazo previsto de remoção.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26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Configuração, Segredos e IaC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Conceitos que sustentam a prática de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3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432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3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4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Configuração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Valores que mudam por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Exemplos: URL, porta, modo debug, timeout.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deve exigir alteração de código para trocar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7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8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Segredos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Senha, token, chave privada, connection string sensível.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Nunca versionar ou colar em prompt.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secrets do provedor de CI/CD.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1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2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IaC/GitOps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Infra declarada em arquivo e revisada por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GitOps: estado desejado versionado.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Entra como noção e evolução, não como laboratório obrigatório.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4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45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DevSecOps Mínimo para 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Gates simples que cabem no projeto integrador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5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451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2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3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Código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4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Lint/análise estática.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mínimos em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de entrada de usuário e tratamento de erro.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6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7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Dependências/imagem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Checar pacotes vulneráveis.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imagem desatualizada ou grande demais.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rodar container com privilégio desnecessário.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0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1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Segredos mascarados.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Permissão mínima do token.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sem dados sensíveis.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de segurança deve bloquear ou justificar exceção.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6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64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Correção de Vulnerabilidades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De "encontrado" para "corrigido" — automaticamente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6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470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1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2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GitHub Copilot Autofix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 CodeQL + LLM; cobre 90%+ dos tipos de alerta em JS/TS/Java/Python.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Resolve 2/3 das vulnerabilidades com pouca edição — 3x mais rápido que manual.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5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6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Snyk Agent Fix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Arquitetura agêntica (2026), usa base de 35 mil correções de especialistas como contexto.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 a correção falhar no re-scan, o erro volta pro modelo tentar de novo.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8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9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0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não muda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prioriza por risco e exploitabilidade, não só severidade.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Aceitar o fix ainda exige revisão humana e re-execução de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8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83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4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Governança de IA em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Regras que entram na avaliação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8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489" name="Rounded Rectangle 5"/>
          <p:cNvSpPr/>
          <p:nvPr/>
        </p:nvSpPr>
        <p:spPr>
          <a:xfrm>
            <a:off x="685800" y="1508760"/>
            <a:ext cx="528012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0" name="Rectangle 6"/>
          <p:cNvSpPr/>
          <p:nvPr/>
        </p:nvSpPr>
        <p:spPr>
          <a:xfrm>
            <a:off x="685800" y="1508760"/>
            <a:ext cx="72360" cy="23126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1" name="TextBox 7"/>
          <p:cNvSpPr/>
          <p:nvPr/>
        </p:nvSpPr>
        <p:spPr>
          <a:xfrm>
            <a:off x="850320" y="163692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Riscos a tratar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TextBox 8"/>
          <p:cNvSpPr/>
          <p:nvPr/>
        </p:nvSpPr>
        <p:spPr>
          <a:xfrm>
            <a:off x="850320" y="1993320"/>
            <a:ext cx="49874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Vazamento de segredos em prompts.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Alucinação de comandos, APIs ou flags.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Código inseguro gerado com confiança excessiva.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Prompt injection em contexto de logs, issues ou documentação.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intelectual: não saber defender o que foi entregue.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Rounded Rectangle 9"/>
          <p:cNvSpPr/>
          <p:nvPr/>
        </p:nvSpPr>
        <p:spPr>
          <a:xfrm>
            <a:off x="6240960" y="1508760"/>
            <a:ext cx="5280120" cy="2312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4" name="Rectangle 10"/>
          <p:cNvSpPr/>
          <p:nvPr/>
        </p:nvSpPr>
        <p:spPr>
          <a:xfrm>
            <a:off x="6240960" y="1508760"/>
            <a:ext cx="72360" cy="2312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5" name="TextBox 11"/>
          <p:cNvSpPr/>
          <p:nvPr/>
        </p:nvSpPr>
        <p:spPr>
          <a:xfrm>
            <a:off x="6405480" y="1636920"/>
            <a:ext cx="4987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Controles esperados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TextBox 12"/>
          <p:cNvSpPr/>
          <p:nvPr/>
        </p:nvSpPr>
        <p:spPr>
          <a:xfrm>
            <a:off x="6405480" y="1993320"/>
            <a:ext cx="49874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Mascarar dados sensíveis antes de usar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hipóteses e validações, não só resposta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Rodar testes, build e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Manter diff pequeno e rastreável.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prompt, saída útil, decisão e validação.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97" name="Picture 13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98" name="TextBox 14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TextBox 15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Agentes Autônomos de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 fronteira mais recente do uso de IA — e por que a validação humana continua obrigatória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0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504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5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6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já existe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TextBox 8"/>
          <p:cNvSpPr/>
          <p:nvPr/>
        </p:nvSpPr>
        <p:spPr>
          <a:xfrm>
            <a:off x="85032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Recebem uma issue, analisam o repositório, escrevem código, rodam teste e scan de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Trabalham em background, de forma assíncrona, sem intervenção durante a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8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9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0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Onde já é realidade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GitHub Copilot coding agent (GA) e agentes equivalentes de outros provedores.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Integrados a VS Code, JetBrains, Visual Studio e outros editores.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3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4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limite que não muda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TextBox 16"/>
          <p:cNvSpPr/>
          <p:nvPr/>
        </p:nvSpPr>
        <p:spPr>
          <a:xfrm>
            <a:off x="825696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Mesmo o agente mais autônomo para no Pull Request — não faz merge sozinho.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Quanto mais autônoma a IA, mais crítica fica a revisão humana antes da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1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517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5 - Release e Rollback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Controlar a mudança, não só publicá-la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2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523" name="Rounded Rectangle 5"/>
          <p:cNvSpPr/>
          <p:nvPr/>
        </p:nvSpPr>
        <p:spPr>
          <a:xfrm>
            <a:off x="68580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4" name="Rectangle 6"/>
          <p:cNvSpPr/>
          <p:nvPr/>
        </p:nvSpPr>
        <p:spPr>
          <a:xfrm>
            <a:off x="685800" y="1508760"/>
            <a:ext cx="72360" cy="2550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5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TextBox 8"/>
          <p:cNvSpPr/>
          <p:nvPr/>
        </p:nvSpPr>
        <p:spPr>
          <a:xfrm>
            <a:off x="850320" y="1993320"/>
            <a:ext cx="31356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precisa ser verdade para promover esta versão?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seria o primeiro sinal de que algo deu errado?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o grupo voltaria para a versão anterior em produção?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segredo não pode aparecer em log ou prompt?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Rounded Rectangle 9"/>
          <p:cNvSpPr/>
          <p:nvPr/>
        </p:nvSpPr>
        <p:spPr>
          <a:xfrm>
            <a:off x="438912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8" name="Rectangle 10"/>
          <p:cNvSpPr/>
          <p:nvPr/>
        </p:nvSpPr>
        <p:spPr>
          <a:xfrm>
            <a:off x="4389120" y="1508760"/>
            <a:ext cx="72360" cy="2550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9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preenchidas com o modelo fornecido.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Plano de rollback documentado.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Checklist de segurança básica revisado.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uso de IA em decisão de entrega, quando houver.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Rounded Rectangle 13"/>
          <p:cNvSpPr/>
          <p:nvPr/>
        </p:nvSpPr>
        <p:spPr>
          <a:xfrm>
            <a:off x="809244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2" name="Rectangle 14"/>
          <p:cNvSpPr/>
          <p:nvPr/>
        </p:nvSpPr>
        <p:spPr>
          <a:xfrm>
            <a:off x="8092440" y="1508760"/>
            <a:ext cx="72360" cy="2550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3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4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e plano de rollback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Checklist de segurança preenchido.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5" name="Rounded Rectangle 17"/>
          <p:cNvSpPr/>
          <p:nvPr/>
        </p:nvSpPr>
        <p:spPr>
          <a:xfrm>
            <a:off x="685800" y="422460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6" name="Rectangle 18"/>
          <p:cNvSpPr/>
          <p:nvPr/>
        </p:nvSpPr>
        <p:spPr>
          <a:xfrm>
            <a:off x="685800" y="422460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7" name="TextBox 19"/>
          <p:cNvSpPr/>
          <p:nvPr/>
        </p:nvSpPr>
        <p:spPr>
          <a:xfrm>
            <a:off x="850320" y="435240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8" name="TextBox 20"/>
          <p:cNvSpPr/>
          <p:nvPr/>
        </p:nvSpPr>
        <p:spPr>
          <a:xfrm>
            <a:off x="850320" y="470916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Alimenta os 15% de Entrega e Operação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39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540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Release Notes e Rollback - Modelo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Artefato simples para o Encontro 5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4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546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7" name="TextBox 6"/>
          <p:cNvSpPr/>
          <p:nvPr/>
        </p:nvSpPr>
        <p:spPr>
          <a:xfrm>
            <a:off x="896040" y="1609200"/>
            <a:ext cx="10414440" cy="37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Release v0.2.0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Objetivo: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&lt;qual problema esta versao resolve&gt;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Mudancas: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&lt;mudanca 1&gt;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&lt;mudanca 2&gt;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CI: &lt;link/print&gt;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Testes: &lt;resumo&gt;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Container: &lt;comando/print&gt;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&lt;risco e mitigacao&gt;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Plano de rollback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Quando acionar: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&lt;sinal de falha&gt;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Como voltar: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1. Identificar versao anterior estavel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2. Reverter tag/imagem/configuracao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3. Validar endpoint /health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4. Comunicar impacto e decisao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48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549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5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6: observabilidade e apresentação final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5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555" name="Rounded Rectangle 5"/>
          <p:cNvSpPr/>
          <p:nvPr/>
        </p:nvSpPr>
        <p:spPr>
          <a:xfrm>
            <a:off x="685800" y="1508760"/>
            <a:ext cx="10834920" cy="136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6" name="Rectangle 6"/>
          <p:cNvSpPr/>
          <p:nvPr/>
        </p:nvSpPr>
        <p:spPr>
          <a:xfrm>
            <a:off x="685800" y="1508760"/>
            <a:ext cx="72360" cy="1361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7" name="TextBox 7"/>
          <p:cNvSpPr/>
          <p:nvPr/>
        </p:nvSpPr>
        <p:spPr>
          <a:xfrm>
            <a:off x="850320" y="163692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TextBox 8"/>
          <p:cNvSpPr/>
          <p:nvPr/>
        </p:nvSpPr>
        <p:spPr>
          <a:xfrm>
            <a:off x="850320" y="1993320"/>
            <a:ext cx="105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Preparar observabilidade mínima.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Simular uma falha ou incidente simples.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Organizar apresentação final com evidências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9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560" name="TextBox 1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1" name="TextBox 1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TextBox 1"/>
          <p:cNvSpPr/>
          <p:nvPr/>
        </p:nvSpPr>
        <p:spPr>
          <a:xfrm>
            <a:off x="777240" y="2286000"/>
            <a:ext cx="106063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6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3" name="TextBox 2"/>
          <p:cNvSpPr/>
          <p:nvPr/>
        </p:nvSpPr>
        <p:spPr>
          <a:xfrm>
            <a:off x="1920240" y="3090600"/>
            <a:ext cx="8320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475569"/>
                </a:solidFill>
                <a:latin typeface="Aptos"/>
              </a:rPr>
              <a:t>26/09/2026 | Observabilidade, IA aplicada e projeto final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4" name="TextBox 3"/>
          <p:cNvSpPr/>
          <p:nvPr/>
        </p:nvSpPr>
        <p:spPr>
          <a:xfrm>
            <a:off x="5532120" y="6263640"/>
            <a:ext cx="1188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79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65" name="Picture 4" descr="e6_pulse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400" cy="959400"/>
          </a:xfrm>
          <a:prstGeom prst="rect">
            <a:avLst/>
          </a:prstGeom>
          <a:ln w="0">
            <a:noFill/>
          </a:ln>
        </p:spPr>
      </p:pic>
      <p:pic>
        <p:nvPicPr>
          <p:cNvPr id="1566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6 - Operação e Evidências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ciclo com dados, aprendizagem e análise assistida validada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0" name="Rounded Rectangle 4"/>
          <p:cNvSpPr/>
          <p:nvPr/>
        </p:nvSpPr>
        <p:spPr>
          <a:xfrm>
            <a:off x="685800" y="1417320"/>
            <a:ext cx="342828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1" name="Rectangle 5"/>
          <p:cNvSpPr/>
          <p:nvPr/>
        </p:nvSpPr>
        <p:spPr>
          <a:xfrm>
            <a:off x="685800" y="1417320"/>
            <a:ext cx="72360" cy="21481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2" name="TextBox 6"/>
          <p:cNvSpPr/>
          <p:nvPr/>
        </p:nvSpPr>
        <p:spPr>
          <a:xfrm>
            <a:off x="85032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Observabilidade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" name="TextBox 7"/>
          <p:cNvSpPr/>
          <p:nvPr/>
        </p:nvSpPr>
        <p:spPr>
          <a:xfrm>
            <a:off x="850320" y="1920240"/>
            <a:ext cx="31356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Logs, métricas e traces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Dashboards e alertas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SLI/SLO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IA para sumarizar logs e levantar hipóteses de causa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Validação operacional de release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Rounded Rectangle 8"/>
          <p:cNvSpPr/>
          <p:nvPr/>
        </p:nvSpPr>
        <p:spPr>
          <a:xfrm>
            <a:off x="4389120" y="1417320"/>
            <a:ext cx="342828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5" name="Rectangle 9"/>
          <p:cNvSpPr/>
          <p:nvPr/>
        </p:nvSpPr>
        <p:spPr>
          <a:xfrm>
            <a:off x="4389120" y="1417320"/>
            <a:ext cx="72360" cy="21481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6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Evolução do pipeline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7" name="TextBox 11"/>
          <p:cNvSpPr/>
          <p:nvPr/>
        </p:nvSpPr>
        <p:spPr>
          <a:xfrm>
            <a:off x="4553640" y="1920240"/>
            <a:ext cx="31356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Dados como base da automação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IA aplicada a troubleshooting e documentação operacional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AIOps como tendência, não substituto de decisão técnica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Automação orientada por eventos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Limites e próximos passos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8" name="Rounded Rectangle 12"/>
          <p:cNvSpPr/>
          <p:nvPr/>
        </p:nvSpPr>
        <p:spPr>
          <a:xfrm>
            <a:off x="8092440" y="1417320"/>
            <a:ext cx="3428280" cy="214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9" name="Rectangle 13"/>
          <p:cNvSpPr/>
          <p:nvPr/>
        </p:nvSpPr>
        <p:spPr>
          <a:xfrm>
            <a:off x="8092440" y="1417320"/>
            <a:ext cx="72360" cy="21481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0" name="TextBox 14"/>
          <p:cNvSpPr/>
          <p:nvPr/>
        </p:nvSpPr>
        <p:spPr>
          <a:xfrm>
            <a:off x="825696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Apresentações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1" name="TextBox 15"/>
          <p:cNvSpPr/>
          <p:nvPr/>
        </p:nvSpPr>
        <p:spPr>
          <a:xfrm>
            <a:off x="8256960" y="1920240"/>
            <a:ext cx="31356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Demonstração do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do pipeline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Diagnóstico, proposta e registro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próximos passos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Rounded Rectangle 16"/>
          <p:cNvSpPr/>
          <p:nvPr/>
        </p:nvSpPr>
        <p:spPr>
          <a:xfrm>
            <a:off x="685800" y="4069080"/>
            <a:ext cx="10834920" cy="913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3" name="Rectangle 17"/>
          <p:cNvSpPr/>
          <p:nvPr/>
        </p:nvSpPr>
        <p:spPr>
          <a:xfrm>
            <a:off x="685800" y="4069080"/>
            <a:ext cx="72360" cy="9136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4" name="TextBox 18"/>
          <p:cNvSpPr/>
          <p:nvPr/>
        </p:nvSpPr>
        <p:spPr>
          <a:xfrm>
            <a:off x="850320" y="4197240"/>
            <a:ext cx="1054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5" name="TextBox 19"/>
          <p:cNvSpPr/>
          <p:nvPr/>
        </p:nvSpPr>
        <p:spPr>
          <a:xfrm>
            <a:off x="850320" y="4572000"/>
            <a:ext cx="10542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Entrega final avaliada por evidências: repositório, pipeline, container, release, observabilidade, registro crítico de IA e defesa técnica.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TextBox 20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TextBox 21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88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1589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Observabilidade Sem Complicar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Usar dados para explicar se a entrega funcionou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9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594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5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6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Eventos textuais: erro, início, fim, exceção.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Devem permitir entender o que aconteceu.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dados sensíveis em logs.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8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9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0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Métricas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Números ao longo do tempo: latência, taxa de erro, uso de CPU/memória.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Podem alimentar alertas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 laboratório pode ser simples: tempo, status e contadores.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3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4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Traces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Caminho de uma requisição entre serviços.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para sistemas distribuídos.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Na disciplina: conceitual ou demonstração curta.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607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SLI, SLO, SLA e Error Budget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vocabulário que conecta observabilidade a decisão de negócio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1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613" name="Chevron 5"/>
          <p:cNvSpPr/>
          <p:nvPr/>
        </p:nvSpPr>
        <p:spPr>
          <a:xfrm>
            <a:off x="685800" y="1417320"/>
            <a:ext cx="3702600" cy="566280"/>
          </a:xfrm>
          <a:prstGeom prst="chevron">
            <a:avLst>
              <a:gd name="adj" fmla="val 50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SLI — o indicador medido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4" name="Chevron 6"/>
          <p:cNvSpPr/>
          <p:nvPr/>
        </p:nvSpPr>
        <p:spPr>
          <a:xfrm>
            <a:off x="4133160" y="1417320"/>
            <a:ext cx="3702600" cy="566280"/>
          </a:xfrm>
          <a:prstGeom prst="chevron">
            <a:avLst>
              <a:gd name="adj" fmla="val 50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SLO — a meta interna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5" name="Chevron 7"/>
          <p:cNvSpPr/>
          <p:nvPr/>
        </p:nvSpPr>
        <p:spPr>
          <a:xfrm>
            <a:off x="7580520" y="1417320"/>
            <a:ext cx="3702600" cy="566280"/>
          </a:xfrm>
          <a:prstGeom prst="chevron">
            <a:avLst>
              <a:gd name="adj" fmla="val 50000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SLA — o compromisso formal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6" name="Rounded Rectangle 8"/>
          <p:cNvSpPr/>
          <p:nvPr/>
        </p:nvSpPr>
        <p:spPr>
          <a:xfrm>
            <a:off x="685800" y="225864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7" name="Rectangle 9"/>
          <p:cNvSpPr/>
          <p:nvPr/>
        </p:nvSpPr>
        <p:spPr>
          <a:xfrm>
            <a:off x="685800" y="225864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8" name="TextBox 10"/>
          <p:cNvSpPr/>
          <p:nvPr/>
        </p:nvSpPr>
        <p:spPr>
          <a:xfrm>
            <a:off x="850320" y="238644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SLI — indicador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9" name="TextBox 11"/>
          <p:cNvSpPr/>
          <p:nvPr/>
        </p:nvSpPr>
        <p:spPr>
          <a:xfrm>
            <a:off x="850320" y="274320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métrica medida na prática.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% de requisições respondidas em menos de 300ms.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" name="Rounded Rectangle 12"/>
          <p:cNvSpPr/>
          <p:nvPr/>
        </p:nvSpPr>
        <p:spPr>
          <a:xfrm>
            <a:off x="4389120" y="225864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1" name="Rectangle 13"/>
          <p:cNvSpPr/>
          <p:nvPr/>
        </p:nvSpPr>
        <p:spPr>
          <a:xfrm>
            <a:off x="4389120" y="225864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2" name="TextBox 14"/>
          <p:cNvSpPr/>
          <p:nvPr/>
        </p:nvSpPr>
        <p:spPr>
          <a:xfrm>
            <a:off x="4553640" y="238644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SLO — objetivo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3" name="TextBox 15"/>
          <p:cNvSpPr/>
          <p:nvPr/>
        </p:nvSpPr>
        <p:spPr>
          <a:xfrm>
            <a:off x="4553640" y="274320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meta interna que o time define para esse indicador.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99% das requisições abaixo de 300ms no mês.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4" name="Rounded Rectangle 16"/>
          <p:cNvSpPr/>
          <p:nvPr/>
        </p:nvSpPr>
        <p:spPr>
          <a:xfrm>
            <a:off x="8092440" y="225864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5" name="Rectangle 17"/>
          <p:cNvSpPr/>
          <p:nvPr/>
        </p:nvSpPr>
        <p:spPr>
          <a:xfrm>
            <a:off x="8092440" y="2258640"/>
            <a:ext cx="72360" cy="183708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6" name="TextBox 18"/>
          <p:cNvSpPr/>
          <p:nvPr/>
        </p:nvSpPr>
        <p:spPr>
          <a:xfrm>
            <a:off x="8256960" y="238644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SLA e error budget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TextBox 19"/>
          <p:cNvSpPr/>
          <p:nvPr/>
        </p:nvSpPr>
        <p:spPr>
          <a:xfrm>
            <a:off x="8256960" y="274320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SLA: compromisso formal, às vezes contratual, com penalidade.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Error budget: quanto de falha o SLO tolera — se estourar, prioridade vira estabilidade, não feature nova.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28" name="Picture 20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629" name="TextBox 21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TextBox 22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Incidente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ciclo que fecha operação -&gt; melhoria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635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6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7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Detecção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alerta dispara, por métrica ou por log.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MTTD (mean time to detect): tempo até perceber o problema.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9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0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1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Resposta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Diagnosticar a causa.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mitigação, mesmo que temporária.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MTTR (mean time to restore): tempo até resolver.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3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4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5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Post-mortem sem culpa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o que aconteceu, por que e o que preveniria.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é aprendizado do sistema, não achar um culpado.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4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648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9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Incidente Simulado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ciclo operação -&gt; melhoria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5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654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5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6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Preparar falha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Quebrar variável de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Subir dependência indisponível.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Provocar erro em endpoint ou teste de saúde.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9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0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Investigar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Coletar logs e status do container/pipeline.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à IA hipóteses e validações.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aceitar correção antes de confirmar a causa.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2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3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4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Resolver e aprender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5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correção pequena.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Rodar validação.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Atualizar README, runbook ou alerta.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causa, ação e prevenção.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Rounded Rectangle 17"/>
          <p:cNvSpPr/>
          <p:nvPr/>
        </p:nvSpPr>
        <p:spPr>
          <a:xfrm>
            <a:off x="685800" y="351144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7" name="Rectangle 18"/>
          <p:cNvSpPr/>
          <p:nvPr/>
        </p:nvSpPr>
        <p:spPr>
          <a:xfrm>
            <a:off x="685800" y="351144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8" name="TextBox 19"/>
          <p:cNvSpPr/>
          <p:nvPr/>
        </p:nvSpPr>
        <p:spPr>
          <a:xfrm>
            <a:off x="850320" y="363924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9" name="TextBox 20"/>
          <p:cNvSpPr/>
          <p:nvPr/>
        </p:nvSpPr>
        <p:spPr>
          <a:xfrm>
            <a:off x="850320" y="399600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Mini relatório de incidente: sintoma, hipótese, evidência, causa, correção, prevenção e papel da IA, se usada.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70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671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2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Alertas: Sinal vs Ruído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Para provocar debate sobre fadiga de alerta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7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677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8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Alerta bom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Acionável: existe uma ação clara a tomar.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Específico e ligado a impacto real no usuário.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1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2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Alerta ruim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TextBox 12"/>
          <p:cNvSpPr/>
          <p:nvPr/>
        </p:nvSpPr>
        <p:spPr>
          <a:xfrm>
            <a:off x="455364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Dispara sem ação clara do que fazer.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É ignorado com frequência — fadiga de alerta.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Mede o sintoma errado.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5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6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time que recebe 50 alertas por dia e ignora a maioria — qual é o risco real disso?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vocês fariam para reduzir o ruído sem perder sinal importante?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8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690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1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2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AIOps: Observabilidade e Resposta a Incidentes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3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problema de "sinal vs. ruído" já tem produto de mercado resolvendo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9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696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7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8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Datadog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Watchdog AI: detecção de anomalia, causa raiz automática e forecasting.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Bits AI apoia a investigação durante o incidente.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1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2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PagerDuty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3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Módulo de AIOps treinado em 86 bilhões de eventos históricos.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Reduz ruído de alerta em até 91% — transforma 50 alertas em ~3 incidentes reais.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5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6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papel da IA aqui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Ela correlaciona, prioriza e roteia para a pessoa certa.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causa raiz confirmada e a correção continuam sendo decisão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0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709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0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1" name="TextBox 1"/>
          <p:cNvSpPr/>
          <p:nvPr/>
        </p:nvSpPr>
        <p:spPr>
          <a:xfrm>
            <a:off x="594360" y="320040"/>
            <a:ext cx="98748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Atividade 6 - Observabilidade e Apresentação Final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projeto com dados e defesa técnica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1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715" name="Rounded Rectangle 5"/>
          <p:cNvSpPr/>
          <p:nvPr/>
        </p:nvSpPr>
        <p:spPr>
          <a:xfrm>
            <a:off x="68580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6" name="Rectangle 6"/>
          <p:cNvSpPr/>
          <p:nvPr/>
        </p:nvSpPr>
        <p:spPr>
          <a:xfrm>
            <a:off x="685800" y="1508760"/>
            <a:ext cx="72360" cy="2550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7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TextBox 8"/>
          <p:cNvSpPr/>
          <p:nvPr/>
        </p:nvSpPr>
        <p:spPr>
          <a:xfrm>
            <a:off x="850320" y="1993320"/>
            <a:ext cx="31356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dado prova que a entrega realmente funciona?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foi a causa real do incidente simulado, não só o sintoma?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grupo consegue defender cada decisão em poucos minutos?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ajudou e onde precisou ser corrigida?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Rounded Rectangle 9"/>
          <p:cNvSpPr/>
          <p:nvPr/>
        </p:nvSpPr>
        <p:spPr>
          <a:xfrm>
            <a:off x="438912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0" name="Rectangle 10"/>
          <p:cNvSpPr/>
          <p:nvPr/>
        </p:nvSpPr>
        <p:spPr>
          <a:xfrm>
            <a:off x="4389120" y="1508760"/>
            <a:ext cx="72360" cy="2550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1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Logs/métricas mínimas da aplicação.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Mini relatório do incidente simulado.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Apresentação cobrindo repositório, pipeline, container, release e operação.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consolidado de uso de IA no projeto.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Rounded Rectangle 13"/>
          <p:cNvSpPr/>
          <p:nvPr/>
        </p:nvSpPr>
        <p:spPr>
          <a:xfrm>
            <a:off x="8092440" y="1508760"/>
            <a:ext cx="3428280" cy="255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4" name="Rectangle 14"/>
          <p:cNvSpPr/>
          <p:nvPr/>
        </p:nvSpPr>
        <p:spPr>
          <a:xfrm>
            <a:off x="8092440" y="1508760"/>
            <a:ext cx="72360" cy="2550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5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6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Apresentação de 5 a 7 minutos.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final com todas as evidências do projeto integrador.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7" name="Rounded Rectangle 17"/>
          <p:cNvSpPr/>
          <p:nvPr/>
        </p:nvSpPr>
        <p:spPr>
          <a:xfrm>
            <a:off x="685800" y="422460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8" name="Rectangle 18"/>
          <p:cNvSpPr/>
          <p:nvPr/>
        </p:nvSpPr>
        <p:spPr>
          <a:xfrm>
            <a:off x="685800" y="422460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9" name="TextBox 19"/>
          <p:cNvSpPr/>
          <p:nvPr/>
        </p:nvSpPr>
        <p:spPr>
          <a:xfrm>
            <a:off x="850320" y="435240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TextBox 20"/>
          <p:cNvSpPr/>
          <p:nvPr/>
        </p:nvSpPr>
        <p:spPr>
          <a:xfrm>
            <a:off x="850320" y="470916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Fecha os 10% de Diagnóstico DevOps e os 5% de Apresentação final da rubrica.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31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732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3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4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Operação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IA como apoio à investigação, não como diagnóstico definitivo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3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1738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760" cy="401760"/>
          </a:xfrm>
          <a:prstGeom prst="rect">
            <a:avLst/>
          </a:prstGeom>
          <a:ln w="0">
            <a:noFill/>
          </a:ln>
        </p:spPr>
      </p:pic>
      <p:sp>
        <p:nvSpPr>
          <p:cNvPr id="1739" name="Rounded Rectangle 6"/>
          <p:cNvSpPr/>
          <p:nvPr/>
        </p:nvSpPr>
        <p:spPr>
          <a:xfrm>
            <a:off x="68580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0" name="Rectangle 7"/>
          <p:cNvSpPr/>
          <p:nvPr/>
        </p:nvSpPr>
        <p:spPr>
          <a:xfrm>
            <a:off x="685800" y="1508760"/>
            <a:ext cx="72360" cy="1736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1" name="TextBox 8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2" name="TextBox 9"/>
          <p:cNvSpPr/>
          <p:nvPr/>
        </p:nvSpPr>
        <p:spPr>
          <a:xfrm>
            <a:off x="85032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os logs abaixo e liste hipóteses de causa em ordem de probabilidade. Para cada hipótese, diga qual evidência confirma ou descarta.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Logs: &lt;trecho sem dados sensíveis&gt;.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3" name="Rounded Rectangle 10"/>
          <p:cNvSpPr/>
          <p:nvPr/>
        </p:nvSpPr>
        <p:spPr>
          <a:xfrm>
            <a:off x="438912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4" name="Rectangle 11"/>
          <p:cNvSpPr/>
          <p:nvPr/>
        </p:nvSpPr>
        <p:spPr>
          <a:xfrm>
            <a:off x="4389120" y="1508760"/>
            <a:ext cx="72360" cy="1736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5" name="TextBox 12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Runbook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6" name="TextBox 13"/>
          <p:cNvSpPr/>
          <p:nvPr/>
        </p:nvSpPr>
        <p:spPr>
          <a:xfrm>
            <a:off x="455364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Transforme esta solução de incidente em um runbook curto com sintomas, comandos de diagnóstico, ação corretiva e validação final.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Incidente: &lt;resumo&gt;.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Rounded Rectangle 14"/>
          <p:cNvSpPr/>
          <p:nvPr/>
        </p:nvSpPr>
        <p:spPr>
          <a:xfrm>
            <a:off x="8092440" y="1508760"/>
            <a:ext cx="3428280" cy="1736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8" name="Rectangle 15"/>
          <p:cNvSpPr/>
          <p:nvPr/>
        </p:nvSpPr>
        <p:spPr>
          <a:xfrm>
            <a:off x="8092440" y="1508760"/>
            <a:ext cx="72360" cy="17366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9" name="TextBox 16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Apresentação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TextBox 17"/>
          <p:cNvSpPr/>
          <p:nvPr/>
        </p:nvSpPr>
        <p:spPr>
          <a:xfrm>
            <a:off x="8256960" y="1993320"/>
            <a:ext cx="31356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Com base nas evidências abaixo, ajude a montar uma narrativa técnica de 5 minutos: problema, decisões, pipeline, operação, riscos e próximos passos.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Evidências: &lt;lista&gt;.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1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752" name="TextBox 19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3" name="TextBox 20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TextBox 1"/>
          <p:cNvSpPr/>
          <p:nvPr/>
        </p:nvSpPr>
        <p:spPr>
          <a:xfrm>
            <a:off x="594360" y="320040"/>
            <a:ext cx="98748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Apresentação Final - Roteiro de 5 a 7 Minutos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Ordem padrão para todos os grupos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5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758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9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0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1. Contexto e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problema o projeto representa.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Quais gargalos DevOps foram priorizados.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decidido fazer dentro do tempo 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3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4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2. Demonstração técnica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e PRs.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rodando.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em container/Compose.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ou rollback/plano.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Logs/métricas/incidente simulado.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6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7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8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3. Defesa crítica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TextBox 16"/>
          <p:cNvSpPr/>
          <p:nvPr/>
        </p:nvSpPr>
        <p:spPr>
          <a:xfrm>
            <a:off x="825696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limitações.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de IA: onde ajudou, onde falhou, como foi validada.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Próximos passos para evolução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7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771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Rubrica Final - Perguntas de Avaliação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Perguntas curtas, respondidas com evidências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7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777" name="Rounded Rectangle 5"/>
          <p:cNvSpPr/>
          <p:nvPr/>
        </p:nvSpPr>
        <p:spPr>
          <a:xfrm>
            <a:off x="68580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8" name="Rectangle 6"/>
          <p:cNvSpPr/>
          <p:nvPr/>
        </p:nvSpPr>
        <p:spPr>
          <a:xfrm>
            <a:off x="685800" y="1508760"/>
            <a:ext cx="72360" cy="1837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9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Projeto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TextBox 8"/>
          <p:cNvSpPr/>
          <p:nvPr/>
        </p:nvSpPr>
        <p:spPr>
          <a:xfrm>
            <a:off x="85032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executo do zero?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está o README?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decisão técnica foi mais importante?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ficou fora do escopo?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1" name="Rounded Rectangle 9"/>
          <p:cNvSpPr/>
          <p:nvPr/>
        </p:nvSpPr>
        <p:spPr>
          <a:xfrm>
            <a:off x="438912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2" name="Rectangle 10"/>
          <p:cNvSpPr/>
          <p:nvPr/>
        </p:nvSpPr>
        <p:spPr>
          <a:xfrm>
            <a:off x="4389120" y="1508760"/>
            <a:ext cx="72360" cy="1837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3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Pipeline/entrega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4" name="TextBox 12"/>
          <p:cNvSpPr/>
          <p:nvPr/>
        </p:nvSpPr>
        <p:spPr>
          <a:xfrm>
            <a:off x="455364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faz o pipeline falhar?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teste prova comportamento relevante?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artefato é promovido?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voltar para versão anterior?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Rounded Rectangle 13"/>
          <p:cNvSpPr/>
          <p:nvPr/>
        </p:nvSpPr>
        <p:spPr>
          <a:xfrm>
            <a:off x="8092440" y="1508760"/>
            <a:ext cx="3428280" cy="1837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6" name="Rectangle 14"/>
          <p:cNvSpPr/>
          <p:nvPr/>
        </p:nvSpPr>
        <p:spPr>
          <a:xfrm>
            <a:off x="8092440" y="1508760"/>
            <a:ext cx="72360" cy="1837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7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Operação/IA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8" name="TextBox 16"/>
          <p:cNvSpPr/>
          <p:nvPr/>
        </p:nvSpPr>
        <p:spPr>
          <a:xfrm>
            <a:off x="8256960" y="1993320"/>
            <a:ext cx="31356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logs/métricas indicam saúde?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incidente foi simulado?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sugestão de IA foi aceita ou rejeitada?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vocês validaram?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8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790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1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TextBox 1"/>
          <p:cNvSpPr/>
          <p:nvPr/>
        </p:nvSpPr>
        <p:spPr>
          <a:xfrm>
            <a:off x="594360" y="320040"/>
            <a:ext cx="9874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Checklist do Projeto Integrador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" name="TextBox 2"/>
          <p:cNvSpPr/>
          <p:nvPr/>
        </p:nvSpPr>
        <p:spPr>
          <a:xfrm>
            <a:off x="621720" y="84132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Trilha de acompanhamento dos entregáveis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4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5" name="Rounded Rectangle 4"/>
          <p:cNvSpPr/>
          <p:nvPr/>
        </p:nvSpPr>
        <p:spPr>
          <a:xfrm>
            <a:off x="68580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6" name="Rectangle 5"/>
          <p:cNvSpPr/>
          <p:nvPr/>
        </p:nvSpPr>
        <p:spPr>
          <a:xfrm>
            <a:off x="685800" y="1417320"/>
            <a:ext cx="72360" cy="2010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7" name="TextBox 6"/>
          <p:cNvSpPr/>
          <p:nvPr/>
        </p:nvSpPr>
        <p:spPr>
          <a:xfrm>
            <a:off x="85032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Repositório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TextBox 7"/>
          <p:cNvSpPr/>
          <p:nvPr/>
        </p:nvSpPr>
        <p:spPr>
          <a:xfrm>
            <a:off x="85032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Commits e PRs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Tags/releases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Decisões documentadas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Rounded Rectangle 8"/>
          <p:cNvSpPr/>
          <p:nvPr/>
        </p:nvSpPr>
        <p:spPr>
          <a:xfrm>
            <a:off x="438912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0" name="Rectangle 9"/>
          <p:cNvSpPr/>
          <p:nvPr/>
        </p:nvSpPr>
        <p:spPr>
          <a:xfrm>
            <a:off x="4389120" y="1417320"/>
            <a:ext cx="72360" cy="2010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1" name="TextBox 10"/>
          <p:cNvSpPr/>
          <p:nvPr/>
        </p:nvSpPr>
        <p:spPr>
          <a:xfrm>
            <a:off x="455364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Automação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" name="TextBox 11"/>
          <p:cNvSpPr/>
          <p:nvPr/>
        </p:nvSpPr>
        <p:spPr>
          <a:xfrm>
            <a:off x="455364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CI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Artefato/imagem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Rounded Rectangle 12"/>
          <p:cNvSpPr/>
          <p:nvPr/>
        </p:nvSpPr>
        <p:spPr>
          <a:xfrm>
            <a:off x="8092440" y="1417320"/>
            <a:ext cx="342828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4" name="Rectangle 13"/>
          <p:cNvSpPr/>
          <p:nvPr/>
        </p:nvSpPr>
        <p:spPr>
          <a:xfrm>
            <a:off x="8092440" y="1417320"/>
            <a:ext cx="72360" cy="20109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5" name="TextBox 14"/>
          <p:cNvSpPr/>
          <p:nvPr/>
        </p:nvSpPr>
        <p:spPr>
          <a:xfrm>
            <a:off x="8256960" y="154548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Execução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TextBox 15"/>
          <p:cNvSpPr/>
          <p:nvPr/>
        </p:nvSpPr>
        <p:spPr>
          <a:xfrm>
            <a:off x="8256960" y="192024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compose.yaml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Health check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7" name="Rounded Rectangle 16"/>
          <p:cNvSpPr/>
          <p:nvPr/>
        </p:nvSpPr>
        <p:spPr>
          <a:xfrm>
            <a:off x="685800" y="3886200"/>
            <a:ext cx="342828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8" name="Rectangle 17"/>
          <p:cNvSpPr/>
          <p:nvPr/>
        </p:nvSpPr>
        <p:spPr>
          <a:xfrm>
            <a:off x="685800" y="3886200"/>
            <a:ext cx="72360" cy="182808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9" name="TextBox 18"/>
          <p:cNvSpPr/>
          <p:nvPr/>
        </p:nvSpPr>
        <p:spPr>
          <a:xfrm>
            <a:off x="850320" y="401436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TextBox 19"/>
          <p:cNvSpPr/>
          <p:nvPr/>
        </p:nvSpPr>
        <p:spPr>
          <a:xfrm>
            <a:off x="850320" y="438912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Segurança mínima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1" name="Rounded Rectangle 20"/>
          <p:cNvSpPr/>
          <p:nvPr/>
        </p:nvSpPr>
        <p:spPr>
          <a:xfrm>
            <a:off x="4389120" y="3886200"/>
            <a:ext cx="342828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2" name="Rectangle 21"/>
          <p:cNvSpPr/>
          <p:nvPr/>
        </p:nvSpPr>
        <p:spPr>
          <a:xfrm>
            <a:off x="4389120" y="3886200"/>
            <a:ext cx="72360" cy="18280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3" name="TextBox 22"/>
          <p:cNvSpPr/>
          <p:nvPr/>
        </p:nvSpPr>
        <p:spPr>
          <a:xfrm>
            <a:off x="4553640" y="401436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32b42"/>
                </a:solidFill>
                <a:latin typeface="Aptos"/>
              </a:rPr>
              <a:t>Operação e 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TextBox 23"/>
          <p:cNvSpPr/>
          <p:nvPr/>
        </p:nvSpPr>
        <p:spPr>
          <a:xfrm>
            <a:off x="4553640" y="438912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Métricas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Incidente simulado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Hipóteses com IA validadas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5" name="Rounded Rectangle 24"/>
          <p:cNvSpPr/>
          <p:nvPr/>
        </p:nvSpPr>
        <p:spPr>
          <a:xfrm>
            <a:off x="8092440" y="3886200"/>
            <a:ext cx="342828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6" name="Rectangle 25"/>
          <p:cNvSpPr/>
          <p:nvPr/>
        </p:nvSpPr>
        <p:spPr>
          <a:xfrm>
            <a:off x="8092440" y="3886200"/>
            <a:ext cx="72360" cy="1828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7" name="TextBox 26"/>
          <p:cNvSpPr/>
          <p:nvPr/>
        </p:nvSpPr>
        <p:spPr>
          <a:xfrm>
            <a:off x="8256960" y="4014360"/>
            <a:ext cx="31356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32b42"/>
                </a:solidFill>
                <a:latin typeface="Aptos"/>
              </a:rPr>
              <a:t>Análise e 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TextBox 27"/>
          <p:cNvSpPr/>
          <p:nvPr/>
        </p:nvSpPr>
        <p:spPr>
          <a:xfrm>
            <a:off x="8256960" y="4389120"/>
            <a:ext cx="3135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Gargalos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de IA registrado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Validações e riscos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Evolução proposta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TextBox 28"/>
          <p:cNvSpPr/>
          <p:nvPr/>
        </p:nvSpPr>
        <p:spPr>
          <a:xfrm>
            <a:off x="1298520" y="6446520"/>
            <a:ext cx="58788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0" name="TextBox 29"/>
          <p:cNvSpPr/>
          <p:nvPr/>
        </p:nvSpPr>
        <p:spPr>
          <a:xfrm>
            <a:off x="11201400" y="6446520"/>
            <a:ext cx="502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1" name="Picture 30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pic>
        <p:nvPicPr>
          <p:cNvPr id="1822" name="Picture 31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3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Fechamento da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4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Conectando prática, maturidade e evolução profissional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2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27" name="Rounded Rectangle 5"/>
          <p:cNvSpPr/>
          <p:nvPr/>
        </p:nvSpPr>
        <p:spPr>
          <a:xfrm>
            <a:off x="685800" y="1508760"/>
            <a:ext cx="1083492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8" name="Rectangle 6"/>
          <p:cNvSpPr/>
          <p:nvPr/>
        </p:nvSpPr>
        <p:spPr>
          <a:xfrm>
            <a:off x="685800" y="1508760"/>
            <a:ext cx="72360" cy="15994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9" name="TextBox 7"/>
          <p:cNvSpPr/>
          <p:nvPr/>
        </p:nvSpPr>
        <p:spPr>
          <a:xfrm>
            <a:off x="850320" y="163692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Síntese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0" name="TextBox 8"/>
          <p:cNvSpPr/>
          <p:nvPr/>
        </p:nvSpPr>
        <p:spPr>
          <a:xfrm>
            <a:off x="850320" y="1993320"/>
            <a:ext cx="105422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DevOps é fluxo de entrega com responsabilidade compartilhada.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Automação sem feedback e evidência vira ritual vazio.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aumenta velocidade, mas também exige validação e governança.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valor está em entregar software reproduzível, seguro, observável e evolutivo.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31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832" name="TextBox 10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" name="TextBox 11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4" name="TextBox 1"/>
          <p:cNvSpPr/>
          <p:nvPr/>
        </p:nvSpPr>
        <p:spPr>
          <a:xfrm>
            <a:off x="777240" y="2286000"/>
            <a:ext cx="106063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Anexos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5" name="TextBox 2"/>
          <p:cNvSpPr/>
          <p:nvPr/>
        </p:nvSpPr>
        <p:spPr>
          <a:xfrm>
            <a:off x="1463040" y="3090600"/>
            <a:ext cx="9234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Modelos rápidos, comandos de apoio e bibliografia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36" name="Picture 3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37" name="TextBox 4"/>
          <p:cNvSpPr/>
          <p:nvPr/>
        </p:nvSpPr>
        <p:spPr>
          <a:xfrm>
            <a:off x="5532120" y="6263640"/>
            <a:ext cx="1188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93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8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Registro de Uso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9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registro simples, não burocrático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4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42" name="Rounded Rectangle 5"/>
          <p:cNvSpPr/>
          <p:nvPr/>
        </p:nvSpPr>
        <p:spPr>
          <a:xfrm>
            <a:off x="685800" y="1508760"/>
            <a:ext cx="342828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3" name="Rectangle 6"/>
          <p:cNvSpPr/>
          <p:nvPr/>
        </p:nvSpPr>
        <p:spPr>
          <a:xfrm>
            <a:off x="685800" y="1508760"/>
            <a:ext cx="72360" cy="15994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4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5" name="TextBox 8"/>
          <p:cNvSpPr/>
          <p:nvPr/>
        </p:nvSpPr>
        <p:spPr>
          <a:xfrm>
            <a:off x="850320" y="1993320"/>
            <a:ext cx="3135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Ferramenta usada.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do uso.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Trecho/contexto fornecido, sem dados sensíveis.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6" name="Rounded Rectangle 9"/>
          <p:cNvSpPr/>
          <p:nvPr/>
        </p:nvSpPr>
        <p:spPr>
          <a:xfrm>
            <a:off x="4389120" y="1508760"/>
            <a:ext cx="342828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7" name="Rectangle 10"/>
          <p:cNvSpPr/>
          <p:nvPr/>
        </p:nvSpPr>
        <p:spPr>
          <a:xfrm>
            <a:off x="4389120" y="1508760"/>
            <a:ext cx="72360" cy="15994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8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Resultado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TextBox 12"/>
          <p:cNvSpPr/>
          <p:nvPr/>
        </p:nvSpPr>
        <p:spPr>
          <a:xfrm>
            <a:off x="455364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Saída útil recebida.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aceito.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rejeitado ou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0" name="Rounded Rectangle 13"/>
          <p:cNvSpPr/>
          <p:nvPr/>
        </p:nvSpPr>
        <p:spPr>
          <a:xfrm>
            <a:off x="8092440" y="1508760"/>
            <a:ext cx="3428280" cy="1599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1" name="Rectangle 14"/>
          <p:cNvSpPr/>
          <p:nvPr/>
        </p:nvSpPr>
        <p:spPr>
          <a:xfrm>
            <a:off x="8092440" y="1508760"/>
            <a:ext cx="72360" cy="15994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2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3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Teste, build, revisão ou execução feita.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Risco identificado.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Decisão humana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" name="Rounded Rectangle 17"/>
          <p:cNvSpPr/>
          <p:nvPr/>
        </p:nvSpPr>
        <p:spPr>
          <a:xfrm>
            <a:off x="685800" y="3273480"/>
            <a:ext cx="1083492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5" name="Rectangle 18"/>
          <p:cNvSpPr/>
          <p:nvPr/>
        </p:nvSpPr>
        <p:spPr>
          <a:xfrm>
            <a:off x="685800" y="3273480"/>
            <a:ext cx="72360" cy="1188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6" name="TextBox 19"/>
          <p:cNvSpPr/>
          <p:nvPr/>
        </p:nvSpPr>
        <p:spPr>
          <a:xfrm>
            <a:off x="850320" y="340164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7" name="TextBox 20"/>
          <p:cNvSpPr/>
          <p:nvPr/>
        </p:nvSpPr>
        <p:spPr>
          <a:xfrm>
            <a:off x="850320" y="3758040"/>
            <a:ext cx="10542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parágrafo ou tabela no README/relatório final basta, desde que permita defender a decisão.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58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859" name="TextBox 22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0" name="TextBox 23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1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Diagnóstico DevOps em 1 Página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2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1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3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6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65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6" name="TextBox 6"/>
          <p:cNvSpPr/>
          <p:nvPr/>
        </p:nvSpPr>
        <p:spPr>
          <a:xfrm>
            <a:off x="896040" y="1609200"/>
            <a:ext cx="10414440" cy="33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Diagnostico DevOps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Fluxo atual: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1. Pedido/demanda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2. Desenvolvimento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3. Teste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4. Entrega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5. Operacao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Gargalos: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1&gt;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2&gt;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3&gt;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Priorizacao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Melhoria escolhida: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Impacto esperado: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de sucesso: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IA pode ajudar em: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Validacao humana necessaria: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67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868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9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PR e Repositório em 1 Página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2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7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74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5" name="TextBox 6"/>
          <p:cNvSpPr/>
          <p:nvPr/>
        </p:nvSpPr>
        <p:spPr>
          <a:xfrm>
            <a:off x="896040" y="1609200"/>
            <a:ext cx="10414440" cy="276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Repositorio e Pull 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Repositorio: &lt;link&gt;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Pull 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Objetivo da mudanca: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de teste: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 conhecido: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Checklist de revisao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Codigo revisado por outra pessoa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Testes relevantes passando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Sem segredo exposto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README atualizado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Uso de IA (se aplicavel)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Sugestao recebida: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Aceito / corrigido: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76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877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8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Evidência de Pipeline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3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8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83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4" name="TextBox 6"/>
          <p:cNvSpPr/>
          <p:nvPr/>
        </p:nvSpPr>
        <p:spPr>
          <a:xfrm>
            <a:off x="896040" y="1609200"/>
            <a:ext cx="10414440" cy="29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Evidencia de Pipeline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Trigger utilizado: push / pull_request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Execucao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Link ou print do pipeline: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Status: verde / vermelho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Teste que prova o comportamento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Nome do teste: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 que ele valida: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Falha analisada (se houve)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 aplicada: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Uso de IA (se aplicavel)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Hipotese sugerida: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Validacao humana feita: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85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886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7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8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Checklist de Containerização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4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0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9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892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3" name="TextBox 6"/>
          <p:cNvSpPr/>
          <p:nvPr/>
        </p:nvSpPr>
        <p:spPr>
          <a:xfrm>
            <a:off x="896040" y="1609200"/>
            <a:ext cx="10414440" cy="23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Checklist de Containerizacao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Execucao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Comando de subida: docker compose up --build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Porta exposta: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Variaveis obrigatorias: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Evidencia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Print/log da aplicacao respondendo: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Endpoint testado: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Falha diagnosticada (se houve)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Sintoma: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94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895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6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7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Mini Relatório de Incidente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8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6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9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0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901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2" name="TextBox 6"/>
          <p:cNvSpPr/>
          <p:nvPr/>
        </p:nvSpPr>
        <p:spPr>
          <a:xfrm>
            <a:off x="896040" y="1609200"/>
            <a:ext cx="10414440" cy="263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Mini Relatorio de Incidente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Sintoma observado: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Hipotese inicial: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coletada (log/metrica):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 confirmada: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 aplicada: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Prevencao futura: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Papel da IA (se usada):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Hipotese sugerida: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Validacao humana: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03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904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5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6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Comandos Rápidos para Consulta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7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Referência para destravar o laboratório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8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0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910" name="Rounded Rectangle 5"/>
          <p:cNvSpPr/>
          <p:nvPr/>
        </p:nvSpPr>
        <p:spPr>
          <a:xfrm>
            <a:off x="731520" y="1481400"/>
            <a:ext cx="10743480" cy="420552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1" name="TextBox 6"/>
          <p:cNvSpPr/>
          <p:nvPr/>
        </p:nvSpPr>
        <p:spPr>
          <a:xfrm>
            <a:off x="896040" y="1609200"/>
            <a:ext cx="10414440" cy="33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Git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status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diff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-c feature/x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add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commit -m "tipo: mensagem"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-u origin feature/x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pull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tag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log --oneline --graph --decorate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CI/CD (conferir local antes do pipeline)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run 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Docker/Compose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build -t app:local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run --rm -p 3000:3000 app:local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up --build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logs -f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ps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down -v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curl http://localhost:3000/health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12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913" name="TextBox 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4" name="TextBox 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5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Bibliografia Básica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6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Os quatro livros de referência do plano de ensino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7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1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1919" name="Picture 5" descr="continuous_delivery.jpg"/>
          <p:cNvPicPr/>
          <p:nvPr/>
        </p:nvPicPr>
        <p:blipFill>
          <a:blip r:embed="rId2"/>
          <a:stretch/>
        </p:blipFill>
        <p:spPr>
          <a:xfrm>
            <a:off x="1154520" y="1691640"/>
            <a:ext cx="1713960" cy="22852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20" name="TextBox 6"/>
          <p:cNvSpPr/>
          <p:nvPr/>
        </p:nvSpPr>
        <p:spPr>
          <a:xfrm>
            <a:off x="594360" y="406908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HUMBLE, J.; FARLEY, D.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Continuous Delivery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Addison-Wesley, 2010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21" name="Picture 7" descr="devops_handbook.jpg"/>
          <p:cNvPicPr/>
          <p:nvPr/>
        </p:nvPicPr>
        <p:blipFill>
          <a:blip r:embed="rId3"/>
          <a:stretch/>
        </p:blipFill>
        <p:spPr>
          <a:xfrm>
            <a:off x="3917520" y="1691640"/>
            <a:ext cx="1491120" cy="22852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22" name="TextBox 8"/>
          <p:cNvSpPr/>
          <p:nvPr/>
        </p:nvSpPr>
        <p:spPr>
          <a:xfrm>
            <a:off x="3246120" y="406908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KIM, G. et 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The DevOps Handbook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IT Revolution,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23" name="Picture 9" descr="accelerate.jpg"/>
          <p:cNvPicPr/>
          <p:nvPr/>
        </p:nvPicPr>
        <p:blipFill>
          <a:blip r:embed="rId4"/>
          <a:stretch/>
        </p:blipFill>
        <p:spPr>
          <a:xfrm>
            <a:off x="6558480" y="1691640"/>
            <a:ext cx="1512720" cy="22852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24" name="TextBox 10"/>
          <p:cNvSpPr/>
          <p:nvPr/>
        </p:nvSpPr>
        <p:spPr>
          <a:xfrm>
            <a:off x="5897880" y="406908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FORSGREN, N.; HUMBLE, J.; KIM, G.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Accelerate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IT Revolution, 2018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25" name="Picture 11" descr="modern_swe.jpg"/>
          <p:cNvPicPr/>
          <p:nvPr/>
        </p:nvPicPr>
        <p:blipFill>
          <a:blip r:embed="rId5"/>
          <a:stretch/>
        </p:blipFill>
        <p:spPr>
          <a:xfrm>
            <a:off x="9041040" y="1691640"/>
            <a:ext cx="1851120" cy="22852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26" name="TextBox 12"/>
          <p:cNvSpPr/>
          <p:nvPr/>
        </p:nvSpPr>
        <p:spPr>
          <a:xfrm>
            <a:off x="8549640" y="406908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FARLEY, D.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Modern Software Engineering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Addison-Wesley,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27" name="Picture 13" descr="Logo Unifor.png"/>
          <p:cNvPicPr/>
          <p:nvPr/>
        </p:nvPicPr>
        <p:blipFill>
          <a:blip r:embed="rId6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928" name="TextBox 14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9" name="TextBox 15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0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Bibliografia Complementar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1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Aprofundamento em microsserviços, infraestrutura e operação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2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3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pic>
        <p:nvPicPr>
          <p:cNvPr id="1934" name="Picture 5" descr="microservices.jpg"/>
          <p:cNvPicPr/>
          <p:nvPr/>
        </p:nvPicPr>
        <p:blipFill>
          <a:blip r:embed="rId2"/>
          <a:stretch/>
        </p:blipFill>
        <p:spPr>
          <a:xfrm>
            <a:off x="1447560" y="1600200"/>
            <a:ext cx="1493280" cy="19652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35" name="TextBox 6"/>
          <p:cNvSpPr/>
          <p:nvPr/>
        </p:nvSpPr>
        <p:spPr>
          <a:xfrm>
            <a:off x="777240" y="365760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NEWMAN, 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Building Microservices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O'Reilly,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36" name="Picture 7" descr="iac.jpg"/>
          <p:cNvPicPr/>
          <p:nvPr/>
        </p:nvPicPr>
        <p:blipFill>
          <a:blip r:embed="rId3"/>
          <a:stretch/>
        </p:blipFill>
        <p:spPr>
          <a:xfrm>
            <a:off x="5345280" y="1600200"/>
            <a:ext cx="1497240" cy="19652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37" name="TextBox 8"/>
          <p:cNvSpPr/>
          <p:nvPr/>
        </p:nvSpPr>
        <p:spPr>
          <a:xfrm>
            <a:off x="4677120" y="365760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MORRIS, K.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Infrastructure as Code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O'Reilly, 2020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38" name="Picture 9" descr="sre.jpg"/>
          <p:cNvPicPr/>
          <p:nvPr/>
        </p:nvPicPr>
        <p:blipFill>
          <a:blip r:embed="rId4"/>
          <a:stretch/>
        </p:blipFill>
        <p:spPr>
          <a:xfrm>
            <a:off x="9245520" y="1600200"/>
            <a:ext cx="1497240" cy="19652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39" name="TextBox 10"/>
          <p:cNvSpPr/>
          <p:nvPr/>
        </p:nvSpPr>
        <p:spPr>
          <a:xfrm>
            <a:off x="8577000" y="3657600"/>
            <a:ext cx="283392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BEYER, B. et al. (org.)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Site Reliability Engineering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O'Reilly, 2016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0" name="Rounded Rectangle 11"/>
          <p:cNvSpPr/>
          <p:nvPr/>
        </p:nvSpPr>
        <p:spPr>
          <a:xfrm>
            <a:off x="685800" y="4572000"/>
            <a:ext cx="10834920" cy="1828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1" name="Rectangle 12"/>
          <p:cNvSpPr/>
          <p:nvPr/>
        </p:nvSpPr>
        <p:spPr>
          <a:xfrm>
            <a:off x="685800" y="4572000"/>
            <a:ext cx="72360" cy="1828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2" name="TextBox 13"/>
          <p:cNvSpPr/>
          <p:nvPr/>
        </p:nvSpPr>
        <p:spPr>
          <a:xfrm>
            <a:off x="850320" y="4700160"/>
            <a:ext cx="1054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Ferramentas, métricas e governança de IA — referências online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3" name="TextBox 14"/>
          <p:cNvSpPr/>
          <p:nvPr/>
        </p:nvSpPr>
        <p:spPr>
          <a:xfrm>
            <a:off x="850320" y="5056560"/>
            <a:ext cx="1054224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DORA; Google Cloud. DORA's software delivery performance metrics.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GitHub. GitHub Actions documentation. | GitHub. GitHub Copilot documentation.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Docker. Docker Compose documentation. | HashiCorp. Terraform Documentation.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OpenAI. Codex: AI coding agents for software engineering. | Google. Gemini Code Assist overview.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NIST. Artificial Intelligence Risk Management Framework (AI RMF 1.0), 2023.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OWASP. OWASP GenAI LLM Top 10 2026.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4" name="Picture 15" descr="Logo Unifor.png"/>
          <p:cNvPicPr/>
          <p:nvPr/>
        </p:nvPicPr>
        <p:blipFill>
          <a:blip r:embed="rId5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945" name="TextBox 16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TextBox 17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9" name="TextBox 1"/>
          <p:cNvSpPr/>
          <p:nvPr/>
        </p:nvSpPr>
        <p:spPr>
          <a:xfrm>
            <a:off x="594360" y="320040"/>
            <a:ext cx="9874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DORA na Prática: Benchmarks Reais de Mercado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TextBox 2"/>
          <p:cNvSpPr/>
          <p:nvPr/>
        </p:nvSpPr>
        <p:spPr>
          <a:xfrm>
            <a:off x="621720" y="841320"/>
            <a:ext cx="9874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Números públicos e verificáveis, não estimativa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Rectangle 3"/>
          <p:cNvSpPr/>
          <p:nvPr/>
        </p:nvSpPr>
        <p:spPr>
          <a:xfrm>
            <a:off x="594360" y="1152000"/>
            <a:ext cx="1233720" cy="4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2" name="Picture 4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000" cy="346680"/>
          </a:xfrm>
          <a:prstGeom prst="rect">
            <a:avLst/>
          </a:prstGeom>
          <a:ln w="0">
            <a:noFill/>
          </a:ln>
        </p:spPr>
      </p:pic>
      <p:sp>
        <p:nvSpPr>
          <p:cNvPr id="1413" name="Rounded Rectangle 5"/>
          <p:cNvSpPr/>
          <p:nvPr/>
        </p:nvSpPr>
        <p:spPr>
          <a:xfrm>
            <a:off x="68580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4" name="Rectangle 6"/>
          <p:cNvSpPr/>
          <p:nvPr/>
        </p:nvSpPr>
        <p:spPr>
          <a:xfrm>
            <a:off x="685800" y="1508760"/>
            <a:ext cx="72360" cy="2075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5" name="TextBox 7"/>
          <p:cNvSpPr/>
          <p:nvPr/>
        </p:nvSpPr>
        <p:spPr>
          <a:xfrm>
            <a:off x="85032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Amazon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TextBox 8"/>
          <p:cNvSpPr/>
          <p:nvPr/>
        </p:nvSpPr>
        <p:spPr>
          <a:xfrm>
            <a:off x="85032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 a cada 11,7 segundos em média (~50 milhões de deploys/ano).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 popularizado por Gene Kim, autor de "The DevOps Handbook" — bibliografia oficial da disciplina.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Rounded Rectangle 9"/>
          <p:cNvSpPr/>
          <p:nvPr/>
        </p:nvSpPr>
        <p:spPr>
          <a:xfrm>
            <a:off x="438912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8" name="Rectangle 10"/>
          <p:cNvSpPr/>
          <p:nvPr/>
        </p:nvSpPr>
        <p:spPr>
          <a:xfrm>
            <a:off x="4389120" y="1508760"/>
            <a:ext cx="72360" cy="2075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9" name="TextBox 11"/>
          <p:cNvSpPr/>
          <p:nvPr/>
        </p:nvSpPr>
        <p:spPr>
          <a:xfrm>
            <a:off x="455364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Etsy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0" name="TextBox 12"/>
          <p:cNvSpPr/>
          <p:nvPr/>
        </p:nvSpPr>
        <p:spPr>
          <a:xfrm>
            <a:off x="4553640" y="1993320"/>
            <a:ext cx="31356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Saiu de 2 deploys por semana para mais de 50 deploys por dia após automatizar 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dos casos mais citados de transformação DevOps na literatura.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Rounded Rectangle 13"/>
          <p:cNvSpPr/>
          <p:nvPr/>
        </p:nvSpPr>
        <p:spPr>
          <a:xfrm>
            <a:off x="8092440" y="1508760"/>
            <a:ext cx="3428280" cy="2075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2" name="Rectangle 14"/>
          <p:cNvSpPr/>
          <p:nvPr/>
        </p:nvSpPr>
        <p:spPr>
          <a:xfrm>
            <a:off x="8092440" y="1508760"/>
            <a:ext cx="72360" cy="2075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3" name="TextBox 15"/>
          <p:cNvSpPr/>
          <p:nvPr/>
        </p:nvSpPr>
        <p:spPr>
          <a:xfrm>
            <a:off x="8256960" y="1636920"/>
            <a:ext cx="3135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iFood e Netflix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4" name="TextBox 16"/>
          <p:cNvSpPr/>
          <p:nvPr/>
        </p:nvSpPr>
        <p:spPr>
          <a:xfrm>
            <a:off x="8256960" y="1993320"/>
            <a:ext cx="3135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iFood: 1.500+ engenheiros, ~10 mil repositórios, deploy canário automatizado (Canary 2.0).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Netflix: milhares de deploys por dia.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5" name="Picture 17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760" cy="173160"/>
          </a:xfrm>
          <a:prstGeom prst="rect">
            <a:avLst/>
          </a:prstGeom>
          <a:ln w="0">
            <a:noFill/>
          </a:ln>
        </p:spPr>
      </p:pic>
      <p:sp>
        <p:nvSpPr>
          <p:cNvPr id="1426" name="TextBox 18"/>
          <p:cNvSpPr/>
          <p:nvPr/>
        </p:nvSpPr>
        <p:spPr>
          <a:xfrm>
            <a:off x="1298520" y="6446520"/>
            <a:ext cx="65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TextBox 19"/>
          <p:cNvSpPr/>
          <p:nvPr/>
        </p:nvSpPr>
        <p:spPr>
          <a:xfrm>
            <a:off x="10972800" y="6446520"/>
            <a:ext cx="730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2026-09-08T12:39:05Z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