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90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59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84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8.xml" ContentType="application/vnd.openxmlformats-officedocument.presentationml.slide+xml"/>
  <Override PartName="/ppt/slides/slide83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57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96.xml.rels" ContentType="application/vnd.openxmlformats-package.relationships+xml"/>
  <Override PartName="/ppt/slides/_rels/slide82.xml.rels" ContentType="application/vnd.openxmlformats-package.relationships+xml"/>
  <Override PartName="/ppt/slides/_rels/slide17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95.xml.rels" ContentType="application/vnd.openxmlformats-package.relationships+xml"/>
  <Override PartName="/ppt/slides/_rels/slide8.xml.rels" ContentType="application/vnd.openxmlformats-package.relationships+xml"/>
  <Override PartName="/ppt/slides/_rels/slide81.xml.rels" ContentType="application/vnd.openxmlformats-package.relationships+xml"/>
  <Override PartName="/ppt/slides/_rels/slide16.xml.rels" ContentType="application/vnd.openxmlformats-package.relationships+xml"/>
  <Override PartName="/ppt/slides/_rels/slide46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94.xml.rels" ContentType="application/vnd.openxmlformats-package.relationships+xml"/>
  <Override PartName="/ppt/slides/_rels/slide7.xml.rels" ContentType="application/vnd.openxmlformats-package.relationships+xml"/>
  <Override PartName="/ppt/slides/_rels/slide80.xml.rels" ContentType="application/vnd.openxmlformats-package.relationships+xml"/>
  <Override PartName="/ppt/slides/_rels/slide15.xml.rels" ContentType="application/vnd.openxmlformats-package.relationships+xml"/>
  <Override PartName="/ppt/slides/_rels/slide6.xml.rels" ContentType="application/vnd.openxmlformats-package.relationships+xml"/>
  <Override PartName="/ppt/slides/_rels/slide99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91.xml.rels" ContentType="application/vnd.openxmlformats-package.relationships+xml"/>
  <Override PartName="/ppt/slides/_rels/slide103.xml.rels" ContentType="application/vnd.openxmlformats-package.relationships+xml"/>
  <Override PartName="/ppt/slides/_rels/slide90.xml.rels" ContentType="application/vnd.openxmlformats-package.relationships+xml"/>
  <Override PartName="/ppt/slides/_rels/slide25.xml.rels" ContentType="application/vnd.openxmlformats-package.relationships+xml"/>
  <Override PartName="/ppt/slides/_rels/slide27.xml.rels" ContentType="application/vnd.openxmlformats-package.relationships+xml"/>
  <Override PartName="/ppt/slides/_rels/slide92.xml.rels" ContentType="application/vnd.openxmlformats-package.relationships+xml"/>
  <Override PartName="/ppt/slides/_rels/slide78.xml.rels" ContentType="application/vnd.openxmlformats-package.relationships+xml"/>
  <Override PartName="/ppt/slides/_rels/slide79.xml.rels" ContentType="application/vnd.openxmlformats-package.relationships+xml"/>
  <Override PartName="/ppt/slides/_rels/slide73.xml.rels" ContentType="application/vnd.openxmlformats-package.relationships+xml"/>
  <Override PartName="/ppt/slides/_rels/slide85.xml.rels" ContentType="application/vnd.openxmlformats-package.relationships+xml"/>
  <Override PartName="/ppt/slides/_rels/slide74.xml.rels" ContentType="application/vnd.openxmlformats-package.relationships+xml"/>
  <Override PartName="/ppt/slides/_rels/slide86.xml.rels" ContentType="application/vnd.openxmlformats-package.relationships+xml"/>
  <Override PartName="/ppt/slides/_rels/slide75.xml.rels" ContentType="application/vnd.openxmlformats-package.relationships+xml"/>
  <Override PartName="/ppt/slides/_rels/slide87.xml.rels" ContentType="application/vnd.openxmlformats-package.relationships+xml"/>
  <Override PartName="/ppt/slides/_rels/slide76.xml.rels" ContentType="application/vnd.openxmlformats-package.relationships+xml"/>
  <Override PartName="/ppt/slides/_rels/slide88.xml.rels" ContentType="application/vnd.openxmlformats-package.relationships+xml"/>
  <Override PartName="/ppt/slides/_rels/slide77.xml.rels" ContentType="application/vnd.openxmlformats-package.relationships+xml"/>
  <Override PartName="/ppt/slides/_rels/slide89.xml.rels" ContentType="application/vnd.openxmlformats-package.relationships+xml"/>
  <Override PartName="/ppt/slides/_rels/slide59.xml.rels" ContentType="application/vnd.openxmlformats-package.relationships+xml"/>
  <Override PartName="/ppt/slides/_rels/slide30.xml.rels" ContentType="application/vnd.openxmlformats-package.relationships+xml"/>
  <Override PartName="/ppt/slides/_rels/slide67.xml.rels" ContentType="application/vnd.openxmlformats-package.relationships+xml"/>
  <Override PartName="/ppt/slides/_rels/slide31.xml.rels" ContentType="application/vnd.openxmlformats-package.relationships+xml"/>
  <Override PartName="/ppt/slides/_rels/slide68.xml.rels" ContentType="application/vnd.openxmlformats-package.relationships+xml"/>
  <Override PartName="/ppt/slides/_rels/slide32.xml.rels" ContentType="application/vnd.openxmlformats-package.relationships+xml"/>
  <Override PartName="/ppt/slides/_rels/slide69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22.xml.rels" ContentType="application/vnd.openxmlformats-package.relationships+xml"/>
  <Override PartName="/ppt/slides/_rels/slide100.xml.rels" ContentType="application/vnd.openxmlformats-package.relationships+xml"/>
  <Override PartName="/ppt/slides/_rels/slide36.xml.rels" ContentType="application/vnd.openxmlformats-package.relationships+xml"/>
  <Override PartName="/ppt/slides/_rels/slide23.xml.rels" ContentType="application/vnd.openxmlformats-package.relationships+xml"/>
  <Override PartName="/ppt/slides/_rels/slide101.xml.rels" ContentType="application/vnd.openxmlformats-package.relationships+xml"/>
  <Override PartName="/ppt/slides/_rels/slide37.xml.rels" ContentType="application/vnd.openxmlformats-package.relationships+xml"/>
  <Override PartName="/ppt/slides/_rels/slide56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2.xml.rels" ContentType="application/vnd.openxmlformats-package.relationships+xml"/>
  <Override PartName="/ppt/slides/_rels/slide24.xml.rels" ContentType="application/vnd.openxmlformats-package.relationships+xml"/>
  <Override PartName="/ppt/slides/_rels/slide102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13.xml.rels" ContentType="application/vnd.openxmlformats-package.relationships+xml"/>
  <Override PartName="/ppt/slides/_rels/slide61.xml.rels" ContentType="application/vnd.openxmlformats-package.relationships+xml"/>
  <Override PartName="/ppt/slides/_rels/slide5.xml.rels" ContentType="application/vnd.openxmlformats-package.relationships+xml"/>
  <Override PartName="/ppt/slides/_rels/slide98.xml.rels" ContentType="application/vnd.openxmlformats-package.relationships+xml"/>
  <Override PartName="/ppt/slides/_rels/slide19.xml.rels" ContentType="application/vnd.openxmlformats-package.relationships+xml"/>
  <Override PartName="/ppt/slides/_rels/slide84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60.xml.rels" ContentType="application/vnd.openxmlformats-package.relationships+xml"/>
  <Override PartName="/ppt/slides/_rels/slide4.xml.rels" ContentType="application/vnd.openxmlformats-package.relationships+xml"/>
  <Override PartName="/ppt/slides/_rels/slide97.xml.rels" ContentType="application/vnd.openxmlformats-package.relationships+xml"/>
  <Override PartName="/ppt/slides/_rels/slide18.xml.rels" ContentType="application/vnd.openxmlformats-package.relationships+xml"/>
  <Override PartName="/ppt/slides/_rels/slide83.xml.rels" ContentType="application/vnd.openxmlformats-package.relationships+xml"/>
  <Override PartName="/ppt/slides/_rels/slide14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65.xml.rels" ContentType="application/vnd.openxmlformats-package.relationships+xml"/>
  <Override PartName="/ppt/slides/_rels/slide71.xml.rels" ContentType="application/vnd.openxmlformats-package.relationships+xml"/>
  <Override PartName="/ppt/slides/_rels/slide66.xml.rels" ContentType="application/vnd.openxmlformats-package.relationships+xml"/>
  <Override PartName="/ppt/slides/_rels/slide70.xml.rels" ContentType="application/vnd.openxmlformats-package.relationships+xml"/>
  <Override PartName="/ppt/slides/_rels/slide93.xml.rels" ContentType="application/vnd.openxmlformats-package.relationships+xml"/>
  <Override PartName="/ppt/slides/_rels/slide28.xml.rels" ContentType="application/vnd.openxmlformats-package.relationships+xml"/>
  <Override PartName="/ppt/slides/_rels/slide72.xml.rels" ContentType="application/vnd.openxmlformats-package.relationships+xml"/>
  <Override PartName="/ppt/slides/slide71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0.xml" ContentType="application/vnd.openxmlformats-officedocument.presentationml.slide+xml"/>
  <Override PartName="/ppt/slides/slide93.xml" ContentType="application/vnd.openxmlformats-officedocument.presentationml.slide+xml"/>
  <Override PartName="/ppt/slides/slide28.xml" ContentType="application/vnd.openxmlformats-officedocument.presentationml.slide+xml"/>
  <Override PartName="/ppt/slides/slide69.xml" ContentType="application/vnd.openxmlformats-officedocument.presentationml.slide+xml"/>
  <Override PartName="/ppt/slides/slide72.xml" ContentType="application/vnd.openxmlformats-officedocument.presentationml.slide+xml"/>
  <Override PartName="/ppt/slides/slide60.xml" ContentType="application/vnd.openxmlformats-officedocument.presentationml.slide+xml"/>
  <Override PartName="/ppt/slides/slide95.xml" ContentType="application/vnd.openxmlformats-officedocument.presentationml.slide+xml"/>
  <Override PartName="/ppt/slides/slide8.xml" ContentType="application/vnd.openxmlformats-officedocument.presentationml.slide+xml"/>
  <Override PartName="/ppt/slides/slide8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76.xml" ContentType="application/vnd.openxmlformats-officedocument.presentationml.slide+xml"/>
  <Override PartName="/ppt/slides/slide8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74.xml" ContentType="application/vnd.openxmlformats-officedocument.presentationml.slide+xml"/>
  <Override PartName="/ppt/slides/slide85.xml" ContentType="application/vnd.openxmlformats-officedocument.presentationml.slide+xml"/>
  <Override PartName="/ppt/slides/slide73.xml" ContentType="application/vnd.openxmlformats-officedocument.presentationml.slide+xml"/>
  <Override PartName="/ppt/slides/slide79.xml" ContentType="application/vnd.openxmlformats-officedocument.presentationml.slide+xml"/>
  <Override PartName="/ppt/slides/slide78.xml" ContentType="application/vnd.openxmlformats-officedocument.presentationml.slide+xml"/>
  <Override PartName="/ppt/slides/slide92.xml" ContentType="application/vnd.openxmlformats-officedocument.presentationml.slide+xml"/>
  <Override PartName="/ppt/slides/slide27.xml" ContentType="application/vnd.openxmlformats-officedocument.presentationml.slide+xml"/>
  <Override PartName="/ppt/slides/slide91.xml" ContentType="application/vnd.openxmlformats-officedocument.presentationml.slide+xml"/>
  <Override PartName="/ppt/slides/slide26.xml" ContentType="application/vnd.openxmlformats-officedocument.presentationml.slide+xml"/>
  <Override PartName="/ppt/slides/slide15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slides/slide96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6.xml" ContentType="application/vnd.openxmlformats-officedocument.presentationml.slide+xml"/>
  <Override PartName="/ppt/slides/slide81.xml" ContentType="application/vnd.openxmlformats-officedocument.presentationml.slide+xml"/>
  <Override PartName="/ppt/slides/slide9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82.xml" ContentType="application/vnd.openxmlformats-officedocument.presentationml.slide+xml"/>
  <Override PartName="/ppt/slides/slide9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103.xml" ContentType="application/vnd.openxmlformats-officedocument.presentationml.slide+xml"/>
  <Override PartName="/ppt/slides/slide57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45.jpeg" ContentType="image/jpeg"/>
  <Override PartName="/ppt/media/image21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.png" ContentType="image/png"/>
  <Override PartName="/ppt/media/image33.png" ContentType="image/png"/>
  <Override PartName="/ppt/media/image10.png" ContentType="image/png"/>
  <Override PartName="/ppt/media/image31.png" ContentType="image/png"/>
  <Override PartName="/ppt/media/image36.png" ContentType="image/png"/>
  <Override PartName="/ppt/media/image4.png" ContentType="image/png"/>
  <Override PartName="/ppt/media/image13.png" ContentType="image/png"/>
  <Override PartName="/ppt/media/image48.jpeg" ContentType="image/jpeg"/>
  <Override PartName="/ppt/media/image32.png" ContentType="image/png"/>
  <Override PartName="/ppt/media/image46.jpeg" ContentType="image/jpeg"/>
  <Override PartName="/ppt/media/image30.png" ContentType="image/png"/>
  <Override PartName="/ppt/media/image40.png" ContentType="image/png"/>
  <Override PartName="/ppt/media/image41.png" ContentType="image/png"/>
  <Override PartName="/ppt/media/image47.jpeg" ContentType="image/jpeg"/>
  <Override PartName="/ppt/media/image42.png" ContentType="image/png"/>
  <Override PartName="/ppt/media/image49.jpeg" ContentType="image/jpeg"/>
  <Override PartName="/ppt/media/image9.png" ContentType="image/png"/>
  <Override PartName="/ppt/media/image18.png" ContentType="image/png"/>
  <Override PartName="/ppt/media/image20.png" ContentType="image/png"/>
  <Override PartName="/ppt/media/image44.jpeg" ContentType="image/jpeg"/>
  <Override PartName="/ppt/media/image12.png" ContentType="image/png"/>
  <Override PartName="/ppt/media/image3.png" ContentType="image/png"/>
  <Override PartName="/ppt/media/image35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39.png" ContentType="image/png"/>
  <Override PartName="/ppt/media/image43.jpeg" ContentType="image/jpeg"/>
  <Override PartName="/ppt/media/image7.png" ContentType="image/png"/>
  <Override PartName="/ppt/media/image1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  <p:sldId id="327" r:id="rId84"/>
    <p:sldId id="328" r:id="rId85"/>
    <p:sldId id="329" r:id="rId86"/>
    <p:sldId id="330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  <p:sldId id="348" r:id="rId105"/>
    <p:sldId id="349" r:id="rId106"/>
    <p:sldId id="350" r:id="rId107"/>
    <p:sldId id="351" r:id="rId108"/>
    <p:sldId id="352" r:id="rId109"/>
    <p:sldId id="353" r:id="rId110"/>
    <p:sldId id="354" r:id="rId111"/>
    <p:sldId id="355" r:id="rId112"/>
    <p:sldId id="356" r:id="rId113"/>
    <p:sldId id="357" r:id="rId114"/>
    <p:sldId id="358" r:id="rId1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Relationship Id="rId84" Type="http://schemas.openxmlformats.org/officeDocument/2006/relationships/slide" Target="slides/slide72.xml"/><Relationship Id="rId85" Type="http://schemas.openxmlformats.org/officeDocument/2006/relationships/slide" Target="slides/slide73.xml"/><Relationship Id="rId86" Type="http://schemas.openxmlformats.org/officeDocument/2006/relationships/slide" Target="slides/slide74.xml"/><Relationship Id="rId87" Type="http://schemas.openxmlformats.org/officeDocument/2006/relationships/slide" Target="slides/slide75.xml"/><Relationship Id="rId88" Type="http://schemas.openxmlformats.org/officeDocument/2006/relationships/slide" Target="slides/slide76.xml"/><Relationship Id="rId89" Type="http://schemas.openxmlformats.org/officeDocument/2006/relationships/slide" Target="slides/slide77.xml"/><Relationship Id="rId90" Type="http://schemas.openxmlformats.org/officeDocument/2006/relationships/slide" Target="slides/slide78.xml"/><Relationship Id="rId91" Type="http://schemas.openxmlformats.org/officeDocument/2006/relationships/slide" Target="slides/slide79.xml"/><Relationship Id="rId92" Type="http://schemas.openxmlformats.org/officeDocument/2006/relationships/slide" Target="slides/slide80.xml"/><Relationship Id="rId93" Type="http://schemas.openxmlformats.org/officeDocument/2006/relationships/slide" Target="slides/slide81.xml"/><Relationship Id="rId94" Type="http://schemas.openxmlformats.org/officeDocument/2006/relationships/slide" Target="slides/slide82.xml"/><Relationship Id="rId95" Type="http://schemas.openxmlformats.org/officeDocument/2006/relationships/slide" Target="slides/slide83.xml"/><Relationship Id="rId96" Type="http://schemas.openxmlformats.org/officeDocument/2006/relationships/slide" Target="slides/slide84.xml"/><Relationship Id="rId97" Type="http://schemas.openxmlformats.org/officeDocument/2006/relationships/slide" Target="slides/slide85.xml"/><Relationship Id="rId98" Type="http://schemas.openxmlformats.org/officeDocument/2006/relationships/slide" Target="slides/slide86.xml"/><Relationship Id="rId99" Type="http://schemas.openxmlformats.org/officeDocument/2006/relationships/slide" Target="slides/slide87.xml"/><Relationship Id="rId100" Type="http://schemas.openxmlformats.org/officeDocument/2006/relationships/slide" Target="slides/slide88.xml"/><Relationship Id="rId101" Type="http://schemas.openxmlformats.org/officeDocument/2006/relationships/slide" Target="slides/slide89.xml"/><Relationship Id="rId102" Type="http://schemas.openxmlformats.org/officeDocument/2006/relationships/slide" Target="slides/slide90.xml"/><Relationship Id="rId103" Type="http://schemas.openxmlformats.org/officeDocument/2006/relationships/slide" Target="slides/slide91.xml"/><Relationship Id="rId104" Type="http://schemas.openxmlformats.org/officeDocument/2006/relationships/slide" Target="slides/slide92.xml"/><Relationship Id="rId105" Type="http://schemas.openxmlformats.org/officeDocument/2006/relationships/slide" Target="slides/slide93.xml"/><Relationship Id="rId106" Type="http://schemas.openxmlformats.org/officeDocument/2006/relationships/slide" Target="slides/slide94.xml"/><Relationship Id="rId107" Type="http://schemas.openxmlformats.org/officeDocument/2006/relationships/slide" Target="slides/slide95.xml"/><Relationship Id="rId108" Type="http://schemas.openxmlformats.org/officeDocument/2006/relationships/slide" Target="slides/slide96.xml"/><Relationship Id="rId109" Type="http://schemas.openxmlformats.org/officeDocument/2006/relationships/slide" Target="slides/slide97.xml"/><Relationship Id="rId110" Type="http://schemas.openxmlformats.org/officeDocument/2006/relationships/slide" Target="slides/slide98.xml"/><Relationship Id="rId111" Type="http://schemas.openxmlformats.org/officeDocument/2006/relationships/slide" Target="slides/slide99.xml"/><Relationship Id="rId112" Type="http://schemas.openxmlformats.org/officeDocument/2006/relationships/slide" Target="slides/slide100.xml"/><Relationship Id="rId113" Type="http://schemas.openxmlformats.org/officeDocument/2006/relationships/slide" Target="slides/slide101.xml"/><Relationship Id="rId114" Type="http://schemas.openxmlformats.org/officeDocument/2006/relationships/slide" Target="slides/slide102.xml"/><Relationship Id="rId115" Type="http://schemas.openxmlformats.org/officeDocument/2006/relationships/slide" Target="slides/slide103.xml"/><Relationship Id="rId1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9E7CD9-EAB3-4581-9FF7-6251EC8683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337A35-F435-456C-BCB5-06EB5C058CB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82CFAB8-0AF6-45E1-8C5C-32E6C2F5A2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EE07131-7976-44BC-A20E-E48A6640CF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08CDA84-34AF-4EDF-8B05-EF11310B5C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62F8B17-4290-4ED9-8734-B36383C7FB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330A86A-830C-472A-B30B-FA49B10909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E09C723-2595-40E9-8901-57ADA1882D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6E390E4-5E80-4878-94BD-6E457B5363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39F032D-08F1-4EDC-83F5-E92A75DE18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16CF877-D1F6-432B-9E22-56D347FBFD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8D75103-B09F-4113-80E7-985383CB6BE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101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7D0491-F36A-4C50-AE8B-6BBE7E66384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5D85B54-C54E-440B-B12C-A630ACA451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10F30E5-A34D-4CB2-8750-C2BEFD9800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A82F6A2-2056-4896-BA4C-13CF0A8724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FBEB8FB-E0DA-46F7-B4FC-736E70757F2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3EA9423-AF7A-4026-A2E3-C6C8218FF75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8BB57B6-E1CB-4BD9-8177-2B34C97FCA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234F134-27E9-4321-AED8-46276B67E5E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A05C12E-E440-4E24-B00C-4C40A54E00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4DCF888-CDEB-4A4C-BD08-EB6A1EAC823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37.png"/><Relationship Id="rId4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38.png"/><Relationship Id="rId4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3.jpe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46.jpe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7.jpeg"/><Relationship Id="rId3" Type="http://schemas.openxmlformats.org/officeDocument/2006/relationships/image" Target="../media/image48.jpeg"/><Relationship Id="rId4" Type="http://schemas.openxmlformats.org/officeDocument/2006/relationships/image" Target="../media/image49.jpe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1"/>
          <p:cNvSpPr/>
          <p:nvPr/>
        </p:nvSpPr>
        <p:spPr>
          <a:xfrm>
            <a:off x="731520" y="100584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ffffff"/>
                </a:solidFill>
                <a:latin typeface="Aptos"/>
              </a:rPr>
              <a:t>Desenvolvimento de Software Integrado - DevOps</a:t>
            </a:r>
            <a:endParaRPr b="0" lang="pt-BR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1508760" y="1737360"/>
            <a:ext cx="91425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ae5ed"/>
                </a:solidFill>
                <a:latin typeface="Aptos"/>
              </a:rPr>
              <a:t>Slides da disciplina | Turma 4 - Z251 | Semestre 2026.2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Rounded Rectangle 3"/>
          <p:cNvSpPr/>
          <p:nvPr/>
        </p:nvSpPr>
        <p:spPr>
          <a:xfrm>
            <a:off x="91440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91440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Rounded Rectangle 5"/>
          <p:cNvSpPr/>
          <p:nvPr/>
        </p:nvSpPr>
        <p:spPr>
          <a:xfrm>
            <a:off x="221292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221292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351144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" name="TextBox 8"/>
          <p:cNvSpPr/>
          <p:nvPr/>
        </p:nvSpPr>
        <p:spPr>
          <a:xfrm>
            <a:off x="351144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Rounded Rectangle 9"/>
          <p:cNvSpPr/>
          <p:nvPr/>
        </p:nvSpPr>
        <p:spPr>
          <a:xfrm>
            <a:off x="480960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480960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11"/>
          <p:cNvSpPr/>
          <p:nvPr/>
        </p:nvSpPr>
        <p:spPr>
          <a:xfrm>
            <a:off x="610812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TextBox 12"/>
          <p:cNvSpPr/>
          <p:nvPr/>
        </p:nvSpPr>
        <p:spPr>
          <a:xfrm>
            <a:off x="610812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13"/>
          <p:cNvSpPr/>
          <p:nvPr/>
        </p:nvSpPr>
        <p:spPr>
          <a:xfrm>
            <a:off x="740664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40664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15"/>
          <p:cNvSpPr/>
          <p:nvPr/>
        </p:nvSpPr>
        <p:spPr>
          <a:xfrm>
            <a:off x="870516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870516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Rounded Rectangle 17"/>
          <p:cNvSpPr/>
          <p:nvPr/>
        </p:nvSpPr>
        <p:spPr>
          <a:xfrm>
            <a:off x="10003680" y="3246120"/>
            <a:ext cx="986040" cy="52884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18"/>
          <p:cNvSpPr/>
          <p:nvPr/>
        </p:nvSpPr>
        <p:spPr>
          <a:xfrm>
            <a:off x="10003680" y="3401640"/>
            <a:ext cx="9860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20"/>
          <p:cNvSpPr/>
          <p:nvPr/>
        </p:nvSpPr>
        <p:spPr>
          <a:xfrm>
            <a:off x="4983480" y="6217920"/>
            <a:ext cx="22388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ae5ed"/>
                </a:solidFill>
                <a:latin typeface="Aptos"/>
              </a:rPr>
              <a:t>Arimatéia Júnior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" name="Picture 21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Sobre o Professor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Quem conduz 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74" name="Picture 5" descr="Foto Perfil JR.png"/>
          <p:cNvPicPr/>
          <p:nvPr/>
        </p:nvPicPr>
        <p:blipFill>
          <a:blip r:embed="rId2"/>
          <a:stretch/>
        </p:blipFill>
        <p:spPr>
          <a:xfrm>
            <a:off x="800280" y="1508760"/>
            <a:ext cx="3061800" cy="30618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75" name="TextBox 6"/>
          <p:cNvSpPr/>
          <p:nvPr/>
        </p:nvSpPr>
        <p:spPr>
          <a:xfrm>
            <a:off x="914400" y="4663440"/>
            <a:ext cx="283320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32b42"/>
                </a:solidFill>
                <a:latin typeface="Aptos"/>
              </a:rPr>
              <a:t>Arimatéia Júnior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30" spc="-1" strike="noStrike">
                <a:solidFill>
                  <a:srgbClr val="5e6c7a"/>
                </a:solidFill>
                <a:latin typeface="Aptos"/>
              </a:rPr>
              <a:t>Professor - Desenvolvimento de Software Integrado - DevOps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7"/>
          <p:cNvSpPr/>
          <p:nvPr/>
        </p:nvSpPr>
        <p:spPr>
          <a:xfrm>
            <a:off x="4846320" y="1508760"/>
            <a:ext cx="6445080" cy="169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Rectangle 8"/>
          <p:cNvSpPr/>
          <p:nvPr/>
        </p:nvSpPr>
        <p:spPr>
          <a:xfrm>
            <a:off x="4846320" y="1508760"/>
            <a:ext cx="71640" cy="16902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5010840" y="1636920"/>
            <a:ext cx="6152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Formação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Picture 10" descr="ic_grad.png"/>
          <p:cNvPicPr/>
          <p:nvPr/>
        </p:nvPicPr>
        <p:blipFill>
          <a:blip r:embed="rId3"/>
          <a:stretch/>
        </p:blipFill>
        <p:spPr>
          <a:xfrm>
            <a:off x="501084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80" name="TextBox 11"/>
          <p:cNvSpPr/>
          <p:nvPr/>
        </p:nvSpPr>
        <p:spPr>
          <a:xfrm>
            <a:off x="5010840" y="2312280"/>
            <a:ext cx="615240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Pós-graduado em Engenharia de Software com ênfase em DevOps — UNIFOR (2025).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MBA em Arquitetura de Software e Soluções — XP Educação (2023).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Especialização em Segurança da Informação — UNINASSAU (2021).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Formado em Redes de Computadores — Faculdade Lourenço Filho (2014).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ounded Rectangle 12"/>
          <p:cNvSpPr/>
          <p:nvPr/>
        </p:nvSpPr>
        <p:spPr>
          <a:xfrm>
            <a:off x="4846320" y="3337560"/>
            <a:ext cx="3130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13"/>
          <p:cNvSpPr/>
          <p:nvPr/>
        </p:nvSpPr>
        <p:spPr>
          <a:xfrm>
            <a:off x="4846320" y="33375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010840" y="3465720"/>
            <a:ext cx="2837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Experiência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Picture 15" descr="ic_briefcase.png"/>
          <p:cNvPicPr/>
          <p:nvPr/>
        </p:nvPicPr>
        <p:blipFill>
          <a:blip r:embed="rId4"/>
          <a:stretch/>
        </p:blipFill>
        <p:spPr>
          <a:xfrm>
            <a:off x="5010840" y="38131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85" name="TextBox 16"/>
          <p:cNvSpPr/>
          <p:nvPr/>
        </p:nvSpPr>
        <p:spPr>
          <a:xfrm>
            <a:off x="5010840" y="4270320"/>
            <a:ext cx="283788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Arquiteto de Software e Soluções — TIVIT (cliente Petrobras).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Consultor de Tecnologia — ARI JR Technology.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7"/>
          <p:cNvSpPr/>
          <p:nvPr/>
        </p:nvSpPr>
        <p:spPr>
          <a:xfrm>
            <a:off x="8160840" y="3337560"/>
            <a:ext cx="3130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Rectangle 18"/>
          <p:cNvSpPr/>
          <p:nvPr/>
        </p:nvSpPr>
        <p:spPr>
          <a:xfrm>
            <a:off x="8160840" y="33375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8325720" y="3465720"/>
            <a:ext cx="2837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Certificações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Picture 20" descr="ic_medal.png"/>
          <p:cNvPicPr/>
          <p:nvPr/>
        </p:nvPicPr>
        <p:blipFill>
          <a:blip r:embed="rId5"/>
          <a:stretch/>
        </p:blipFill>
        <p:spPr>
          <a:xfrm>
            <a:off x="8325720" y="38131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90" name="TextBox 21"/>
          <p:cNvSpPr/>
          <p:nvPr/>
        </p:nvSpPr>
        <p:spPr>
          <a:xfrm>
            <a:off x="8325720" y="4270320"/>
            <a:ext cx="28378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Microsoft, AWS, Google Cloud, Oracle e VMware.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ounded Rectangle 22"/>
          <p:cNvSpPr/>
          <p:nvPr/>
        </p:nvSpPr>
        <p:spPr>
          <a:xfrm>
            <a:off x="4846320" y="5212080"/>
            <a:ext cx="6492600" cy="906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3"/>
          <p:cNvSpPr/>
          <p:nvPr/>
        </p:nvSpPr>
        <p:spPr>
          <a:xfrm>
            <a:off x="4846320" y="5212080"/>
            <a:ext cx="71640" cy="5472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4"/>
          <p:cNvSpPr/>
          <p:nvPr/>
        </p:nvSpPr>
        <p:spPr>
          <a:xfrm>
            <a:off x="5010840" y="5340240"/>
            <a:ext cx="6152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Sobre mim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5"/>
          <p:cNvSpPr/>
          <p:nvPr/>
        </p:nvSpPr>
        <p:spPr>
          <a:xfrm>
            <a:off x="5010840" y="5651280"/>
            <a:ext cx="6152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Apaixonado por família, tecnologia e futebol.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26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6" name="TextBox 27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28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Visão Geral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24h em seis encontros: cultura, automação, entrega, operação e IA aplicada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685800" y="150876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685800" y="1508760"/>
            <a:ext cx="71640" cy="1827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85032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Objetivo da turma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850320" y="2011680"/>
            <a:ext cx="3134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Conectar desenvolvimento, qualidade e operação em um fluxo único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Trabalhar com artefatos reais: repositório, pipeline, containers, evidências 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Fechar com projeto integrador e uso responsável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8"/>
          <p:cNvSpPr/>
          <p:nvPr/>
        </p:nvSpPr>
        <p:spPr>
          <a:xfrm>
            <a:off x="4389120" y="150876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9"/>
          <p:cNvSpPr/>
          <p:nvPr/>
        </p:nvSpPr>
        <p:spPr>
          <a:xfrm>
            <a:off x="4389120" y="1508760"/>
            <a:ext cx="71640" cy="1827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455364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Eixo prático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4553640" y="2011680"/>
            <a:ext cx="3134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Diagnóstico + IA no SDLC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Git, PR e revisão assistida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CI, testes e qualidade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Docker/Compose e troubleshooting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CD, segurança, observabilidade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ounded Rectangle 12"/>
          <p:cNvSpPr/>
          <p:nvPr/>
        </p:nvSpPr>
        <p:spPr>
          <a:xfrm>
            <a:off x="8092440" y="150876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Rectangle 13"/>
          <p:cNvSpPr/>
          <p:nvPr/>
        </p:nvSpPr>
        <p:spPr>
          <a:xfrm>
            <a:off x="8092440" y="1508760"/>
            <a:ext cx="71640" cy="1827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825696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 esperado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8256960" y="2011680"/>
            <a:ext cx="313488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Aplicação executável em ambiente reproduzível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Pipeline com validações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Uso de IA documentado e validado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Release/rollback ou plano de rollback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Evidências de operação e melhoria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ounded Rectangle 16"/>
          <p:cNvSpPr/>
          <p:nvPr/>
        </p:nvSpPr>
        <p:spPr>
          <a:xfrm>
            <a:off x="685800" y="3794760"/>
            <a:ext cx="10834200" cy="1370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17"/>
          <p:cNvSpPr/>
          <p:nvPr/>
        </p:nvSpPr>
        <p:spPr>
          <a:xfrm>
            <a:off x="685800" y="3794760"/>
            <a:ext cx="71640" cy="1370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850320" y="392292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orientadora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850320" y="4297680"/>
            <a:ext cx="105415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transformar uma aplicação em um produto entregável, observável, seguro e evolutivo usando DevOps e IA com validação humana?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2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Objetivos de Aprendizagem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você deve conseguir fazer ao final da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5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Compreender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cultura DevOps e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gargalos entre desenvolvimento, qualidade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Relacionar métricas, feedback e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Construir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12"/>
          <p:cNvSpPr/>
          <p:nvPr/>
        </p:nvSpPr>
        <p:spPr>
          <a:xfrm>
            <a:off x="455364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Git e PRs com revisão objetiva.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de CI com testes e artefatos.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uma aplicação e padronizar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Planejar CD com segurança básica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Avaliar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criticamente no SDLC.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logs, falhas, riscos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Defender o projeto final com evidências executáveis.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Linha do Tempo dos Encontros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Datas oficiais da turma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ounded Rectangle 4"/>
          <p:cNvSpPr/>
          <p:nvPr/>
        </p:nvSpPr>
        <p:spPr>
          <a:xfrm>
            <a:off x="685800" y="150876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Rectangle 5"/>
          <p:cNvSpPr/>
          <p:nvPr/>
        </p:nvSpPr>
        <p:spPr>
          <a:xfrm>
            <a:off x="685800" y="1508760"/>
            <a:ext cx="71640" cy="1415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85032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10/09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850320" y="201168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Cultura DevOps, IA no SDLC e 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ounded Rectangle 8"/>
          <p:cNvSpPr/>
          <p:nvPr/>
        </p:nvSpPr>
        <p:spPr>
          <a:xfrm>
            <a:off x="4434840" y="150876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9"/>
          <p:cNvSpPr/>
          <p:nvPr/>
        </p:nvSpPr>
        <p:spPr>
          <a:xfrm>
            <a:off x="4434840" y="1508760"/>
            <a:ext cx="71640" cy="1415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10"/>
          <p:cNvSpPr/>
          <p:nvPr/>
        </p:nvSpPr>
        <p:spPr>
          <a:xfrm>
            <a:off x="459936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11/09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4599360" y="201168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Git, colaboração, qualidade e IA assistida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ounded Rectangle 12"/>
          <p:cNvSpPr/>
          <p:nvPr/>
        </p:nvSpPr>
        <p:spPr>
          <a:xfrm>
            <a:off x="8183880" y="150876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Rectangle 13"/>
          <p:cNvSpPr/>
          <p:nvPr/>
        </p:nvSpPr>
        <p:spPr>
          <a:xfrm>
            <a:off x="8183880" y="1508760"/>
            <a:ext cx="71640" cy="1415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8348400" y="163692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12/09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8348400" y="201168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CI, testes automatizados e IA para automação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16"/>
          <p:cNvSpPr/>
          <p:nvPr/>
        </p:nvSpPr>
        <p:spPr>
          <a:xfrm>
            <a:off x="685800" y="347472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17"/>
          <p:cNvSpPr/>
          <p:nvPr/>
        </p:nvSpPr>
        <p:spPr>
          <a:xfrm>
            <a:off x="685800" y="3474720"/>
            <a:ext cx="71640" cy="1415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850320" y="36028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24/09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850320" y="397764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Containers, integração e troubleshooting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ounded Rectangle 20"/>
          <p:cNvSpPr/>
          <p:nvPr/>
        </p:nvSpPr>
        <p:spPr>
          <a:xfrm>
            <a:off x="4434840" y="347472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21"/>
          <p:cNvSpPr/>
          <p:nvPr/>
        </p:nvSpPr>
        <p:spPr>
          <a:xfrm>
            <a:off x="4434840" y="3474720"/>
            <a:ext cx="71640" cy="14158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22"/>
          <p:cNvSpPr/>
          <p:nvPr/>
        </p:nvSpPr>
        <p:spPr>
          <a:xfrm>
            <a:off x="4599360" y="36028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25/09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4599360" y="397764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CD, configuração, segurança e governança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24"/>
          <p:cNvSpPr/>
          <p:nvPr/>
        </p:nvSpPr>
        <p:spPr>
          <a:xfrm>
            <a:off x="8183880" y="3474720"/>
            <a:ext cx="3427560" cy="1415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Rectangle 25"/>
          <p:cNvSpPr/>
          <p:nvPr/>
        </p:nvSpPr>
        <p:spPr>
          <a:xfrm>
            <a:off x="8183880" y="3474720"/>
            <a:ext cx="71640" cy="14158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26"/>
          <p:cNvSpPr/>
          <p:nvPr/>
        </p:nvSpPr>
        <p:spPr>
          <a:xfrm>
            <a:off x="8348400" y="36028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26/09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27"/>
          <p:cNvSpPr/>
          <p:nvPr/>
        </p:nvSpPr>
        <p:spPr>
          <a:xfrm>
            <a:off x="8348400" y="3977640"/>
            <a:ext cx="31348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Observabilidade, IA aplicada e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28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29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Picture 30" descr="e1_magnifier_dark.png"/>
          <p:cNvPicPr/>
          <p:nvPr/>
        </p:nvPicPr>
        <p:blipFill>
          <a:blip r:embed="rId1"/>
          <a:stretch/>
        </p:blipFill>
        <p:spPr>
          <a:xfrm>
            <a:off x="3593520" y="161856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0" name="Picture 31" descr="e2_git_dark.png"/>
          <p:cNvPicPr/>
          <p:nvPr/>
        </p:nvPicPr>
        <p:blipFill>
          <a:blip r:embed="rId2"/>
          <a:stretch/>
        </p:blipFill>
        <p:spPr>
          <a:xfrm>
            <a:off x="7342560" y="161856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1" name="Picture 32" descr="e3_refresh_dark.png"/>
          <p:cNvPicPr/>
          <p:nvPr/>
        </p:nvPicPr>
        <p:blipFill>
          <a:blip r:embed="rId3"/>
          <a:stretch/>
        </p:blipFill>
        <p:spPr>
          <a:xfrm>
            <a:off x="11091600" y="161856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2" name="Picture 33" descr="e4_container_dark.png"/>
          <p:cNvPicPr/>
          <p:nvPr/>
        </p:nvPicPr>
        <p:blipFill>
          <a:blip r:embed="rId4"/>
          <a:stretch/>
        </p:blipFill>
        <p:spPr>
          <a:xfrm>
            <a:off x="3593520" y="358452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3" name="Picture 34" descr="e5_shield_dark.png"/>
          <p:cNvPicPr/>
          <p:nvPr/>
        </p:nvPicPr>
        <p:blipFill>
          <a:blip r:embed="rId5"/>
          <a:stretch/>
        </p:blipFill>
        <p:spPr>
          <a:xfrm>
            <a:off x="7342560" y="358452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4" name="Picture 35" descr="e6_pulse_dark.png"/>
          <p:cNvPicPr/>
          <p:nvPr/>
        </p:nvPicPr>
        <p:blipFill>
          <a:blip r:embed="rId6"/>
          <a:stretch/>
        </p:blipFill>
        <p:spPr>
          <a:xfrm>
            <a:off x="11091600" y="3584520"/>
            <a:ext cx="382680" cy="382680"/>
          </a:xfrm>
          <a:prstGeom prst="rect">
            <a:avLst/>
          </a:prstGeom>
          <a:ln w="0">
            <a:noFill/>
          </a:ln>
        </p:spPr>
      </p:pic>
      <p:pic>
        <p:nvPicPr>
          <p:cNvPr id="175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76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fluxo DevOps completo em pequena escala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ounded Rectangle 4"/>
          <p:cNvSpPr/>
          <p:nvPr/>
        </p:nvSpPr>
        <p:spPr>
          <a:xfrm>
            <a:off x="68580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68580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6"/>
          <p:cNvSpPr/>
          <p:nvPr/>
        </p:nvSpPr>
        <p:spPr>
          <a:xfrm>
            <a:off x="208476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7"/>
          <p:cNvSpPr/>
          <p:nvPr/>
        </p:nvSpPr>
        <p:spPr>
          <a:xfrm>
            <a:off x="256032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256032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395928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443484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443484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Imagem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583380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13"/>
          <p:cNvSpPr/>
          <p:nvPr/>
        </p:nvSpPr>
        <p:spPr>
          <a:xfrm>
            <a:off x="630936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630936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Ambiente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770832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6"/>
          <p:cNvSpPr/>
          <p:nvPr/>
        </p:nvSpPr>
        <p:spPr>
          <a:xfrm>
            <a:off x="818388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7"/>
          <p:cNvSpPr/>
          <p:nvPr/>
        </p:nvSpPr>
        <p:spPr>
          <a:xfrm>
            <a:off x="818388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18"/>
          <p:cNvSpPr/>
          <p:nvPr/>
        </p:nvSpPr>
        <p:spPr>
          <a:xfrm>
            <a:off x="9582840" y="1783080"/>
            <a:ext cx="36432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ounded Rectangle 19"/>
          <p:cNvSpPr/>
          <p:nvPr/>
        </p:nvSpPr>
        <p:spPr>
          <a:xfrm>
            <a:off x="10058400" y="1600200"/>
            <a:ext cx="1351800" cy="65700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10058400" y="1810440"/>
            <a:ext cx="1351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Observabilidade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ounded Rectangle 21"/>
          <p:cNvSpPr/>
          <p:nvPr/>
        </p:nvSpPr>
        <p:spPr>
          <a:xfrm>
            <a:off x="685800" y="278892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22"/>
          <p:cNvSpPr/>
          <p:nvPr/>
        </p:nvSpPr>
        <p:spPr>
          <a:xfrm>
            <a:off x="685800" y="2788920"/>
            <a:ext cx="71640" cy="1781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23"/>
          <p:cNvSpPr/>
          <p:nvPr/>
        </p:nvSpPr>
        <p:spPr>
          <a:xfrm>
            <a:off x="850320" y="29170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Artefatos mínimos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24"/>
          <p:cNvSpPr/>
          <p:nvPr/>
        </p:nvSpPr>
        <p:spPr>
          <a:xfrm>
            <a:off x="850320" y="329184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versionado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build/teste/release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uso de IA quando aplicado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Rounded Rectangle 25"/>
          <p:cNvSpPr/>
          <p:nvPr/>
        </p:nvSpPr>
        <p:spPr>
          <a:xfrm>
            <a:off x="4389120" y="278892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" name="Rectangle 26"/>
          <p:cNvSpPr/>
          <p:nvPr/>
        </p:nvSpPr>
        <p:spPr>
          <a:xfrm>
            <a:off x="4389120" y="2788920"/>
            <a:ext cx="71640" cy="1781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7"/>
          <p:cNvSpPr/>
          <p:nvPr/>
        </p:nvSpPr>
        <p:spPr>
          <a:xfrm>
            <a:off x="4553640" y="29170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Critérios técnicos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28"/>
          <p:cNvSpPr/>
          <p:nvPr/>
        </p:nvSpPr>
        <p:spPr>
          <a:xfrm>
            <a:off x="4553640" y="329184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rastreável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visível e tratável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ou plano de 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teste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29"/>
          <p:cNvSpPr/>
          <p:nvPr/>
        </p:nvSpPr>
        <p:spPr>
          <a:xfrm>
            <a:off x="8092440" y="278892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Rectangle 30"/>
          <p:cNvSpPr/>
          <p:nvPr/>
        </p:nvSpPr>
        <p:spPr>
          <a:xfrm>
            <a:off x="8092440" y="2788920"/>
            <a:ext cx="71640" cy="1781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1"/>
          <p:cNvSpPr/>
          <p:nvPr/>
        </p:nvSpPr>
        <p:spPr>
          <a:xfrm>
            <a:off x="8256960" y="29170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Defesa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32"/>
          <p:cNvSpPr/>
          <p:nvPr/>
        </p:nvSpPr>
        <p:spPr>
          <a:xfrm>
            <a:off x="8256960" y="329184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técnicas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crítico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Box 33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34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" name="Picture 35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36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/>
          <p:nvPr/>
        </p:nvSpPr>
        <p:spPr>
          <a:xfrm>
            <a:off x="594360" y="320040"/>
            <a:ext cx="98740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Projeto Integrador - Incrementos por Encontro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único projeto evolui ao longo dos seis encontros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217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Incrementos por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E1: diagnóstico e proposta priorizada.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E2: repositório, PR e tag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E3: pipeline CI com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E4: execução com Docker/Compose.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E5: release, rollback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E6: observabilidade e defesa.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 de escolha da aplicação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pequena, mas realista.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ter build, teste e execução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Ideal ter API + dependência externa ou banco.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stack complexa que consuma 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 mínima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Print/log de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release/rollback.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IA, quando aplicado.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23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e Ambiente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ter pronto antes do primeiro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5"/>
          <p:cNvSpPr/>
          <p:nvPr/>
        </p:nvSpPr>
        <p:spPr>
          <a:xfrm>
            <a:off x="685800" y="1508760"/>
            <a:ext cx="3427560" cy="260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ectangle 6"/>
          <p:cNvSpPr/>
          <p:nvPr/>
        </p:nvSpPr>
        <p:spPr>
          <a:xfrm>
            <a:off x="685800" y="1508760"/>
            <a:ext cx="71640" cy="2604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Essencial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Picture 8" descr="git.png"/>
          <p:cNvPicPr/>
          <p:nvPr/>
        </p:nvPicPr>
        <p:blipFill>
          <a:blip r:embed="rId2"/>
          <a:stretch/>
        </p:blipFill>
        <p:spPr>
          <a:xfrm>
            <a:off x="85032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0" name="Picture 9" descr="github.png"/>
          <p:cNvPicPr/>
          <p:nvPr/>
        </p:nvPicPr>
        <p:blipFill>
          <a:blip r:embed="rId3"/>
          <a:stretch/>
        </p:blipFill>
        <p:spPr>
          <a:xfrm>
            <a:off x="134424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1" name="Picture 10" descr="gitlab.png"/>
          <p:cNvPicPr/>
          <p:nvPr/>
        </p:nvPicPr>
        <p:blipFill>
          <a:blip r:embed="rId4"/>
          <a:stretch/>
        </p:blipFill>
        <p:spPr>
          <a:xfrm>
            <a:off x="183780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11" descr="docker.png"/>
          <p:cNvPicPr/>
          <p:nvPr/>
        </p:nvPicPr>
        <p:blipFill>
          <a:blip r:embed="rId5"/>
          <a:stretch/>
        </p:blipFill>
        <p:spPr>
          <a:xfrm>
            <a:off x="233172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243" name="TextBox 12"/>
          <p:cNvSpPr/>
          <p:nvPr/>
        </p:nvSpPr>
        <p:spPr>
          <a:xfrm>
            <a:off x="850320" y="2441520"/>
            <a:ext cx="31348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 instalado e configurado.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Conta em GitHub, GitLab ou Azure DevOps.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Editor com terminal integrado.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Docker Desktop ou Docker Engine + Compose.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Rounded Rectangle 13"/>
          <p:cNvSpPr/>
          <p:nvPr/>
        </p:nvSpPr>
        <p:spPr>
          <a:xfrm>
            <a:off x="4389120" y="1508760"/>
            <a:ext cx="3427560" cy="260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Rectangle 14"/>
          <p:cNvSpPr/>
          <p:nvPr/>
        </p:nvSpPr>
        <p:spPr>
          <a:xfrm>
            <a:off x="4389120" y="1508760"/>
            <a:ext cx="71640" cy="2604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TextBox 15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16" descr="githubactions.png"/>
          <p:cNvPicPr/>
          <p:nvPr/>
        </p:nvPicPr>
        <p:blipFill>
          <a:blip r:embed="rId6"/>
          <a:stretch/>
        </p:blipFill>
        <p:spPr>
          <a:xfrm>
            <a:off x="455364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8" name="Picture 17" descr="azuredevops.png"/>
          <p:cNvPicPr/>
          <p:nvPr/>
        </p:nvPicPr>
        <p:blipFill>
          <a:blip r:embed="rId7"/>
          <a:stretch/>
        </p:blipFill>
        <p:spPr>
          <a:xfrm>
            <a:off x="504756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49" name="Picture 18" descr="gitlab.png"/>
          <p:cNvPicPr/>
          <p:nvPr/>
        </p:nvPicPr>
        <p:blipFill>
          <a:blip r:embed="rId8"/>
          <a:stretch/>
        </p:blipFill>
        <p:spPr>
          <a:xfrm>
            <a:off x="554112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250" name="TextBox 19"/>
          <p:cNvSpPr/>
          <p:nvPr/>
        </p:nvSpPr>
        <p:spPr>
          <a:xfrm>
            <a:off x="4553640" y="2441520"/>
            <a:ext cx="313488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Actions é a opção mais simples para laboratório.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GitLab CI ou Azure Pipelines seguem a mesma lógica.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Exemplos curtos e versionados no repositório da turma.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20"/>
          <p:cNvSpPr/>
          <p:nvPr/>
        </p:nvSpPr>
        <p:spPr>
          <a:xfrm>
            <a:off x="8092440" y="1508760"/>
            <a:ext cx="3427560" cy="260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Rectangle 21"/>
          <p:cNvSpPr/>
          <p:nvPr/>
        </p:nvSpPr>
        <p:spPr>
          <a:xfrm>
            <a:off x="8092440" y="1508760"/>
            <a:ext cx="71640" cy="2604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 assistida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4" name="Picture 23" descr="githubcopilot.png"/>
          <p:cNvPicPr/>
          <p:nvPr/>
        </p:nvPicPr>
        <p:blipFill>
          <a:blip r:embed="rId9"/>
          <a:stretch/>
        </p:blipFill>
        <p:spPr>
          <a:xfrm>
            <a:off x="825696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5" name="Picture 24" descr="openai.png"/>
          <p:cNvPicPr/>
          <p:nvPr/>
        </p:nvPicPr>
        <p:blipFill>
          <a:blip r:embed="rId10"/>
          <a:stretch/>
        </p:blipFill>
        <p:spPr>
          <a:xfrm>
            <a:off x="875088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6" name="Picture 25" descr="cursor.png"/>
          <p:cNvPicPr/>
          <p:nvPr/>
        </p:nvPicPr>
        <p:blipFill>
          <a:blip r:embed="rId11"/>
          <a:stretch/>
        </p:blipFill>
        <p:spPr>
          <a:xfrm>
            <a:off x="924444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7" name="Picture 26" descr="googlegemini.png"/>
          <p:cNvPicPr/>
          <p:nvPr/>
        </p:nvPicPr>
        <p:blipFill>
          <a:blip r:embed="rId12"/>
          <a:stretch/>
        </p:blipFill>
        <p:spPr>
          <a:xfrm>
            <a:off x="9738360" y="198432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258" name="Picture 27" descr="amazonaws.png"/>
          <p:cNvPicPr/>
          <p:nvPr/>
        </p:nvPicPr>
        <p:blipFill>
          <a:blip r:embed="rId13"/>
          <a:stretch/>
        </p:blipFill>
        <p:spPr>
          <a:xfrm>
            <a:off x="1023228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259" name="TextBox 28"/>
          <p:cNvSpPr/>
          <p:nvPr/>
        </p:nvSpPr>
        <p:spPr>
          <a:xfrm>
            <a:off x="8256960" y="2441520"/>
            <a:ext cx="313488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Copilot, ChatGPT/Codex, Cursor, Gemini Code Assist, Amazon Q ou equivalente.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Acesso opcional, com demonstrações em sala.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0" name="Picture 29" descr="Logo Unifor.png"/>
          <p:cNvPicPr/>
          <p:nvPr/>
        </p:nvPicPr>
        <p:blipFill>
          <a:blip r:embed="rId14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261" name="TextBox 3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3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Box 25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26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27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Distribuição final alinhada ao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tangle 29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Rounded Rectangle 30"/>
          <p:cNvSpPr/>
          <p:nvPr/>
        </p:nvSpPr>
        <p:spPr>
          <a:xfrm>
            <a:off x="749880" y="148140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31"/>
          <p:cNvSpPr/>
          <p:nvPr/>
        </p:nvSpPr>
        <p:spPr>
          <a:xfrm>
            <a:off x="749880" y="1481400"/>
            <a:ext cx="71640" cy="1306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32"/>
          <p:cNvSpPr/>
          <p:nvPr/>
        </p:nvSpPr>
        <p:spPr>
          <a:xfrm>
            <a:off x="951120" y="164592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0897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33"/>
          <p:cNvSpPr/>
          <p:nvPr/>
        </p:nvSpPr>
        <p:spPr>
          <a:xfrm>
            <a:off x="1710000" y="16459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Projeto funcional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34"/>
          <p:cNvSpPr/>
          <p:nvPr/>
        </p:nvSpPr>
        <p:spPr>
          <a:xfrm>
            <a:off x="951120" y="210312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Repositório organizado, aplicação executável, documentação e registro crítico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Rounded Rectangle 35"/>
          <p:cNvSpPr/>
          <p:nvPr/>
        </p:nvSpPr>
        <p:spPr>
          <a:xfrm>
            <a:off x="4480560" y="148140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Rectangle 36"/>
          <p:cNvSpPr/>
          <p:nvPr/>
        </p:nvSpPr>
        <p:spPr>
          <a:xfrm>
            <a:off x="4480560" y="1481400"/>
            <a:ext cx="71640" cy="1306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37"/>
          <p:cNvSpPr/>
          <p:nvPr/>
        </p:nvSpPr>
        <p:spPr>
          <a:xfrm>
            <a:off x="4681800" y="164592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666a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8"/>
          <p:cNvSpPr/>
          <p:nvPr/>
        </p:nvSpPr>
        <p:spPr>
          <a:xfrm>
            <a:off x="5440680" y="16459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Pipeline CI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39"/>
          <p:cNvSpPr/>
          <p:nvPr/>
        </p:nvSpPr>
        <p:spPr>
          <a:xfrm>
            <a:off x="4681800" y="210312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Build, testes, qualidade, análise de falhas e artefatos/imagens publicados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ounded Rectangle 40"/>
          <p:cNvSpPr/>
          <p:nvPr/>
        </p:nvSpPr>
        <p:spPr>
          <a:xfrm>
            <a:off x="8211240" y="148140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Rectangle 41"/>
          <p:cNvSpPr/>
          <p:nvPr/>
        </p:nvSpPr>
        <p:spPr>
          <a:xfrm>
            <a:off x="8211240" y="1481400"/>
            <a:ext cx="71640" cy="1306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42"/>
          <p:cNvSpPr/>
          <p:nvPr/>
        </p:nvSpPr>
        <p:spPr>
          <a:xfrm>
            <a:off x="8412480" y="164592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750a4"/>
                </a:solidFill>
                <a:latin typeface="Aptos"/>
              </a:rPr>
              <a:t>20%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43"/>
          <p:cNvSpPr/>
          <p:nvPr/>
        </p:nvSpPr>
        <p:spPr>
          <a:xfrm>
            <a:off x="9171360" y="164592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Containers/Compose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44"/>
          <p:cNvSpPr/>
          <p:nvPr/>
        </p:nvSpPr>
        <p:spPr>
          <a:xfrm>
            <a:off x="8412480" y="210312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Dockerfile, compose.yaml, variáveis, volumes e health checks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45"/>
          <p:cNvSpPr/>
          <p:nvPr/>
        </p:nvSpPr>
        <p:spPr>
          <a:xfrm>
            <a:off x="749880" y="326448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Rectangle 46"/>
          <p:cNvSpPr/>
          <p:nvPr/>
        </p:nvSpPr>
        <p:spPr>
          <a:xfrm>
            <a:off x="749880" y="3264480"/>
            <a:ext cx="71640" cy="13060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47"/>
          <p:cNvSpPr/>
          <p:nvPr/>
        </p:nvSpPr>
        <p:spPr>
          <a:xfrm>
            <a:off x="951120" y="342900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e88b26"/>
                </a:solidFill>
                <a:latin typeface="Aptos"/>
              </a:rPr>
              <a:t>15%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8"/>
          <p:cNvSpPr/>
          <p:nvPr/>
        </p:nvSpPr>
        <p:spPr>
          <a:xfrm>
            <a:off x="1710000" y="34290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Entrega e operação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49"/>
          <p:cNvSpPr/>
          <p:nvPr/>
        </p:nvSpPr>
        <p:spPr>
          <a:xfrm>
            <a:off x="951120" y="388620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Release, rollback/plano, segurança básica, logs, métricas e governança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ounded Rectangle 50"/>
          <p:cNvSpPr/>
          <p:nvPr/>
        </p:nvSpPr>
        <p:spPr>
          <a:xfrm>
            <a:off x="4480560" y="326448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Rectangle 51"/>
          <p:cNvSpPr/>
          <p:nvPr/>
        </p:nvSpPr>
        <p:spPr>
          <a:xfrm>
            <a:off x="4480560" y="3264480"/>
            <a:ext cx="71640" cy="13060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52"/>
          <p:cNvSpPr/>
          <p:nvPr/>
        </p:nvSpPr>
        <p:spPr>
          <a:xfrm>
            <a:off x="4681800" y="342900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e7d32"/>
                </a:solidFill>
                <a:latin typeface="Aptos"/>
              </a:rPr>
              <a:t>10%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53"/>
          <p:cNvSpPr/>
          <p:nvPr/>
        </p:nvSpPr>
        <p:spPr>
          <a:xfrm>
            <a:off x="5440680" y="34290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Diagnóstico DevOps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54"/>
          <p:cNvSpPr/>
          <p:nvPr/>
        </p:nvSpPr>
        <p:spPr>
          <a:xfrm>
            <a:off x="4681800" y="388620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Gargalos, riscos, oportunidades de IA e proposta de evolução da automação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ounded Rectangle 55"/>
          <p:cNvSpPr/>
          <p:nvPr/>
        </p:nvSpPr>
        <p:spPr>
          <a:xfrm>
            <a:off x="8211240" y="3264480"/>
            <a:ext cx="3400200" cy="1306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Rectangle 56"/>
          <p:cNvSpPr/>
          <p:nvPr/>
        </p:nvSpPr>
        <p:spPr>
          <a:xfrm>
            <a:off x="8211240" y="3264480"/>
            <a:ext cx="71640" cy="13060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57"/>
          <p:cNvSpPr/>
          <p:nvPr/>
        </p:nvSpPr>
        <p:spPr>
          <a:xfrm>
            <a:off x="8412480" y="3429000"/>
            <a:ext cx="775800" cy="3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73636"/>
                </a:solidFill>
                <a:latin typeface="Aptos"/>
              </a:rPr>
              <a:t>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58"/>
          <p:cNvSpPr/>
          <p:nvPr/>
        </p:nvSpPr>
        <p:spPr>
          <a:xfrm>
            <a:off x="9171360" y="3429000"/>
            <a:ext cx="2147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Apresentação final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59"/>
          <p:cNvSpPr/>
          <p:nvPr/>
        </p:nvSpPr>
        <p:spPr>
          <a:xfrm>
            <a:off x="8412480" y="3886200"/>
            <a:ext cx="29246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Defesa técnica das decisões, uso de IA, tradeoffs e próximos passos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60"/>
          <p:cNvSpPr/>
          <p:nvPr/>
        </p:nvSpPr>
        <p:spPr>
          <a:xfrm>
            <a:off x="749880" y="52304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da rubrica: a IA pode apoiar o trabalho, mas a nota depende de evidências executáveis, validação humana, testes e decisões técnicas defendidas.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61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300" name="Picture 62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IA Aplicada ao SDLC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2"/>
          <p:cNvSpPr/>
          <p:nvPr/>
        </p:nvSpPr>
        <p:spPr>
          <a:xfrm>
            <a:off x="621720" y="841320"/>
            <a:ext cx="97826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Onde usar durante o fluxo DevOps sem perder rigor técnico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4"/>
          <p:cNvSpPr/>
          <p:nvPr/>
        </p:nvSpPr>
        <p:spPr>
          <a:xfrm>
            <a:off x="1298520" y="6446520"/>
            <a:ext cx="587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5"/>
          <p:cNvSpPr/>
          <p:nvPr/>
        </p:nvSpPr>
        <p:spPr>
          <a:xfrm>
            <a:off x="11201400" y="6446520"/>
            <a:ext cx="501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"/>
          <p:cNvSpPr/>
          <p:nvPr/>
        </p:nvSpPr>
        <p:spPr>
          <a:xfrm>
            <a:off x="685800" y="15087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Rectangle 7"/>
          <p:cNvSpPr/>
          <p:nvPr/>
        </p:nvSpPr>
        <p:spPr>
          <a:xfrm>
            <a:off x="685800" y="1508760"/>
            <a:ext cx="62640" cy="1507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" name="TextBox 8"/>
          <p:cNvSpPr/>
          <p:nvPr/>
        </p:nvSpPr>
        <p:spPr>
          <a:xfrm>
            <a:off x="850320" y="16185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Planejar e entender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9"/>
          <p:cNvSpPr/>
          <p:nvPr/>
        </p:nvSpPr>
        <p:spPr>
          <a:xfrm>
            <a:off x="850320" y="19843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Refinar histórias e critérios de aceite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Resumir contexto técnico do repositório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Mapear riscos, dependências e premissas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10"/>
          <p:cNvSpPr/>
          <p:nvPr/>
        </p:nvSpPr>
        <p:spPr>
          <a:xfrm>
            <a:off x="4251960" y="15087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Rectangle 11"/>
          <p:cNvSpPr/>
          <p:nvPr/>
        </p:nvSpPr>
        <p:spPr>
          <a:xfrm>
            <a:off x="4251960" y="1508760"/>
            <a:ext cx="62640" cy="15073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12"/>
          <p:cNvSpPr/>
          <p:nvPr/>
        </p:nvSpPr>
        <p:spPr>
          <a:xfrm>
            <a:off x="4416480" y="16185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Codificar e refatorar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13"/>
          <p:cNvSpPr/>
          <p:nvPr/>
        </p:nvSpPr>
        <p:spPr>
          <a:xfrm>
            <a:off x="4416480" y="19843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implementação incremental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código legado ou desconhecido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Propor refatoração pequena e revisável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14"/>
          <p:cNvSpPr/>
          <p:nvPr/>
        </p:nvSpPr>
        <p:spPr>
          <a:xfrm>
            <a:off x="7818120" y="15087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Rectangle 15"/>
          <p:cNvSpPr/>
          <p:nvPr/>
        </p:nvSpPr>
        <p:spPr>
          <a:xfrm>
            <a:off x="7818120" y="1508760"/>
            <a:ext cx="62640" cy="150732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16"/>
          <p:cNvSpPr/>
          <p:nvPr/>
        </p:nvSpPr>
        <p:spPr>
          <a:xfrm>
            <a:off x="7982640" y="16185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Testar e revisar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17"/>
          <p:cNvSpPr/>
          <p:nvPr/>
        </p:nvSpPr>
        <p:spPr>
          <a:xfrm>
            <a:off x="7982640" y="19843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casos de teste e dados de borda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Revisar diff/PR com checklist explícito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Conferir cobertura, legibilidade e regressão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685800" y="33375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Rectangle 19"/>
          <p:cNvSpPr/>
          <p:nvPr/>
        </p:nvSpPr>
        <p:spPr>
          <a:xfrm>
            <a:off x="685800" y="3337560"/>
            <a:ext cx="62640" cy="150732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" name="TextBox 20"/>
          <p:cNvSpPr/>
          <p:nvPr/>
        </p:nvSpPr>
        <p:spPr>
          <a:xfrm>
            <a:off x="850320" y="34473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Automatizar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21"/>
          <p:cNvSpPr/>
          <p:nvPr/>
        </p:nvSpPr>
        <p:spPr>
          <a:xfrm>
            <a:off x="850320" y="38131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YAML de CI/CD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correção para falha de job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Documentar etapas e variáveis necessárias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ounded Rectangle 22"/>
          <p:cNvSpPr/>
          <p:nvPr/>
        </p:nvSpPr>
        <p:spPr>
          <a:xfrm>
            <a:off x="4251960" y="33375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Rectangle 23"/>
          <p:cNvSpPr/>
          <p:nvPr/>
        </p:nvSpPr>
        <p:spPr>
          <a:xfrm>
            <a:off x="4251960" y="3337560"/>
            <a:ext cx="62640" cy="150732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24"/>
          <p:cNvSpPr/>
          <p:nvPr/>
        </p:nvSpPr>
        <p:spPr>
          <a:xfrm>
            <a:off x="4416480" y="34473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Operar e observar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25"/>
          <p:cNvSpPr/>
          <p:nvPr/>
        </p:nvSpPr>
        <p:spPr>
          <a:xfrm>
            <a:off x="4416480" y="38131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Sumarizar logs e levantar hipóteses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Relacionar métrica, erro e deploy recente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runbook inicial para incidentes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26"/>
          <p:cNvSpPr/>
          <p:nvPr/>
        </p:nvSpPr>
        <p:spPr>
          <a:xfrm>
            <a:off x="7818120" y="3337560"/>
            <a:ext cx="3244680" cy="15073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" name="Rectangle 27"/>
          <p:cNvSpPr/>
          <p:nvPr/>
        </p:nvSpPr>
        <p:spPr>
          <a:xfrm>
            <a:off x="7818120" y="3337560"/>
            <a:ext cx="62640" cy="15073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TextBox 28"/>
          <p:cNvSpPr/>
          <p:nvPr/>
        </p:nvSpPr>
        <p:spPr>
          <a:xfrm>
            <a:off x="7982640" y="3447360"/>
            <a:ext cx="29703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Documentar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29"/>
          <p:cNvSpPr/>
          <p:nvPr/>
        </p:nvSpPr>
        <p:spPr>
          <a:xfrm>
            <a:off x="7982640" y="3813120"/>
            <a:ext cx="29246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Produzir README e release notes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Registrar prompts, saídas e validações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o que foi aceito, rejeitado e por quê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0" name="Picture 30" descr="ic_lightbulb.png"/>
          <p:cNvPicPr/>
          <p:nvPr/>
        </p:nvPicPr>
        <p:blipFill>
          <a:blip r:embed="rId1"/>
          <a:stretch/>
        </p:blipFill>
        <p:spPr>
          <a:xfrm>
            <a:off x="3429000" y="16275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1" name="Picture 31" descr="ic_code.png"/>
          <p:cNvPicPr/>
          <p:nvPr/>
        </p:nvPicPr>
        <p:blipFill>
          <a:blip r:embed="rId2"/>
          <a:stretch/>
        </p:blipFill>
        <p:spPr>
          <a:xfrm>
            <a:off x="6995160" y="16275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32" descr="ic_check.png"/>
          <p:cNvPicPr/>
          <p:nvPr/>
        </p:nvPicPr>
        <p:blipFill>
          <a:blip r:embed="rId3"/>
          <a:stretch/>
        </p:blipFill>
        <p:spPr>
          <a:xfrm>
            <a:off x="10561320" y="16275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3" name="Picture 33" descr="ic_gear.png"/>
          <p:cNvPicPr/>
          <p:nvPr/>
        </p:nvPicPr>
        <p:blipFill>
          <a:blip r:embed="rId4"/>
          <a:stretch/>
        </p:blipFill>
        <p:spPr>
          <a:xfrm>
            <a:off x="3429000" y="34563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4" name="Picture 34" descr="ic_eye.png"/>
          <p:cNvPicPr/>
          <p:nvPr/>
        </p:nvPicPr>
        <p:blipFill>
          <a:blip r:embed="rId5"/>
          <a:stretch/>
        </p:blipFill>
        <p:spPr>
          <a:xfrm>
            <a:off x="6995160" y="34563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5" name="Picture 35" descr="ic_document.png"/>
          <p:cNvPicPr/>
          <p:nvPr/>
        </p:nvPicPr>
        <p:blipFill>
          <a:blip r:embed="rId6"/>
          <a:stretch/>
        </p:blipFill>
        <p:spPr>
          <a:xfrm>
            <a:off x="10561320" y="3456360"/>
            <a:ext cx="345960" cy="345960"/>
          </a:xfrm>
          <a:prstGeom prst="rect">
            <a:avLst/>
          </a:prstGeom>
          <a:ln w="0">
            <a:noFill/>
          </a:ln>
        </p:spPr>
      </p:pic>
      <p:pic>
        <p:nvPicPr>
          <p:cNvPr id="336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337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Uso Seguro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621720" y="841320"/>
            <a:ext cx="97826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Regras práticas para laboratório, projeto e avaliação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4"/>
          <p:cNvSpPr/>
          <p:nvPr/>
        </p:nvSpPr>
        <p:spPr>
          <a:xfrm>
            <a:off x="1298520" y="6446520"/>
            <a:ext cx="587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11201400" y="6446520"/>
            <a:ext cx="501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6"/>
          <p:cNvSpPr/>
          <p:nvPr/>
        </p:nvSpPr>
        <p:spPr>
          <a:xfrm>
            <a:off x="685800" y="150876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7"/>
          <p:cNvSpPr/>
          <p:nvPr/>
        </p:nvSpPr>
        <p:spPr>
          <a:xfrm>
            <a:off x="685800" y="1508760"/>
            <a:ext cx="62640" cy="159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850320" y="161856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Antes de perguntar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850320" y="198432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Não enviar segredos, tokens, chaves, dados pessoais ou código sensível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Fornecer contexto mínimo: objetivo, stack, erro, restrições e trecho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Pedir plano curto ou hipóteses antes de aceitar código pronto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5989320" y="150876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Rectangle 11"/>
          <p:cNvSpPr/>
          <p:nvPr/>
        </p:nvSpPr>
        <p:spPr>
          <a:xfrm>
            <a:off x="5989320" y="1508760"/>
            <a:ext cx="62640" cy="159876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153840" y="161856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Durante 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13"/>
          <p:cNvSpPr/>
          <p:nvPr/>
        </p:nvSpPr>
        <p:spPr>
          <a:xfrm>
            <a:off x="6153840" y="198432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Checar se a solução respeita arquitetura, dependências e padrões do projeto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Tratar saída da IA como sugestão, não como fonte de verdade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Investigar alucinações, comandos perigosos e permissões excessivas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ounded Rectangle 14"/>
          <p:cNvSpPr/>
          <p:nvPr/>
        </p:nvSpPr>
        <p:spPr>
          <a:xfrm>
            <a:off x="685800" y="349308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Rectangle 15"/>
          <p:cNvSpPr/>
          <p:nvPr/>
        </p:nvSpPr>
        <p:spPr>
          <a:xfrm>
            <a:off x="685800" y="3493080"/>
            <a:ext cx="62640" cy="15987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16"/>
          <p:cNvSpPr/>
          <p:nvPr/>
        </p:nvSpPr>
        <p:spPr>
          <a:xfrm>
            <a:off x="850320" y="360288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Depois de aplicar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17"/>
          <p:cNvSpPr/>
          <p:nvPr/>
        </p:nvSpPr>
        <p:spPr>
          <a:xfrm>
            <a:off x="850320" y="396864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Rodar testes, lint, build e validação manual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Revisar segurança: segredos, entrada de usuário, dependências e logs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Manter diff pequeno para facilitar revisão humana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ounded Rectangle 18"/>
          <p:cNvSpPr/>
          <p:nvPr/>
        </p:nvSpPr>
        <p:spPr>
          <a:xfrm>
            <a:off x="5989320" y="3493080"/>
            <a:ext cx="4890600" cy="15987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Rectangle 19"/>
          <p:cNvSpPr/>
          <p:nvPr/>
        </p:nvSpPr>
        <p:spPr>
          <a:xfrm>
            <a:off x="5989320" y="3493080"/>
            <a:ext cx="62640" cy="159876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20"/>
          <p:cNvSpPr/>
          <p:nvPr/>
        </p:nvSpPr>
        <p:spPr>
          <a:xfrm>
            <a:off x="6153840" y="3602880"/>
            <a:ext cx="4616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Evidência para avaliação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21"/>
          <p:cNvSpPr/>
          <p:nvPr/>
        </p:nvSpPr>
        <p:spPr>
          <a:xfrm>
            <a:off x="6153840" y="3968640"/>
            <a:ext cx="45705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Registrar prompt/contexto, saída útil, alterações aceitas e descartadas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Explicar validações feitas e correções humanas realizadas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Citar limites, riscos e próximos passos quando a IA foi usada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36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Aprofundamento em Segurança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complementar disponível nos materiais do EAD desta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365" name="Picture 5" descr="nist_cover.png"/>
          <p:cNvPicPr/>
          <p:nvPr/>
        </p:nvPicPr>
        <p:blipFill>
          <a:blip r:embed="rId2"/>
          <a:stretch/>
        </p:blipFill>
        <p:spPr>
          <a:xfrm>
            <a:off x="2345400" y="1691640"/>
            <a:ext cx="1800360" cy="2330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6" name="TextBox 6"/>
          <p:cNvSpPr/>
          <p:nvPr/>
        </p:nvSpPr>
        <p:spPr>
          <a:xfrm>
            <a:off x="1828800" y="4114800"/>
            <a:ext cx="283320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NIST AI RMF 1.0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Artificial Intelligence Risk Management Framework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7"/>
          <p:cNvSpPr/>
          <p:nvPr/>
        </p:nvSpPr>
        <p:spPr>
          <a:xfrm>
            <a:off x="914400" y="4645080"/>
            <a:ext cx="466200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Framework de referência para gerenciar riscos de sistemas de IA.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para pensar governança, confiabilidade e uso responsável no projeto integrador.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8" name="Picture 8" descr="owasp_cover.png"/>
          <p:cNvPicPr/>
          <p:nvPr/>
        </p:nvPicPr>
        <p:blipFill>
          <a:blip r:embed="rId3"/>
          <a:stretch/>
        </p:blipFill>
        <p:spPr>
          <a:xfrm>
            <a:off x="7420320" y="1691640"/>
            <a:ext cx="1800360" cy="23302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69" name="TextBox 9"/>
          <p:cNvSpPr/>
          <p:nvPr/>
        </p:nvSpPr>
        <p:spPr>
          <a:xfrm>
            <a:off x="6903720" y="4114800"/>
            <a:ext cx="283320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OWASP Top 10 for LLM Applications 2026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OWASP GenAI Security Project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10"/>
          <p:cNvSpPr/>
          <p:nvPr/>
        </p:nvSpPr>
        <p:spPr>
          <a:xfrm>
            <a:off x="5989320" y="4645080"/>
            <a:ext cx="466200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Os 10 riscos mais críticos em aplicações que usam LLM.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Referência direta para prompt injection, vazamento de dados e alucinação.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11"/>
          <p:cNvSpPr/>
          <p:nvPr/>
        </p:nvSpPr>
        <p:spPr>
          <a:xfrm>
            <a:off x="685800" y="5989320"/>
            <a:ext cx="10605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e6c7a"/>
                </a:solidFill>
                <a:latin typeface="Aptos"/>
              </a:rPr>
              <a:t>Disponível na área de materiais de apoio do EAD — leitura recomendada antes do Encontro 5.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2" name="Picture 12" descr="Logo Unifor.png"/>
          <p:cNvPicPr/>
          <p:nvPr/>
        </p:nvPicPr>
        <p:blipFill>
          <a:blip r:embed="rId4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373" name="TextBox 13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14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/>
          <p:nvPr/>
        </p:nvSpPr>
        <p:spPr>
          <a:xfrm>
            <a:off x="565200" y="36000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2026: O Que os Dados Dizem Sobre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591840" y="261504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Antes de usar IA em DevOps, veja o que a pesquisa mais citada da área já mediu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ctangle 3"/>
          <p:cNvSpPr/>
          <p:nvPr/>
        </p:nvSpPr>
        <p:spPr>
          <a:xfrm>
            <a:off x="618120" y="3015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379" name="Rounded Rectangle 5"/>
          <p:cNvSpPr/>
          <p:nvPr/>
        </p:nvSpPr>
        <p:spPr>
          <a:xfrm>
            <a:off x="591840" y="340488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6"/>
          <p:cNvSpPr/>
          <p:nvPr/>
        </p:nvSpPr>
        <p:spPr>
          <a:xfrm>
            <a:off x="591840" y="340488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7"/>
          <p:cNvSpPr/>
          <p:nvPr/>
        </p:nvSpPr>
        <p:spPr>
          <a:xfrm>
            <a:off x="756360" y="353304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Adoção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8"/>
          <p:cNvSpPr/>
          <p:nvPr/>
        </p:nvSpPr>
        <p:spPr>
          <a:xfrm>
            <a:off x="756360" y="388944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90% dos profissionais de tecnologia já usam IA no trabalho.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de 80% relatam ganho de produtividade individual.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ounded Rectangle 9"/>
          <p:cNvSpPr/>
          <p:nvPr/>
        </p:nvSpPr>
        <p:spPr>
          <a:xfrm>
            <a:off x="6147000" y="340488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Rectangle 10"/>
          <p:cNvSpPr/>
          <p:nvPr/>
        </p:nvSpPr>
        <p:spPr>
          <a:xfrm>
            <a:off x="6147000" y="3404880"/>
            <a:ext cx="71640" cy="1361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TextBox 11"/>
          <p:cNvSpPr/>
          <p:nvPr/>
        </p:nvSpPr>
        <p:spPr>
          <a:xfrm>
            <a:off x="6311520" y="353304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Efeito colateral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12"/>
          <p:cNvSpPr/>
          <p:nvPr/>
        </p:nvSpPr>
        <p:spPr>
          <a:xfrm>
            <a:off x="6311520" y="3889440"/>
            <a:ext cx="4986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cada 25% de aumento na adoção de IA, throughput de entrega cai 1,5%.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Estabilidade de entrega cai 7,2% no mesmo cenário.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13"/>
          <p:cNvSpPr/>
          <p:nvPr/>
        </p:nvSpPr>
        <p:spPr>
          <a:xfrm>
            <a:off x="591840" y="493200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Rectangle 14"/>
          <p:cNvSpPr/>
          <p:nvPr/>
        </p:nvSpPr>
        <p:spPr>
          <a:xfrm>
            <a:off x="591840" y="49320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9" name="TextBox 15"/>
          <p:cNvSpPr/>
          <p:nvPr/>
        </p:nvSpPr>
        <p:spPr>
          <a:xfrm>
            <a:off x="756360" y="505980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Paradoxo da produtividade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16"/>
          <p:cNvSpPr/>
          <p:nvPr/>
        </p:nvSpPr>
        <p:spPr>
          <a:xfrm>
            <a:off x="756360" y="5416560"/>
            <a:ext cx="4986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Incidentes por Pull Request subiram 242,7%.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tempo economizado na criação de código é realocado para auditoria e verificação.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17"/>
          <p:cNvSpPr/>
          <p:nvPr/>
        </p:nvSpPr>
        <p:spPr>
          <a:xfrm>
            <a:off x="6147000" y="493200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18"/>
          <p:cNvSpPr/>
          <p:nvPr/>
        </p:nvSpPr>
        <p:spPr>
          <a:xfrm>
            <a:off x="6147000" y="4932000"/>
            <a:ext cx="71640" cy="1187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9"/>
          <p:cNvSpPr/>
          <p:nvPr/>
        </p:nvSpPr>
        <p:spPr>
          <a:xfrm>
            <a:off x="6311520" y="505980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Conclusão do 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0"/>
          <p:cNvSpPr/>
          <p:nvPr/>
        </p:nvSpPr>
        <p:spPr>
          <a:xfrm>
            <a:off x="6311520" y="5416560"/>
            <a:ext cx="4986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é um amplificador, não substituto de boa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Só expande capacidade em times com testes sólidos, PRs pequenos e fluxo saudável.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396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"/>
          <p:cNvSpPr/>
          <p:nvPr/>
        </p:nvSpPr>
        <p:spPr>
          <a:xfrm>
            <a:off x="659880" y="1080000"/>
            <a:ext cx="10679400" cy="125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4ea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Rectangle 1"/>
          <p:cNvSpPr/>
          <p:nvPr/>
        </p:nvSpPr>
        <p:spPr>
          <a:xfrm>
            <a:off x="659880" y="1080000"/>
            <a:ext cx="71640" cy="1361160"/>
          </a:xfrm>
          <a:prstGeom prst="rect">
            <a:avLst/>
          </a:prstGeom>
          <a:solidFill>
            <a:srgbClr val="81d4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TextBox 36"/>
          <p:cNvSpPr/>
          <p:nvPr/>
        </p:nvSpPr>
        <p:spPr>
          <a:xfrm>
            <a:off x="824400" y="120816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DORA (DevOps Research and Assessment)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40"/>
          <p:cNvSpPr/>
          <p:nvPr/>
        </p:nvSpPr>
        <p:spPr>
          <a:xfrm>
            <a:off x="824400" y="1564560"/>
            <a:ext cx="10154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Programa de pesquisa do Google Cloud que estuda o desempenho de equipes de engenharia de software e identifica as práticas capazes de impulsionar a entrega e as operações de tecnologia.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1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10/09/2026 | Cultura DevOps, IA no SDLC e diagnóstico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05" name="Picture 4" descr="e1_magnifi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40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1 - Cultura e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Base: cultura DevOps + diagnóstico de maturidade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Rounded Rectangle 4"/>
          <p:cNvSpPr/>
          <p:nvPr/>
        </p:nvSpPr>
        <p:spPr>
          <a:xfrm>
            <a:off x="68580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1" name="Rectangle 5"/>
          <p:cNvSpPr/>
          <p:nvPr/>
        </p:nvSpPr>
        <p:spPr>
          <a:xfrm>
            <a:off x="685800" y="1417320"/>
            <a:ext cx="71640" cy="2010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Abertura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85032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da disciplina, conhecimentos prévios e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Papel da IA como apoio, não substituição da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8"/>
          <p:cNvSpPr/>
          <p:nvPr/>
        </p:nvSpPr>
        <p:spPr>
          <a:xfrm>
            <a:off x="438912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Rectangle 9"/>
          <p:cNvSpPr/>
          <p:nvPr/>
        </p:nvSpPr>
        <p:spPr>
          <a:xfrm>
            <a:off x="4389120" y="1417320"/>
            <a:ext cx="71640" cy="2010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Cultura e ciclo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455364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x Ops e responsabilidade compartilhada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Plan, Code, Build, Test, Release, Deploy, Operate, Monitor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apoia análise, código, testes, operação e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ounded Rectangle 12"/>
          <p:cNvSpPr/>
          <p:nvPr/>
        </p:nvSpPr>
        <p:spPr>
          <a:xfrm>
            <a:off x="809244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9" name="Rectangle 13"/>
          <p:cNvSpPr/>
          <p:nvPr/>
        </p:nvSpPr>
        <p:spPr>
          <a:xfrm>
            <a:off x="8092440" y="1417320"/>
            <a:ext cx="71640" cy="2010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825696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Quick check em grupos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Mapear gargalos e tarefas manuais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oportunidades e riscos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hipóteses de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ounded Rectangle 16"/>
          <p:cNvSpPr/>
          <p:nvPr/>
        </p:nvSpPr>
        <p:spPr>
          <a:xfrm>
            <a:off x="685800" y="3886200"/>
            <a:ext cx="1083420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3" name="Rectangle 17"/>
          <p:cNvSpPr/>
          <p:nvPr/>
        </p:nvSpPr>
        <p:spPr>
          <a:xfrm>
            <a:off x="68580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18"/>
          <p:cNvSpPr/>
          <p:nvPr/>
        </p:nvSpPr>
        <p:spPr>
          <a:xfrm>
            <a:off x="850320" y="401436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19"/>
          <p:cNvSpPr/>
          <p:nvPr/>
        </p:nvSpPr>
        <p:spPr>
          <a:xfrm>
            <a:off x="850320" y="4389120"/>
            <a:ext cx="1054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Documento curto: diagnóstico DevOps + uma proposta priorizada, incluindo oportunidade de IA e validação necessária quando fizer sentido.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42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Conceitos Essenciais -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sustenta a prática do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434" name="Rounded Rectangle 5"/>
          <p:cNvSpPr/>
          <p:nvPr/>
        </p:nvSpPr>
        <p:spPr>
          <a:xfrm>
            <a:off x="73152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TextBox 6"/>
          <p:cNvSpPr/>
          <p:nvPr/>
        </p:nvSpPr>
        <p:spPr>
          <a:xfrm>
            <a:off x="68580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7"/>
          <p:cNvSpPr/>
          <p:nvPr/>
        </p:nvSpPr>
        <p:spPr>
          <a:xfrm>
            <a:off x="73152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Cultura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Rounded Rectangle 8"/>
          <p:cNvSpPr/>
          <p:nvPr/>
        </p:nvSpPr>
        <p:spPr>
          <a:xfrm>
            <a:off x="289872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9"/>
          <p:cNvSpPr/>
          <p:nvPr/>
        </p:nvSpPr>
        <p:spPr>
          <a:xfrm>
            <a:off x="285300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0"/>
          <p:cNvSpPr/>
          <p:nvPr/>
        </p:nvSpPr>
        <p:spPr>
          <a:xfrm>
            <a:off x="289872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Automação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1"/>
          <p:cNvSpPr/>
          <p:nvPr/>
        </p:nvSpPr>
        <p:spPr>
          <a:xfrm>
            <a:off x="506592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12"/>
          <p:cNvSpPr/>
          <p:nvPr/>
        </p:nvSpPr>
        <p:spPr>
          <a:xfrm>
            <a:off x="502020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13"/>
          <p:cNvSpPr/>
          <p:nvPr/>
        </p:nvSpPr>
        <p:spPr>
          <a:xfrm>
            <a:off x="506592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Lean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14"/>
          <p:cNvSpPr/>
          <p:nvPr/>
        </p:nvSpPr>
        <p:spPr>
          <a:xfrm>
            <a:off x="723276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15"/>
          <p:cNvSpPr/>
          <p:nvPr/>
        </p:nvSpPr>
        <p:spPr>
          <a:xfrm>
            <a:off x="718704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16"/>
          <p:cNvSpPr/>
          <p:nvPr/>
        </p:nvSpPr>
        <p:spPr>
          <a:xfrm>
            <a:off x="723276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Medição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Rounded Rectangle 17"/>
          <p:cNvSpPr/>
          <p:nvPr/>
        </p:nvSpPr>
        <p:spPr>
          <a:xfrm>
            <a:off x="9399960" y="1417320"/>
            <a:ext cx="2074320" cy="456192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TextBox 18"/>
          <p:cNvSpPr/>
          <p:nvPr/>
        </p:nvSpPr>
        <p:spPr>
          <a:xfrm>
            <a:off x="9354240" y="1490400"/>
            <a:ext cx="21657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19"/>
          <p:cNvSpPr/>
          <p:nvPr/>
        </p:nvSpPr>
        <p:spPr>
          <a:xfrm>
            <a:off x="9399960" y="1929240"/>
            <a:ext cx="2074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Compartilhamento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9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450" name="TextBox 33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34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463"/>
          <p:cNvSpPr/>
          <p:nvPr/>
        </p:nvSpPr>
        <p:spPr>
          <a:xfrm>
            <a:off x="777240" y="2232360"/>
            <a:ext cx="1982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Foco nas pessoas, na colaboração e na responsabilidade compartilhada entre os times.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464"/>
          <p:cNvSpPr/>
          <p:nvPr/>
        </p:nvSpPr>
        <p:spPr>
          <a:xfrm>
            <a:off x="2944440" y="2232360"/>
            <a:ext cx="1982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Eliminar tarefas manuais repetitivas para evitar erros e acelerar processos.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465"/>
          <p:cNvSpPr/>
          <p:nvPr/>
        </p:nvSpPr>
        <p:spPr>
          <a:xfrm>
            <a:off x="5111640" y="2232360"/>
            <a:ext cx="1982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princípios enxutos para eliminar desperdícios e focar no que gera valor real para o cliente.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466"/>
          <p:cNvSpPr/>
          <p:nvPr/>
        </p:nvSpPr>
        <p:spPr>
          <a:xfrm>
            <a:off x="7278480" y="2232360"/>
            <a:ext cx="1982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dados e métricas (como as métricas DORA) para entender se os processos estão melhorando.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467"/>
          <p:cNvSpPr/>
          <p:nvPr/>
        </p:nvSpPr>
        <p:spPr>
          <a:xfrm>
            <a:off x="9445680" y="2232360"/>
            <a:ext cx="198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Dividir conhecimento, sucessos e erros entre toda a organização.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DevOps em Uma Frase: Mensagem, Modelos e Métricas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amarrar CALMS ao vocabulário de decisão do dia a dia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6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461" name="Rounded Rectangle 20"/>
          <p:cNvSpPr/>
          <p:nvPr/>
        </p:nvSpPr>
        <p:spPr>
          <a:xfrm>
            <a:off x="685800" y="17499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Rectangle 21"/>
          <p:cNvSpPr/>
          <p:nvPr/>
        </p:nvSpPr>
        <p:spPr>
          <a:xfrm>
            <a:off x="685800" y="17499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22"/>
          <p:cNvSpPr/>
          <p:nvPr/>
        </p:nvSpPr>
        <p:spPr>
          <a:xfrm>
            <a:off x="850320" y="18777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Mensagem central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23"/>
          <p:cNvSpPr/>
          <p:nvPr/>
        </p:nvSpPr>
        <p:spPr>
          <a:xfrm>
            <a:off x="850320" y="22345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não é uma ferramenta.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integração entre cultura, processo, automação e medição.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objetivo é reduzir tempo de ciclo sem perder qualidade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24"/>
          <p:cNvSpPr/>
          <p:nvPr/>
        </p:nvSpPr>
        <p:spPr>
          <a:xfrm>
            <a:off x="4389120" y="17499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Rectangle 25"/>
          <p:cNvSpPr/>
          <p:nvPr/>
        </p:nvSpPr>
        <p:spPr>
          <a:xfrm>
            <a:off x="4389120" y="17499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TextBox 26"/>
          <p:cNvSpPr/>
          <p:nvPr/>
        </p:nvSpPr>
        <p:spPr>
          <a:xfrm>
            <a:off x="4553640" y="18777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Modelos úteis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27"/>
          <p:cNvSpPr/>
          <p:nvPr/>
        </p:nvSpPr>
        <p:spPr>
          <a:xfrm>
            <a:off x="4553640" y="22345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CALMS: cultura, automação, lean, medição e compartilhamento.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Fluxo de valor: do pedido ao software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rápido: erro descoberto cedo é mais barato.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Rounded Rectangle 28"/>
          <p:cNvSpPr/>
          <p:nvPr/>
        </p:nvSpPr>
        <p:spPr>
          <a:xfrm>
            <a:off x="8092440" y="17499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Rectangle 29"/>
          <p:cNvSpPr/>
          <p:nvPr/>
        </p:nvSpPr>
        <p:spPr>
          <a:xfrm>
            <a:off x="8092440" y="17499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TextBox 30"/>
          <p:cNvSpPr/>
          <p:nvPr/>
        </p:nvSpPr>
        <p:spPr>
          <a:xfrm>
            <a:off x="8256960" y="18777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 para citar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31"/>
          <p:cNvSpPr/>
          <p:nvPr/>
        </p:nvSpPr>
        <p:spPr>
          <a:xfrm>
            <a:off x="8256960" y="22345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Lead time for changes.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Deployment frequency.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Change failure rate.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Mean time to restore.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Use como linguagem de decisão, não como decoração.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3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474" name="TextBox 33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34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As 4 Métricas DORA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medir a saúde da entrega de software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7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480" name="Rounded Rectangle 5"/>
          <p:cNvSpPr/>
          <p:nvPr/>
        </p:nvSpPr>
        <p:spPr>
          <a:xfrm>
            <a:off x="685800" y="150876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7"/>
          <p:cNvSpPr/>
          <p:nvPr/>
        </p:nvSpPr>
        <p:spPr>
          <a:xfrm>
            <a:off x="85032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Deployment Frequency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8"/>
          <p:cNvSpPr/>
          <p:nvPr/>
        </p:nvSpPr>
        <p:spPr>
          <a:xfrm>
            <a:off x="850320" y="199332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 que frequência o time entrega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sob demanda, múltiplas vezes ao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Rounded Rectangle 9"/>
          <p:cNvSpPr/>
          <p:nvPr/>
        </p:nvSpPr>
        <p:spPr>
          <a:xfrm>
            <a:off x="6240960" y="1508760"/>
            <a:ext cx="52794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5" name="Rectangle 10"/>
          <p:cNvSpPr/>
          <p:nvPr/>
        </p:nvSpPr>
        <p:spPr>
          <a:xfrm>
            <a:off x="6240960" y="1508760"/>
            <a:ext cx="71640" cy="1361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TextBox 11"/>
          <p:cNvSpPr/>
          <p:nvPr/>
        </p:nvSpPr>
        <p:spPr>
          <a:xfrm>
            <a:off x="640548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Lead Time for Changes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2"/>
          <p:cNvSpPr/>
          <p:nvPr/>
        </p:nvSpPr>
        <p:spPr>
          <a:xfrm>
            <a:off x="6405480" y="199332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do commit até rodar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3"/>
          <p:cNvSpPr/>
          <p:nvPr/>
        </p:nvSpPr>
        <p:spPr>
          <a:xfrm>
            <a:off x="685800" y="303588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9" name="Rectangle 14"/>
          <p:cNvSpPr/>
          <p:nvPr/>
        </p:nvSpPr>
        <p:spPr>
          <a:xfrm>
            <a:off x="685800" y="303588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TextBox 15"/>
          <p:cNvSpPr/>
          <p:nvPr/>
        </p:nvSpPr>
        <p:spPr>
          <a:xfrm>
            <a:off x="850320" y="316368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Change Failure Rate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6"/>
          <p:cNvSpPr/>
          <p:nvPr/>
        </p:nvSpPr>
        <p:spPr>
          <a:xfrm>
            <a:off x="850320" y="352044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Percentual de mudanças que causam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entre 0% e 15%.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17"/>
          <p:cNvSpPr/>
          <p:nvPr/>
        </p:nvSpPr>
        <p:spPr>
          <a:xfrm>
            <a:off x="6240960" y="3035880"/>
            <a:ext cx="52794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Rectangle 18"/>
          <p:cNvSpPr/>
          <p:nvPr/>
        </p:nvSpPr>
        <p:spPr>
          <a:xfrm>
            <a:off x="6240960" y="3035880"/>
            <a:ext cx="71640" cy="1187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19"/>
          <p:cNvSpPr/>
          <p:nvPr/>
        </p:nvSpPr>
        <p:spPr>
          <a:xfrm>
            <a:off x="6405480" y="316368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Time to Restore (MTTR)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20"/>
          <p:cNvSpPr/>
          <p:nvPr/>
        </p:nvSpPr>
        <p:spPr>
          <a:xfrm>
            <a:off x="6405480" y="3520440"/>
            <a:ext cx="4986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para recuperar de uma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497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na Prática: Benchmarks Reais de Mercado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Números públicos e verificáveis, não estimativa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03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Amazon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 a cada 11,7 segundos em média (~50 milhões de deploys/ano).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 popularizado por Gene Kim, autor de "The DevOps Handbook" — bibliografia oficial da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Etsy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Saiu de 2 deploys por semana para mais de 50 deploys por dia após automatizar 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dos casos mais citados de transformação DevOps na literatura.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2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iFood e Netflix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iFood: 1.500+ engenheiros, ~10 mil repositórios, deploy canário automatizado (Canary 2.0).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Netflix: milhares de deploys por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1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o DevOps Surgiu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Origem e contexto do movimento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22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muro da confusão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quer lançar rápido; Ops quer estabilidade — metas em conflito.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lado media sucesso de um jeito diferente e se culpava pelos problemas.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Passagem de bastão sem responsabilidade compartilhada gerava atrito.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7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Raízes do movimento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Agile (2001): entrega iterativa e feedback frequente.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Lean: eliminar desperdício, otimizar o fluxo de valor.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Gestão de operações: disciplina de mudança e confiabilidade.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2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Mudança de mentalidade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 “jogar por cima do muro” para “you build it, you run it”.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Responsabilidade compartilhada do código até a operação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35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 de feedback,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4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41" name="Donut 5"/>
          <p:cNvSpPr/>
          <p:nvPr/>
        </p:nvSpPr>
        <p:spPr>
          <a:xfrm>
            <a:off x="4276080" y="1883520"/>
            <a:ext cx="3637800" cy="3637800"/>
          </a:xfrm>
          <a:prstGeom prst="donut">
            <a:avLst>
              <a:gd name="adj" fmla="val 2500"/>
            </a:avLst>
          </a:prstGeom>
          <a:solidFill>
            <a:srgbClr val="dae0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2" name="TextBox 6"/>
          <p:cNvSpPr/>
          <p:nvPr/>
        </p:nvSpPr>
        <p:spPr>
          <a:xfrm>
            <a:off x="4907160" y="3566160"/>
            <a:ext cx="2376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e6c7a"/>
                </a:solidFill>
                <a:latin typeface="Aptos"/>
              </a:rPr>
              <a:t>ciclo contínuo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7"/>
          <p:cNvSpPr/>
          <p:nvPr/>
        </p:nvSpPr>
        <p:spPr>
          <a:xfrm>
            <a:off x="5387040" y="166428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8"/>
          <p:cNvSpPr/>
          <p:nvPr/>
        </p:nvSpPr>
        <p:spPr>
          <a:xfrm>
            <a:off x="6648120" y="218664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9"/>
          <p:cNvSpPr/>
          <p:nvPr/>
        </p:nvSpPr>
        <p:spPr>
          <a:xfrm>
            <a:off x="7170120" y="344736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10"/>
          <p:cNvSpPr/>
          <p:nvPr/>
        </p:nvSpPr>
        <p:spPr>
          <a:xfrm>
            <a:off x="6648120" y="470808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1"/>
          <p:cNvSpPr/>
          <p:nvPr/>
        </p:nvSpPr>
        <p:spPr>
          <a:xfrm>
            <a:off x="5387040" y="523044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Rounded Rectangle 12"/>
          <p:cNvSpPr/>
          <p:nvPr/>
        </p:nvSpPr>
        <p:spPr>
          <a:xfrm>
            <a:off x="4126320" y="470808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Rounded Rectangle 13"/>
          <p:cNvSpPr/>
          <p:nvPr/>
        </p:nvSpPr>
        <p:spPr>
          <a:xfrm>
            <a:off x="3603960" y="344736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Rounded Rectangle 14"/>
          <p:cNvSpPr/>
          <p:nvPr/>
        </p:nvSpPr>
        <p:spPr>
          <a:xfrm>
            <a:off x="4126320" y="2186640"/>
            <a:ext cx="1415880" cy="51048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TextBox 15"/>
          <p:cNvSpPr/>
          <p:nvPr/>
        </p:nvSpPr>
        <p:spPr>
          <a:xfrm>
            <a:off x="1463040" y="5806440"/>
            <a:ext cx="923400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50" spc="-1" strike="noStrike">
                <a:solidFill>
                  <a:srgbClr val="0f172a"/>
                </a:solidFill>
                <a:latin typeface="Aptos"/>
              </a:rPr>
              <a:t>Monitor alimenta o próximo Plan: feedback rápido é o que fecha o loop e sustenta a melhoria contínua.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2" name="Picture 16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53" name="TextBox 17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8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DevOps: Cada Etapa em Detalhe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5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59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0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desenvolvimento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Plan: entender o problema e definir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Code: implementar em mudanças pequenas e revisáveis.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Build: compilar, empacotar e testar automaticamente.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4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operação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Release: preparar e aprovar uma versão para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Deploy: colocar a versão no ambiente de destino.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Operate/Monitor: manter saudável e observar o comportamento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ponto de conexão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Monitor alimenta o próximo Plan — é um ciclo, não uma linha.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 é o que fecha o loop e sustenta a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7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Sinais de que um Time Precisa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debate: quais desses sintomas vocês já viveram?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78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Sintomas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Deploys manuais, longos e concentrados em uma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Medo de lançar em sexta-feira.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“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Funciona na minha máquina”, mas não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Falta de rastreabilidade: ninguém sabe o que mudou entre versões.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Custos escondidos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perdido coordenando quem pode mudar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Bugs descobertos tarde custam muito mais para corrigir.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Burnout de quem sempre “segura” a produção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7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desses sintomas vocês já viveram — como dev, como usuário ou como cliente?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mudaria se a responsabilidade fosse compartilhada desde o início?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591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no SDLC: Onde Ajuda e Onde Exige Cautela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Ganhos reais e riscos reais, lado a lado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9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597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Ganhos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tempo em tarefas repetitivas: boilerplate, testes,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Acelera entendimento de código legado e análise de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Ajuda a levantar hipóteses e alternativas técnicas rapidamente.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 que não existem.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aceitar sem entender o que foi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dado sensível quando colado sem cuidado no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Regra prática da disciplina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usa precisa conseguir explicar e defender o resultado.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61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fazer, em 3 passos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Rounded Rectangle 4"/>
          <p:cNvSpPr/>
          <p:nvPr/>
        </p:nvSpPr>
        <p:spPr>
          <a:xfrm>
            <a:off x="7315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Rectangle 5"/>
          <p:cNvSpPr/>
          <p:nvPr/>
        </p:nvSpPr>
        <p:spPr>
          <a:xfrm>
            <a:off x="731520" y="1417320"/>
            <a:ext cx="71640" cy="1964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7" name="TextBox 6"/>
          <p:cNvSpPr/>
          <p:nvPr/>
        </p:nvSpPr>
        <p:spPr>
          <a:xfrm>
            <a:off x="8960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1 — Mapear o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7"/>
          <p:cNvSpPr/>
          <p:nvPr/>
        </p:nvSpPr>
        <p:spPr>
          <a:xfrm>
            <a:off x="8960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uma demanda simples e real (do dia a dia do grupo ou de um sistema que vocês conhecem).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Liste as etapas até a entrega, marcando esperas, retrabalho e aprovações manuais.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Rounded Rectangle 8"/>
          <p:cNvSpPr/>
          <p:nvPr/>
        </p:nvSpPr>
        <p:spPr>
          <a:xfrm>
            <a:off x="43891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Rectangle 9"/>
          <p:cNvSpPr/>
          <p:nvPr/>
        </p:nvSpPr>
        <p:spPr>
          <a:xfrm>
            <a:off x="4389120" y="1417320"/>
            <a:ext cx="71640" cy="19645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1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2 — Classificar gargalos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11"/>
          <p:cNvSpPr/>
          <p:nvPr/>
        </p:nvSpPr>
        <p:spPr>
          <a:xfrm>
            <a:off x="45536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Para cada gargalo encontrado, classifique em cultura, processo ou ferramenta/dado.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Seja específico: "sistema lento" não é gargalo; "deploy manual sem revisão" é.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Rounded Rectangle 12"/>
          <p:cNvSpPr/>
          <p:nvPr/>
        </p:nvSpPr>
        <p:spPr>
          <a:xfrm>
            <a:off x="80467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4" name="Rectangle 13"/>
          <p:cNvSpPr/>
          <p:nvPr/>
        </p:nvSpPr>
        <p:spPr>
          <a:xfrm>
            <a:off x="8046720" y="1417320"/>
            <a:ext cx="71640" cy="1964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TextBox 14"/>
          <p:cNvSpPr/>
          <p:nvPr/>
        </p:nvSpPr>
        <p:spPr>
          <a:xfrm>
            <a:off x="82112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Passo 3 — Priorizar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Box 15"/>
          <p:cNvSpPr/>
          <p:nvPr/>
        </p:nvSpPr>
        <p:spPr>
          <a:xfrm>
            <a:off x="82112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3 gargalos e registre impacto, esforço, risco e evidência para cada um.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Escolha 1 melhoria final, indicando onde a IA ajuda e onde pode aumentar o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ounded Rectangle 16"/>
          <p:cNvSpPr/>
          <p:nvPr/>
        </p:nvSpPr>
        <p:spPr>
          <a:xfrm>
            <a:off x="731520" y="3886200"/>
            <a:ext cx="1074276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Rectangle 17"/>
          <p:cNvSpPr/>
          <p:nvPr/>
        </p:nvSpPr>
        <p:spPr>
          <a:xfrm>
            <a:off x="73152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9" name="TextBox 18"/>
          <p:cNvSpPr/>
          <p:nvPr/>
        </p:nvSpPr>
        <p:spPr>
          <a:xfrm>
            <a:off x="896040" y="4014360"/>
            <a:ext cx="104500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Antes de começar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19"/>
          <p:cNvSpPr/>
          <p:nvPr/>
        </p:nvSpPr>
        <p:spPr>
          <a:xfrm>
            <a:off x="896040" y="4389120"/>
            <a:ext cx="104500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Grupos de 4 a 5 integrantes, já formados no início do encontro.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3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634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guia, evidências 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Rounded Rectangle 4"/>
          <p:cNvSpPr/>
          <p:nvPr/>
        </p:nvSpPr>
        <p:spPr>
          <a:xfrm>
            <a:off x="7315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9" name="Rectangle 5"/>
          <p:cNvSpPr/>
          <p:nvPr/>
        </p:nvSpPr>
        <p:spPr>
          <a:xfrm>
            <a:off x="731520" y="1417320"/>
            <a:ext cx="71640" cy="1964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0" name="TextBox 6"/>
          <p:cNvSpPr/>
          <p:nvPr/>
        </p:nvSpPr>
        <p:spPr>
          <a:xfrm>
            <a:off x="8960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7"/>
          <p:cNvSpPr/>
          <p:nvPr/>
        </p:nvSpPr>
        <p:spPr>
          <a:xfrm>
            <a:off x="8960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há espera manual?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falta feedback?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falha só aparece tarde?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é dono da operação?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reduz esforço sem ocultar risco?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Rounded Rectangle 8"/>
          <p:cNvSpPr/>
          <p:nvPr/>
        </p:nvSpPr>
        <p:spPr>
          <a:xfrm>
            <a:off x="43891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Rectangle 9"/>
          <p:cNvSpPr/>
          <p:nvPr/>
        </p:nvSpPr>
        <p:spPr>
          <a:xfrm>
            <a:off x="4389120" y="1417320"/>
            <a:ext cx="71640" cy="19645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4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11"/>
          <p:cNvSpPr/>
          <p:nvPr/>
        </p:nvSpPr>
        <p:spPr>
          <a:xfrm>
            <a:off x="45536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Mapa simples do fluxo atual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Lista de 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por gargalo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Oportunidade de IA e validação necessária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 que mostraria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Rounded Rectangle 12"/>
          <p:cNvSpPr/>
          <p:nvPr/>
        </p:nvSpPr>
        <p:spPr>
          <a:xfrm>
            <a:off x="8046720" y="1417320"/>
            <a:ext cx="3427560" cy="1964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Rectangle 13"/>
          <p:cNvSpPr/>
          <p:nvPr/>
        </p:nvSpPr>
        <p:spPr>
          <a:xfrm>
            <a:off x="8046720" y="1417320"/>
            <a:ext cx="71640" cy="1964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14"/>
          <p:cNvSpPr/>
          <p:nvPr/>
        </p:nvSpPr>
        <p:spPr>
          <a:xfrm>
            <a:off x="82112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15"/>
          <p:cNvSpPr/>
          <p:nvPr/>
        </p:nvSpPr>
        <p:spPr>
          <a:xfrm>
            <a:off x="8211240" y="1920240"/>
            <a:ext cx="3134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1 página por grupo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Priorizar 3 melhorias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Classificar em cultura, processo, ferramenta, dado ou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Rounded Rectangle 16"/>
          <p:cNvSpPr/>
          <p:nvPr/>
        </p:nvSpPr>
        <p:spPr>
          <a:xfrm>
            <a:off x="731520" y="3886200"/>
            <a:ext cx="1074276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1" name="Rectangle 17"/>
          <p:cNvSpPr/>
          <p:nvPr/>
        </p:nvSpPr>
        <p:spPr>
          <a:xfrm>
            <a:off x="73152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18"/>
          <p:cNvSpPr/>
          <p:nvPr/>
        </p:nvSpPr>
        <p:spPr>
          <a:xfrm>
            <a:off x="896040" y="4014360"/>
            <a:ext cx="104500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Box 19"/>
          <p:cNvSpPr/>
          <p:nvPr/>
        </p:nvSpPr>
        <p:spPr>
          <a:xfrm>
            <a:off x="896040" y="4389120"/>
            <a:ext cx="104500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diagnóstico vira insumo para a proposta de implantação/evolução DevOps do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6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657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 dados sensíveis no conteúdo do prompt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662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663" name="Rounded Rectangle 6"/>
          <p:cNvSpPr/>
          <p:nvPr/>
        </p:nvSpPr>
        <p:spPr>
          <a:xfrm>
            <a:off x="685800" y="1508760"/>
            <a:ext cx="3427560" cy="1955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Rectangle 7"/>
          <p:cNvSpPr/>
          <p:nvPr/>
        </p:nvSpPr>
        <p:spPr>
          <a:xfrm>
            <a:off x="685800" y="1508760"/>
            <a:ext cx="71640" cy="19555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5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Mapear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9"/>
          <p:cNvSpPr/>
          <p:nvPr/>
        </p:nvSpPr>
        <p:spPr>
          <a:xfrm>
            <a:off x="850320" y="1993320"/>
            <a:ext cx="31348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consultor DevOps. Com base no fluxo abaixo, identifique gargalos, riscos e pontos de automação.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Fluxo: &lt;descrever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Responda em tabela: etapa, gargalo, impacto, evidência, melhoria.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10"/>
          <p:cNvSpPr/>
          <p:nvPr/>
        </p:nvSpPr>
        <p:spPr>
          <a:xfrm>
            <a:off x="4389120" y="1508760"/>
            <a:ext cx="3427560" cy="1955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Rectangle 11"/>
          <p:cNvSpPr/>
          <p:nvPr/>
        </p:nvSpPr>
        <p:spPr>
          <a:xfrm>
            <a:off x="4389120" y="1508760"/>
            <a:ext cx="71640" cy="19555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Criticar melhoria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13"/>
          <p:cNvSpPr/>
          <p:nvPr/>
        </p:nvSpPr>
        <p:spPr>
          <a:xfrm>
            <a:off x="455364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Avalie esta proposta de melhoria DevOps. Aponte premissas frágeis, riscos operacionais e como medir se funcionou.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Proposta: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ounded Rectangle 14"/>
          <p:cNvSpPr/>
          <p:nvPr/>
        </p:nvSpPr>
        <p:spPr>
          <a:xfrm>
            <a:off x="8092440" y="1508760"/>
            <a:ext cx="3427560" cy="1955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15"/>
          <p:cNvSpPr/>
          <p:nvPr/>
        </p:nvSpPr>
        <p:spPr>
          <a:xfrm>
            <a:off x="8092440" y="1508760"/>
            <a:ext cx="71640" cy="19555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Definir métrica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17"/>
          <p:cNvSpPr/>
          <p:nvPr/>
        </p:nvSpPr>
        <p:spPr>
          <a:xfrm>
            <a:off x="825696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Para o gargalo abaixo, sugira uma métrica simples, como coletar a evidência e qual decisão essa métrica apoiaria.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Gargalo: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5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676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1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2: Git e colaboração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682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Refinar a proposta de melhoria escolhida.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ou escolher a aplicação base do grupo.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ao próximo encontro: nome do projeto, stack, comandos de execução e principal risco técnico.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6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687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2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11/09/2026 | Git, colaboração, qualidade e IA assistida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29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2" name="Picture 4" descr="e2_git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693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2 - Colaboração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 código individual ao fluxo colaborativo com assistência crítica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7" name="Rounded Rectangle 4"/>
          <p:cNvSpPr/>
          <p:nvPr/>
        </p:nvSpPr>
        <p:spPr>
          <a:xfrm>
            <a:off x="68580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8" name="Rectangle 5"/>
          <p:cNvSpPr/>
          <p:nvPr/>
        </p:nvSpPr>
        <p:spPr>
          <a:xfrm>
            <a:off x="685800" y="1417320"/>
            <a:ext cx="71640" cy="2010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7"/>
          <p:cNvSpPr/>
          <p:nvPr/>
        </p:nvSpPr>
        <p:spPr>
          <a:xfrm>
            <a:off x="85032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 remoto, branches e histórico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Pull request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Tags, releases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Contexto e limites para assistentes de código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Rounded Rectangle 8"/>
          <p:cNvSpPr/>
          <p:nvPr/>
        </p:nvSpPr>
        <p:spPr>
          <a:xfrm>
            <a:off x="438912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2" name="Rectangle 9"/>
          <p:cNvSpPr/>
          <p:nvPr/>
        </p:nvSpPr>
        <p:spPr>
          <a:xfrm>
            <a:off x="4389120" y="1417320"/>
            <a:ext cx="71640" cy="2010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3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Qualidade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11"/>
          <p:cNvSpPr/>
          <p:nvPr/>
        </p:nvSpPr>
        <p:spPr>
          <a:xfrm>
            <a:off x="455364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mínimo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Padrões de commit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 e análise estática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assistida por IA com checklist humano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Dependências e versão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ounded Rectangle 12"/>
          <p:cNvSpPr/>
          <p:nvPr/>
        </p:nvSpPr>
        <p:spPr>
          <a:xfrm>
            <a:off x="809244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Rectangle 13"/>
          <p:cNvSpPr/>
          <p:nvPr/>
        </p:nvSpPr>
        <p:spPr>
          <a:xfrm>
            <a:off x="8092440" y="1417320"/>
            <a:ext cx="71640" cy="2010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7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15"/>
          <p:cNvSpPr/>
          <p:nvPr/>
        </p:nvSpPr>
        <p:spPr>
          <a:xfrm>
            <a:off x="825696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repositório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Abrir PR com alteração pequena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explicar trecho, sugerir teste/refatoração e revisar diff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checklist de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tag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ounded Rectangle 16"/>
          <p:cNvSpPr/>
          <p:nvPr/>
        </p:nvSpPr>
        <p:spPr>
          <a:xfrm>
            <a:off x="685800" y="3886200"/>
            <a:ext cx="10834200" cy="123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Rectangle 17"/>
          <p:cNvSpPr/>
          <p:nvPr/>
        </p:nvSpPr>
        <p:spPr>
          <a:xfrm>
            <a:off x="685800" y="3886200"/>
            <a:ext cx="71640" cy="123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" name="TextBox 18"/>
          <p:cNvSpPr/>
          <p:nvPr/>
        </p:nvSpPr>
        <p:spPr>
          <a:xfrm>
            <a:off x="850320" y="401436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19"/>
          <p:cNvSpPr/>
          <p:nvPr/>
        </p:nvSpPr>
        <p:spPr>
          <a:xfrm>
            <a:off x="850320" y="4389120"/>
            <a:ext cx="1054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organizado com fluxo colaborativo, primeira versão rastreável e registro do que a IA sugeriu, do que foi aceito e do que foi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5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716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Fluxo Git Recomendado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Mantenha simples e rastreável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2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721" name="Rounded Rectangle 5"/>
          <p:cNvSpPr/>
          <p:nvPr/>
        </p:nvSpPr>
        <p:spPr>
          <a:xfrm>
            <a:off x="685800" y="1508760"/>
            <a:ext cx="3427560" cy="251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Rectangle 6"/>
          <p:cNvSpPr/>
          <p:nvPr/>
        </p:nvSpPr>
        <p:spPr>
          <a:xfrm>
            <a:off x="685800" y="1508760"/>
            <a:ext cx="71640" cy="2513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3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Branches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4" name="Picture 8" descr="e2_git_dark.png"/>
          <p:cNvPicPr/>
          <p:nvPr/>
        </p:nvPicPr>
        <p:blipFill>
          <a:blip r:embed="rId2"/>
          <a:stretch/>
        </p:blipFill>
        <p:spPr>
          <a:xfrm>
            <a:off x="85032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725" name="TextBox 9"/>
          <p:cNvSpPr/>
          <p:nvPr/>
        </p:nvSpPr>
        <p:spPr>
          <a:xfrm>
            <a:off x="850320" y="2441520"/>
            <a:ext cx="313488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main: versão estável do projeto.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feature/&lt;tema&gt;: alteração pequena e revisável.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Evitar commits direto na main depois do primeiro encontro prático.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Rounded Rectangle 10"/>
          <p:cNvSpPr/>
          <p:nvPr/>
        </p:nvSpPr>
        <p:spPr>
          <a:xfrm>
            <a:off x="4389120" y="1508760"/>
            <a:ext cx="3427560" cy="251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7" name="Rectangle 11"/>
          <p:cNvSpPr/>
          <p:nvPr/>
        </p:nvSpPr>
        <p:spPr>
          <a:xfrm>
            <a:off x="4389120" y="1508760"/>
            <a:ext cx="71640" cy="2513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8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9" name="Picture 13" descr="ic_merge.png"/>
          <p:cNvPicPr/>
          <p:nvPr/>
        </p:nvPicPr>
        <p:blipFill>
          <a:blip r:embed="rId3"/>
          <a:stretch/>
        </p:blipFill>
        <p:spPr>
          <a:xfrm>
            <a:off x="455364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730" name="TextBox 14"/>
          <p:cNvSpPr/>
          <p:nvPr/>
        </p:nvSpPr>
        <p:spPr>
          <a:xfrm>
            <a:off x="4553640" y="2441520"/>
            <a:ext cx="313488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Toda mudança relevante passa por PR.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 deve ter objetivo, evidência de teste e risco conhecido.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Comentário de revisão deve discutir comportamento, não preferência pessoal.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Rounded Rectangle 15"/>
          <p:cNvSpPr/>
          <p:nvPr/>
        </p:nvSpPr>
        <p:spPr>
          <a:xfrm>
            <a:off x="8092440" y="1508760"/>
            <a:ext cx="3427560" cy="251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2" name="Rectangle 16"/>
          <p:cNvSpPr/>
          <p:nvPr/>
        </p:nvSpPr>
        <p:spPr>
          <a:xfrm>
            <a:off x="8092440" y="1508760"/>
            <a:ext cx="71640" cy="2513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3" name="TextBox 17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Versionamento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4" name="Picture 18" descr="ic_tag.png"/>
          <p:cNvPicPr/>
          <p:nvPr/>
        </p:nvPicPr>
        <p:blipFill>
          <a:blip r:embed="rId4"/>
          <a:stretch/>
        </p:blipFill>
        <p:spPr>
          <a:xfrm>
            <a:off x="8256960" y="1984320"/>
            <a:ext cx="345960" cy="345960"/>
          </a:xfrm>
          <a:prstGeom prst="rect">
            <a:avLst/>
          </a:prstGeom>
          <a:ln w="0">
            <a:noFill/>
          </a:ln>
        </p:spPr>
      </p:pic>
      <p:sp>
        <p:nvSpPr>
          <p:cNvPr id="735" name="TextBox 19"/>
          <p:cNvSpPr/>
          <p:nvPr/>
        </p:nvSpPr>
        <p:spPr>
          <a:xfrm>
            <a:off x="8256960" y="2441520"/>
            <a:ext cx="313488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 inicial: v0.1.0 ou aula-02.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Tags posteriores para releases de laboratório.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deve indicar como executar a versão atual.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6" name="Picture 20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737" name="TextBox 21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Box 22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Modelos de Branching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trade-offs antes de escolher um padrão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743" name="Rounded Rectangle 5"/>
          <p:cNvSpPr/>
          <p:nvPr/>
        </p:nvSpPr>
        <p:spPr>
          <a:xfrm>
            <a:off x="685440" y="134532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Rectangle 6"/>
          <p:cNvSpPr/>
          <p:nvPr/>
        </p:nvSpPr>
        <p:spPr>
          <a:xfrm>
            <a:off x="685440" y="134532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TextBox 7"/>
          <p:cNvSpPr/>
          <p:nvPr/>
        </p:nvSpPr>
        <p:spPr>
          <a:xfrm>
            <a:off x="849960" y="147348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Trunk-based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Box 8"/>
          <p:cNvSpPr/>
          <p:nvPr/>
        </p:nvSpPr>
        <p:spPr>
          <a:xfrm>
            <a:off x="849960" y="182988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Todo mundo integra na main com frequência.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vida curta, de horas.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Exige testes fortes e, muitas vezes, feature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Rounded Rectangle 9"/>
          <p:cNvSpPr/>
          <p:nvPr/>
        </p:nvSpPr>
        <p:spPr>
          <a:xfrm>
            <a:off x="4388760" y="134532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8" name="Rectangle 10"/>
          <p:cNvSpPr/>
          <p:nvPr/>
        </p:nvSpPr>
        <p:spPr>
          <a:xfrm>
            <a:off x="4388760" y="134532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9" name="TextBox 11"/>
          <p:cNvSpPr/>
          <p:nvPr/>
        </p:nvSpPr>
        <p:spPr>
          <a:xfrm>
            <a:off x="4553280" y="147348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12"/>
          <p:cNvSpPr/>
          <p:nvPr/>
        </p:nvSpPr>
        <p:spPr>
          <a:xfrm>
            <a:off x="4553280" y="182988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branch por feature, com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Merge na main costuma já habilitar o deploy.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Simples e alinhado com entrega contínua — é o que a disciplina 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3"/>
          <p:cNvSpPr/>
          <p:nvPr/>
        </p:nvSpPr>
        <p:spPr>
          <a:xfrm>
            <a:off x="8092080" y="134532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14"/>
          <p:cNvSpPr/>
          <p:nvPr/>
        </p:nvSpPr>
        <p:spPr>
          <a:xfrm>
            <a:off x="8092080" y="134532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TextBox 15"/>
          <p:cNvSpPr/>
          <p:nvPr/>
        </p:nvSpPr>
        <p:spPr>
          <a:xfrm>
            <a:off x="8256600" y="147348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TextBox 16"/>
          <p:cNvSpPr/>
          <p:nvPr/>
        </p:nvSpPr>
        <p:spPr>
          <a:xfrm>
            <a:off x="8256600" y="182988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release, develop e hotfix.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estrutura e mais overhead de coordenação.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Comum em produtos com ciclos de release longos e formais.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75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8" name="" descr=""/>
          <p:cNvPicPr/>
          <p:nvPr/>
        </p:nvPicPr>
        <p:blipFill>
          <a:blip r:embed="rId3"/>
          <a:stretch/>
        </p:blipFill>
        <p:spPr>
          <a:xfrm>
            <a:off x="1799280" y="3566520"/>
            <a:ext cx="8640360" cy="287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Laboratório Git - Comandos Base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Roteiro mínimo; adapte para GitHub, GitLab ou Azure DevOps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763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4" name="TextBox 6"/>
          <p:cNvSpPr/>
          <p:nvPr/>
        </p:nvSpPr>
        <p:spPr>
          <a:xfrm>
            <a:off x="896040" y="1609200"/>
            <a:ext cx="10413720" cy="35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1. Clonar ou iniciar repositorio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clone &lt;url-do-repositorio&gt;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cd &lt;nome-do-projeto&gt;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2. Criar branch de trabalho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3. Alterar README e conferir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4. Registrar alteracao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README.md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"docs: adiciona instrucoes iniciais"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5. Enviar branch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6. Abrir Pull Request no provedor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preencher objetivo, evidencias e riscos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7. Depois do merge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main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origin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5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766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Bom Commit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Convenções que economizam tempo do time inteiro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772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3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4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Commit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Mensagem no imperativo: “adiciona”, não “adicionado”.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propósito por commit — não misture assuntos diferentes.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Prefixo por tipo: feat, fix, docs, refactor, test.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7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8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Título claro e descrição do problema e da solução.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teste anexada (log, print, resultado).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pequeno: mais fácil de revisar, mais fácil de reverter.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1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2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Box 16"/>
          <p:cNvSpPr/>
          <p:nvPr/>
        </p:nvSpPr>
        <p:spPr>
          <a:xfrm>
            <a:off x="825696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gigantes misturando várias mudanças.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Mensagens genéricas como “fix” ou “ajustes”.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sem contexto, obrigando o revisor a adivinhar a intenção.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785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Definition of Done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critério objetivo, não uma sensação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791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2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3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Checklist típico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revisado por outra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relevantes passando.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Sem segredo exposto no código ou no histórico.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 localmente a partir de um clone limpo.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6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7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importa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 que cada pessoa do time tenha um “pronto” diferente.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Vira critério objetivo de avaliação também nesta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0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1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aconteceria se cada integrante do grupo tivesse uma definição diferente de “pronto”?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804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Revisão de PR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usar sem perder o controle técnico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81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o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objetivo da mudança.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Colar apenas diff ou trecho não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Informar stack, testes existentes e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Pedir revisão objetiva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Solicitar bugs, regressões, segurança e testes faltantes.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severidade e justificativa.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pergunta genérica: “está bom?”.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Validar 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Conferir cada sugestão no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testes/lint/build.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o que foi aceito, rejeitado e por quê.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Rounded Rectangle 17"/>
          <p:cNvSpPr/>
          <p:nvPr/>
        </p:nvSpPr>
        <p:spPr>
          <a:xfrm>
            <a:off x="685800" y="351144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3" name="Rectangle 18"/>
          <p:cNvSpPr/>
          <p:nvPr/>
        </p:nvSpPr>
        <p:spPr>
          <a:xfrm>
            <a:off x="685800" y="351144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19"/>
          <p:cNvSpPr/>
          <p:nvPr/>
        </p:nvSpPr>
        <p:spPr>
          <a:xfrm>
            <a:off x="850320" y="363924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20"/>
          <p:cNvSpPr/>
          <p:nvPr/>
        </p:nvSpPr>
        <p:spPr>
          <a:xfrm>
            <a:off x="850320" y="399600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checklist humano, comentário de revisão ou resumo da análise e registro do uso de IA, caso tenha sido aplicada.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827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de IA na Revisão de Código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o mercado usa hoje para revisar Pull Requests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833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4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Nativo dos provedores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code review, integrado ao próprio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"agentic" (2026): a IA já gera o PR de correção, não só comenta.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8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Plataformas dedicadas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CodeRabbit é o app de revisão mais instalado no GitHub (2M+ repositórios).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Outros players: Qodo, Greptile, Graphite Diamond.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muda para o revisor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vira "primeiro leitor": aponta antes, a pessoa decide.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útil em PRs grandes e complexos do que em mudanças triviais.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84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8" name="" descr=""/>
          <p:cNvPicPr/>
          <p:nvPr/>
        </p:nvPicPr>
        <p:blipFill>
          <a:blip r:embed="rId3"/>
          <a:stretch/>
        </p:blipFill>
        <p:spPr>
          <a:xfrm>
            <a:off x="900000" y="3678480"/>
            <a:ext cx="10447200" cy="2441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Qualidade Além do Olho Humano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cada camada de checagem realmente pega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5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853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lint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Estilo, formatação e convenções.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Imports e variáveis não usadas.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roda a cada commit.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8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análise estática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Vulnerabilidades conhecidas em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Complexidade excessiva e código morto.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Más práticas de segurança no próprio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2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só a revisão humana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Intenção de negócio errada.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Nome ruim, decisão de arquitetura questionável.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Dívida técnica sendo introduzida — ferramenta não substitui isso.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86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2 - Repositório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Transformar colaboração em fluxo rastreável, em grupo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872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3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4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é o menor incremento que já vale um PR?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estar no README para alguém rodar o projeto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checklist de revisão faz sentido para este projeto?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ajuda sem esconder uma lacuna de entendimento?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8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com pelo menos um PR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com comando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 inicial (v0.1.0).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que a IA sugeriu e do que foi aceito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1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2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repositório por grupo, acessível ao professor.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objetivo, evidência de teste e risco descritos.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5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6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repositório e PR alimentam a nota de pipeline/entrega e o registro crítico de uso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8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889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Revisão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Modelos de prompt para revisão e qualidade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895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896" name="Rounded Rectangle 6"/>
          <p:cNvSpPr/>
          <p:nvPr/>
        </p:nvSpPr>
        <p:spPr>
          <a:xfrm>
            <a:off x="685800" y="1508760"/>
            <a:ext cx="3427560" cy="238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7" name="Rectangle 7"/>
          <p:cNvSpPr/>
          <p:nvPr/>
        </p:nvSpPr>
        <p:spPr>
          <a:xfrm>
            <a:off x="685800" y="1508760"/>
            <a:ext cx="71640" cy="2385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8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Revisar PR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TextBox 9"/>
          <p:cNvSpPr/>
          <p:nvPr/>
        </p:nvSpPr>
        <p:spPr>
          <a:xfrm>
            <a:off x="850320" y="1993320"/>
            <a:ext cx="31348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revisor sênior. Revise apenas o diff abaixo buscando bugs, regressões, riscos de segurança e testes ausentes.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Formato: severidade, arquivo/trecho, problema, sugestão e validação necessária.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Diff: &lt;colar diff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Rounded Rectangle 10"/>
          <p:cNvSpPr/>
          <p:nvPr/>
        </p:nvSpPr>
        <p:spPr>
          <a:xfrm>
            <a:off x="4389120" y="1508760"/>
            <a:ext cx="3427560" cy="238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1" name="Rectangle 11"/>
          <p:cNvSpPr/>
          <p:nvPr/>
        </p:nvSpPr>
        <p:spPr>
          <a:xfrm>
            <a:off x="4389120" y="1508760"/>
            <a:ext cx="71640" cy="2385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2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Gerar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TextBox 13"/>
          <p:cNvSpPr/>
          <p:nvPr/>
        </p:nvSpPr>
        <p:spPr>
          <a:xfrm>
            <a:off x="455364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nesta função e nos critérios de aceite, sugira testes unitários e casos de borda. Não altere a API pública sem justificar.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 Critérios: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Rounded Rectangle 14"/>
          <p:cNvSpPr/>
          <p:nvPr/>
        </p:nvSpPr>
        <p:spPr>
          <a:xfrm>
            <a:off x="8092440" y="1508760"/>
            <a:ext cx="3427560" cy="238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5" name="Rectangle 15"/>
          <p:cNvSpPr/>
          <p:nvPr/>
        </p:nvSpPr>
        <p:spPr>
          <a:xfrm>
            <a:off x="8092440" y="1508760"/>
            <a:ext cx="71640" cy="2385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6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Melhorar 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17"/>
          <p:cNvSpPr/>
          <p:nvPr/>
        </p:nvSpPr>
        <p:spPr>
          <a:xfrm>
            <a:off x="825696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Reescreva as instruções de execução abaixo para ficarem reproduzíveis por quem acabou de clonar o projeto.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README atual: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8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09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2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3: integração contínua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15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6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7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Garantir que o projeto rode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pelo menos um teste simples se ainda não existir.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3: comando de instalação, build 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9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20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3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12/09/2026 | Integração contínua, testes e IA para automação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42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5" name="Picture 4" descr="e3_refresh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92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Feedback rápido para reduzir risco de integração e validar sugestões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0" name="Chevron 4"/>
          <p:cNvSpPr/>
          <p:nvPr/>
        </p:nvSpPr>
        <p:spPr>
          <a:xfrm>
            <a:off x="91440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1" name="TextBox 5"/>
          <p:cNvSpPr/>
          <p:nvPr/>
        </p:nvSpPr>
        <p:spPr>
          <a:xfrm>
            <a:off x="100584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Trigger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Chevron 6"/>
          <p:cNvSpPr/>
          <p:nvPr/>
        </p:nvSpPr>
        <p:spPr>
          <a:xfrm>
            <a:off x="306324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3" name="TextBox 7"/>
          <p:cNvSpPr/>
          <p:nvPr/>
        </p:nvSpPr>
        <p:spPr>
          <a:xfrm>
            <a:off x="315468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Chevron 8"/>
          <p:cNvSpPr/>
          <p:nvPr/>
        </p:nvSpPr>
        <p:spPr>
          <a:xfrm>
            <a:off x="521208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5" name="TextBox 9"/>
          <p:cNvSpPr/>
          <p:nvPr/>
        </p:nvSpPr>
        <p:spPr>
          <a:xfrm>
            <a:off x="530352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Chevron 10"/>
          <p:cNvSpPr/>
          <p:nvPr/>
        </p:nvSpPr>
        <p:spPr>
          <a:xfrm>
            <a:off x="736092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7" name="TextBox 11"/>
          <p:cNvSpPr/>
          <p:nvPr/>
        </p:nvSpPr>
        <p:spPr>
          <a:xfrm>
            <a:off x="745236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Chevron 12"/>
          <p:cNvSpPr/>
          <p:nvPr/>
        </p:nvSpPr>
        <p:spPr>
          <a:xfrm>
            <a:off x="9509760" y="1600200"/>
            <a:ext cx="1690200" cy="784800"/>
          </a:xfrm>
          <a:prstGeom prst="chevron">
            <a:avLst>
              <a:gd name="adj" fmla="val 50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9" name="TextBox 13"/>
          <p:cNvSpPr/>
          <p:nvPr/>
        </p:nvSpPr>
        <p:spPr>
          <a:xfrm>
            <a:off x="9601200" y="1865520"/>
            <a:ext cx="132444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Artefato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Rounded Rectangle 14"/>
          <p:cNvSpPr/>
          <p:nvPr/>
        </p:nvSpPr>
        <p:spPr>
          <a:xfrm>
            <a:off x="731520" y="292608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1" name="Rectangle 15"/>
          <p:cNvSpPr/>
          <p:nvPr/>
        </p:nvSpPr>
        <p:spPr>
          <a:xfrm>
            <a:off x="731520" y="2926080"/>
            <a:ext cx="71640" cy="17816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2" name="TextBox 16"/>
          <p:cNvSpPr/>
          <p:nvPr/>
        </p:nvSpPr>
        <p:spPr>
          <a:xfrm>
            <a:off x="896040" y="305424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17"/>
          <p:cNvSpPr/>
          <p:nvPr/>
        </p:nvSpPr>
        <p:spPr>
          <a:xfrm>
            <a:off x="896040" y="342900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Runners, jobs e etapas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Variáveis, cache 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como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interpretar logs e sugerir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ounded Rectangle 18"/>
          <p:cNvSpPr/>
          <p:nvPr/>
        </p:nvSpPr>
        <p:spPr>
          <a:xfrm>
            <a:off x="4389120" y="292608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Rectangle 19"/>
          <p:cNvSpPr/>
          <p:nvPr/>
        </p:nvSpPr>
        <p:spPr>
          <a:xfrm>
            <a:off x="4389120" y="2926080"/>
            <a:ext cx="71640" cy="17816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20"/>
          <p:cNvSpPr/>
          <p:nvPr/>
        </p:nvSpPr>
        <p:spPr>
          <a:xfrm>
            <a:off x="4553640" y="305424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21"/>
          <p:cNvSpPr/>
          <p:nvPr/>
        </p:nvSpPr>
        <p:spPr>
          <a:xfrm>
            <a:off x="4553640" y="342900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ou melhorar testes com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 de falha com validação humana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Rounded Rectangle 22"/>
          <p:cNvSpPr/>
          <p:nvPr/>
        </p:nvSpPr>
        <p:spPr>
          <a:xfrm>
            <a:off x="8046720" y="2926080"/>
            <a:ext cx="3427560" cy="1781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9" name="Rectangle 23"/>
          <p:cNvSpPr/>
          <p:nvPr/>
        </p:nvSpPr>
        <p:spPr>
          <a:xfrm>
            <a:off x="8046720" y="2926080"/>
            <a:ext cx="71640" cy="17816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24"/>
          <p:cNvSpPr/>
          <p:nvPr/>
        </p:nvSpPr>
        <p:spPr>
          <a:xfrm>
            <a:off x="8211240" y="305424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25"/>
          <p:cNvSpPr/>
          <p:nvPr/>
        </p:nvSpPr>
        <p:spPr>
          <a:xfrm>
            <a:off x="8211240" y="3429000"/>
            <a:ext cx="31348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PR/push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teste e 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Ação corretiva registrada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26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27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4" name="Picture 28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955" name="Picture 29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CI Explicado de Forma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Sempre com o log como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5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6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Detectar quebra de integração cedo.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Padronizar build e testes fora da máquina do aluno.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evidência objetiva para PR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Componentes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Trigger: quando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onde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Job/step: o que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Artifact/cache: o que guardar ou reaproveitar.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verde sem teste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Comando que só funciona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 exposto em variável/log.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ignorada para “passar” 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73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Job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acontece por trás do YAML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79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Trigger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push, pull_request, schedule ou disparo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Escolher o gatilho certo evita pipeline rodando à toa.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máquina efêmera que nasce só para o job.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Steps sequenciais; cache acelera reinstalação de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Matrix roda o mesmo job em várias versões/SOs em paralelo.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Artefato: binário, imagem ou relatório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detalhados e status final: verde ou vermelho.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Notificação para quem precisa agir.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99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Pipeline Mínimo - Exemplo GitHub Actions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Troque os comandos conforme a stack do projeto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998" name="Rounded Rectangle 5"/>
          <p:cNvSpPr/>
          <p:nvPr/>
        </p:nvSpPr>
        <p:spPr>
          <a:xfrm>
            <a:off x="731520" y="1481400"/>
            <a:ext cx="534780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9" name="TextBox 6"/>
          <p:cNvSpPr/>
          <p:nvPr/>
        </p:nvSpPr>
        <p:spPr>
          <a:xfrm>
            <a:off x="896040" y="1609200"/>
            <a:ext cx="501876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name: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pull_request: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push: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branches: [main]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jobs: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build-test: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runs-on: ubuntu-latest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steps: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actions/checkout@v4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actions/setup-node@v4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with: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node-version: 22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cache: npm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Rounded Rectangle 7"/>
          <p:cNvSpPr/>
          <p:nvPr/>
        </p:nvSpPr>
        <p:spPr>
          <a:xfrm>
            <a:off x="6355080" y="148140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1" name="Rectangle 8"/>
          <p:cNvSpPr/>
          <p:nvPr/>
        </p:nvSpPr>
        <p:spPr>
          <a:xfrm>
            <a:off x="6355080" y="1481400"/>
            <a:ext cx="71640" cy="1327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2" name="TextBox 9"/>
          <p:cNvSpPr/>
          <p:nvPr/>
        </p:nvSpPr>
        <p:spPr>
          <a:xfrm>
            <a:off x="6519600" y="160920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TextBox 10"/>
          <p:cNvSpPr/>
          <p:nvPr/>
        </p:nvSpPr>
        <p:spPr>
          <a:xfrm>
            <a:off x="6519600" y="196596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YAML declara quando executar e a sequência de validação.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pipeline deve falhar quando build ou testes falharem.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Rounded Rectangle 11"/>
          <p:cNvSpPr/>
          <p:nvPr/>
        </p:nvSpPr>
        <p:spPr>
          <a:xfrm>
            <a:off x="6355080" y="291996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5" name="Rectangle 12"/>
          <p:cNvSpPr/>
          <p:nvPr/>
        </p:nvSpPr>
        <p:spPr>
          <a:xfrm>
            <a:off x="6355080" y="2919960"/>
            <a:ext cx="71640" cy="1327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TextBox 13"/>
          <p:cNvSpPr/>
          <p:nvPr/>
        </p:nvSpPr>
        <p:spPr>
          <a:xfrm>
            <a:off x="6519600" y="304812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adaptar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TextBox 14"/>
          <p:cNvSpPr/>
          <p:nvPr/>
        </p:nvSpPr>
        <p:spPr>
          <a:xfrm>
            <a:off x="6519600" y="340452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Node pode virar Python, Java, Go ou .NET.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 lógica se mantém: checkout, setup, dependências, testes, build e artefato.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Rounded Rectangle 15"/>
          <p:cNvSpPr/>
          <p:nvPr/>
        </p:nvSpPr>
        <p:spPr>
          <a:xfrm>
            <a:off x="6355080" y="435852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9" name="Rectangle 16"/>
          <p:cNvSpPr/>
          <p:nvPr/>
        </p:nvSpPr>
        <p:spPr>
          <a:xfrm>
            <a:off x="6355080" y="4358520"/>
            <a:ext cx="71640" cy="1327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0" name="TextBox 17"/>
          <p:cNvSpPr/>
          <p:nvPr/>
        </p:nvSpPr>
        <p:spPr>
          <a:xfrm>
            <a:off x="6519600" y="448668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validar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Box 18"/>
          <p:cNvSpPr/>
          <p:nvPr/>
        </p:nvSpPr>
        <p:spPr>
          <a:xfrm>
            <a:off x="6519600" y="484344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Abrir a aba Actions/Pipelines.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Conferir logs, tempo de execução e commit associado.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2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13" name="TextBox 2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2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 Pirâmide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Testes lentos no topo custam feedback; equilíbrio é decisão estratégica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19" name="Freeform 5"/>
          <p:cNvSpPr/>
          <p:nvPr/>
        </p:nvSpPr>
        <p:spPr>
          <a:xfrm>
            <a:off x="2270880" y="1691640"/>
            <a:ext cx="1126440" cy="1278720"/>
          </a:xfrm>
          <a:custGeom>
            <a:avLst/>
            <a:gdLst>
              <a:gd name="textAreaLeft" fmla="*/ 0 w 1126440"/>
              <a:gd name="textAreaRight" fmla="*/ 1127880 w 1126440"/>
              <a:gd name="textAreaTop" fmla="*/ 0 h 1278720"/>
              <a:gd name="textAreaBottom" fmla="*/ 1280160 h 1278720"/>
            </a:gdLst>
            <a:ahLst/>
            <a:rect l="textAreaLeft" t="textAreaTop" r="textAreaRight" b="textAreaBottom"/>
            <a:pathLst>
              <a:path w="1127760" h="1280160">
                <a:moveTo>
                  <a:pt x="563880" y="0"/>
                </a:moveTo>
                <a:lnTo>
                  <a:pt x="563880" y="0"/>
                </a:lnTo>
                <a:lnTo>
                  <a:pt x="112776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6750a4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0" name="Freeform 6"/>
          <p:cNvSpPr/>
          <p:nvPr/>
        </p:nvSpPr>
        <p:spPr>
          <a:xfrm>
            <a:off x="1706760" y="2971800"/>
            <a:ext cx="2253960" cy="1278720"/>
          </a:xfrm>
          <a:custGeom>
            <a:avLst/>
            <a:gdLst>
              <a:gd name="textAreaLeft" fmla="*/ 0 w 2253960"/>
              <a:gd name="textAreaRight" fmla="*/ 2255400 w 2253960"/>
              <a:gd name="textAreaTop" fmla="*/ 0 h 1278720"/>
              <a:gd name="textAreaBottom" fmla="*/ 1280160 h 1278720"/>
            </a:gdLst>
            <a:ahLst/>
            <a:rect l="textAreaLeft" t="textAreaTop" r="textAreaRight" b="textAreaBottom"/>
            <a:pathLst>
              <a:path w="2255520" h="1280160">
                <a:moveTo>
                  <a:pt x="563880" y="0"/>
                </a:moveTo>
                <a:lnTo>
                  <a:pt x="1691640" y="0"/>
                </a:lnTo>
                <a:lnTo>
                  <a:pt x="225552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2666a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1" name="Freeform 7"/>
          <p:cNvSpPr/>
          <p:nvPr/>
        </p:nvSpPr>
        <p:spPr>
          <a:xfrm>
            <a:off x="1143000" y="4251960"/>
            <a:ext cx="3381840" cy="1278720"/>
          </a:xfrm>
          <a:custGeom>
            <a:avLst/>
            <a:gdLst>
              <a:gd name="textAreaLeft" fmla="*/ 0 w 3381840"/>
              <a:gd name="textAreaRight" fmla="*/ 3383280 w 3381840"/>
              <a:gd name="textAreaTop" fmla="*/ 0 h 1278720"/>
              <a:gd name="textAreaBottom" fmla="*/ 1280160 h 1278720"/>
            </a:gdLst>
            <a:ahLst/>
            <a:rect l="textAreaLeft" t="textAreaTop" r="textAreaRight" b="textAreaBottom"/>
            <a:pathLst>
              <a:path w="3383280" h="1280160">
                <a:moveTo>
                  <a:pt x="563880" y="0"/>
                </a:moveTo>
                <a:lnTo>
                  <a:pt x="2819400" y="0"/>
                </a:lnTo>
                <a:lnTo>
                  <a:pt x="338328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00897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2" name="TextBox 8"/>
          <p:cNvSpPr/>
          <p:nvPr/>
        </p:nvSpPr>
        <p:spPr>
          <a:xfrm>
            <a:off x="4892040" y="1691640"/>
            <a:ext cx="6399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Ponta a ponta / 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9"/>
          <p:cNvSpPr/>
          <p:nvPr/>
        </p:nvSpPr>
        <p:spPr>
          <a:xfrm>
            <a:off x="4892040" y="2039040"/>
            <a:ext cx="639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Poucos e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o fluxo completo do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Rectangle 10"/>
          <p:cNvSpPr/>
          <p:nvPr/>
        </p:nvSpPr>
        <p:spPr>
          <a:xfrm>
            <a:off x="4745880" y="1710000"/>
            <a:ext cx="53280" cy="9586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5" name="TextBox 11"/>
          <p:cNvSpPr/>
          <p:nvPr/>
        </p:nvSpPr>
        <p:spPr>
          <a:xfrm>
            <a:off x="4892040" y="3017520"/>
            <a:ext cx="6399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12"/>
          <p:cNvSpPr/>
          <p:nvPr/>
        </p:nvSpPr>
        <p:spPr>
          <a:xfrm>
            <a:off x="4892040" y="3364920"/>
            <a:ext cx="639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Menos numerosos, mais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a colaboração entre partes (API + banco).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Rectangle 13"/>
          <p:cNvSpPr/>
          <p:nvPr/>
        </p:nvSpPr>
        <p:spPr>
          <a:xfrm>
            <a:off x="4745880" y="3035880"/>
            <a:ext cx="53280" cy="958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8" name="TextBox 14"/>
          <p:cNvSpPr/>
          <p:nvPr/>
        </p:nvSpPr>
        <p:spPr>
          <a:xfrm>
            <a:off x="4892040" y="4343400"/>
            <a:ext cx="6399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Unitários (base larga)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Box 15"/>
          <p:cNvSpPr/>
          <p:nvPr/>
        </p:nvSpPr>
        <p:spPr>
          <a:xfrm>
            <a:off x="4892040" y="4690800"/>
            <a:ext cx="6399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Muitos, rápidos e baratos.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uma função ou regra isolada.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Rectangle 16"/>
          <p:cNvSpPr/>
          <p:nvPr/>
        </p:nvSpPr>
        <p:spPr>
          <a:xfrm>
            <a:off x="4745880" y="4361760"/>
            <a:ext cx="53280" cy="9586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3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para Caber em 24h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Escolha testes que provem o fluxo, não tente cobrir tudo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38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9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Funções puras, regras de negócio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ideal para CI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API + banco ou API + dependência.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Compose e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ser simplificado com serviço fake ou banco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7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Verifica se a aplicação sobe e responde.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Bom para container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curl /health ou chamada simples no endpoint principal.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51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Métricas de CI que Contam a Verdade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Ligando de volta às métricas DORA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57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8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Tempo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rápido, mais vezes o time integra.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Builds de 20+ minutos matam a prática de CI na rotina.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Taxa de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que falham aleatoriamente destroem a confiança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Precisa ser tratado como bug, não ignorado ou re-executado sem investigar.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Cobertura de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como sinal de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Perigosa como meta: 100% de cobertura não garante ausência de bugs.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7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Frágeis (Flaky Tests)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dos maiores destruidores de confiança em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7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76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7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Causas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de tempo ou de ordem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Chamadas de rede reais em vez de simuladas.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compartilhados entre testes; condições de corrida.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1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2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resolver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Isolar estado entre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mocks/fakes para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Tornar o teste determinístico, sem depender de sorte.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5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6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teste que falha 1 vez a cada 20 execuções — vocês confiam nele?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fazer com ele: consertar, isolar ou remover do pipeline?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089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em Pipelines: Self-Healing e Geração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o mercado já automatiza a resposta a falhas de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9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095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6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 self-healing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 falha, analisa causa, propõe/aplica correção e roda de novo para validar.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Já é tratado como padrão de arquitetura de CI/CD em 2026.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0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Geração de testes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Diffblue Cover (Java/JUnit), CodiumAI, Copilot/Amazon Q para scaffolding de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gera o teste; cobertura de caminho crítico ainda é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4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Retry 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Retry inteligente reduz falhas causadas por flakiness.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Seleção preditiva de testes prioriza os mais propensos a pegar o bug.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0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Provar, com log, que o pipeline protege a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114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5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6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pipeline falha quando deveria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teste realmente prova que o código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log do erro é suficiente para outra pessoa entender a causa?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a interpretar uma falha?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9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0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push/PR.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Ao menos um teste real, não trivial.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log de falha analisado e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Badge ou print do pipeline em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3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4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Arquivo de pipeline versionado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link do pipeline executando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7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8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diretamente nos 25% de Pipeline CI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0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31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Testes e Logs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acelerador de investigação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137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1138" name="Rounded Rectangle 6"/>
          <p:cNvSpPr/>
          <p:nvPr/>
        </p:nvSpPr>
        <p:spPr>
          <a:xfrm>
            <a:off x="68580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9" name="Rectangle 7"/>
          <p:cNvSpPr/>
          <p:nvPr/>
        </p:nvSpPr>
        <p:spPr>
          <a:xfrm>
            <a:off x="685800" y="1508760"/>
            <a:ext cx="71640" cy="1735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0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Teste de borda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TextBox 9"/>
          <p:cNvSpPr/>
          <p:nvPr/>
        </p:nvSpPr>
        <p:spPr>
          <a:xfrm>
            <a:off x="85032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a função abaixo e sugira casos de teste relevantes, incluindo entradas inválidas, limites e regressões prováveis.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Rounded Rectangle 10"/>
          <p:cNvSpPr/>
          <p:nvPr/>
        </p:nvSpPr>
        <p:spPr>
          <a:xfrm>
            <a:off x="438912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3" name="Rectangle 11"/>
          <p:cNvSpPr/>
          <p:nvPr/>
        </p:nvSpPr>
        <p:spPr>
          <a:xfrm>
            <a:off x="4389120" y="15087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4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 de 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13"/>
          <p:cNvSpPr/>
          <p:nvPr/>
        </p:nvSpPr>
        <p:spPr>
          <a:xfrm>
            <a:off x="455364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job de CI falhou. Explique a provável causa, liste hipóteses em ordem de probabilidade e sugira validações antes de alterar código.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Log: &lt;colar 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Rounded Rectangle 14"/>
          <p:cNvSpPr/>
          <p:nvPr/>
        </p:nvSpPr>
        <p:spPr>
          <a:xfrm>
            <a:off x="809244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7" name="Rectangle 15"/>
          <p:cNvSpPr/>
          <p:nvPr/>
        </p:nvSpPr>
        <p:spPr>
          <a:xfrm>
            <a:off x="8092440" y="15087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8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YAML de CI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Box 17"/>
          <p:cNvSpPr/>
          <p:nvPr/>
        </p:nvSpPr>
        <p:spPr>
          <a:xfrm>
            <a:off x="825696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Revise este pipeline e aponte riscos: cache incorreto, comandos frágeis, segredos em log, falta de testes e etapas sem valor.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YAML: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0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51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3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4: containers 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157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8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9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Corrigir pendências do CI.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 de build/teste no README.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4: porta da aplicação, variáveis e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1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162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4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24/09/2026 | Containers, integração e troubleshooting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55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67" name="Picture 4" descr="e4_contain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1168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4 - Containers e Compose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Ambiente reproduzível para desenvolvimento, validação e diagnóstico assistido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2" name="Rounded Rectangle 4"/>
          <p:cNvSpPr/>
          <p:nvPr/>
        </p:nvSpPr>
        <p:spPr>
          <a:xfrm>
            <a:off x="685800" y="1417320"/>
            <a:ext cx="3427560" cy="205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3" name="Rectangle 5"/>
          <p:cNvSpPr/>
          <p:nvPr/>
        </p:nvSpPr>
        <p:spPr>
          <a:xfrm>
            <a:off x="685800" y="1417320"/>
            <a:ext cx="71640" cy="2055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Dockerfile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7"/>
          <p:cNvSpPr/>
          <p:nvPr/>
        </p:nvSpPr>
        <p:spPr>
          <a:xfrm>
            <a:off x="850320" y="1920240"/>
            <a:ext cx="31348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mínima 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Camadas e cache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de ambiente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Execução local previsível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explicar erros de build sem expor segredos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Rounded Rectangle 8"/>
          <p:cNvSpPr/>
          <p:nvPr/>
        </p:nvSpPr>
        <p:spPr>
          <a:xfrm>
            <a:off x="4389120" y="1417320"/>
            <a:ext cx="3427560" cy="205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7" name="Rectangle 9"/>
          <p:cNvSpPr/>
          <p:nvPr/>
        </p:nvSpPr>
        <p:spPr>
          <a:xfrm>
            <a:off x="4389120" y="1417320"/>
            <a:ext cx="71640" cy="2055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8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TextBox 11"/>
          <p:cNvSpPr/>
          <p:nvPr/>
        </p:nvSpPr>
        <p:spPr>
          <a:xfrm>
            <a:off x="4553640" y="1920240"/>
            <a:ext cx="31348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Serviços, redes e volumes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Banco e dependências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 serviços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Rounded Rectangle 12"/>
          <p:cNvSpPr/>
          <p:nvPr/>
        </p:nvSpPr>
        <p:spPr>
          <a:xfrm>
            <a:off x="8092440" y="1417320"/>
            <a:ext cx="3427560" cy="205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1" name="Rectangle 13"/>
          <p:cNvSpPr/>
          <p:nvPr/>
        </p:nvSpPr>
        <p:spPr>
          <a:xfrm>
            <a:off x="8092440" y="1417320"/>
            <a:ext cx="71640" cy="2055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15"/>
          <p:cNvSpPr/>
          <p:nvPr/>
        </p:nvSpPr>
        <p:spPr>
          <a:xfrm>
            <a:off x="8256960" y="1920240"/>
            <a:ext cx="313488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aplicação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stack local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Validar integração API + banco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diagnosticar falha de container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Rounded Rectangle 16"/>
          <p:cNvSpPr/>
          <p:nvPr/>
        </p:nvSpPr>
        <p:spPr>
          <a:xfrm>
            <a:off x="685800" y="3977640"/>
            <a:ext cx="10834200" cy="1050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5" name="Rectangle 17"/>
          <p:cNvSpPr/>
          <p:nvPr/>
        </p:nvSpPr>
        <p:spPr>
          <a:xfrm>
            <a:off x="685800" y="3977640"/>
            <a:ext cx="71640" cy="10501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6" name="TextBox 18"/>
          <p:cNvSpPr/>
          <p:nvPr/>
        </p:nvSpPr>
        <p:spPr>
          <a:xfrm>
            <a:off x="850320" y="410580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TextBox 19"/>
          <p:cNvSpPr/>
          <p:nvPr/>
        </p:nvSpPr>
        <p:spPr>
          <a:xfrm>
            <a:off x="850320" y="4480560"/>
            <a:ext cx="10541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executável por comando padronizado, com instruções, evidências de execução e correções explicadas.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0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191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Containers Explicados Sem Excesso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essencial para operar e diagnosticar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196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7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Pacote versionável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Criada por Dockerfile.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ser reproduzível, pequena e sem segredos.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1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2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Processo isolado criado a partir da imagem.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 logs, portas, variáveis e ciclo de 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morrer: por isso health check e logs importam.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5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6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Orquestra múltiplos serviços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 API, banco, rede e volumes.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Ótimo para laboratório e validação integrada.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09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Containers?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que containers resolvem de verdade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15" name="Rounded Rectangle 5"/>
          <p:cNvSpPr/>
          <p:nvPr/>
        </p:nvSpPr>
        <p:spPr>
          <a:xfrm>
            <a:off x="68580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6" name="Rectangle 6"/>
          <p:cNvSpPr/>
          <p:nvPr/>
        </p:nvSpPr>
        <p:spPr>
          <a:xfrm>
            <a:off x="685800" y="1508760"/>
            <a:ext cx="71640" cy="15987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problema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Diferenças de SO, versão de linguagem e dependências geram bugs que só aparecem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Rounded Rectangle 9"/>
          <p:cNvSpPr/>
          <p:nvPr/>
        </p:nvSpPr>
        <p:spPr>
          <a:xfrm>
            <a:off x="438912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0" name="Rectangle 10"/>
          <p:cNvSpPr/>
          <p:nvPr/>
        </p:nvSpPr>
        <p:spPr>
          <a:xfrm>
            <a:off x="4389120" y="1508760"/>
            <a:ext cx="71640" cy="15987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VM vs 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VM virtualiza o hardware inteiro: pesada, minutos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 compartilha o kernel do host: leve, segundos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Rounded Rectangle 13"/>
          <p:cNvSpPr/>
          <p:nvPr/>
        </p:nvSpPr>
        <p:spPr>
          <a:xfrm>
            <a:off x="809244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4" name="Rectangle 14"/>
          <p:cNvSpPr/>
          <p:nvPr/>
        </p:nvSpPr>
        <p:spPr>
          <a:xfrm>
            <a:off x="8092440" y="1508760"/>
            <a:ext cx="71640" cy="1598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o container garante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mesmo ambiente do laptop do dev até 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 uma classe inteira de bugs “ambiente-dependentes”.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2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Dockerfile - Roteiro de Explicação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como base e adapte para a stack escolhida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34" name="Rounded Rectangle 5"/>
          <p:cNvSpPr/>
          <p:nvPr/>
        </p:nvSpPr>
        <p:spPr>
          <a:xfrm>
            <a:off x="731520" y="1481400"/>
            <a:ext cx="534780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5" name="TextBox 6"/>
          <p:cNvSpPr/>
          <p:nvPr/>
        </p:nvSpPr>
        <p:spPr>
          <a:xfrm>
            <a:off x="896040" y="1609200"/>
            <a:ext cx="501876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FROM node:22-alpine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WORKDIR 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package*.json ./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 npm ci --omit=dev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.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 NODE_ENV=production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EXPOSE 3000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CMD ["npm", "start"]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Rounded Rectangle 7"/>
          <p:cNvSpPr/>
          <p:nvPr/>
        </p:nvSpPr>
        <p:spPr>
          <a:xfrm>
            <a:off x="6355080" y="148140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7" name="Rectangle 8"/>
          <p:cNvSpPr/>
          <p:nvPr/>
        </p:nvSpPr>
        <p:spPr>
          <a:xfrm>
            <a:off x="6355080" y="1481400"/>
            <a:ext cx="71640" cy="1327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8" name="TextBox 9"/>
          <p:cNvSpPr/>
          <p:nvPr/>
        </p:nvSpPr>
        <p:spPr>
          <a:xfrm>
            <a:off x="6519600" y="160920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 que comentar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TextBox 10"/>
          <p:cNvSpPr/>
          <p:nvPr/>
        </p:nvSpPr>
        <p:spPr>
          <a:xfrm>
            <a:off x="6519600" y="196596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image, diretório de trabalho, cópia de dependências, cache, variáveis, porta e comando final.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Rounded Rectangle 11"/>
          <p:cNvSpPr/>
          <p:nvPr/>
        </p:nvSpPr>
        <p:spPr>
          <a:xfrm>
            <a:off x="6355080" y="291996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1" name="Rectangle 12"/>
          <p:cNvSpPr/>
          <p:nvPr/>
        </p:nvSpPr>
        <p:spPr>
          <a:xfrm>
            <a:off x="6355080" y="2919960"/>
            <a:ext cx="71640" cy="1327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" name="TextBox 13"/>
          <p:cNvSpPr/>
          <p:nvPr/>
        </p:nvSpPr>
        <p:spPr>
          <a:xfrm>
            <a:off x="6519600" y="304812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Cuidados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TextBox 14"/>
          <p:cNvSpPr/>
          <p:nvPr/>
        </p:nvSpPr>
        <p:spPr>
          <a:xfrm>
            <a:off x="6519600" y="340452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Não copiar .env, node_modules, chaves ou arquivos desnecessários.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Usar .dockerignore e imagem base adequada.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Rounded Rectangle 15"/>
          <p:cNvSpPr/>
          <p:nvPr/>
        </p:nvSpPr>
        <p:spPr>
          <a:xfrm>
            <a:off x="6355080" y="435852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5" name="Rectangle 16"/>
          <p:cNvSpPr/>
          <p:nvPr/>
        </p:nvSpPr>
        <p:spPr>
          <a:xfrm>
            <a:off x="6355080" y="4358520"/>
            <a:ext cx="71640" cy="1327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6" name="TextBox 17"/>
          <p:cNvSpPr/>
          <p:nvPr/>
        </p:nvSpPr>
        <p:spPr>
          <a:xfrm>
            <a:off x="6519600" y="448668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TextBox 18"/>
          <p:cNvSpPr/>
          <p:nvPr/>
        </p:nvSpPr>
        <p:spPr>
          <a:xfrm>
            <a:off x="6519600" y="4843440"/>
            <a:ext cx="468936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build deve funcionar do zero.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run deve expor porta e responder endpoint simples.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8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49" name="TextBox 2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TextBox 2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Boas Práticas de Dockerfile: Camadas e Cache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Imagens mais rápidas de construir e mais leves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55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6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o cache funciona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instrução vira uma camada.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reaproveita camadas que não mudaram.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 isso: copiar package.json antes de copiar todo 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0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Multi-stage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etapa compila 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Outra etapa final só carrega o artefato pronto.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final menor, sem ferramentas de build sobrando.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4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Escolha de imagem base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TextBox 16"/>
          <p:cNvSpPr/>
          <p:nvPr/>
        </p:nvSpPr>
        <p:spPr>
          <a:xfrm>
            <a:off x="825696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alpine: mínima, pode faltar biblioteca do sistema.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slim: equilíbrio entre tamanho e compatibilidade.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full: mais compatível, porém mais pesada.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6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Compose - Roteiro de Laboratório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Padronizar execução local com serviços integrados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74" name="Rounded Rectangle 5"/>
          <p:cNvSpPr/>
          <p:nvPr/>
        </p:nvSpPr>
        <p:spPr>
          <a:xfrm>
            <a:off x="731520" y="1481400"/>
            <a:ext cx="534780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5" name="TextBox 6"/>
          <p:cNvSpPr/>
          <p:nvPr/>
        </p:nvSpPr>
        <p:spPr>
          <a:xfrm>
            <a:off x="896040" y="1609200"/>
            <a:ext cx="501876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services: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app: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build: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"3000:3000"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DATABASE_URL: postgres://app:app@db:5432/app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depends_on: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condition: service_healthy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image: postgres:16-alpine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POSTGRES_USER: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POSTGRES_PASSWORD: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POSTGRES_DB: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healthcheck: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test: ["CMD-SHELL", "pg_isready -U app"]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interval: 5s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retries: 5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Rounded Rectangle 7"/>
          <p:cNvSpPr/>
          <p:nvPr/>
        </p:nvSpPr>
        <p:spPr>
          <a:xfrm>
            <a:off x="6355080" y="148140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7" name="Rectangle 8"/>
          <p:cNvSpPr/>
          <p:nvPr/>
        </p:nvSpPr>
        <p:spPr>
          <a:xfrm>
            <a:off x="6355080" y="1481400"/>
            <a:ext cx="71640" cy="1327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8" name="TextBox 9"/>
          <p:cNvSpPr/>
          <p:nvPr/>
        </p:nvSpPr>
        <p:spPr>
          <a:xfrm>
            <a:off x="6519600" y="160920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Box 10"/>
          <p:cNvSpPr/>
          <p:nvPr/>
        </p:nvSpPr>
        <p:spPr>
          <a:xfrm>
            <a:off x="6519600" y="196596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Cada serviço tem imagem/build, portas, variáveis e dependências.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nome do serviço vira hostname na rede do Compose.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Rounded Rectangle 11"/>
          <p:cNvSpPr/>
          <p:nvPr/>
        </p:nvSpPr>
        <p:spPr>
          <a:xfrm>
            <a:off x="6355080" y="291996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1" name="Rectangle 12"/>
          <p:cNvSpPr/>
          <p:nvPr/>
        </p:nvSpPr>
        <p:spPr>
          <a:xfrm>
            <a:off x="6355080" y="2919960"/>
            <a:ext cx="71640" cy="1327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2" name="TextBox 13"/>
          <p:cNvSpPr/>
          <p:nvPr/>
        </p:nvSpPr>
        <p:spPr>
          <a:xfrm>
            <a:off x="6519600" y="304812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Comandos em sala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TextBox 14"/>
          <p:cNvSpPr/>
          <p:nvPr/>
        </p:nvSpPr>
        <p:spPr>
          <a:xfrm>
            <a:off x="6519600" y="340452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up --build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logs -f app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down -v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Rounded Rectangle 15"/>
          <p:cNvSpPr/>
          <p:nvPr/>
        </p:nvSpPr>
        <p:spPr>
          <a:xfrm>
            <a:off x="6355080" y="4358520"/>
            <a:ext cx="4982040" cy="132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5" name="Rectangle 16"/>
          <p:cNvSpPr/>
          <p:nvPr/>
        </p:nvSpPr>
        <p:spPr>
          <a:xfrm>
            <a:off x="6355080" y="4358520"/>
            <a:ext cx="71640" cy="1327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6" name="TextBox 17"/>
          <p:cNvSpPr/>
          <p:nvPr/>
        </p:nvSpPr>
        <p:spPr>
          <a:xfrm>
            <a:off x="6519600" y="4486680"/>
            <a:ext cx="46893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TextBox 18"/>
          <p:cNvSpPr/>
          <p:nvPr/>
        </p:nvSpPr>
        <p:spPr>
          <a:xfrm>
            <a:off x="6519600" y="4843440"/>
            <a:ext cx="468936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Print/log da aplicação subindo.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Endpoint funcionando.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com comando único de execução.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8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289" name="TextBox 2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2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Redes e Volumes no Docker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Dois conceitos que resolvem a maioria das dúvidas de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295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6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 no mesmo Compose se enxergam pelo nome do serviço, como hostname.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Portas expostas ligam o container ao host.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0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Volumes nomeados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sobrevivem à recriação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Essencial para banco de dados e qualquer estado persistente.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4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Bind mounts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Mapeiam uma pasta do host para dentro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Úteis em desenvolvimento para hot-reload de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0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Troubleshooting de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Uma ordem para não perder tempo reescrevendo código à toa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314" name="Rounded Rectangle 5"/>
          <p:cNvSpPr/>
          <p:nvPr/>
        </p:nvSpPr>
        <p:spPr>
          <a:xfrm>
            <a:off x="68580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5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6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Comandos de investigação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8"/>
          <p:cNvSpPr/>
          <p:nvPr/>
        </p:nvSpPr>
        <p:spPr>
          <a:xfrm>
            <a:off x="850320" y="1993320"/>
            <a:ext cx="313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ps — o que está rodando?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logs &lt;id&gt; — o que o processo disse?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exec -it &lt;id&gt; sh — inspecionar por dentro.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inspect &lt;id&gt; — configuração completa.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ounded Rectangle 9"/>
          <p:cNvSpPr/>
          <p:nvPr/>
        </p:nvSpPr>
        <p:spPr>
          <a:xfrm>
            <a:off x="438912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9" name="Rectangle 10"/>
          <p:cNvSpPr/>
          <p:nvPr/>
        </p:nvSpPr>
        <p:spPr>
          <a:xfrm>
            <a:off x="4389120" y="1508760"/>
            <a:ext cx="71640" cy="231192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0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Falhas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 não exposta ou não mapeada.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Variável de ambiente faltando.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(banco) ainda não está pronta.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de arquivo incorreta.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Rounded Rectangle 13"/>
          <p:cNvSpPr/>
          <p:nvPr/>
        </p:nvSpPr>
        <p:spPr>
          <a:xfrm>
            <a:off x="8092440" y="1508760"/>
            <a:ext cx="342756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3" name="Rectangle 14"/>
          <p:cNvSpPr/>
          <p:nvPr/>
        </p:nvSpPr>
        <p:spPr>
          <a:xfrm>
            <a:off x="809244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4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Ordem de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container subiu? Os logs mostram erro? A variável está correta? A dependência está saudável?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Siga essa ordem antes de reescrever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27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4 -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Sair do “funciona na minha máquina” com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333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4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aplicação sobe com um único comando, a partir de um clone limpo?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variável de ambiente é obrigatória?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diagnosticou a primeira falha de container?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 IA sugeriu que precisou ser corrigido?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8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12"/>
          <p:cNvSpPr/>
          <p:nvPr/>
        </p:nvSpPr>
        <p:spPr>
          <a:xfrm>
            <a:off x="455364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 versionados.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respondendo após docker compose up.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log da stack subindo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falha de container diagnosticada e resolvida.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2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Dockerfile, compose.yaml e README atualizados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execução anexada.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6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7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Compõe os 20% de Containers/Compose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9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50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IA para diagnosticar, não para colar segredos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356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1357" name="Rounded Rectangle 6"/>
          <p:cNvSpPr/>
          <p:nvPr/>
        </p:nvSpPr>
        <p:spPr>
          <a:xfrm>
            <a:off x="68580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8" name="Rectangle 7"/>
          <p:cNvSpPr/>
          <p:nvPr/>
        </p:nvSpPr>
        <p:spPr>
          <a:xfrm>
            <a:off x="685800" y="1508760"/>
            <a:ext cx="71640" cy="1735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9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TextBox 9"/>
          <p:cNvSpPr/>
          <p:nvPr/>
        </p:nvSpPr>
        <p:spPr>
          <a:xfrm>
            <a:off x="85032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build Docker falhou. Liste causas prováveis e comandos para validar antes de alterar o Dockerfile.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Dockerfile: &lt;trecho&gt;. Log: &lt;trecho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Rounded Rectangle 10"/>
          <p:cNvSpPr/>
          <p:nvPr/>
        </p:nvSpPr>
        <p:spPr>
          <a:xfrm>
            <a:off x="438912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2" name="Rectangle 11"/>
          <p:cNvSpPr/>
          <p:nvPr/>
        </p:nvSpPr>
        <p:spPr>
          <a:xfrm>
            <a:off x="4389120" y="15087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3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TextBox 13"/>
          <p:cNvSpPr/>
          <p:nvPr/>
        </p:nvSpPr>
        <p:spPr>
          <a:xfrm>
            <a:off x="4553640" y="1993320"/>
            <a:ext cx="31348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este compose.yaml e aponte problemas de rede, portas, variáveis, depends_on, volumes e health checks.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Arquivo: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Rounded Rectangle 14"/>
          <p:cNvSpPr/>
          <p:nvPr/>
        </p:nvSpPr>
        <p:spPr>
          <a:xfrm>
            <a:off x="809244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15"/>
          <p:cNvSpPr/>
          <p:nvPr/>
        </p:nvSpPr>
        <p:spPr>
          <a:xfrm>
            <a:off x="8092440" y="15087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17"/>
          <p:cNvSpPr/>
          <p:nvPr/>
        </p:nvSpPr>
        <p:spPr>
          <a:xfrm>
            <a:off x="825696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Gere instruções curtas para executar este projeto com Docker Compose: pré-requisitos, comando de subida, teste de saúde e limpeza.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Contexto: &lt;stack&gt;.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9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70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4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5: CD e governança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376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7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8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Integrar build de imagem ao pipeline, se possível.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uma versão candidata para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5: critérios de promoção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0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381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5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4" name="TextBox 2"/>
          <p:cNvSpPr/>
          <p:nvPr/>
        </p:nvSpPr>
        <p:spPr>
          <a:xfrm>
            <a:off x="1936080" y="3090600"/>
            <a:ext cx="68839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25/09/2026 | CD, configuração, segurança e governança de 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5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67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6" name="Picture 4" descr="e5_shield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1387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5 - Entrega e Governança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Automação com controle, segurança, rollback e governança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1" name="Rounded Rectangle 4"/>
          <p:cNvSpPr/>
          <p:nvPr/>
        </p:nvSpPr>
        <p:spPr>
          <a:xfrm>
            <a:off x="68580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2" name="Rectangle 5"/>
          <p:cNvSpPr/>
          <p:nvPr/>
        </p:nvSpPr>
        <p:spPr>
          <a:xfrm>
            <a:off x="685800" y="1417320"/>
            <a:ext cx="71640" cy="2147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3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TextBox 7"/>
          <p:cNvSpPr/>
          <p:nvPr/>
        </p:nvSpPr>
        <p:spPr>
          <a:xfrm>
            <a:off x="85032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Promoção de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Ambientes e aprovações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e feature flags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Rounded Rectangle 8"/>
          <p:cNvSpPr/>
          <p:nvPr/>
        </p:nvSpPr>
        <p:spPr>
          <a:xfrm>
            <a:off x="438912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6" name="Rectangle 9"/>
          <p:cNvSpPr/>
          <p:nvPr/>
        </p:nvSpPr>
        <p:spPr>
          <a:xfrm>
            <a:off x="4389120" y="1417320"/>
            <a:ext cx="71640" cy="2147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7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Configuração e IaC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TextBox 11"/>
          <p:cNvSpPr/>
          <p:nvPr/>
        </p:nvSpPr>
        <p:spPr>
          <a:xfrm>
            <a:off x="455364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Configuração declarativa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Noções de IaC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 como evolução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Padronização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Rounded Rectangle 12"/>
          <p:cNvSpPr/>
          <p:nvPr/>
        </p:nvSpPr>
        <p:spPr>
          <a:xfrm>
            <a:off x="809244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0" name="Rectangle 13"/>
          <p:cNvSpPr/>
          <p:nvPr/>
        </p:nvSpPr>
        <p:spPr>
          <a:xfrm>
            <a:off x="8092440" y="1417320"/>
            <a:ext cx="71640" cy="214740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1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Segurança e 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Box 15"/>
          <p:cNvSpPr/>
          <p:nvPr/>
        </p:nvSpPr>
        <p:spPr>
          <a:xfrm>
            <a:off x="825696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Segredos fora do código e dos prompts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Permissões mínimas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Scan de dependências/imagens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Gates de segurança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Validar alucinação, vazamento e prompt injection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Rounded Rectangle 16"/>
          <p:cNvSpPr/>
          <p:nvPr/>
        </p:nvSpPr>
        <p:spPr>
          <a:xfrm>
            <a:off x="685800" y="4069080"/>
            <a:ext cx="10834200" cy="91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4" name="Rectangle 17"/>
          <p:cNvSpPr/>
          <p:nvPr/>
        </p:nvSpPr>
        <p:spPr>
          <a:xfrm>
            <a:off x="685800" y="4069080"/>
            <a:ext cx="71640" cy="912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TextBox 18"/>
          <p:cNvSpPr/>
          <p:nvPr/>
        </p:nvSpPr>
        <p:spPr>
          <a:xfrm>
            <a:off x="850320" y="419724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TextBox 19"/>
          <p:cNvSpPr/>
          <p:nvPr/>
        </p:nvSpPr>
        <p:spPr>
          <a:xfrm>
            <a:off x="850320" y="4572000"/>
            <a:ext cx="10541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release com critérios de promoção, rollback, segurança mínima, rastreabilidade e regras de uso responsável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9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410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CD na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foco é controlar a mudança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15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6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7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 gerado no CI é promovido.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recebe versão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explicam mudança 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0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1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Aprovação quando houver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e segredos fora do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Permissões mínimas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4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5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Rollback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Voltar para versão anterior.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Reverter feature flag.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Restaurar configuração conhecida.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Ter plano documentado antes do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428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Estratégias de Deploy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abordagens antes de escolher uma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34" name="Rounded Rectangle 5"/>
          <p:cNvSpPr/>
          <p:nvPr/>
        </p:nvSpPr>
        <p:spPr>
          <a:xfrm>
            <a:off x="685800" y="1600200"/>
            <a:ext cx="3427560" cy="233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5" name="Rectangle 6"/>
          <p:cNvSpPr/>
          <p:nvPr/>
        </p:nvSpPr>
        <p:spPr>
          <a:xfrm>
            <a:off x="685800" y="1600200"/>
            <a:ext cx="71640" cy="2330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6" name="TextBox 7"/>
          <p:cNvSpPr/>
          <p:nvPr/>
        </p:nvSpPr>
        <p:spPr>
          <a:xfrm>
            <a:off x="850320" y="17283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Rolling deploy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Rounded Rectangle 8"/>
          <p:cNvSpPr/>
          <p:nvPr/>
        </p:nvSpPr>
        <p:spPr>
          <a:xfrm>
            <a:off x="85032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Rounded Rectangle 9"/>
          <p:cNvSpPr/>
          <p:nvPr/>
        </p:nvSpPr>
        <p:spPr>
          <a:xfrm>
            <a:off x="121608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9" name="Rounded Rectangle 10"/>
          <p:cNvSpPr/>
          <p:nvPr/>
        </p:nvSpPr>
        <p:spPr>
          <a:xfrm>
            <a:off x="158184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0" name="Rounded Rectangle 11"/>
          <p:cNvSpPr/>
          <p:nvPr/>
        </p:nvSpPr>
        <p:spPr>
          <a:xfrm>
            <a:off x="194760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1" name="TextBox 12"/>
          <p:cNvSpPr/>
          <p:nvPr/>
        </p:nvSpPr>
        <p:spPr>
          <a:xfrm>
            <a:off x="850320" y="2560320"/>
            <a:ext cx="313488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Substitui instâncias antigas pelas novas aos poucos.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Simples, mas o rollback não é instantâneo.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Rounded Rectangle 13"/>
          <p:cNvSpPr/>
          <p:nvPr/>
        </p:nvSpPr>
        <p:spPr>
          <a:xfrm>
            <a:off x="4389120" y="1600200"/>
            <a:ext cx="3427560" cy="233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3" name="Rectangle 14"/>
          <p:cNvSpPr/>
          <p:nvPr/>
        </p:nvSpPr>
        <p:spPr>
          <a:xfrm>
            <a:off x="4389120" y="1600200"/>
            <a:ext cx="71640" cy="23302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4" name="TextBox 15"/>
          <p:cNvSpPr/>
          <p:nvPr/>
        </p:nvSpPr>
        <p:spPr>
          <a:xfrm>
            <a:off x="4553640" y="17283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Blue-green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Rounded Rectangle 16"/>
          <p:cNvSpPr/>
          <p:nvPr/>
        </p:nvSpPr>
        <p:spPr>
          <a:xfrm>
            <a:off x="455364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6" name="Rounded Rectangle 17"/>
          <p:cNvSpPr/>
          <p:nvPr/>
        </p:nvSpPr>
        <p:spPr>
          <a:xfrm>
            <a:off x="491940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Rounded Rectangle 18"/>
          <p:cNvSpPr/>
          <p:nvPr/>
        </p:nvSpPr>
        <p:spPr>
          <a:xfrm>
            <a:off x="528516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8" name="Rounded Rectangle 19"/>
          <p:cNvSpPr/>
          <p:nvPr/>
        </p:nvSpPr>
        <p:spPr>
          <a:xfrm>
            <a:off x="565092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9" name="TextBox 20"/>
          <p:cNvSpPr/>
          <p:nvPr/>
        </p:nvSpPr>
        <p:spPr>
          <a:xfrm>
            <a:off x="4553640" y="2560320"/>
            <a:ext cx="3134880" cy="77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Duas versões completas rodando; a troca de tráfego é instantânea.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Rollback rápido, porém custa recursos em dobro.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Rounded Rectangle 21"/>
          <p:cNvSpPr/>
          <p:nvPr/>
        </p:nvSpPr>
        <p:spPr>
          <a:xfrm>
            <a:off x="8092440" y="1600200"/>
            <a:ext cx="3427560" cy="233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Rectangle 22"/>
          <p:cNvSpPr/>
          <p:nvPr/>
        </p:nvSpPr>
        <p:spPr>
          <a:xfrm>
            <a:off x="8092440" y="1600200"/>
            <a:ext cx="71640" cy="2330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TextBox 23"/>
          <p:cNvSpPr/>
          <p:nvPr/>
        </p:nvSpPr>
        <p:spPr>
          <a:xfrm>
            <a:off x="8256960" y="172836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Canary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Rounded Rectangle 24"/>
          <p:cNvSpPr/>
          <p:nvPr/>
        </p:nvSpPr>
        <p:spPr>
          <a:xfrm>
            <a:off x="825696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4" name="Rounded Rectangle 25"/>
          <p:cNvSpPr/>
          <p:nvPr/>
        </p:nvSpPr>
        <p:spPr>
          <a:xfrm>
            <a:off x="862272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5" name="Rounded Rectangle 26"/>
          <p:cNvSpPr/>
          <p:nvPr/>
        </p:nvSpPr>
        <p:spPr>
          <a:xfrm>
            <a:off x="898848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Rounded Rectangle 27"/>
          <p:cNvSpPr/>
          <p:nvPr/>
        </p:nvSpPr>
        <p:spPr>
          <a:xfrm>
            <a:off x="9354240" y="2103120"/>
            <a:ext cx="291240" cy="29124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TextBox 28"/>
          <p:cNvSpPr/>
          <p:nvPr/>
        </p:nvSpPr>
        <p:spPr>
          <a:xfrm>
            <a:off x="8256960" y="2560320"/>
            <a:ext cx="313488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Libera para uma fatia pequena de usuários primeiro.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Expande se as métricas estiverem saudáveis — risco pequeno em caso de erro.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Rounded Rectangle 29"/>
          <p:cNvSpPr/>
          <p:nvPr/>
        </p:nvSpPr>
        <p:spPr>
          <a:xfrm>
            <a:off x="685800" y="4160520"/>
            <a:ext cx="254520" cy="254520"/>
          </a:xfrm>
          <a:prstGeom prst="roundRect">
            <a:avLst>
              <a:gd name="adj" fmla="val 16667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9" name="TextBox 30"/>
          <p:cNvSpPr/>
          <p:nvPr/>
        </p:nvSpPr>
        <p:spPr>
          <a:xfrm>
            <a:off x="1005840" y="4142160"/>
            <a:ext cx="2010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antiga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Rounded Rectangle 31"/>
          <p:cNvSpPr/>
          <p:nvPr/>
        </p:nvSpPr>
        <p:spPr>
          <a:xfrm>
            <a:off x="2743200" y="4160520"/>
            <a:ext cx="254520" cy="25452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TextBox 32"/>
          <p:cNvSpPr/>
          <p:nvPr/>
        </p:nvSpPr>
        <p:spPr>
          <a:xfrm>
            <a:off x="3063240" y="4142160"/>
            <a:ext cx="2010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nova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2" name="Picture 3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463" name="TextBox 34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35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Feature Flags: Separando Deploy de Release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Colocar código em produção não é o mesmo que ativá-lo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69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0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conceito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8"/>
          <p:cNvSpPr/>
          <p:nvPr/>
        </p:nvSpPr>
        <p:spPr>
          <a:xfrm>
            <a:off x="85032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Deployar o código não significa ativar a funcionalidade para todo mundo.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flag decide quem vê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4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Usos práticos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Lançamento gradual para grupos de usuários.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 A/B entre variações.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Desligar rapidamente uma funcionalidade com bug, sem reverter o deploy inteiro.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Cuidado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Flags esquecidas viram dívida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flag precisa ter dono e prazo previsto de remoção.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8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482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Configuração, Segredos e IaC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Conceitos que sustentam a prática de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488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9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Configuração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Valores que mudam por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Exemplos: URL, porta, modo debug, timeout.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deve exigir alteração de código para trocar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3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Segredos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Senha, token, chave privada, connection string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Nunca versionar ou colar em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secrets do provedor de CI/CD.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7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IaC/GitOps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Infra declarada em arquivo e revisada por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GitOps: estado desejado versionado.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como noção e evolução, não como laboratório obrigatório.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01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DevSecOps Mínimo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Gates simples que cabem no projeto integrador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07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8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9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Lint/análise estática.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mínimos em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de entrada de usuário e tratamento de erro.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2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3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Dependências/imagem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Checar pacotes vulneráveis.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imagem desatualizada ou grande demais.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rodar container com privilégio desnecessário.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6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7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Segredos mascarados.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mínima do token.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de segurança deve bloquear ou justificar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1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20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Correção de Vulnerabilidades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De "encontrado" para "corrigido" — automaticamente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26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7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8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Copilot Autofix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 CodeQL + LLM; cobre 90%+ dos tipos de alerta em JS/TS/Java/Python.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Resolve 2/3 das vulnerabilidades com pouca edição — 3x mais rápido que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1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Snyk Agent 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Arquitetura agêntica (2026), usa base de 35 mil correções de especialistas como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 a correção falhar no re-scan, o erro volta pro modelo tentar de novo.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5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6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prioriza por risco e exploitabilidade, não só severidade.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Aceitar o fix ainda exige revisão humana e re-execução de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3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39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Governança de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Regras que entram na avaliação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45" name="Rounded Rectangle 5"/>
          <p:cNvSpPr/>
          <p:nvPr/>
        </p:nvSpPr>
        <p:spPr>
          <a:xfrm>
            <a:off x="685800" y="1508760"/>
            <a:ext cx="527940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6" name="Rectangle 6"/>
          <p:cNvSpPr/>
          <p:nvPr/>
        </p:nvSpPr>
        <p:spPr>
          <a:xfrm>
            <a:off x="685800" y="1508760"/>
            <a:ext cx="71640" cy="23119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7"/>
          <p:cNvSpPr/>
          <p:nvPr/>
        </p:nvSpPr>
        <p:spPr>
          <a:xfrm>
            <a:off x="85032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a tratar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8"/>
          <p:cNvSpPr/>
          <p:nvPr/>
        </p:nvSpPr>
        <p:spPr>
          <a:xfrm>
            <a:off x="850320" y="1993320"/>
            <a:ext cx="4986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segredos em prompts.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inseguro gerado com confiança excessiva.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Prompt injection em contexto de logs, issues ou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não saber defender o que foi entregue.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Rounded Rectangle 9"/>
          <p:cNvSpPr/>
          <p:nvPr/>
        </p:nvSpPr>
        <p:spPr>
          <a:xfrm>
            <a:off x="6240960" y="1508760"/>
            <a:ext cx="5279400" cy="231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0" name="Rectangle 10"/>
          <p:cNvSpPr/>
          <p:nvPr/>
        </p:nvSpPr>
        <p:spPr>
          <a:xfrm>
            <a:off x="6240960" y="1508760"/>
            <a:ext cx="71640" cy="2311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1" name="TextBox 11"/>
          <p:cNvSpPr/>
          <p:nvPr/>
        </p:nvSpPr>
        <p:spPr>
          <a:xfrm>
            <a:off x="6405480" y="1636920"/>
            <a:ext cx="4986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Controles esperados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12"/>
          <p:cNvSpPr/>
          <p:nvPr/>
        </p:nvSpPr>
        <p:spPr>
          <a:xfrm>
            <a:off x="6405480" y="1993320"/>
            <a:ext cx="4986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Mascarar dados sensíveis antes de usar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hipóteses e validações, não só resposta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testes, build e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Manter diff pequeno e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prompt, saída útil, decisão e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3" name="Picture 1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54" name="TextBox 14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TextBox 15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Agentes Autônomos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 fronteira mais recente do uso de IA — e por que a validação humana continua obrigatória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5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60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já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TextBox 8"/>
          <p:cNvSpPr/>
          <p:nvPr/>
        </p:nvSpPr>
        <p:spPr>
          <a:xfrm>
            <a:off x="85032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Recebem uma issue, analisam o repositório, escrevem código, rodam teste e scan de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Trabalham em background, de forma assíncrona, sem intervenção durante 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5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Onde já é realidade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coding agent (GA) e agentes equivalentes de outros provedores.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Integrados a VS Code, JetBrains, Visual Studio e outros editores.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limite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TextBox 16"/>
          <p:cNvSpPr/>
          <p:nvPr/>
        </p:nvSpPr>
        <p:spPr>
          <a:xfrm>
            <a:off x="825696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Mesmo o agente mais autônomo para no Pull Request — não faz merge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autônoma a IA, mais crítica fica a revisão humana antes da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73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5 - Release e Rollback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Controlar a mudança, não só publicá-la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579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1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ser verdade para promover esta versão?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seria o primeiro sinal de que algo deu errado?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voltaria para a versão anterior em produção?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segredo não pode aparecer em log ou prompt?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4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5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preenchidas com o modelo fornecido.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rollback documentado.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básica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 em decisão de entrega, quando houver.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8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9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 plano de rollback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preenchido.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3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Alimenta os 15% de Entrega e Operação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9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596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Release Notes e Rollback - Modelo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Artefato simples para o Encontro 5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02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3" name="TextBox 6"/>
          <p:cNvSpPr/>
          <p:nvPr/>
        </p:nvSpPr>
        <p:spPr>
          <a:xfrm>
            <a:off x="896040" y="1609200"/>
            <a:ext cx="10413720" cy="37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Release v0.2.0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&lt;qual problema esta versao resolve&gt;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Mudancas: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CI: &lt;link/print&gt;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Testes: &lt;resumo&gt;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Container: &lt;comando/print&gt;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&lt;risco e mitigacao&gt;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Plano de rollback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Quando acionar: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&lt;sinal de falha&gt;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Como voltar: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Identificar versao anterior estavel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Reverter tag/imagem/configuracao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Validar endpoint 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Comunicar impacto e decisao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4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05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5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6: observabilidade e apresentação final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11" name="Rounded Rectangle 5"/>
          <p:cNvSpPr/>
          <p:nvPr/>
        </p:nvSpPr>
        <p:spPr>
          <a:xfrm>
            <a:off x="685800" y="1508760"/>
            <a:ext cx="10834200" cy="1361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2" name="Rectangle 6"/>
          <p:cNvSpPr/>
          <p:nvPr/>
        </p:nvSpPr>
        <p:spPr>
          <a:xfrm>
            <a:off x="685800" y="1508760"/>
            <a:ext cx="71640" cy="1361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3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TextBox 8"/>
          <p:cNvSpPr/>
          <p:nvPr/>
        </p:nvSpPr>
        <p:spPr>
          <a:xfrm>
            <a:off x="850320" y="1993320"/>
            <a:ext cx="10541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observabilidade mínima.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Simular uma falha ou incidente simples.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Organizar apresentação final com evidências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15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16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TextBox 1"/>
          <p:cNvSpPr/>
          <p:nvPr/>
        </p:nvSpPr>
        <p:spPr>
          <a:xfrm>
            <a:off x="777240" y="2286000"/>
            <a:ext cx="10605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6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9" name="TextBox 2"/>
          <p:cNvSpPr/>
          <p:nvPr/>
        </p:nvSpPr>
        <p:spPr>
          <a:xfrm>
            <a:off x="1920240" y="3090600"/>
            <a:ext cx="8319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26/09/2026 | Observabilidade, IA aplicada e projeto final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0" name="TextBox 3"/>
          <p:cNvSpPr/>
          <p:nvPr/>
        </p:nvSpPr>
        <p:spPr>
          <a:xfrm>
            <a:off x="5532120" y="6263640"/>
            <a:ext cx="11872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80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21" name="Picture 4" descr="e6_pulse.png"/>
          <p:cNvPicPr/>
          <p:nvPr/>
        </p:nvPicPr>
        <p:blipFill>
          <a:blip r:embed="rId1"/>
          <a:stretch/>
        </p:blipFill>
        <p:spPr>
          <a:xfrm>
            <a:off x="5615640" y="914400"/>
            <a:ext cx="958680" cy="958680"/>
          </a:xfrm>
          <a:prstGeom prst="rect">
            <a:avLst/>
          </a:prstGeom>
          <a:ln w="0">
            <a:noFill/>
          </a:ln>
        </p:spPr>
      </p:pic>
      <p:pic>
        <p:nvPicPr>
          <p:cNvPr id="1622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6 - Operação e Evidências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com dados, aprendizagem e análise assistida validada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6" name="Rounded Rectangle 4"/>
          <p:cNvSpPr/>
          <p:nvPr/>
        </p:nvSpPr>
        <p:spPr>
          <a:xfrm>
            <a:off x="68580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7" name="Rectangle 5"/>
          <p:cNvSpPr/>
          <p:nvPr/>
        </p:nvSpPr>
        <p:spPr>
          <a:xfrm>
            <a:off x="685800" y="1417320"/>
            <a:ext cx="71640" cy="21474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8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Observabilidade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TextBox 7"/>
          <p:cNvSpPr/>
          <p:nvPr/>
        </p:nvSpPr>
        <p:spPr>
          <a:xfrm>
            <a:off x="85032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Logs, métricas e traces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Dashboards e alertas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SLI/SLO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para sumarizar logs e levantar hipóteses de causa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Validação operacional de release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Rounded Rectangle 8"/>
          <p:cNvSpPr/>
          <p:nvPr/>
        </p:nvSpPr>
        <p:spPr>
          <a:xfrm>
            <a:off x="438912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1" name="Rectangle 9"/>
          <p:cNvSpPr/>
          <p:nvPr/>
        </p:nvSpPr>
        <p:spPr>
          <a:xfrm>
            <a:off x="4389120" y="1417320"/>
            <a:ext cx="71640" cy="2147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2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Evolução do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TextBox 11"/>
          <p:cNvSpPr/>
          <p:nvPr/>
        </p:nvSpPr>
        <p:spPr>
          <a:xfrm>
            <a:off x="455364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Dados como base da automação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aplicada a troubleshooting e documentação operacional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AIOps como tendência, não substituto de decisão técnica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Automação orientada por eventos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Limites e próximos passos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Rounded Rectangle 12"/>
          <p:cNvSpPr/>
          <p:nvPr/>
        </p:nvSpPr>
        <p:spPr>
          <a:xfrm>
            <a:off x="8092440" y="1417320"/>
            <a:ext cx="3427560" cy="214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5" name="Rectangle 13"/>
          <p:cNvSpPr/>
          <p:nvPr/>
        </p:nvSpPr>
        <p:spPr>
          <a:xfrm>
            <a:off x="8092440" y="1417320"/>
            <a:ext cx="71640" cy="2147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6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Box 15"/>
          <p:cNvSpPr/>
          <p:nvPr/>
        </p:nvSpPr>
        <p:spPr>
          <a:xfrm>
            <a:off x="8256960" y="1920240"/>
            <a:ext cx="31348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Demonstração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do pipeline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Diagnóstico, proposta e registro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próximos passos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Rounded Rectangle 16"/>
          <p:cNvSpPr/>
          <p:nvPr/>
        </p:nvSpPr>
        <p:spPr>
          <a:xfrm>
            <a:off x="685800" y="4069080"/>
            <a:ext cx="10834200" cy="91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9" name="Rectangle 17"/>
          <p:cNvSpPr/>
          <p:nvPr/>
        </p:nvSpPr>
        <p:spPr>
          <a:xfrm>
            <a:off x="685800" y="4069080"/>
            <a:ext cx="71640" cy="912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0" name="TextBox 18"/>
          <p:cNvSpPr/>
          <p:nvPr/>
        </p:nvSpPr>
        <p:spPr>
          <a:xfrm>
            <a:off x="850320" y="4197240"/>
            <a:ext cx="1054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TextBox 19"/>
          <p:cNvSpPr/>
          <p:nvPr/>
        </p:nvSpPr>
        <p:spPr>
          <a:xfrm>
            <a:off x="850320" y="4572000"/>
            <a:ext cx="105415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Entrega final avaliada por evidências: repositório, pipeline, container, release, observabilidade, registro crítico de IA e defesa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TextBox 20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TextBox 21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4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645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Observabilidade Sem Complicar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Usar dados para explicar se a entrega funcionou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5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Eventos textuais: erro, início, fim,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Devem permitir entender o que aconteceu.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dados sensíveis em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Números ao longo do tempo: latência, taxa de erro, uso de CPU/memória.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Podem alimentar alertas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 laboratório pode ser simples: tempo, status e contadores.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Traces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Caminho de uma requisição entre serviços.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sistemas distribuídos.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Na disciplina: conceitual ou demonstração curta.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63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SLI, SLO, SLA e Error Budget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vocabulário que conecta observabilidade a decisão de negócio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69" name="Chevron 5"/>
          <p:cNvSpPr/>
          <p:nvPr/>
        </p:nvSpPr>
        <p:spPr>
          <a:xfrm>
            <a:off x="685800" y="1417320"/>
            <a:ext cx="3701880" cy="56556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SLI — o indicador medido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0" name="Chevron 6"/>
          <p:cNvSpPr/>
          <p:nvPr/>
        </p:nvSpPr>
        <p:spPr>
          <a:xfrm>
            <a:off x="4133160" y="1417320"/>
            <a:ext cx="3701880" cy="56556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SLO — a meta interna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1" name="Chevron 7"/>
          <p:cNvSpPr/>
          <p:nvPr/>
        </p:nvSpPr>
        <p:spPr>
          <a:xfrm>
            <a:off x="7580520" y="1417320"/>
            <a:ext cx="3701880" cy="565560"/>
          </a:xfrm>
          <a:prstGeom prst="chevron">
            <a:avLst>
              <a:gd name="adj" fmla="val 50000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SLA — o compromisso formal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2" name="Rounded Rectangle 8"/>
          <p:cNvSpPr/>
          <p:nvPr/>
        </p:nvSpPr>
        <p:spPr>
          <a:xfrm>
            <a:off x="685800" y="225864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3" name="Rectangle 9"/>
          <p:cNvSpPr/>
          <p:nvPr/>
        </p:nvSpPr>
        <p:spPr>
          <a:xfrm>
            <a:off x="685800" y="225864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4" name="TextBox 10"/>
          <p:cNvSpPr/>
          <p:nvPr/>
        </p:nvSpPr>
        <p:spPr>
          <a:xfrm>
            <a:off x="850320" y="238644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SLI — indicador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TextBox 11"/>
          <p:cNvSpPr/>
          <p:nvPr/>
        </p:nvSpPr>
        <p:spPr>
          <a:xfrm>
            <a:off x="850320" y="274320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métrica medida na prática.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% de requisições respondidas em menos de 300ms.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Rounded Rectangle 12"/>
          <p:cNvSpPr/>
          <p:nvPr/>
        </p:nvSpPr>
        <p:spPr>
          <a:xfrm>
            <a:off x="4389120" y="225864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7" name="Rectangle 13"/>
          <p:cNvSpPr/>
          <p:nvPr/>
        </p:nvSpPr>
        <p:spPr>
          <a:xfrm>
            <a:off x="4389120" y="225864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8" name="TextBox 14"/>
          <p:cNvSpPr/>
          <p:nvPr/>
        </p:nvSpPr>
        <p:spPr>
          <a:xfrm>
            <a:off x="4553640" y="238644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SLO — objetivo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TextBox 15"/>
          <p:cNvSpPr/>
          <p:nvPr/>
        </p:nvSpPr>
        <p:spPr>
          <a:xfrm>
            <a:off x="4553640" y="274320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meta interna que o time define para esse indicador.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99% das requisições abaixo de 300ms no mês.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Rounded Rectangle 16"/>
          <p:cNvSpPr/>
          <p:nvPr/>
        </p:nvSpPr>
        <p:spPr>
          <a:xfrm>
            <a:off x="8092440" y="225864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1" name="Rectangle 17"/>
          <p:cNvSpPr/>
          <p:nvPr/>
        </p:nvSpPr>
        <p:spPr>
          <a:xfrm>
            <a:off x="8092440" y="2258640"/>
            <a:ext cx="71640" cy="183636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TextBox 18"/>
          <p:cNvSpPr/>
          <p:nvPr/>
        </p:nvSpPr>
        <p:spPr>
          <a:xfrm>
            <a:off x="8256960" y="238644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SLA e error budget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TextBox 19"/>
          <p:cNvSpPr/>
          <p:nvPr/>
        </p:nvSpPr>
        <p:spPr>
          <a:xfrm>
            <a:off x="8256960" y="274320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SLA: compromisso formal, às vezes contratual, com penalidade.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Error budget: quanto de falha o SLO tolera — se estourar, prioridade vira estabilidade, não feature nova.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4" name="Picture 20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685" name="TextBox 21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TextBox 22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ciclo que fecha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691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2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3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Detecção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alerta dispara, por métrica ou por 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MTTD (mean time to detect): tempo até perceber 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5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6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7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Resposta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Diagnosticar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mitigação, mesmo que temporária.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MTTR (mean time to restore): tempo até resolver.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0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1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Post-mortem sem culpa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o que aconteceu, por que e o que preveniria.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é aprendizado do sistema, não achar um culpado.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04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Incidente Simulado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10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1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2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falha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Quebrar variável de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dependência indisponível.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Provocar erro em endpoint ou teste de saúde.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5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6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Investigar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logs e status do container/pipeline.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à IA hipóteses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aceitar correção antes de confirmar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9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0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Resolver e aprender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correção pequena.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Atualizar README, runbook ou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causa, ação e prevenção.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Rounded Rectangle 17"/>
          <p:cNvSpPr/>
          <p:nvPr/>
        </p:nvSpPr>
        <p:spPr>
          <a:xfrm>
            <a:off x="685800" y="351144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3" name="Rectangle 18"/>
          <p:cNvSpPr/>
          <p:nvPr/>
        </p:nvSpPr>
        <p:spPr>
          <a:xfrm>
            <a:off x="685800" y="351144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4" name="TextBox 19"/>
          <p:cNvSpPr/>
          <p:nvPr/>
        </p:nvSpPr>
        <p:spPr>
          <a:xfrm>
            <a:off x="850320" y="363924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TextBox 20"/>
          <p:cNvSpPr/>
          <p:nvPr/>
        </p:nvSpPr>
        <p:spPr>
          <a:xfrm>
            <a:off x="850320" y="399600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de incidente: sintoma, hipótese, evidência, causa, correção, prevenção e papel da IA, se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27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Alertas: Sinal vs Ruído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 sobre fadiga de alerta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33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4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bom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Acionável: existe uma ação clara a tomar.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Específico e ligado a impacto real no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8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ruim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Box 12"/>
          <p:cNvSpPr/>
          <p:nvPr/>
        </p:nvSpPr>
        <p:spPr>
          <a:xfrm>
            <a:off x="455364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Dispara sem ação clara do que fazer.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ignorado com frequência — fadiga de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Mede o sintoma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2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time que recebe 50 alertas por dia e ignora a maioria — qual é o risco real disso?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vocês fariam para reduzir o ruído sem perder sinal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4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AIOps: Observabilidade e Resposta a Incidentes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de "sinal vs. ruído" já tem produto de mercado resolvendo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52" name="Rounded Rectangle 5"/>
          <p:cNvSpPr/>
          <p:nvPr/>
        </p:nvSpPr>
        <p:spPr>
          <a:xfrm>
            <a:off x="68580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3" name="Rectangle 6"/>
          <p:cNvSpPr/>
          <p:nvPr/>
        </p:nvSpPr>
        <p:spPr>
          <a:xfrm>
            <a:off x="685800" y="1508760"/>
            <a:ext cx="71640" cy="2074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4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Datadog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Watchdog AI: detecção de anomalia, causa raiz automática e forecasting.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Bits AI apoia a investigação durante o incidente.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Rounded Rectangle 9"/>
          <p:cNvSpPr/>
          <p:nvPr/>
        </p:nvSpPr>
        <p:spPr>
          <a:xfrm>
            <a:off x="438912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7" name="Rectangle 10"/>
          <p:cNvSpPr/>
          <p:nvPr/>
        </p:nvSpPr>
        <p:spPr>
          <a:xfrm>
            <a:off x="4389120" y="1508760"/>
            <a:ext cx="71640" cy="2074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8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PagerDuty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Módulo de AIOps treinado em 86 bilhões de eventos históricos.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ruído de alerta em até 91% — transforma 50 alertas em ~3 incidentes reais.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Rounded Rectangle 13"/>
          <p:cNvSpPr/>
          <p:nvPr/>
        </p:nvSpPr>
        <p:spPr>
          <a:xfrm>
            <a:off x="8092440" y="1508760"/>
            <a:ext cx="3427560" cy="20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1" name="Rectangle 14"/>
          <p:cNvSpPr/>
          <p:nvPr/>
        </p:nvSpPr>
        <p:spPr>
          <a:xfrm>
            <a:off x="8092440" y="1508760"/>
            <a:ext cx="71640" cy="2074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2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papel da IA aqui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Ela correlaciona, prioriza e roteia para a pessoa certa.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causa raiz confirmada e a correção continuam sendo decisão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65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TextBox 1"/>
          <p:cNvSpPr/>
          <p:nvPr/>
        </p:nvSpPr>
        <p:spPr>
          <a:xfrm>
            <a:off x="594360" y="320040"/>
            <a:ext cx="98740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Atividade 6 - Observabilidade e Apresentação Final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projeto com dados e defesa técnica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771" name="Rounded Rectangle 5"/>
          <p:cNvSpPr/>
          <p:nvPr/>
        </p:nvSpPr>
        <p:spPr>
          <a:xfrm>
            <a:off x="68580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2" name="Rectangle 6"/>
          <p:cNvSpPr/>
          <p:nvPr/>
        </p:nvSpPr>
        <p:spPr>
          <a:xfrm>
            <a:off x="685800" y="1508760"/>
            <a:ext cx="71640" cy="25498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3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TextBox 8"/>
          <p:cNvSpPr/>
          <p:nvPr/>
        </p:nvSpPr>
        <p:spPr>
          <a:xfrm>
            <a:off x="850320" y="1993320"/>
            <a:ext cx="31348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dado prova que a entrega realmente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foi a causa real do incidente simulado, não só o sintoma?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grupo consegue defender cada decisão em poucos minutos?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e onde precisou ser corrigida?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Rounded Rectangle 9"/>
          <p:cNvSpPr/>
          <p:nvPr/>
        </p:nvSpPr>
        <p:spPr>
          <a:xfrm>
            <a:off x="438912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6" name="Rectangle 10"/>
          <p:cNvSpPr/>
          <p:nvPr/>
        </p:nvSpPr>
        <p:spPr>
          <a:xfrm>
            <a:off x="4389120" y="1508760"/>
            <a:ext cx="71640" cy="25498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7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TextBox 12"/>
          <p:cNvSpPr/>
          <p:nvPr/>
        </p:nvSpPr>
        <p:spPr>
          <a:xfrm>
            <a:off x="4553640" y="1993320"/>
            <a:ext cx="31348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 mínimas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do 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cobrindo repositório, pipeline, container, release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consolidado de uso de IA no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Rounded Rectangle 13"/>
          <p:cNvSpPr/>
          <p:nvPr/>
        </p:nvSpPr>
        <p:spPr>
          <a:xfrm>
            <a:off x="8092440" y="1508760"/>
            <a:ext cx="3427560" cy="2549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0" name="Rectangle 14"/>
          <p:cNvSpPr/>
          <p:nvPr/>
        </p:nvSpPr>
        <p:spPr>
          <a:xfrm>
            <a:off x="8092440" y="1508760"/>
            <a:ext cx="71640" cy="25498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1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de 5 a 7 minutos.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final com todas as evidências do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Rounded Rectangle 17"/>
          <p:cNvSpPr/>
          <p:nvPr/>
        </p:nvSpPr>
        <p:spPr>
          <a:xfrm>
            <a:off x="685800" y="422460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4" name="Rectangle 18"/>
          <p:cNvSpPr/>
          <p:nvPr/>
        </p:nvSpPr>
        <p:spPr>
          <a:xfrm>
            <a:off x="685800" y="422460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5" name="TextBox 19"/>
          <p:cNvSpPr/>
          <p:nvPr/>
        </p:nvSpPr>
        <p:spPr>
          <a:xfrm>
            <a:off x="850320" y="435240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TextBox 20"/>
          <p:cNvSpPr/>
          <p:nvPr/>
        </p:nvSpPr>
        <p:spPr>
          <a:xfrm>
            <a:off x="850320" y="470916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 os 10% de Diagnóstico DevOps e os 5% de Apresentação final da rubrica.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7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788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Operação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apoio à investigação, não como diagnóstico definitivo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794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1040" cy="401040"/>
          </a:xfrm>
          <a:prstGeom prst="rect">
            <a:avLst/>
          </a:prstGeom>
          <a:ln w="0">
            <a:noFill/>
          </a:ln>
        </p:spPr>
      </p:pic>
      <p:sp>
        <p:nvSpPr>
          <p:cNvPr id="1795" name="Rounded Rectangle 6"/>
          <p:cNvSpPr/>
          <p:nvPr/>
        </p:nvSpPr>
        <p:spPr>
          <a:xfrm>
            <a:off x="68580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6" name="Rectangle 7"/>
          <p:cNvSpPr/>
          <p:nvPr/>
        </p:nvSpPr>
        <p:spPr>
          <a:xfrm>
            <a:off x="685800" y="1508760"/>
            <a:ext cx="71640" cy="17359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8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9"/>
          <p:cNvSpPr/>
          <p:nvPr/>
        </p:nvSpPr>
        <p:spPr>
          <a:xfrm>
            <a:off x="85032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os logs abaixo e liste hipóteses de causa em ordem de probabilidade. Para cada hipótese, diga qual evidência confirma ou descarta.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Logs: &lt;trecho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Rounded Rectangle 10"/>
          <p:cNvSpPr/>
          <p:nvPr/>
        </p:nvSpPr>
        <p:spPr>
          <a:xfrm>
            <a:off x="438912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0" name="Rectangle 11"/>
          <p:cNvSpPr/>
          <p:nvPr/>
        </p:nvSpPr>
        <p:spPr>
          <a:xfrm>
            <a:off x="4389120" y="1508760"/>
            <a:ext cx="71640" cy="17359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1" name="TextBox 12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Runbook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13"/>
          <p:cNvSpPr/>
          <p:nvPr/>
        </p:nvSpPr>
        <p:spPr>
          <a:xfrm>
            <a:off x="455364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Transforme esta solução de incidente em um runbook curto com sintomas, comandos de diagnóstico, ação corretiva e validação final.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Incidente: &lt;resumo&gt;.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Rounded Rectangle 14"/>
          <p:cNvSpPr/>
          <p:nvPr/>
        </p:nvSpPr>
        <p:spPr>
          <a:xfrm>
            <a:off x="8092440" y="1508760"/>
            <a:ext cx="3427560" cy="173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4" name="Rectangle 15"/>
          <p:cNvSpPr/>
          <p:nvPr/>
        </p:nvSpPr>
        <p:spPr>
          <a:xfrm>
            <a:off x="8092440" y="1508760"/>
            <a:ext cx="71640" cy="173592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5" name="TextBox 16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TextBox 17"/>
          <p:cNvSpPr/>
          <p:nvPr/>
        </p:nvSpPr>
        <p:spPr>
          <a:xfrm>
            <a:off x="8256960" y="1993320"/>
            <a:ext cx="31348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nas evidências abaixo, ajude a montar uma narrativa técnica de 5 minutos: problema, decisões, pipeline, operação, riscos e próximos passos.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Evidências: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7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08" name="TextBox 19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Box 20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TextBox 1"/>
          <p:cNvSpPr/>
          <p:nvPr/>
        </p:nvSpPr>
        <p:spPr>
          <a:xfrm>
            <a:off x="594360" y="320040"/>
            <a:ext cx="98740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Apresentação Final - Roteiro de 5 a 7 Minutos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Ordem padrão para todos os grupos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14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5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6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Contexto 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problema o projeto representa.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gargalos DevOps foram priorizados.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decidido fazer dentro do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9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0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Demonstração técnica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e PRs.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rodando.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em container/Compose.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ou rollback/plano.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Logs/métricas/incidente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3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4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Defesa crítica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TextBox 16"/>
          <p:cNvSpPr/>
          <p:nvPr/>
        </p:nvSpPr>
        <p:spPr>
          <a:xfrm>
            <a:off x="825696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IA: onde ajudou, onde falhou, como foi validada.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Próximos passos para evolução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27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Rubrica Final - Perguntas de 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curtas, respondidas com evidências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33" name="Rounded Rectangle 5"/>
          <p:cNvSpPr/>
          <p:nvPr/>
        </p:nvSpPr>
        <p:spPr>
          <a:xfrm>
            <a:off x="68580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4" name="Rectangle 6"/>
          <p:cNvSpPr/>
          <p:nvPr/>
        </p:nvSpPr>
        <p:spPr>
          <a:xfrm>
            <a:off x="685800" y="1508760"/>
            <a:ext cx="71640" cy="1836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5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TextBox 8"/>
          <p:cNvSpPr/>
          <p:nvPr/>
        </p:nvSpPr>
        <p:spPr>
          <a:xfrm>
            <a:off x="85032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executo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está o README?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decisão técnica foi mais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ficou fora do escopo?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Rounded Rectangle 9"/>
          <p:cNvSpPr/>
          <p:nvPr/>
        </p:nvSpPr>
        <p:spPr>
          <a:xfrm>
            <a:off x="438912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8" name="Rectangle 10"/>
          <p:cNvSpPr/>
          <p:nvPr/>
        </p:nvSpPr>
        <p:spPr>
          <a:xfrm>
            <a:off x="4389120" y="1508760"/>
            <a:ext cx="71640" cy="1836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9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Pipeline/entrega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Box 12"/>
          <p:cNvSpPr/>
          <p:nvPr/>
        </p:nvSpPr>
        <p:spPr>
          <a:xfrm>
            <a:off x="455364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 o pipeline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teste prova comportamento relevante?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artefato é promovido?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voltar para versão anterior?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Rounded Rectangle 13"/>
          <p:cNvSpPr/>
          <p:nvPr/>
        </p:nvSpPr>
        <p:spPr>
          <a:xfrm>
            <a:off x="8092440" y="1508760"/>
            <a:ext cx="3427560" cy="183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2" name="Rectangle 14"/>
          <p:cNvSpPr/>
          <p:nvPr/>
        </p:nvSpPr>
        <p:spPr>
          <a:xfrm>
            <a:off x="8092440" y="1508760"/>
            <a:ext cx="71640" cy="1836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3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Operação/IA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TextBox 16"/>
          <p:cNvSpPr/>
          <p:nvPr/>
        </p:nvSpPr>
        <p:spPr>
          <a:xfrm>
            <a:off x="8256960" y="1993320"/>
            <a:ext cx="3134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logs/métricas indicam saúde?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incidente foi simulado?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sugestão de IA foi aceita ou rejeitada?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vocês validaram?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4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46" name="TextBox 1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TextBox 1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TextBox 1"/>
          <p:cNvSpPr/>
          <p:nvPr/>
        </p:nvSpPr>
        <p:spPr>
          <a:xfrm>
            <a:off x="594360" y="320040"/>
            <a:ext cx="9874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Checklist do 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Box 2"/>
          <p:cNvSpPr/>
          <p:nvPr/>
        </p:nvSpPr>
        <p:spPr>
          <a:xfrm>
            <a:off x="621720" y="841320"/>
            <a:ext cx="987408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Trilha de acompanhamento dos entregáveis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1" name="Rounded Rectangle 4"/>
          <p:cNvSpPr/>
          <p:nvPr/>
        </p:nvSpPr>
        <p:spPr>
          <a:xfrm>
            <a:off x="68580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Rectangle 5"/>
          <p:cNvSpPr/>
          <p:nvPr/>
        </p:nvSpPr>
        <p:spPr>
          <a:xfrm>
            <a:off x="685800" y="1417320"/>
            <a:ext cx="71640" cy="2010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3" name="TextBox 6"/>
          <p:cNvSpPr/>
          <p:nvPr/>
        </p:nvSpPr>
        <p:spPr>
          <a:xfrm>
            <a:off x="85032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TextBox 7"/>
          <p:cNvSpPr/>
          <p:nvPr/>
        </p:nvSpPr>
        <p:spPr>
          <a:xfrm>
            <a:off x="85032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e PRs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Tags/releases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documentadas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Rounded Rectangle 8"/>
          <p:cNvSpPr/>
          <p:nvPr/>
        </p:nvSpPr>
        <p:spPr>
          <a:xfrm>
            <a:off x="438912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6" name="Rectangle 9"/>
          <p:cNvSpPr/>
          <p:nvPr/>
        </p:nvSpPr>
        <p:spPr>
          <a:xfrm>
            <a:off x="4389120" y="1417320"/>
            <a:ext cx="71640" cy="2010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7" name="TextBox 10"/>
          <p:cNvSpPr/>
          <p:nvPr/>
        </p:nvSpPr>
        <p:spPr>
          <a:xfrm>
            <a:off x="455364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Automação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TextBox 11"/>
          <p:cNvSpPr/>
          <p:nvPr/>
        </p:nvSpPr>
        <p:spPr>
          <a:xfrm>
            <a:off x="455364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CI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Rounded Rectangle 12"/>
          <p:cNvSpPr/>
          <p:nvPr/>
        </p:nvSpPr>
        <p:spPr>
          <a:xfrm>
            <a:off x="8092440" y="1417320"/>
            <a:ext cx="3427560" cy="2010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0" name="Rectangle 13"/>
          <p:cNvSpPr/>
          <p:nvPr/>
        </p:nvSpPr>
        <p:spPr>
          <a:xfrm>
            <a:off x="8092440" y="1417320"/>
            <a:ext cx="71640" cy="20102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1" name="TextBox 14"/>
          <p:cNvSpPr/>
          <p:nvPr/>
        </p:nvSpPr>
        <p:spPr>
          <a:xfrm>
            <a:off x="8256960" y="154548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Box 15"/>
          <p:cNvSpPr/>
          <p:nvPr/>
        </p:nvSpPr>
        <p:spPr>
          <a:xfrm>
            <a:off x="8256960" y="192024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Rounded Rectangle 16"/>
          <p:cNvSpPr/>
          <p:nvPr/>
        </p:nvSpPr>
        <p:spPr>
          <a:xfrm>
            <a:off x="685800" y="388620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4" name="Rectangle 17"/>
          <p:cNvSpPr/>
          <p:nvPr/>
        </p:nvSpPr>
        <p:spPr>
          <a:xfrm>
            <a:off x="685800" y="3886200"/>
            <a:ext cx="71640" cy="182736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5" name="TextBox 18"/>
          <p:cNvSpPr/>
          <p:nvPr/>
        </p:nvSpPr>
        <p:spPr>
          <a:xfrm>
            <a:off x="850320" y="401436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TextBox 19"/>
          <p:cNvSpPr/>
          <p:nvPr/>
        </p:nvSpPr>
        <p:spPr>
          <a:xfrm>
            <a:off x="850320" y="438912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Segurança mínima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Rounded Rectangle 20"/>
          <p:cNvSpPr/>
          <p:nvPr/>
        </p:nvSpPr>
        <p:spPr>
          <a:xfrm>
            <a:off x="4389120" y="388620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8" name="Rectangle 21"/>
          <p:cNvSpPr/>
          <p:nvPr/>
        </p:nvSpPr>
        <p:spPr>
          <a:xfrm>
            <a:off x="4389120" y="3886200"/>
            <a:ext cx="71640" cy="1827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9" name="TextBox 22"/>
          <p:cNvSpPr/>
          <p:nvPr/>
        </p:nvSpPr>
        <p:spPr>
          <a:xfrm>
            <a:off x="4553640" y="401436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Operação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TextBox 23"/>
          <p:cNvSpPr/>
          <p:nvPr/>
        </p:nvSpPr>
        <p:spPr>
          <a:xfrm>
            <a:off x="4553640" y="438912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 simulado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Hipóteses com IA validadas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Rounded Rectangle 24"/>
          <p:cNvSpPr/>
          <p:nvPr/>
        </p:nvSpPr>
        <p:spPr>
          <a:xfrm>
            <a:off x="8092440" y="3886200"/>
            <a:ext cx="3427560" cy="182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2" name="Rectangle 25"/>
          <p:cNvSpPr/>
          <p:nvPr/>
        </p:nvSpPr>
        <p:spPr>
          <a:xfrm>
            <a:off x="8092440" y="3886200"/>
            <a:ext cx="71640" cy="1827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3" name="TextBox 26"/>
          <p:cNvSpPr/>
          <p:nvPr/>
        </p:nvSpPr>
        <p:spPr>
          <a:xfrm>
            <a:off x="8256960" y="4014360"/>
            <a:ext cx="3134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Análise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TextBox 27"/>
          <p:cNvSpPr/>
          <p:nvPr/>
        </p:nvSpPr>
        <p:spPr>
          <a:xfrm>
            <a:off x="8256960" y="4389120"/>
            <a:ext cx="313488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Validações e riscos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TextBox 28"/>
          <p:cNvSpPr/>
          <p:nvPr/>
        </p:nvSpPr>
        <p:spPr>
          <a:xfrm>
            <a:off x="1298520" y="6446520"/>
            <a:ext cx="58780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TextBox 29"/>
          <p:cNvSpPr/>
          <p:nvPr/>
        </p:nvSpPr>
        <p:spPr>
          <a:xfrm>
            <a:off x="11201400" y="6446520"/>
            <a:ext cx="501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77" name="Picture 30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pic>
        <p:nvPicPr>
          <p:cNvPr id="1878" name="Picture 31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Fechamento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Conectando prática, maturidade e evolução profissional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8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83" name="Rounded Rectangle 5"/>
          <p:cNvSpPr/>
          <p:nvPr/>
        </p:nvSpPr>
        <p:spPr>
          <a:xfrm>
            <a:off x="685800" y="1508760"/>
            <a:ext cx="1083420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Rectangle 6"/>
          <p:cNvSpPr/>
          <p:nvPr/>
        </p:nvSpPr>
        <p:spPr>
          <a:xfrm>
            <a:off x="685800" y="1508760"/>
            <a:ext cx="71640" cy="1598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5" name="TextBox 7"/>
          <p:cNvSpPr/>
          <p:nvPr/>
        </p:nvSpPr>
        <p:spPr>
          <a:xfrm>
            <a:off x="850320" y="163692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Síntese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TextBox 8"/>
          <p:cNvSpPr/>
          <p:nvPr/>
        </p:nvSpPr>
        <p:spPr>
          <a:xfrm>
            <a:off x="850320" y="1993320"/>
            <a:ext cx="105415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é fluxo de entrega com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sem feedback e evidência vira ritual vazio.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aumenta velocidade, mas também exige validação e governança.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valor está em entregar software reproduzível, seguro, observável e evolutivo.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7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888" name="TextBox 10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TextBox 1"/>
          <p:cNvSpPr/>
          <p:nvPr/>
        </p:nvSpPr>
        <p:spPr>
          <a:xfrm>
            <a:off x="777240" y="2286000"/>
            <a:ext cx="1060560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Anexos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" name="TextBox 2"/>
          <p:cNvSpPr/>
          <p:nvPr/>
        </p:nvSpPr>
        <p:spPr>
          <a:xfrm>
            <a:off x="1463040" y="3090600"/>
            <a:ext cx="9234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Modelos rápidos, comandos de apoio e bibliografia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92" name="Picture 3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93" name="TextBox 4"/>
          <p:cNvSpPr/>
          <p:nvPr/>
        </p:nvSpPr>
        <p:spPr>
          <a:xfrm>
            <a:off x="5532120" y="6263640"/>
            <a:ext cx="1187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94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Registro de Uso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registro simples, não burocrático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9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898" name="Rounded Rectangle 5"/>
          <p:cNvSpPr/>
          <p:nvPr/>
        </p:nvSpPr>
        <p:spPr>
          <a:xfrm>
            <a:off x="68580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9" name="Rectangle 6"/>
          <p:cNvSpPr/>
          <p:nvPr/>
        </p:nvSpPr>
        <p:spPr>
          <a:xfrm>
            <a:off x="685800" y="1508760"/>
            <a:ext cx="71640" cy="1598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0" name="TextBox 7"/>
          <p:cNvSpPr/>
          <p:nvPr/>
        </p:nvSpPr>
        <p:spPr>
          <a:xfrm>
            <a:off x="85032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" name="TextBox 8"/>
          <p:cNvSpPr/>
          <p:nvPr/>
        </p:nvSpPr>
        <p:spPr>
          <a:xfrm>
            <a:off x="850320" y="1993320"/>
            <a:ext cx="31348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Ferramenta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do uso.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Trecho/contexto fornecido,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Rounded Rectangle 9"/>
          <p:cNvSpPr/>
          <p:nvPr/>
        </p:nvSpPr>
        <p:spPr>
          <a:xfrm>
            <a:off x="438912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3" name="Rectangle 10"/>
          <p:cNvSpPr/>
          <p:nvPr/>
        </p:nvSpPr>
        <p:spPr>
          <a:xfrm>
            <a:off x="4389120" y="1508760"/>
            <a:ext cx="71640" cy="15987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4" name="TextBox 11"/>
          <p:cNvSpPr/>
          <p:nvPr/>
        </p:nvSpPr>
        <p:spPr>
          <a:xfrm>
            <a:off x="455364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Box 12"/>
          <p:cNvSpPr/>
          <p:nvPr/>
        </p:nvSpPr>
        <p:spPr>
          <a:xfrm>
            <a:off x="455364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Saída útil recebida.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aceito.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rejeitado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Rounded Rectangle 13"/>
          <p:cNvSpPr/>
          <p:nvPr/>
        </p:nvSpPr>
        <p:spPr>
          <a:xfrm>
            <a:off x="8092440" y="1508760"/>
            <a:ext cx="3427560" cy="159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7" name="Rectangle 14"/>
          <p:cNvSpPr/>
          <p:nvPr/>
        </p:nvSpPr>
        <p:spPr>
          <a:xfrm>
            <a:off x="8092440" y="1508760"/>
            <a:ext cx="71640" cy="15987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8" name="TextBox 15"/>
          <p:cNvSpPr/>
          <p:nvPr/>
        </p:nvSpPr>
        <p:spPr>
          <a:xfrm>
            <a:off x="8256960" y="1636920"/>
            <a:ext cx="3134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TextBox 16"/>
          <p:cNvSpPr/>
          <p:nvPr/>
        </p:nvSpPr>
        <p:spPr>
          <a:xfrm>
            <a:off x="8256960" y="1993320"/>
            <a:ext cx="313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Teste, build, revisão ou execução feita.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identificado.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Decisão humana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Rounded Rectangle 17"/>
          <p:cNvSpPr/>
          <p:nvPr/>
        </p:nvSpPr>
        <p:spPr>
          <a:xfrm>
            <a:off x="685800" y="3273480"/>
            <a:ext cx="10834200" cy="118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Rectangle 18"/>
          <p:cNvSpPr/>
          <p:nvPr/>
        </p:nvSpPr>
        <p:spPr>
          <a:xfrm>
            <a:off x="685800" y="3273480"/>
            <a:ext cx="71640" cy="11872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2" name="TextBox 19"/>
          <p:cNvSpPr/>
          <p:nvPr/>
        </p:nvSpPr>
        <p:spPr>
          <a:xfrm>
            <a:off x="850320" y="340164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TextBox 20"/>
          <p:cNvSpPr/>
          <p:nvPr/>
        </p:nvSpPr>
        <p:spPr>
          <a:xfrm>
            <a:off x="850320" y="3758040"/>
            <a:ext cx="10541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parágrafo ou tabela no README/relatório final basta, desde que permita defender a decisão.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15" name="TextBox 22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TextBox 23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Diagnóstico DevOps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2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21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2" name="TextBox 6"/>
          <p:cNvSpPr/>
          <p:nvPr/>
        </p:nvSpPr>
        <p:spPr>
          <a:xfrm>
            <a:off x="896040" y="1609200"/>
            <a:ext cx="1041372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Diagnostico DevOps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Fluxo atual: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Pedido/demanda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Desenvolvimento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Teste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Entrega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5. Operacao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Gargalos: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3&gt;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Priorizacao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Melhoria escolhida: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Impacto esperado: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sucesso: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IA pode ajudar em: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necessaria: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23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24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PR e Repositório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2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2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30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1" name="TextBox 6"/>
          <p:cNvSpPr/>
          <p:nvPr/>
        </p:nvSpPr>
        <p:spPr>
          <a:xfrm>
            <a:off x="896040" y="1609200"/>
            <a:ext cx="10413720" cy="276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Repositorio e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Repositorio: &lt;link&gt;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 da mudanca: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 conhecido: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Checklist de revisao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Codigo revisado por outra pessoa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Testes relevantes passando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Sem segredo exposto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README atualizado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Sugestao recebida: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Aceito / corrigido: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2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33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Evidência de Pipeline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3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7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3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39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0" name="TextBox 6"/>
          <p:cNvSpPr/>
          <p:nvPr/>
        </p:nvSpPr>
        <p:spPr>
          <a:xfrm>
            <a:off x="896040" y="1609200"/>
            <a:ext cx="1041372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Evidencia de Pipeline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Trigger utilizado: push / pull_request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Link ou print do pipeline: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Status: verde / vermelho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Teste que prova o comportamento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Nome do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 que ele valida: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analisada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feita: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1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42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3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Checklist de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4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4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48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9" name="TextBox 6"/>
          <p:cNvSpPr/>
          <p:nvPr/>
        </p:nvSpPr>
        <p:spPr>
          <a:xfrm>
            <a:off x="896040" y="1609200"/>
            <a:ext cx="1041372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Checklist de Containerizacao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Comando de subida: 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Porta exposta: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Variaveis obrigatorias: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Evidencia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Print/log da aplicacao respondendo: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Endpoint testado: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diagnosticada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0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51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3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Mini Relatório de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6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57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8" name="TextBox 6"/>
          <p:cNvSpPr/>
          <p:nvPr/>
        </p:nvSpPr>
        <p:spPr>
          <a:xfrm>
            <a:off x="896040" y="1609200"/>
            <a:ext cx="1041372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Mini Relatorio de Incidente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 observado: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inicial: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coletada (log/metrica):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 confirmada: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Prevencao futura: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Papel da IA (se usada):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Validacao humana: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9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60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2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Comandos Rápidos para Consulta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3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Referência para destravar o laboratório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6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sp>
        <p:nvSpPr>
          <p:cNvPr id="1966" name="Rounded Rectangle 5"/>
          <p:cNvSpPr/>
          <p:nvPr/>
        </p:nvSpPr>
        <p:spPr>
          <a:xfrm>
            <a:off x="731520" y="1481400"/>
            <a:ext cx="10742760" cy="42048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7" name="TextBox 6"/>
          <p:cNvSpPr/>
          <p:nvPr/>
        </p:nvSpPr>
        <p:spPr>
          <a:xfrm>
            <a:off x="896040" y="1609200"/>
            <a:ext cx="1041372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Git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"tipo: mensagem"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log --oneline --graph --decorate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CI/CD (conferir local antes do pipeline)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Docker/Compose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build -t app:local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run --rm -p 3000:3000 app:local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logs -f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down -v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curl http://localhost:3000/health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69" name="TextBox 8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TextBox 9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Básica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Os quatro livros de referência do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7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975" name="Picture 5" descr="continuous_delivery.jpg"/>
          <p:cNvPicPr/>
          <p:nvPr/>
        </p:nvPicPr>
        <p:blipFill>
          <a:blip r:embed="rId2"/>
          <a:stretch/>
        </p:blipFill>
        <p:spPr>
          <a:xfrm>
            <a:off x="1154520" y="1691640"/>
            <a:ext cx="171324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76" name="TextBox 6"/>
          <p:cNvSpPr/>
          <p:nvPr/>
        </p:nvSpPr>
        <p:spPr>
          <a:xfrm>
            <a:off x="59436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HUMBLE, J.; 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Continuous Delivery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2010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7" name="Picture 7" descr="devops_handbook.jpg"/>
          <p:cNvPicPr/>
          <p:nvPr/>
        </p:nvPicPr>
        <p:blipFill>
          <a:blip r:embed="rId3"/>
          <a:stretch/>
        </p:blipFill>
        <p:spPr>
          <a:xfrm>
            <a:off x="3917520" y="1691640"/>
            <a:ext cx="149040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78" name="TextBox 8"/>
          <p:cNvSpPr/>
          <p:nvPr/>
        </p:nvSpPr>
        <p:spPr>
          <a:xfrm>
            <a:off x="324612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KIM, G. et 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The DevOps Handbook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IT Revolution,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79" name="Picture 9" descr="accelerate.jpg"/>
          <p:cNvPicPr/>
          <p:nvPr/>
        </p:nvPicPr>
        <p:blipFill>
          <a:blip r:embed="rId4"/>
          <a:stretch/>
        </p:blipFill>
        <p:spPr>
          <a:xfrm>
            <a:off x="6558480" y="1691640"/>
            <a:ext cx="151200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80" name="TextBox 10"/>
          <p:cNvSpPr/>
          <p:nvPr/>
        </p:nvSpPr>
        <p:spPr>
          <a:xfrm>
            <a:off x="589788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FORSGREN, N.; HUMBLE, J.; KIM, G.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Accelerate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IT Revolution, 2018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1" name="Picture 11" descr="modern_swe.jpg"/>
          <p:cNvPicPr/>
          <p:nvPr/>
        </p:nvPicPr>
        <p:blipFill>
          <a:blip r:embed="rId5"/>
          <a:stretch/>
        </p:blipFill>
        <p:spPr>
          <a:xfrm>
            <a:off x="9041040" y="1691640"/>
            <a:ext cx="1850400" cy="22845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82" name="TextBox 12"/>
          <p:cNvSpPr/>
          <p:nvPr/>
        </p:nvSpPr>
        <p:spPr>
          <a:xfrm>
            <a:off x="8549640" y="406908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Modern Software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3" name="Picture 13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1984" name="TextBox 14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Box 15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TextBox 1"/>
          <p:cNvSpPr/>
          <p:nvPr/>
        </p:nvSpPr>
        <p:spPr>
          <a:xfrm>
            <a:off x="594360" y="320040"/>
            <a:ext cx="9874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Complementar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TextBox 2"/>
          <p:cNvSpPr/>
          <p:nvPr/>
        </p:nvSpPr>
        <p:spPr>
          <a:xfrm>
            <a:off x="621720" y="841320"/>
            <a:ext cx="987408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Aprofundamento em microsserviços, infraestrutura e operação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Rectangle 3"/>
          <p:cNvSpPr/>
          <p:nvPr/>
        </p:nvSpPr>
        <p:spPr>
          <a:xfrm>
            <a:off x="594360" y="1152000"/>
            <a:ext cx="1233000" cy="442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8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8280" cy="345960"/>
          </a:xfrm>
          <a:prstGeom prst="rect">
            <a:avLst/>
          </a:prstGeom>
          <a:ln w="0">
            <a:noFill/>
          </a:ln>
        </p:spPr>
      </p:pic>
      <p:pic>
        <p:nvPicPr>
          <p:cNvPr id="1990" name="Picture 5" descr="microservices.jpg"/>
          <p:cNvPicPr/>
          <p:nvPr/>
        </p:nvPicPr>
        <p:blipFill>
          <a:blip r:embed="rId2"/>
          <a:stretch/>
        </p:blipFill>
        <p:spPr>
          <a:xfrm>
            <a:off x="1447560" y="1600200"/>
            <a:ext cx="1492560" cy="1964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91" name="TextBox 6"/>
          <p:cNvSpPr/>
          <p:nvPr/>
        </p:nvSpPr>
        <p:spPr>
          <a:xfrm>
            <a:off x="777240" y="365760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NEWMAN, 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Building Microservices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2" name="Picture 7" descr="iac.jpg"/>
          <p:cNvPicPr/>
          <p:nvPr/>
        </p:nvPicPr>
        <p:blipFill>
          <a:blip r:embed="rId3"/>
          <a:stretch/>
        </p:blipFill>
        <p:spPr>
          <a:xfrm>
            <a:off x="5345280" y="1600200"/>
            <a:ext cx="1496520" cy="1964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93" name="TextBox 8"/>
          <p:cNvSpPr/>
          <p:nvPr/>
        </p:nvSpPr>
        <p:spPr>
          <a:xfrm>
            <a:off x="4677120" y="365760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MORRIS, K.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Infrastructure as Code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94" name="Picture 9" descr="sre.jpg"/>
          <p:cNvPicPr/>
          <p:nvPr/>
        </p:nvPicPr>
        <p:blipFill>
          <a:blip r:embed="rId4"/>
          <a:stretch/>
        </p:blipFill>
        <p:spPr>
          <a:xfrm>
            <a:off x="9245520" y="1600200"/>
            <a:ext cx="1496520" cy="196452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995" name="TextBox 10"/>
          <p:cNvSpPr/>
          <p:nvPr/>
        </p:nvSpPr>
        <p:spPr>
          <a:xfrm>
            <a:off x="8577000" y="3657600"/>
            <a:ext cx="283320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BEYER, B. et al. (org.)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Site Reliability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O'Reilly, 2016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Rounded Rectangle 11"/>
          <p:cNvSpPr/>
          <p:nvPr/>
        </p:nvSpPr>
        <p:spPr>
          <a:xfrm>
            <a:off x="685800" y="4572000"/>
            <a:ext cx="10834200" cy="182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7" name="Rectangle 12"/>
          <p:cNvSpPr/>
          <p:nvPr/>
        </p:nvSpPr>
        <p:spPr>
          <a:xfrm>
            <a:off x="685800" y="4572000"/>
            <a:ext cx="71640" cy="1827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8" name="TextBox 13"/>
          <p:cNvSpPr/>
          <p:nvPr/>
        </p:nvSpPr>
        <p:spPr>
          <a:xfrm>
            <a:off x="850320" y="4700160"/>
            <a:ext cx="10541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Ferramentas, métricas e governança de IA — referências online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Box 14"/>
          <p:cNvSpPr/>
          <p:nvPr/>
        </p:nvSpPr>
        <p:spPr>
          <a:xfrm>
            <a:off x="850320" y="5056560"/>
            <a:ext cx="1054152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DORA; Google Cloud. DORA's software delivery performance metrics.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GitHub. GitHub Actions documentation. | GitHub. GitHub Copilot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Docker. Docker Compose documentation. | HashiCorp. Terraform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OpenAI. Codex: AI coding agents for software engineering. | Google. Gemini Code Assist overview.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NIST. Artificial Intelligence Risk Management Framework (AI RMF 1.0), 2023.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OWASP. OWASP GenAI LLM Top 10 2026.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0" name="Picture 15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3040" cy="172440"/>
          </a:xfrm>
          <a:prstGeom prst="rect">
            <a:avLst/>
          </a:prstGeom>
          <a:ln w="0">
            <a:noFill/>
          </a:ln>
        </p:spPr>
      </p:pic>
      <p:sp>
        <p:nvSpPr>
          <p:cNvPr id="2001" name="TextBox 16"/>
          <p:cNvSpPr/>
          <p:nvPr/>
        </p:nvSpPr>
        <p:spPr>
          <a:xfrm>
            <a:off x="1298520" y="6446520"/>
            <a:ext cx="6582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TextBox 17"/>
          <p:cNvSpPr/>
          <p:nvPr/>
        </p:nvSpPr>
        <p:spPr>
          <a:xfrm>
            <a:off x="10972800" y="6446520"/>
            <a:ext cx="730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2026-09-10T11:10:31Z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