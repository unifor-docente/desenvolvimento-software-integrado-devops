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notesMasterIdLst>
    <p:notesMasterId r:id="rId15"/>
  </p:notesMasterIdLst>
  <p:sldIdLst>
    <p:sldId id="1430" r:id="rId266"/>
    <p:sldId id="1431" r:id="rId265"/>
    <p:sldId id="1432" r:id="rId264"/>
    <p:sldId id="1433" r:id="rId263"/>
    <p:sldId id="1434" r:id="rId262"/>
    <p:sldId id="1435" r:id="rId261"/>
    <p:sldId id="1436" r:id="rId260"/>
    <p:sldId id="1437" r:id="rId259"/>
    <p:sldId id="1438" r:id="rId258"/>
    <p:sldId id="1439" r:id="rId257"/>
    <p:sldId id="1440" r:id="rId256"/>
    <p:sldId id="1441" r:id="rId255"/>
    <p:sldId id="1442" r:id="rId254"/>
    <p:sldId id="1443" r:id="rId253"/>
    <p:sldId id="1444" r:id="rId252"/>
    <p:sldId id="1445" r:id="rId251"/>
    <p:sldId id="1446" r:id="rId250"/>
    <p:sldId id="1447" r:id="rId249"/>
    <p:sldId id="1448" r:id="rId248"/>
    <p:sldId id="1449" r:id="rId247"/>
    <p:sldId id="1450" r:id="rId246"/>
    <p:sldId id="1451" r:id="rId245"/>
    <p:sldId id="1452" r:id="rId244"/>
    <p:sldId id="1453" r:id="rId243"/>
    <p:sldId id="1454" r:id="rId242"/>
    <p:sldId id="1455" r:id="rId241"/>
    <p:sldId id="1456" r:id="rId240"/>
    <p:sldId id="1457" r:id="rId239"/>
    <p:sldId id="1458" r:id="rId238"/>
    <p:sldId id="1459" r:id="rId237"/>
    <p:sldId id="1460" r:id="rId236"/>
    <p:sldId id="1461" r:id="rId235"/>
    <p:sldId id="1462" r:id="rId234"/>
    <p:sldId id="1463" r:id="rId233"/>
    <p:sldId id="1464" r:id="rId232"/>
    <p:sldId id="1465" r:id="rId231"/>
    <p:sldId id="1466" r:id="rId230"/>
    <p:sldId id="1467" r:id="rId229"/>
    <p:sldId id="1468" r:id="rId228"/>
    <p:sldId id="1469" r:id="rId227"/>
    <p:sldId id="1470" r:id="rId226"/>
    <p:sldId id="1471" r:id="rId225"/>
    <p:sldId id="1472" r:id="rId224"/>
    <p:sldId id="1473" r:id="rId223"/>
    <p:sldId id="1474" r:id="rId222"/>
    <p:sldId id="1475" r:id="rId221"/>
    <p:sldId id="1476" r:id="rId220"/>
    <p:sldId id="1477" r:id="rId219"/>
    <p:sldId id="1478" r:id="rId218"/>
    <p:sldId id="1479" r:id="rId217"/>
    <p:sldId id="1480" r:id="rId216"/>
    <p:sldId id="1481" r:id="rId215"/>
    <p:sldId id="1482" r:id="rId214"/>
    <p:sldId id="1483" r:id="rId213"/>
    <p:sldId id="1484" r:id="rId212"/>
    <p:sldId id="1485" r:id="rId211"/>
    <p:sldId id="1486" r:id="rId210"/>
    <p:sldId id="1487" r:id="rId209"/>
    <p:sldId id="1488" r:id="rId208"/>
    <p:sldId id="1489" r:id="rId133"/>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33" Type="http://schemas.openxmlformats.org/officeDocument/2006/relationships/slide" Target="slides/slide306.xml"/><Relationship Id="rId171" Type="http://schemas.openxmlformats.org/officeDocument/2006/relationships/presProps" Target="presProps.xml"/><Relationship Id="rId208" Type="http://schemas.openxmlformats.org/officeDocument/2006/relationships/slide" Target="slides/slide305.xml"/><Relationship Id="rId209" Type="http://schemas.openxmlformats.org/officeDocument/2006/relationships/slide" Target="slides/slide304.xml"/><Relationship Id="rId210" Type="http://schemas.openxmlformats.org/officeDocument/2006/relationships/slide" Target="slides/slide303.xml"/><Relationship Id="rId211" Type="http://schemas.openxmlformats.org/officeDocument/2006/relationships/slide" Target="slides/slide302.xml"/><Relationship Id="rId212" Type="http://schemas.openxmlformats.org/officeDocument/2006/relationships/slide" Target="slides/slide301.xml"/><Relationship Id="rId213" Type="http://schemas.openxmlformats.org/officeDocument/2006/relationships/slide" Target="slides/slide300.xml"/><Relationship Id="rId214" Type="http://schemas.openxmlformats.org/officeDocument/2006/relationships/slide" Target="slides/slide299.xml"/><Relationship Id="rId215" Type="http://schemas.openxmlformats.org/officeDocument/2006/relationships/slide" Target="slides/slide298.xml"/><Relationship Id="rId216" Type="http://schemas.openxmlformats.org/officeDocument/2006/relationships/slide" Target="slides/slide297.xml"/><Relationship Id="rId217" Type="http://schemas.openxmlformats.org/officeDocument/2006/relationships/slide" Target="slides/slide296.xml"/><Relationship Id="rId218" Type="http://schemas.openxmlformats.org/officeDocument/2006/relationships/slide" Target="slides/slide295.xml"/><Relationship Id="rId219" Type="http://schemas.openxmlformats.org/officeDocument/2006/relationships/slide" Target="slides/slide294.xml"/><Relationship Id="rId220" Type="http://schemas.openxmlformats.org/officeDocument/2006/relationships/slide" Target="slides/slide293.xml"/><Relationship Id="rId221" Type="http://schemas.openxmlformats.org/officeDocument/2006/relationships/slide" Target="slides/slide292.xml"/><Relationship Id="rId222" Type="http://schemas.openxmlformats.org/officeDocument/2006/relationships/slide" Target="slides/slide291.xml"/><Relationship Id="rId223" Type="http://schemas.openxmlformats.org/officeDocument/2006/relationships/slide" Target="slides/slide290.xml"/><Relationship Id="rId224" Type="http://schemas.openxmlformats.org/officeDocument/2006/relationships/slide" Target="slides/slide289.xml"/><Relationship Id="rId225" Type="http://schemas.openxmlformats.org/officeDocument/2006/relationships/slide" Target="slides/slide288.xml"/><Relationship Id="rId226" Type="http://schemas.openxmlformats.org/officeDocument/2006/relationships/slide" Target="slides/slide287.xml"/><Relationship Id="rId227" Type="http://schemas.openxmlformats.org/officeDocument/2006/relationships/slide" Target="slides/slide286.xml"/><Relationship Id="rId228" Type="http://schemas.openxmlformats.org/officeDocument/2006/relationships/slide" Target="slides/slide285.xml"/><Relationship Id="rId229" Type="http://schemas.openxmlformats.org/officeDocument/2006/relationships/slide" Target="slides/slide284.xml"/><Relationship Id="rId230" Type="http://schemas.openxmlformats.org/officeDocument/2006/relationships/slide" Target="slides/slide283.xml"/><Relationship Id="rId231" Type="http://schemas.openxmlformats.org/officeDocument/2006/relationships/slide" Target="slides/slide282.xml"/><Relationship Id="rId232" Type="http://schemas.openxmlformats.org/officeDocument/2006/relationships/slide" Target="slides/slide281.xml"/><Relationship Id="rId233" Type="http://schemas.openxmlformats.org/officeDocument/2006/relationships/slide" Target="slides/slide280.xml"/><Relationship Id="rId234" Type="http://schemas.openxmlformats.org/officeDocument/2006/relationships/slide" Target="slides/slide279.xml"/><Relationship Id="rId235" Type="http://schemas.openxmlformats.org/officeDocument/2006/relationships/slide" Target="slides/slide278.xml"/><Relationship Id="rId236" Type="http://schemas.openxmlformats.org/officeDocument/2006/relationships/slide" Target="slides/slide277.xml"/><Relationship Id="rId237" Type="http://schemas.openxmlformats.org/officeDocument/2006/relationships/slide" Target="slides/slide276.xml"/><Relationship Id="rId238" Type="http://schemas.openxmlformats.org/officeDocument/2006/relationships/slide" Target="slides/slide275.xml"/><Relationship Id="rId239" Type="http://schemas.openxmlformats.org/officeDocument/2006/relationships/slide" Target="slides/slide274.xml"/><Relationship Id="rId240" Type="http://schemas.openxmlformats.org/officeDocument/2006/relationships/slide" Target="slides/slide273.xml"/><Relationship Id="rId241" Type="http://schemas.openxmlformats.org/officeDocument/2006/relationships/slide" Target="slides/slide272.xml"/><Relationship Id="rId242" Type="http://schemas.openxmlformats.org/officeDocument/2006/relationships/slide" Target="slides/slide271.xml"/><Relationship Id="rId243" Type="http://schemas.openxmlformats.org/officeDocument/2006/relationships/slide" Target="slides/slide270.xml"/><Relationship Id="rId244" Type="http://schemas.openxmlformats.org/officeDocument/2006/relationships/slide" Target="slides/slide269.xml"/><Relationship Id="rId245" Type="http://schemas.openxmlformats.org/officeDocument/2006/relationships/slide" Target="slides/slide268.xml"/><Relationship Id="rId246" Type="http://schemas.openxmlformats.org/officeDocument/2006/relationships/slide" Target="slides/slide267.xml"/><Relationship Id="rId247" Type="http://schemas.openxmlformats.org/officeDocument/2006/relationships/slide" Target="slides/slide266.xml"/><Relationship Id="rId248" Type="http://schemas.openxmlformats.org/officeDocument/2006/relationships/slide" Target="slides/slide265.xml"/><Relationship Id="rId249" Type="http://schemas.openxmlformats.org/officeDocument/2006/relationships/slide" Target="slides/slide264.xml"/><Relationship Id="rId250" Type="http://schemas.openxmlformats.org/officeDocument/2006/relationships/slide" Target="slides/slide263.xml"/><Relationship Id="rId251" Type="http://schemas.openxmlformats.org/officeDocument/2006/relationships/slide" Target="slides/slide262.xml"/><Relationship Id="rId252" Type="http://schemas.openxmlformats.org/officeDocument/2006/relationships/slide" Target="slides/slide261.xml"/><Relationship Id="rId253" Type="http://schemas.openxmlformats.org/officeDocument/2006/relationships/slide" Target="slides/slide260.xml"/><Relationship Id="rId254" Type="http://schemas.openxmlformats.org/officeDocument/2006/relationships/slide" Target="slides/slide259.xml"/><Relationship Id="rId255" Type="http://schemas.openxmlformats.org/officeDocument/2006/relationships/slide" Target="slides/slide258.xml"/><Relationship Id="rId256" Type="http://schemas.openxmlformats.org/officeDocument/2006/relationships/slide" Target="slides/slide257.xml"/><Relationship Id="rId257" Type="http://schemas.openxmlformats.org/officeDocument/2006/relationships/slide" Target="slides/slide256.xml"/><Relationship Id="rId258" Type="http://schemas.openxmlformats.org/officeDocument/2006/relationships/slide" Target="slides/slide255.xml"/><Relationship Id="rId259" Type="http://schemas.openxmlformats.org/officeDocument/2006/relationships/slide" Target="slides/slide254.xml"/><Relationship Id="rId260" Type="http://schemas.openxmlformats.org/officeDocument/2006/relationships/slide" Target="slides/slide253.xml"/><Relationship Id="rId261" Type="http://schemas.openxmlformats.org/officeDocument/2006/relationships/slide" Target="slides/slide252.xml"/><Relationship Id="rId262" Type="http://schemas.openxmlformats.org/officeDocument/2006/relationships/slide" Target="slides/slide251.xml"/><Relationship Id="rId263" Type="http://schemas.openxmlformats.org/officeDocument/2006/relationships/slide" Target="slides/slide250.xml"/><Relationship Id="rId264" Type="http://schemas.openxmlformats.org/officeDocument/2006/relationships/slide" Target="slides/slide249.xml"/><Relationship Id="rId265" Type="http://schemas.openxmlformats.org/officeDocument/2006/relationships/slide" Target="slides/slide248.xml"/><Relationship Id="rId266" Type="http://schemas.openxmlformats.org/officeDocument/2006/relationships/slide" Target="slides/slide2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pt-BR" sz="4400" spc="-1" strike="noStrike">
                <a:solidFill>
                  <a:srgbClr val="000000"/>
                </a:solidFill>
                <a:latin typeface="Arial"/>
              </a:rPr>
              <a:t>Clique para mover o slide</a:t>
            </a:r>
            <a:endParaRPr b="0" lang="pt-BR" sz="4400" spc="-1" strike="noStrike">
              <a:solidFill>
                <a:srgbClr val="000000"/>
              </a:solidFill>
              <a:latin typeface="Arial"/>
            </a:endParaRPr>
          </a:p>
        </p:txBody>
      </p:sp>
      <p:sp>
        <p:nvSpPr>
          <p:cNvPr id="5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pt-BR" sz="2000" spc="-1" strike="noStrike">
                <a:solidFill>
                  <a:srgbClr val="000000"/>
                </a:solidFill>
                <a:latin typeface="Arial"/>
              </a:rPr>
              <a:t>Clique para editar o formato de notas</a:t>
            </a:r>
            <a:endParaRPr b="0" lang="pt-BR" sz="2000" spc="-1" strike="noStrike">
              <a:solidFill>
                <a:srgbClr val="000000"/>
              </a:solidFill>
              <a:latin typeface="Arial"/>
            </a:endParaRPr>
          </a:p>
        </p:txBody>
      </p:sp>
      <p:sp>
        <p:nvSpPr>
          <p:cNvPr id="6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pt-BR" sz="1400" spc="-1" strike="noStrike">
                <a:solidFill>
                  <a:srgbClr val="000000"/>
                </a:solidFill>
                <a:latin typeface="Times New Roman"/>
              </a:rPr>
              <a:t>&lt;cabeçalho&gt;</a:t>
            </a:r>
            <a:endParaRPr b="0" lang="pt-BR" sz="1400" spc="-1" strike="noStrike">
              <a:solidFill>
                <a:srgbClr val="000000"/>
              </a:solidFill>
              <a:latin typeface="Times New Roman"/>
            </a:endParaRPr>
          </a:p>
        </p:txBody>
      </p:sp>
      <p:sp>
        <p:nvSpPr>
          <p:cNvPr id="61" name="PlaceHolder 4"/>
          <p:cNvSpPr>
            <a:spLocks noGrp="1"/>
          </p:cNvSpPr>
          <p:nvPr>
            <p:ph type="dt" idx="37"/>
          </p:nvPr>
        </p:nvSpPr>
        <p:spPr>
          <a:xfrm>
            <a:off x="4278960" y="0"/>
            <a:ext cx="3280680" cy="534240"/>
          </a:xfrm>
          <a:prstGeom prst="rect">
            <a:avLst/>
          </a:prstGeom>
          <a:noFill/>
          <a:ln w="0">
            <a:noFill/>
          </a:ln>
        </p:spPr>
        <p:txBody>
          <a:bodyPr lIns="0" rIns="0" tIns="0" bIns="0" anchor="t">
            <a:noAutofit/>
          </a:bodyPr>
          <a:lstStyle>
            <a:lvl1pPr indent="0" algn="r">
              <a:buNone/>
              <a:defRPr b="0" lang="pt-BR" sz="1400" spc="-1" strike="noStrike">
                <a:solidFill>
                  <a:srgbClr val="000000"/>
                </a:solidFill>
                <a:latin typeface="Times New Roman"/>
              </a:defRPr>
            </a:lvl1pPr>
          </a:lstStyle>
          <a:p>
            <a:pPr indent="0" algn="r">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62" name="PlaceHolder 5"/>
          <p:cNvSpPr>
            <a:spLocks noGrp="1"/>
          </p:cNvSpPr>
          <p:nvPr>
            <p:ph type="ftr" idx="38"/>
          </p:nvPr>
        </p:nvSpPr>
        <p:spPr>
          <a:xfrm>
            <a:off x="0" y="10157400"/>
            <a:ext cx="3280680" cy="534240"/>
          </a:xfrm>
          <a:prstGeom prst="rect">
            <a:avLst/>
          </a:prstGeom>
          <a:noFill/>
          <a:ln w="0">
            <a:noFill/>
          </a:ln>
        </p:spPr>
        <p:txBody>
          <a:bodyPr lIns="0" rIns="0" tIns="0" bIns="0" anchor="b">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63" name="PlaceHolder 6"/>
          <p:cNvSpPr>
            <a:spLocks noGrp="1"/>
          </p:cNvSpPr>
          <p:nvPr>
            <p:ph type="sldNum" idx="39"/>
          </p:nvPr>
        </p:nvSpPr>
        <p:spPr>
          <a:xfrm>
            <a:off x="4278960" y="10157400"/>
            <a:ext cx="3280680" cy="534240"/>
          </a:xfrm>
          <a:prstGeom prst="rect">
            <a:avLst/>
          </a:prstGeom>
          <a:noFill/>
          <a:ln w="0">
            <a:noFill/>
          </a:ln>
        </p:spPr>
        <p:txBody>
          <a:bodyPr lIns="0" rIns="0" tIns="0" bIns="0" anchor="b">
            <a:noAutofit/>
          </a:bodyPr>
          <a:lstStyle>
            <a:lvl1pPr indent="0" algn="r">
              <a:buNone/>
              <a:defRPr b="0" lang="pt-BR" sz="1400" spc="-1" strike="noStrike">
                <a:solidFill>
                  <a:srgbClr val="000000"/>
                </a:solidFill>
                <a:latin typeface="Times New Roman"/>
              </a:defRPr>
            </a:lvl1pPr>
          </a:lstStyle>
          <a:p>
            <a:pPr indent="0" algn="r">
              <a:buNone/>
            </a:pPr>
            <a:fld id="{8DDE86A1-DBFB-4A21-B860-240CC0AE56CD}"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E6.59 — Consulta | Reproduzir a lentidão controlada</a:t>
            </a:r>
          </a:p>
          <a:p/>
          <a:p>
            <a:r>
              <a:t>COMO EXPLICAR</a:t>
            </a:r>
          </a:p>
          <a:p>
            <a:r>
              <a:t>Os comandos usam atribuição temporária de variável no shell, válida em Linux, macOS e WSL. O delay é aplicado ao wrapper da consulta e pode afetar a prontidão, mas 400 ms fica abaixo do timeout configurado. --no-deps recria apenas app. O teste demonstra que sucesso por status pode coexistir com latência ruim. O README oferece a sequência e exige confirmar a prontidão após a recriação. Não comparar counters antes e depois como se fossem do mesmo processo.</a:t>
            </a:r>
          </a:p>
          <a:p/>
          <a:p>
            <a:r>
              <a:t>CONCLUSÃO</a:t>
            </a:r>
          </a:p>
          <a:p>
            <a:r>
              <a:t>A mesma operação precisa atender ao resultado esperado e ao objetivo de tempo definido.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E6.58 — Consulta | Ler os buckets de um histograma</a:t>
            </a:r>
          </a:p>
          <a:p/>
          <a:p>
            <a:r>
              <a:t>COMO EXPLICAR</a:t>
            </a:r>
          </a:p>
          <a:p>
            <a:r>
              <a:t>O histograma do servidor cobre GET /visitas, incluindo respostas de erro, e exclui as rotas de saúde e métricas. Os números deste slide são ilustrativos. _sum dividido por _count fornece a média das observações acumuladas quando count é positivo; não fornece p95. A sonda calcula nearest-rank sobre durações individuais do cliente. Medições em locais diferentes não precisam coincidir. Reiniciar app zera todas as métricas locais.</a:t>
            </a:r>
          </a:p>
          <a:p/>
          <a:p>
            <a:r>
              <a:t>CONCLUSÃO</a:t>
            </a:r>
          </a:p>
          <a:p>
            <a:r>
              <a:t>Unidade, população, janela e reinício precisam acompanhar qualquer cálculo.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E6.57 — Consulta | O custo de colocar tudo em labels</a:t>
            </a:r>
          </a:p>
          <a:p/>
          <a:p>
            <a:r>
              <a:t>COMO EXPLICAR</a:t>
            </a:r>
          </a:p>
          <a:p>
            <a:r>
              <a:t>Na API, as rotas desconhecidas são normalizadas e não entram nas métricas de /visitas. O ID aparece nos logs e no cabeçalho, não nas labels. A cardinalidade depende das combinações possíveis; se cada chamada ganha um valor novo, o conjunto cresce continuamente. Também definir retenção e acesso aos logs. Essa é uma escolha de projeto, não simplesmente remover dados sem compreender a pergunta de investigação.</a:t>
            </a:r>
          </a:p>
          <a:p/>
          <a:p>
            <a:r>
              <a:t>CONCLUSÃO</a:t>
            </a:r>
          </a:p>
          <a:p>
            <a:r>
              <a:t>Colete o contexto necessário no lugar apropriado e limite dimensões sem controle.</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E6.56 — Consulta | Request ID não é tracing distribuído</a:t>
            </a:r>
          </a:p>
          <a:p/>
          <a:p>
            <a:r>
              <a:t>COMO EXPLICAR</a:t>
            </a:r>
          </a:p>
          <a:p>
            <a:r>
              <a:t>O laboratório usa somente request_id local; o diagrama de trace é conceitual. Para evoluir, a equipe pode estudar OpenTelemetry, contexto de trace e um backend adequado. A instrumentação precisa propagar contexto pelas chamadas relevantes. Amostragem reduz volume e pode deixar uma requisição fora do conjunto armazenado. Não prometer que todo evento estará disponível nem exigir essa evolução na entrega atual.</a:t>
            </a:r>
          </a:p>
          <a:p/>
          <a:p>
            <a:r>
              <a:t>CONCLUSÃO</a:t>
            </a:r>
          </a:p>
          <a:p>
            <a:r>
              <a:t>Adote tracing quando a pergunta exigir relações entre operações; não apenas para acrescentar uma ferramenta.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E6.55 — Fechamento: explicar o ciclo completo</a:t>
            </a:r>
          </a:p>
          <a:p/>
          <a:p>
            <a:r>
              <a:t>COMO EXPLICAR</a:t>
            </a:r>
          </a:p>
          <a:p>
            <a:r>
              <a:t>Nos quatro minutos finais, confira os links e a submissão no prazo estabelecido: até o fim do encontro 6. Retome uma decisão que cada equipe agora consegue explicar melhor. Os próximos slides são consulta e não precisam ser expostos antes das apresentações. O fechamento não cria outra entrega. Reforce o percurso do mesmo projeto e o uso crítico de automação e IA.</a:t>
            </a:r>
          </a:p>
          <a:p/>
          <a:p>
            <a:r>
              <a:t>CONCLUSÃO</a:t>
            </a:r>
          </a:p>
          <a:p>
            <a:r>
              <a:t>DevOps conecta colaboração, entrega e feedback; o projeto final deve tornar essa conexão visível.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E6.54 — Respostas comentadas | Defender as evidências do projeto</a:t>
            </a:r>
          </a:p>
          <a:p/>
          <a:p>
            <a:r>
              <a:t>COMO EXPLICAR</a:t>
            </a:r>
          </a:p>
          <a:p>
            <a:r>
              <a:t>Pergunta: O grupo mostra apenas um dashboard verde. O diagnóstico está demonstrado?</a:t>
            </a:r>
          </a:p>
          <a:p>
            <a:r>
              <a:t>Resposta: Não. Explique operação, janela, sintoma, hipótese, teste, causa sustentada e recuperação. O painel é uma parte da evidência.</a:t>
            </a:r>
          </a:p>
          <a:p/>
          <a:p>
            <a:r>
              <a:t>Pergunta: Uma captura foi feita ontem. Pode entrar na apresentação?</a:t>
            </a:r>
          </a:p>
          <a:p>
            <a:r>
              <a:t>Resposta: Sim, se identificada como registro anterior, com data, versão e contexto. Não a apresentar como execução ao vivo.</a:t>
            </a:r>
          </a:p>
          <a:p/>
          <a:p>
            <a:r>
              <a:t>Pergunta: O contador de falhas acumulado é diferente do total da sonda. Há necessariamente erro?</a:t>
            </a:r>
          </a:p>
          <a:p>
            <a:r>
              <a:t>Resposta: Não. Podem ter janelas e populações diferentes. A API inclui chamadas manuais; a sonda conta somente suas chamadas.</a:t>
            </a:r>
          </a:p>
          <a:p/>
          <a:p>
            <a:r>
              <a:t>CONCLUSÃO</a:t>
            </a:r>
          </a:p>
          <a:p>
            <a:r>
              <a:t>Diferencie o que foi observado, o que é hipótese e o que foi confirmado.</a:t>
            </a:r>
          </a:p>
          <a:p/>
          <a:p>
            <a:r>
              <a:t>RESPOSTAS</a:t>
            </a:r>
          </a:p>
          <a:p>
            <a:r>
              <a:t>Não. Explique operação, janela, sintoma, hipótese, teste, causa sustentada e recuperação. O painel é uma parte da evidência.</a:t>
            </a:r>
          </a:p>
          <a:p>
            <a:r>
              <a:t>Sim, se identificada como registro anterior, com data, versão e contexto. Não a apresentar como execução ao vivo.</a:t>
            </a:r>
          </a:p>
          <a:p>
            <a:r>
              <a:t>Não. Podem ter janelas e populações diferentes. A API inclui chamadas manuais; a sonda conta somente suas chamadas.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E6.53 — Verificação | Defender as evidências do projeto</a:t>
            </a:r>
          </a:p>
          <a:p/>
          <a:p>
            <a:r>
              <a:t>COMO EXPLICAR</a:t>
            </a:r>
          </a:p>
          <a:p>
            <a: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p>
          <a:p/>
          <a:p>
            <a:r>
              <a:t>CONCLUSÃO</a:t>
            </a:r>
          </a:p>
          <a:p>
            <a:r>
              <a:t>O próximo slide traz as três respostas explicadas.</a:t>
            </a:r>
          </a:p>
          <a:p/>
          <a:p>
            <a:r>
              <a:t>PERGUNTAS</a:t>
            </a:r>
          </a:p>
          <a:p>
            <a:r>
              <a:t>O grupo mostra apenas um dashboard verde. O diagnóstico está demonstrado?</a:t>
            </a:r>
          </a:p>
          <a:p>
            <a:r>
              <a:t>Uma captura foi feita ontem. Pode entrar na apresentação?</a:t>
            </a:r>
          </a:p>
          <a:p>
            <a:r>
              <a:t>O contador de falhas acumulado é diferente do total da sonda. Há necessariamente erro?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E6.52 — Organizar evidências para quem não acompanhou a aula</a:t>
            </a:r>
          </a:p>
          <a:p/>
          <a:p>
            <a:r>
              <a:t>COMO EXPLICAR</a:t>
            </a:r>
          </a:p>
          <a:p>
            <a:r>
              <a:t>O índice reduz o tempo gasto procurando arquivos durante a apresentação e a avaliação. Não versionar segredos ou logs contendo dados pessoais. Saídas de teste devem indicar a versão e a data. No registro de IA, distinguir sugestão, revisão e teste. Se a equipe não executou uma etapa, registrar como pendente em vez de inventar um resultado. Os nomes exibidos são apenas uma organização possível.</a:t>
            </a:r>
          </a:p>
          <a:p/>
          <a:p>
            <a:r>
              <a:t>CONCLUSÃO</a:t>
            </a:r>
          </a:p>
          <a:p>
            <a:r>
              <a:t>A evidência deve ser localizável e interpretável, não apenas existir em uma pasta.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E6.51 — Roteiro de apresentação: exemplo de seis minutos</a:t>
            </a:r>
          </a:p>
          <a:p/>
          <a:p>
            <a:r>
              <a:t>COMO EXPLICAR</a:t>
            </a:r>
          </a:p>
          <a:p>
            <a:r>
              <a:t>É um roteiro sugerido, não seis novos itens de nota. Distribua a participação de acordo com o trabalho do grupo. Não consuma toda a fala aguardando build ou download: tenha evidências previamente produzidas e identifique quando usar gravação ou captura. Uma operação curta ao vivo pode apoiar a explicação. Cada slot de oito minutos inclui fala de cinco a sete e transição ou feedback; respeitar o relógio protege as demais equipes.</a:t>
            </a:r>
          </a:p>
          <a:p/>
          <a:p>
            <a:r>
              <a:t>CONCLUSÃO</a:t>
            </a:r>
          </a:p>
          <a:p>
            <a:r>
              <a:t>Selecione uma narrativa demonstrável: o problema, a entrega, a falha e o que a equipe aprendeu.</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E6.50 — Rubrica oficial: entregar, diagnosticar e comunicar</a:t>
            </a:r>
          </a:p>
          <a:p/>
          <a:p>
            <a:r>
              <a:t>COMO EXPLICAR</a:t>
            </a:r>
          </a:p>
          <a:p>
            <a:r>
              <a:t>Logs e métricas sustentam tanto a operação quanto o diagnóstico; não são um peso adicional. A avaliação permanece em grupo, conforme o enunciado. Não criar uma arguição com nota individual. Explique que mostrar o erro deliberado é positivo quando acompanhado por método, interpretação e recuperação. O resultado final não depende de esconder limitações.</a:t>
            </a:r>
          </a:p>
          <a:p/>
          <a:p>
            <a:r>
              <a:t>CONCLUSÃO</a:t>
            </a:r>
          </a:p>
          <a:p>
            <a:r>
              <a:t>Os pesos continuam 25 / 25 / 20 / 15 / 10 / 5; observabilidade conecta as evidências.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E6.49 — Rubrica oficial: construção e integração</a:t>
            </a:r>
          </a:p>
          <a:p/>
          <a:p>
            <a:r>
              <a:t>COMO EXPLICAR</a:t>
            </a:r>
          </a:p>
          <a:p>
            <a:r>
              <a:t>Os três pesos somam 70%. Consulte a rubrica original para os descritores completos. O slide organiza evidências sem criar novos critérios ou avaliação individual. A apresentação curta não deve ocultar os entregáveis técnicos: deixe links diretos para o avaliador consultar.</a:t>
            </a:r>
          </a:p>
          <a:p/>
          <a:p>
            <a:r>
              <a:t>CONCLUSÃO</a:t>
            </a:r>
          </a:p>
          <a:p>
            <a:r>
              <a:t>Mostre o que foi implementado e executado; uma configuração isolada não comprova seu resultado.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E6.48 — Exemplo preenchido de relato de incidente</a:t>
            </a:r>
          </a:p>
          <a:p/>
          <a:p>
            <a:r>
              <a:t>COMO EXPLICAR</a:t>
            </a:r>
          </a:p>
          <a:p>
            <a:r>
              <a:t>Diferencie o gatilho controlado da causa que seria investigada em produção. Se o banco tivesse parado inesperadamente, seria necessário descobrir a razão: recurso, operação humana, configuração ou outro evento. O relatório pode dizer causa ainda não confirmada quando essa for a verdade. Cada evidência deve ganhar caminho ou link real no repositório. Os horários aqui servem para ensinar a estrutura; substitua pelos da execução da equipe.</a:t>
            </a:r>
          </a:p>
          <a:p/>
          <a:p>
            <a:r>
              <a:t>CONCLUSÃO</a:t>
            </a:r>
          </a:p>
          <a:p>
            <a:r>
              <a:t>Um relato útil permite reconstruir o raciocínio sem depender da memória de quem apresentou.</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E6.47 — Preparação das equipes: 35 minutos com foco</a:t>
            </a:r>
          </a:p>
          <a:p/>
          <a:p>
            <a:r>
              <a:t>COMO EXPLICAR</a:t>
            </a:r>
          </a:p>
          <a:p>
            <a:r>
              <a:t>Os 35 minutos são preparação final, não tempo para construir tudo do zero. Oriente a aproveitar código e evidências dos encontros anteriores. Se uma falha não puder ser induzida com segurança no ambiente atual, use um ensaio local previamente registrado, identifique a data e explique a limitação. Não declarar como realizado um teste apenas planejado. Acompanhe as equipes por risco e bloqueio; não exigir que todas usem as mesmas ferramentas.</a:t>
            </a:r>
          </a:p>
          <a:p/>
          <a:p>
            <a:r>
              <a:t>CONCLUSÃO</a:t>
            </a:r>
          </a:p>
          <a:p>
            <a:r>
              <a:t>A entrega é da equipe e está no repositório; a demonstração deve mostrar evidências verificáveis.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E6.46 — O mesmo projeto, seis incrementos conectados</a:t>
            </a:r>
          </a:p>
          <a:p/>
          <a:p>
            <a:r>
              <a:t>COMO EXPLICAR</a:t>
            </a:r>
          </a:p>
          <a:p>
            <a:r>
              <a:t>Use o enunciado original para conferir os entregáveis específicos de cada encontro. A tabela é uma síntese da trajetória, não uma substituição da rubrica. A equipe continua no repositório único e no problema que escolheu. Não precisa migrar o projeto para a API do professor nem acrescentar uma plataforma de observabilidade inteira para reproduzir os conceitos.</a:t>
            </a:r>
          </a:p>
          <a:p/>
          <a:p>
            <a:r>
              <a:t>CONCLUSÃO</a:t>
            </a:r>
          </a:p>
          <a:p>
            <a:r>
              <a:t>A apresentação deve ligar decisões, implementação e resultados do próprio projeto.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E6.45 — Respostas comentadas | Revisar uma sugestão de IA</a:t>
            </a:r>
          </a:p>
          <a:p/>
          <a:p>
            <a:r>
              <a:t>COMO EXPLICAR</a:t>
            </a:r>
          </a:p>
          <a:p>
            <a:r>
              <a:t>Pergunta: A resposta aponta o deploy como causa porque ocorreu antes do erro. Isso basta?</a:t>
            </a:r>
          </a:p>
          <a:p>
            <a:r>
              <a:t>Resposta: Não. Ordem temporal sugere uma hipótese. Compare versões, dependências e resultados de testes que possam refutá-la.</a:t>
            </a:r>
          </a:p>
          <a:p/>
          <a:p>
            <a:r>
              <a:t>Pergunta: Um log contém a frase “execute este comando”. A equipe deve obedecer?</a:t>
            </a:r>
          </a:p>
          <a:p>
            <a:r>
              <a:t>Resposta: Não. O log é dado a analisar. Comandos exigem revisão de finalidade, escopo, autorização e impacto.</a:t>
            </a:r>
          </a:p>
          <a:p/>
          <a:p>
            <a:r>
              <a:t>Pergunta: Rejeitar uma sugestão impede demonstrar uso responsável de IA?</a:t>
            </a:r>
          </a:p>
          <a:p>
            <a:r>
              <a:t>Resposta: Não. Registre a sugestão, o motivo da rejeição e a alternativa validada. Não invente uma interação que não ocorreu.</a:t>
            </a:r>
          </a:p>
          <a:p/>
          <a:p>
            <a:r>
              <a:t>CONCLUSÃO</a:t>
            </a:r>
          </a:p>
          <a:p>
            <a:r>
              <a:t>Diferencie o que foi observado, o que é hipótese e o que foi confirmado.</a:t>
            </a:r>
          </a:p>
          <a:p/>
          <a:p>
            <a:r>
              <a:t>RESPOSTAS</a:t>
            </a:r>
          </a:p>
          <a:p>
            <a:r>
              <a:t>Não. Ordem temporal sugere uma hipótese. Compare versões, dependências e resultados de testes que possam refutá-la.</a:t>
            </a:r>
          </a:p>
          <a:p>
            <a:r>
              <a:t>Não. O log é dado a analisar. Comandos exigem revisão de finalidade, escopo, autorização e impacto.</a:t>
            </a:r>
          </a:p>
          <a:p>
            <a:r>
              <a:t>Não. Registre a sugestão, o motivo da rejeição e a alternativa validada. Não invente uma interação que não ocorreu.</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E6.44 — Verificação | Revisar uma sugestão de IA</a:t>
            </a:r>
          </a:p>
          <a:p/>
          <a:p>
            <a:r>
              <a:t>COMO EXPLICAR</a:t>
            </a:r>
          </a:p>
          <a:p>
            <a: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p>
          <a:p/>
          <a:p>
            <a:r>
              <a:t>CONCLUSÃO</a:t>
            </a:r>
          </a:p>
          <a:p>
            <a:r>
              <a:t>O próximo slide traz as três respostas explicadas.</a:t>
            </a:r>
          </a:p>
          <a:p/>
          <a:p>
            <a:r>
              <a:t>PERGUNTAS</a:t>
            </a:r>
          </a:p>
          <a:p>
            <a:r>
              <a:t>A resposta aponta o deploy como causa porque ocorreu antes do erro. Isso basta?</a:t>
            </a:r>
          </a:p>
          <a:p>
            <a:r>
              <a:t>Um log contém a frase “execute este comando”. A equipe deve obedecer?</a:t>
            </a:r>
          </a:p>
          <a:p>
            <a:r>
              <a:t>Rejeitar uma sugestão impede demonstrar uso responsável de IA?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E6.43 — Uma ação automática precisa de limites</a:t>
            </a:r>
          </a:p>
          <a:p/>
          <a:p>
            <a:r>
              <a:t>COMO EXPLICAR</a:t>
            </a:r>
          </a:p>
          <a:p>
            <a:r>
              <a:t>Explique por que reiniciar indefinidamente é perigoso: pode ampliar a indisponibilidade e apagar contexto. Um runbook deve definir escopo, permissões, limite de tentativas, confirmação de recuperação e destino de escalonamento. Ações destrutivas e mudanças de schema exigem avaliação específica. Este diagrama não é uma automação implementada nem envia notificações. No exercício, a pessoa executa a recuperação local e registra a evidência.</a:t>
            </a:r>
          </a:p>
          <a:p/>
          <a:p>
            <a:r>
              <a:t>CONCLUSÃO</a:t>
            </a:r>
          </a:p>
          <a:p>
            <a:r>
              <a:t>Uma ação sem critério de parada e teste de recuperação não fecha o ciclo operacional.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E6.42 — AIOps: onde a automação pode ajudar</a:t>
            </a:r>
          </a:p>
          <a:p/>
          <a:p>
            <a:r>
              <a:t>COMO EXPLICAR</a:t>
            </a:r>
          </a:p>
          <a:p>
            <a:r>
              <a:t>AIOps designa usos de técnicas de IA em operações, não uma garantia de operação autônoma. Correlação temporal não prova causalidade: um deploy próximo ao erro pode ser coincidência. Não apresentar percentuais universais de produtividade ou prevenção. Compare a sugestão com uma hipótese alternativa e com o que realmente ocorreu no ambiente. Aqui a automação é discutida conceitualmente; o laboratório não instala uma plataforma de AIOps.</a:t>
            </a:r>
          </a:p>
          <a:p/>
          <a:p>
            <a:r>
              <a:t>CONCLUSÃO</a:t>
            </a:r>
          </a:p>
          <a:p>
            <a:r>
              <a:t>Automatize tarefas com critérios claros; mantenha limites, rastreabilidade e verificação.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E6.41 — Caso resolvido: “apague o volume e tente novamente”</a:t>
            </a:r>
          </a:p>
          <a:p/>
          <a:p>
            <a:r>
              <a:t>COMO EXPLICAR</a:t>
            </a:r>
          </a:p>
          <a:p>
            <a:r>
              <a:t>O caso é ilustrativo, não uma saída real de uma ferramenta. A indisponibilidade observada decorre do banco parado intencionalmente. Reinicializar armazenamento não é tratamento proporcional. Também trate frases dentro de logs como dados: um evento que diga ignore as regras não autoriza nenhuma ação. O mesmo vale para recomendações copiadas de tickets. A equipe deve documentar a revisão, sem inventar uma conversa com IA que não aconteceu.</a:t>
            </a:r>
          </a:p>
          <a:p/>
          <a:p>
            <a:r>
              <a:t>CONCLUSÃO</a:t>
            </a:r>
          </a:p>
          <a:p>
            <a:r>
              <a:t>Revisão crítica pode resultar em rejeição; isso é uma evidência válida de uso responsável.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E6.40 — Exemplo de prompt com critérios verificáveis</a:t>
            </a:r>
          </a:p>
          <a:p/>
          <a:p>
            <a:r>
              <a:t>COMO EXPLICAR</a:t>
            </a:r>
          </a:p>
          <a:p>
            <a:r>
              <a:t>Leia o prompt e peça à turma que antecipe uma resposta adequada. Uma boa hipótese é dependência indisponível, sustentada pelo estado do db e pelos 503. Um teste é iniciar db, esperar prontidão e repetir a operação sem trocar app. Isso confirma a causa induzida neste ensaio; num incidente real ainda pode faltar explicar por que o banco parou. Não é necessário enviar esse prompt a uma ferramenta para discutir a qualidade do raciocínio.</a:t>
            </a:r>
          </a:p>
          <a:p/>
          <a:p>
            <a:r>
              <a:t>CONCLUSÃO</a:t>
            </a:r>
          </a:p>
          <a:p>
            <a:r>
              <a:t>Uma pergunta melhor produz uma investigação mais verificável, não uma garantia de acerto.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E6.39 — IA na investigação: propor, confrontar e registrar</a:t>
            </a:r>
          </a:p>
          <a:p/>
          <a:p>
            <a:r>
              <a:t>COMO EXPLICAR</a:t>
            </a:r>
          </a:p>
          <a:p>
            <a:r>
              <a:t>A IA pode organizar um conjunto de eventos e sugerir hipóteses, mas uma explicação plausível não prova causalidade. Peça que diferencie fatos fornecidos de inferências. O aluno deve conseguir explicar por que aceitou ou rejeitou uma sugestão. Não enviar credenciais, dados pessoais ou dumps completos. Quando não houver autorização para usar um serviço externo, use dados sintéticos e faça a revisão em sala.</a:t>
            </a:r>
          </a:p>
          <a:p/>
          <a:p>
            <a:r>
              <a:t>CONCLUSÃO</a:t>
            </a:r>
          </a:p>
          <a:p>
            <a:r>
              <a:t>A evidência vem do sistema e do teste; a resposta da IA é uma contribuição a revisar.</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E6.38 — Respostas comentadas | Confirmar a recuperação</a:t>
            </a:r>
          </a:p>
          <a:p/>
          <a:p>
            <a:r>
              <a:t>COMO EXPLICAR</a:t>
            </a:r>
          </a:p>
          <a:p>
            <a:r>
              <a:t>Pergunta: A sonda recebeu 503, mas app está Up. Há contradição?</a:t>
            </a:r>
          </a:p>
          <a:p>
            <a:r>
              <a:t>Resposta: Não. O processo da API segue vivo enquanto a operação que usa db pode estar indisponível.</a:t>
            </a:r>
          </a:p>
          <a:p/>
          <a:p>
            <a:r>
              <a:t>Pergunta: Após recuperar, o counter de falhas continua em 5. O serviço ainda está falhando?</a:t>
            </a:r>
          </a:p>
          <a:p>
            <a:r>
              <a:t>Resposta: Não necessariamente. Counter acumula história. Observe a variação na nova janela e repita a operação.</a:t>
            </a:r>
          </a:p>
          <a:p/>
          <a:p>
            <a:r>
              <a:t>Pergunta: dependency_ms alto prova que o servidor do banco está lento?</a:t>
            </a:r>
          </a:p>
          <a:p>
            <a:r>
              <a:t>Resposta: Não. Inclui a espera medida pelo cliente da dependência; no ensaio opcional há atraso artificial no código.</a:t>
            </a:r>
          </a:p>
          <a:p/>
          <a:p>
            <a:r>
              <a:t>CONCLUSÃO</a:t>
            </a:r>
          </a:p>
          <a:p>
            <a:r>
              <a:t>Diferencie o que foi observado, o que é hipótese e o que foi confirmado.</a:t>
            </a:r>
          </a:p>
          <a:p/>
          <a:p>
            <a:r>
              <a:t>RESPOSTAS</a:t>
            </a:r>
          </a:p>
          <a:p>
            <a:r>
              <a:t>Não. O processo da API segue vivo enquanto a operação que usa db pode estar indisponível.</a:t>
            </a:r>
          </a:p>
          <a:p>
            <a:r>
              <a:t>Não necessariamente. Counter acumula história. Observe a variação na nova janela e repita a operação.</a:t>
            </a:r>
          </a:p>
          <a:p>
            <a:r>
              <a:t>Não. Inclui a espera medida pelo cliente da dependência; no ensaio opcional há atraso artificial no código.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E6.37 — Verificação | Confirmar a recuperação</a:t>
            </a:r>
          </a:p>
          <a:p/>
          <a:p>
            <a:r>
              <a:t>COMO EXPLICAR</a:t>
            </a:r>
          </a:p>
          <a:p>
            <a: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p>
          <a:p/>
          <a:p>
            <a:r>
              <a:t>CONCLUSÃO</a:t>
            </a:r>
          </a:p>
          <a:p>
            <a:r>
              <a:t>O próximo slide traz as três respostas explicadas.</a:t>
            </a:r>
          </a:p>
          <a:p/>
          <a:p>
            <a:r>
              <a:t>PERGUNTAS</a:t>
            </a:r>
          </a:p>
          <a:p>
            <a:r>
              <a:t>A sonda recebeu 503, mas app está Up. Há contradição?</a:t>
            </a:r>
          </a:p>
          <a:p>
            <a:r>
              <a:t>Após recuperar, o counter de falhas continua em 5. O serviço ainda está falhando?</a:t>
            </a:r>
          </a:p>
          <a:p>
            <a:r>
              <a:t>dependency_ms alto prova que o servidor do banco está lento?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E6.36 — Caso resolvido: HTTP 200, mas o usuário espera demais</a:t>
            </a:r>
          </a:p>
          <a:p/>
          <a:p>
            <a:r>
              <a:t>COMO EXPLICAR</a:t>
            </a:r>
          </a:p>
          <a:p>
            <a:r>
              <a:t>O atraso artificial é inserido no wrapper da consulta e aparece no campo dependency_ms. Esse campo mede a espera da aplicação ao redor da operação, não somente processamento SQL no servidor do banco. Por isso um tempo alto não prova banco lento. O exercício opcional recria app para aplicar a variável, o que zera contadores em memória. Compare novas janelas da sonda, sem subtrair counters de processos diferentes. Isso introduz a diferença entre sucesso e objetivo de latência.</a:t>
            </a:r>
          </a:p>
          <a:p/>
          <a:p>
            <a:r>
              <a:t>CONCLUSÃO</a:t>
            </a:r>
          </a:p>
          <a:p>
            <a:r>
              <a:t>Uma operação pode estar disponível e ainda falhar no objetivo de tempo; medir apenas status deixa essa falha invisível.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E6.35 — Antes, durante e depois: interpretar sem misturar janelas</a:t>
            </a:r>
          </a:p>
          <a:p/>
          <a:p>
            <a:r>
              <a:t>COMO EXPLICAR</a:t>
            </a:r>
          </a:p>
          <a:p>
            <a:r>
              <a:t>O agregado de 80% está matematicamente correto para as 25 sondas, mas descreve um experimento de falha, não uma disponibilidade mensal. Chamadas manuais e healthchecks não entram nesse denominador da sonda. Os contadores da API podem mostrar outro total, porque registram chamadas manuais de /visitas também. Um teste com falha induzida não deve ser usado para comparar equipes por desempenho. Ele serve para demonstrar detecção, explicação e recuperação.</a:t>
            </a:r>
          </a:p>
          <a:p/>
          <a:p>
            <a:r>
              <a:t>CONCLUSÃO</a:t>
            </a:r>
          </a:p>
          <a:p>
            <a:r>
              <a:t>Informe a janela e o propósito do ensaio; o mesmo conjunto de dados admite resumos com sentidos diferentes.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E6.34 — 4. Recuperar e repetir o mesmo teste</a:t>
            </a:r>
          </a:p>
          <a:p/>
          <a:p>
            <a:r>
              <a:t>COMO EXPLICAR</a:t>
            </a:r>
          </a:p>
          <a:p>
            <a:r>
              <a:t>O helper aguardar.py repete /health/ready com limite de tentativas; assim verifica a conexão a partir da API, inclusive a recuperação do pool. A prontidão não substitui o teste de /visitas. Se a espera falhar, investigar antes de iniciar a janela depois. Não use up --wait na stack toda só para recuperar o banco, pois pode alterar instâncias e confundir a comparação. O comportamento de recuperação depende do código desta API; não generalize para uma aplicação que encerra ao perder a dependência. Após retornar, registre também a ação preventiva.</a:t>
            </a:r>
          </a:p>
          <a:p/>
          <a:p>
            <a:r>
              <a:t>CONCLUSÃO</a:t>
            </a:r>
          </a:p>
          <a:p>
            <a:r>
              <a:t>Recuperação comprovada = operação restaurada + dados conferidos + evidência registrada.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E6.33 — 3. Reunir evidência antes de decidir</a:t>
            </a:r>
          </a:p>
          <a:p/>
          <a:p>
            <a:r>
              <a:t>COMO EXPLICAR</a:t>
            </a:r>
          </a:p>
          <a:p>
            <a:r>
              <a:t>Identifique o último evento pertinente, pois o tail pode incluir sucessos anteriores e probes. Logs não contêm automaticamente toda a história: retenção e volume limitam o que está disponível. Métricas da API excluem as rotas de saúde e métricas; request_id não aparece como label. Leia a unidade do histograma: segundos, enquanto os logs e a sonda usam milissegundos. A hipótese banco parado é sustentada por estado e intervenção conhecida, não apenas por um número vermelho.</a:t>
            </a:r>
          </a:p>
          <a:p/>
          <a:p>
            <a:r>
              <a:t>CONCLUSÃO</a:t>
            </a:r>
          </a:p>
          <a:p>
            <a:r>
              <a:t>A soma dos sinais deve sustentar a hipótese; guarde também o contexto e os limites da coleta.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E6.32 — 2. Provocar uma falha na dependência</a:t>
            </a:r>
          </a:p>
          <a:p/>
          <a:p>
            <a:r>
              <a:t>COMO EXPLICAR</a:t>
            </a:r>
          </a:p>
          <a:p>
            <a:r>
              <a:t>stop mantém o container e os dados; não remove o volume. Espere que as consultas falhem e colete os sinais. O retorno exato de erro do driver pode variar entre conexão encerrada e recusada conforme o momento; não exija uma única string para reconhecer a dependência indisponível. O argumento esperado=503 diz ao script para confirmar a falha induzida: exit code zero nesse modo não quer dizer serviço saudável. Interprete o resumo, que continua registrando chamadas não boas.</a:t>
            </a:r>
          </a:p>
          <a:p/>
          <a:p>
            <a:r>
              <a:t>CONCLUSÃO</a:t>
            </a:r>
          </a:p>
          <a:p>
            <a:r>
              <a:t>Processo vivo, healthcheck e função de negócio observam contratos diferentes.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E6.31 — 1. Capturar a referência e correlacionar uma chamada</a:t>
            </a:r>
          </a:p>
          <a:p/>
          <a:p>
            <a:r>
              <a:t>COMO EXPLICAR</a:t>
            </a:r>
          </a:p>
          <a:p>
            <a:r>
              <a:t>A requisição manual e a sonda são chamadas diferentes, cada uma com seu ID. O cabeçalho permite localizar exatamente uma resposta no log, não qualquer evento que ocorreu perto no tempo. O total depende de uso prévio do volume. Os tempos são medidos no ambiente atual e não devem ser substituídos pelos números ilustrativos dos slides. O arquivo de métrica acumula chamadas desde a partida e pode incluir leituras manuais além das dez sondas.</a:t>
            </a:r>
          </a:p>
          <a:p/>
          <a:p>
            <a:r>
              <a:t>CONCLUSÃO</a:t>
            </a:r>
          </a:p>
          <a:p>
            <a:r>
              <a:t>Mesmo período e mesma população são necessários para comparar números.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E6.30 — Preparar o laboratório de observabilidade</a:t>
            </a:r>
          </a:p>
          <a:p/>
          <a:p>
            <a:r>
              <a:t>COMO EXPLICAR</a:t>
            </a:r>
          </a:p>
          <a:p>
            <a:r>
              <a:t>Construa e teste antes da aula para antecipar downloads. Se outra cópia do projeto estiver ativa, escolha nome e porta exclusivos conforme o README. O script observar.py usa somente a biblioteca padrão do Python e não instala dependências. --wait aguarda os checks, mas não substitui a validação funcional. Guarde data, versão e nome do projeto para relacionar os resultados. Não execute comandos num diretório ou contexto que aponta para outro ambiente.</a:t>
            </a:r>
          </a:p>
          <a:p/>
          <a:p>
            <a:r>
              <a:t>CONCLUSÃO</a:t>
            </a:r>
          </a:p>
          <a:p>
            <a:r>
              <a:t>A preparação identifica destino e versão antes de provocar qualquer falha.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E6.29 — Demonstração: observar a mesma API em três momentos</a:t>
            </a:r>
          </a:p>
          <a:p/>
          <a:p>
            <a:r>
              <a:t>COMO EXPLICAR</a:t>
            </a:r>
          </a:p>
          <a:p>
            <a:r>
              <a:t>A API ganha logs estruturados e métricas, mas continua usando PostgreSQL e o contador conhecido. O compose usa outro nome de projeto e outra porta, evitando misturar dados dos encontros anteriores. A sonda executa um número finito de chamadas e mostra status, conteúdo válido e tempo no cliente. A instrumentação é didática e manual, não uma instalação de OpenTelemetry. Traces permanecem conceituais; não afirmaremos capturá-los neste ensaio.</a:t>
            </a:r>
          </a:p>
          <a:p/>
          <a:p>
            <a:r>
              <a:t>CONCLUSÃO</a:t>
            </a:r>
          </a:p>
          <a:p>
            <a:r>
              <a:t>A prova é a comparação da mesma operação antes, durante e após uma intervenção controlada.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E6.28 — Relatório sem culpa: transformar o incidente em melhoria</a:t>
            </a:r>
          </a:p>
          <a:p/>
          <a:p>
            <a:r>
              <a:t>COMO EXPLICAR</a:t>
            </a:r>
          </a:p>
          <a:p>
            <a:r>
              <a:t>Sem culpa não significa sem responsabilidade. Significa investigar condições e decisões com as informações disponíveis, sem reduzir a explicação a erro humano. Uma ação como prestar mais atenção não muda o sistema de forma verificável. Compare com adicionar um teste funcional ao processo de promoção, com responsável e evidência de execução. O relatório deve reconhecer o que não foi confirmado e não preencher lacunas com uma narrativa convincente inventada.</a:t>
            </a:r>
          </a:p>
          <a:p/>
          <a:p>
            <a:r>
              <a:t>CONCLUSÃO</a:t>
            </a:r>
          </a:p>
          <a:p>
            <a:r>
              <a:t>Uma boa prevenção tem mudança verificável, responsável e prazo; não apenas uma recomendação vaga.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E6.27 — Sintoma, hipótese e causa confirmada</a:t>
            </a:r>
          </a:p>
          <a:p/>
          <a:p>
            <a:r>
              <a:t>COMO EXPLICAR</a:t>
            </a:r>
          </a:p>
          <a:p>
            <a:r>
              <a:t>Uma hipótese não vira causa apenas por soar plausível ou ter sido gerada por IA. Use um teste que a diferencie de alternativas, como hostname errado, credencial ou schema ausente. No laboratório sabemos a intervenção feita e podemos observar sua reversão. Em produção, correlação temporal entre deploy e erro não prova por si só qual alteração foi responsável. Evite chamar todo problema de causa raiz única: fatores de detecção e resposta também podem ter contribuído.</a:t>
            </a:r>
          </a:p>
          <a:p/>
          <a:p>
            <a:r>
              <a:t>CONCLUSÃO</a:t>
            </a:r>
          </a:p>
          <a:p>
            <a:r>
              <a:t>Uma causa confirmada explica as evidências e o efeito da intervenção, não só repete o sintoma.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E6.26 — Linha do tempo: medir intervalos com definições</a:t>
            </a:r>
          </a:p>
          <a:p/>
          <a:p>
            <a:r>
              <a:t>COMO EXPLICAR</a:t>
            </a:r>
          </a:p>
          <a:p>
            <a:r>
              <a:t>No exemplo, o impacto começa às 10:00, é detectado às 10:02 e o serviço é restaurado às 10:07. Tempo até detectar: dois minutos; do início à restauração: sete; da detecção à restauração: cinco. Especifique qual intervalo você está reportando. MTTD e MTTR costumam designar médias sobre vários eventos e MTTR tem expansões diferentes. Não chame um único intervalo de média nem confunda recuperação do serviço com conclusão de toda ação preventiva.</a:t>
            </a:r>
          </a:p>
          <a:p/>
          <a:p>
            <a:r>
              <a:t>CONCLUSÃO</a:t>
            </a:r>
          </a:p>
          <a:p>
            <a:r>
              <a:t>Início → detecção: 2 min • início → restauração: 7 min • detecção → restauração: 5 min.</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E6.25 — Incidente: do impacto à recuperação e ao aprendizado</a:t>
            </a:r>
          </a:p>
          <a:p/>
          <a:p>
            <a:r>
              <a:t>COMO EXPLICAR</a:t>
            </a:r>
          </a:p>
          <a:p>
            <a:r>
              <a:t>Incidente é uma degradação que exige resposta coordenada, não toda mensagem error em um log. A prioridade pode ser mitigar o impacto antes de entender todos os fatores. Registre o que se sabe e o que ainda está em investigação. Coordenação e atualização das pessoas envolvidas podem ocorrer durante as etapas. No ensaio a falha é provocada em um projeto local de dados fictícios; a equipe não deve experimentar indisponibilidade em um serviço real sem contexto e autorização próprios.</a:t>
            </a:r>
          </a:p>
          <a:p/>
          <a:p>
            <a:r>
              <a:t>CONCLUSÃO</a:t>
            </a:r>
          </a:p>
          <a:p>
            <a:r>
              <a:t>Restaurar o serviço e explicar a causa são objetivos relacionados; um não substitui o outro.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E6.24 — Respostas comentadas | Indicadores e decisões</a:t>
            </a:r>
          </a:p>
          <a:p/>
          <a:p>
            <a:r>
              <a:t>COMO EXPLICAR</a:t>
            </a:r>
          </a:p>
          <a:p>
            <a:r>
              <a:t>Pergunta: Em 1000 chamadas, 992 boas e SLO 99%, quanto orçamento foi consumido?</a:t>
            </a:r>
          </a:p>
          <a:p>
            <a:r>
              <a:t>Resposta: A tolerância é 10 falhas. Oito foram consumidas: 80% do orçamento, restando duas nesta população.</a:t>
            </a:r>
          </a:p>
          <a:p/>
          <a:p>
            <a:r>
              <a:t>Pergunta: Não houve chamadas. Podemos exibir 100% de sucesso?</a:t>
            </a:r>
          </a:p>
          <a:p>
            <a:r>
              <a:t>Resposta: Não. O denominador é zero: faltam observações. Indique ausência de amostra e confira a coleta.</a:t>
            </a:r>
          </a:p>
          <a:p/>
          <a:p>
            <a:r>
              <a:t>Pergunta: 50 alertas por dia são ignorados. Basta desligar todos para resolver?</a:t>
            </a:r>
          </a:p>
          <a:p>
            <a:r>
              <a:t>Resposta: Não. Priorize sinais ligados a impacto, agrupe duplicados e defina ação, dono e janela de cada regra.</a:t>
            </a:r>
          </a:p>
          <a:p/>
          <a:p>
            <a:r>
              <a:t>CONCLUSÃO</a:t>
            </a:r>
          </a:p>
          <a:p>
            <a:r>
              <a:t>Diferencie o que foi observado, o que é hipótese e o que foi confirmado.</a:t>
            </a:r>
          </a:p>
          <a:p/>
          <a:p>
            <a:r>
              <a:t>RESPOSTAS</a:t>
            </a:r>
          </a:p>
          <a:p>
            <a:r>
              <a:t>A tolerância é 10 falhas. Oito foram consumidas: 80% do orçamento, restando duas nesta população.</a:t>
            </a:r>
          </a:p>
          <a:p>
            <a:r>
              <a:t>Não. O denominador é zero: faltam observações. Indique ausência de amostra e confira a coleta.</a:t>
            </a:r>
          </a:p>
          <a:p>
            <a:r>
              <a:t>Não. Priorize sinais ligados a impacto, agrupe duplicados e defina ação, dono e janela de cada regra.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E6.23 — Verificação | Indicadores e decisões</a:t>
            </a:r>
          </a:p>
          <a:p/>
          <a:p>
            <a:r>
              <a:t>COMO EXPLICAR</a:t>
            </a:r>
          </a:p>
          <a:p>
            <a: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p>
          <a:p/>
          <a:p>
            <a:r>
              <a:t>CONCLUSÃO</a:t>
            </a:r>
          </a:p>
          <a:p>
            <a:r>
              <a:t>O próximo slide traz as três respostas explicadas.</a:t>
            </a:r>
          </a:p>
          <a:p/>
          <a:p>
            <a:r>
              <a:t>PERGUNTAS</a:t>
            </a:r>
          </a:p>
          <a:p>
            <a:r>
              <a:t>Em 1000 chamadas, 992 boas e SLO 99%, quanto orçamento foi consumido?</a:t>
            </a:r>
          </a:p>
          <a:p>
            <a:r>
              <a:t>Não houve chamadas. Podemos exibir 100% de sucesso?</a:t>
            </a:r>
          </a:p>
          <a:p>
            <a:r>
              <a:t>50 alertas por dia são ignorados. Basta desligar todos para resolver?</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E6.22 — Dashboard mínimo: quatro perguntas operacionais</a:t>
            </a:r>
          </a:p>
          <a:p/>
          <a:p>
            <a:r>
              <a:t>COMO EXPLICAR</a:t>
            </a:r>
          </a:p>
          <a:p>
            <a:r>
              <a:t>Explique o que se espera aprender ao olhar cada quadro. Tráfego ajuda a perceber ausência ou mudança de demanda; erros mostram resultados ruins; latência descreve o tempo; saturação mostra pressão sobre recursos. Nenhum número está representando medição real nesta figura. Registre versão e período para comparar antes/depois de uma entrega. Uma visualização bonita com denominador errado continua induzindo uma decisão errada. No projeto pequeno, uma tabela de medições bem definida pode cumprir o objetivo didático.</a:t>
            </a:r>
          </a:p>
          <a:p/>
          <a:p>
            <a:r>
              <a:t>CONCLUSÃO</a:t>
            </a:r>
          </a:p>
          <a:p>
            <a:r>
              <a:t>Quatro sinais úteis: tráfego, erros, latência e saturação; associe-os à operação que importa.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E6.21 — Alertas: condição, impacto e ação</a:t>
            </a:r>
          </a:p>
          <a:p/>
          <a:p>
            <a:r>
              <a:t>COMO EXPLICAR</a:t>
            </a:r>
          </a:p>
          <a:p>
            <a:r>
              <a:t>Um alerta acionável diz o que mudou, em qual serviço, por quanto tempo e qual primeiro passo seguir. Nem toda métrica alta merece interromper alguém. Uma regra precisa tratar falta de dados, volume pequeno e ruído. Evite prometer que uma correlação automática elimina causas distintas. No laboratório a equipe observa a falha com comandos; não há envio automático de mensagens nem serviço de paging configurado.</a:t>
            </a:r>
          </a:p>
          <a:p/>
          <a:p>
            <a:r>
              <a:t>CONCLUSÃO</a:t>
            </a:r>
          </a:p>
          <a:p>
            <a:r>
              <a:t>Alerta é um convite a agir com contexto, não apenas uma cor vermelha no painel.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E6.20 — Error budget: quanto da tolerância já foi consumido</a:t>
            </a:r>
          </a:p>
          <a:p/>
          <a:p>
            <a:r>
              <a:t>COMO EXPLICAR</a:t>
            </a:r>
          </a:p>
          <a:p>
            <a:r>
              <a:t>No período encerrado, a tolerância de 1% de 1000 é dez chamadas. Oito falhas consumiram 80% desse orçamento; restaram duas, ou 20%. Se houver mais de dez falhas nessa população, a meta não foi atendida. Em uma janela viva, população e orçamento podem variar; este desenho não é um contador de falhas futuras autorizado indefinidamente. O efeito sobre releases depende de uma política acordada, não de punição automática. Priorizar correções pode reduzir o risco de continuar consumindo a tolerância.</a:t>
            </a:r>
          </a:p>
          <a:p/>
          <a:p>
            <a:r>
              <a:t>CONCLUSÃO</a:t>
            </a:r>
          </a:p>
          <a:p>
            <a:r>
              <a:t>Orçamento permitido: 10 • consumido: 8 • restante: 2; a política define como isso orienta decisões.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E6.19 — SLI, SLO e SLA: medida, objetivo e compromisso</a:t>
            </a:r>
          </a:p>
          <a:p/>
          <a:p>
            <a:r>
              <a:t>COMO EXPLICAR</a:t>
            </a:r>
          </a:p>
          <a:p>
            <a:r>
              <a:t>O SLO não nasce de copiar um número popular. Depende do impacto, da viabilidade e da política da equipe. SLA é um compromisso formal, que pode ter condições e consequências; a aula não está criando um contrato jurídico. Um relatório de dez sondas locais não prova cumprimento de um SLO mensal. A meta fictícia de 99% serve para explicar o cálculo e a decisão, não para impor um padrão universal ao projeto.</a:t>
            </a:r>
          </a:p>
          <a:p/>
          <a:p>
            <a:r>
              <a:t>CONCLUSÃO</a:t>
            </a:r>
          </a:p>
          <a:p>
            <a:r>
              <a:t>Medida observada, meta interna e compromisso formal são objetos diferentes.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E6.18 — SLI calculado: explicação passo a passo</a:t>
            </a:r>
          </a:p>
          <a:p/>
          <a:p>
            <a:r>
              <a:t>COMO EXPLICAR</a:t>
            </a:r>
          </a:p>
          <a:p>
            <a:r>
              <a:t>Use números pequenos o suficiente para que todos acompanhem. As oito falhas podem incluir status de erro, corpo inválido ou falta de resposta, desde que a coleta do indicador consiga observar esses casos. Não misture consultas administrativas no denominador nem selecione somente os logs bem-sucedidos. A janela terminou; o cálculo não estima sozinho a disponibilidade de uma janela maior ou a experiência de outra população.</a:t>
            </a:r>
          </a:p>
          <a:p/>
          <a:p>
            <a:r>
              <a:t>CONCLUSÃO</a:t>
            </a:r>
          </a:p>
          <a:p>
            <a:r>
              <a:t>99,2% descreve esta população nesta janela; não é uma promessa para todas as situações.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E6.17 — SLI: definir exatamente o que será medido</a:t>
            </a:r>
          </a:p>
          <a:p/>
          <a:p>
            <a:r>
              <a:t>COMO EXPLICAR</a:t>
            </a:r>
          </a:p>
          <a:p>
            <a:r>
              <a:t>A sonda do laboratório verifica status e conteúdo; uma métrica do servidor baseada apenas em HTTP 200 não observa exatamente o mesmo contrato. Requisições que não chegam à API não aparecem em seu counter. Por isso declare o ponto de observação. Excluir healthchecks evita que chamadas automáticas verdes diluam a falha da operação de negócio. Zero tráfego não prova sucesso de 100%; é ausência de amostra para esse cálculo.</a:t>
            </a:r>
          </a:p>
          <a:p/>
          <a:p>
            <a:r>
              <a:t>CONCLUSÃO</a:t>
            </a:r>
          </a:p>
          <a:p>
            <a:r>
              <a:t>Um SLI é útil quando população, sucesso, janela e origem estão definidos.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E6.16 — Respostas comentadas | Interpretar os sinais</a:t>
            </a:r>
          </a:p>
          <a:p/>
          <a:p>
            <a:r>
              <a:t>COMO EXPLICAR</a:t>
            </a:r>
          </a:p>
          <a:p>
            <a:r>
              <a:t>Pergunta: O counter está em 500. Isso significa 500 requisições por segundo?</a:t>
            </a:r>
          </a:p>
          <a:p>
            <a:r>
              <a:t>Resposta: Não. É um total acumulado. Para taxa, calcule variação por tempo e trate resets.</a:t>
            </a:r>
          </a:p>
          <a:p/>
          <a:p>
            <a:r>
              <a:t>Pergunta: Uma chamada tem request_id no log. Já temos um trace distribuído completo?</a:t>
            </a:r>
          </a:p>
          <a:p>
            <a:r>
              <a:t>Resposta: Não. Correlação local não substitui spans e propagação de contexto entre operações e serviços.</a:t>
            </a:r>
          </a:p>
          <a:p/>
          <a:p>
            <a:r>
              <a:t>Pergunta: A média é 47 ms. Podemos afirmar que ninguém esperou dois segundos?</a:t>
            </a:r>
          </a:p>
          <a:p>
            <a:r>
              <a:t>Resposta: Não. A média pode esconder cauda lenta; no exemplo há uma chamada de 2000 ms.</a:t>
            </a:r>
          </a:p>
          <a:p/>
          <a:p>
            <a:r>
              <a:t>CONCLUSÃO</a:t>
            </a:r>
          </a:p>
          <a:p>
            <a:r>
              <a:t>Diferencie o que foi observado, o que é hipótese e o que foi confirmado.</a:t>
            </a:r>
          </a:p>
          <a:p/>
          <a:p>
            <a:r>
              <a:t>RESPOSTAS</a:t>
            </a:r>
          </a:p>
          <a:p>
            <a:r>
              <a:t>Não. É um total acumulado. Para taxa, calcule variação por tempo e trate resets.</a:t>
            </a:r>
          </a:p>
          <a:p>
            <a:r>
              <a:t>Não. Correlação local não substitui spans e propagação de contexto entre operações e serviços.</a:t>
            </a:r>
          </a:p>
          <a:p>
            <a:r>
              <a:t>Não. A média pode esconder cauda lenta; no exemplo há uma chamada de 2000 ms.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E6.15 — Verificação | Interpretar os sinais</a:t>
            </a:r>
          </a:p>
          <a:p/>
          <a:p>
            <a:r>
              <a:t>COMO EXPLICAR</a:t>
            </a:r>
          </a:p>
          <a:p>
            <a: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p>
          <a:p/>
          <a:p>
            <a:r>
              <a:t>CONCLUSÃO</a:t>
            </a:r>
          </a:p>
          <a:p>
            <a:r>
              <a:t>O próximo slide traz as três respostas explicadas.</a:t>
            </a:r>
          </a:p>
          <a:p/>
          <a:p>
            <a:r>
              <a:t>PERGUNTAS</a:t>
            </a:r>
          </a:p>
          <a:p>
            <a:r>
              <a:t>O counter está em 500. Isso significa 500 requisições por segundo?</a:t>
            </a:r>
          </a:p>
          <a:p>
            <a:r>
              <a:t>Uma chamada tem request_id no log. Já temos um trace distribuído completo?</a:t>
            </a:r>
          </a:p>
          <a:p>
            <a:r>
              <a:t>A média é 47 ms. Podemos afirmar que ninguém esperou dois segundos?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E6.14 — Ferramentas: reconhecer a responsabilidade de cada uma</a:t>
            </a:r>
          </a:p>
          <a:p/>
          <a:p>
            <a:r>
              <a:t>COMO EXPLICAR</a:t>
            </a:r>
          </a:p>
          <a:p>
            <a:r>
              <a:t>Não trate ferramentas como uma lista de instalação obrigatória. Docker logs não produz logs que a aplicação não emitiu. Grafana depende de uma fonte e de consultas corretas. Um coletor pode encaminhar sinais para backends distintos. O projeto deve demonstrar observabilidade mínima com ferramentas compatíveis com seu contexto. O laboratório não instala Prometheus, Grafana ou Jaeger; evita consumir o tempo das apresentações com infraestrutura adicional.</a:t>
            </a:r>
          </a:p>
          <a:p/>
          <a:p>
            <a:r>
              <a:t>CONCLUSÃO</a:t>
            </a:r>
          </a:p>
          <a:p>
            <a:r>
              <a:t>Comece pela pergunta operacional; depois escolha como emitir, guardar e consultar o sinal.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E6.13 — Do código ao painel: como a telemetria chega à consulta</a:t>
            </a:r>
          </a:p>
          <a:p/>
          <a:p>
            <a:r>
              <a:t>COMO EXPLICAR</a:t>
            </a:r>
          </a:p>
          <a:p>
            <a:r>
              <a:t>OpenTelemetry fornece padrões e componentes para instrumentar, coletar e exportar; não é, por si só, o banco que armazena todos os dados nem o dashboard final. Prometheus pode coletar métricas por scraping; ferramentas de visualização consultam fontes configuradas. A demonstração mínima lê logs pelo Docker e consulta o endpoint de métricas e uma sonda Python. Não vamos fingir que essa combinação já tem retenção centralizada, tracing ou alta disponibilidade de observabilidade.</a:t>
            </a:r>
          </a:p>
          <a:p/>
          <a:p>
            <a:r>
              <a:t>CONCLUSÃO</a:t>
            </a:r>
          </a:p>
          <a:p>
            <a:r>
              <a:t>O dado precisa chegar à consulta com contexto; emitir um endpoint não cria automaticamente histórico.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E6.12 — Trace: visualizar a duração e a relação entre operações</a:t>
            </a:r>
          </a:p>
          <a:p/>
          <a:p>
            <a:r>
              <a:t>COMO EXPLICAR</a:t>
            </a:r>
          </a:p>
          <a:p>
            <a:r>
              <a:t>Um trace reúne spans ligados por contexto. Um span representa uma operação com início, fim e atributos; o vínculo pai-filho ajuda a reconstruir a execução. No desenho a API dura 120 ms e a chamada ao banco ocupa parte desse intervalo, 80 ms. Não some duração do span pai com a do filho: os intervalos se sobrepõem. Operações paralelas também impedem somas ingênuas. Um trace amostrado conta a história daquele atendimento, não garante cobertura de todas as chamadas.</a:t>
            </a:r>
          </a:p>
          <a:p/>
          <a:p>
            <a:r>
              <a:t>CONCLUSÃO</a:t>
            </a:r>
          </a:p>
          <a:p>
            <a:r>
              <a:t>Spans mostram relações e intervalos; duração maior sugere onde investigar, não prova a causa sozinha.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E6.11 — Média e percentil mostram coisas diferentes</a:t>
            </a:r>
          </a:p>
          <a:p/>
          <a:p>
            <a:r>
              <a:t>COMO EXPLICAR</a:t>
            </a:r>
          </a:p>
          <a:p>
            <a:r>
              <a:t>A distribuição tem 95 valores de 20 ms, quatro de 200 ms e um de 2000 ms. A média é (95×20 + 4×200 + 1×2000)/100 = 47 ms. Pelo método nearest-rank, p95 é o 95º valor, 20 ms, e p99 é o 99º, 200 ms. A requisição de dois segundos fica além do p99 neste conjunto. Métodos de percentil e estimativas por buckets podem diferir. Explique a população e a janela; não transforme uma amostra curta numa garantia para o mês.</a:t>
            </a:r>
          </a:p>
          <a:p/>
          <a:p>
            <a:r>
              <a:t>CONCLUSÃO</a:t>
            </a:r>
          </a:p>
          <a:p>
            <a:r>
              <a:t>Uma média baixa pode conviver com requisições lentas; percentil também depende da amostra e do método.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E6.10 — De contador a taxa: exemplo resolvido</a:t>
            </a:r>
          </a:p>
          <a:p/>
          <a:p>
            <a:r>
              <a:t>COMO EXPLICAR</a:t>
            </a:r>
          </a:p>
          <a:p>
            <a:r>
              <a:t>Faça a subtração no quadro antes de usar uma função de consulta. O exemplo exige a mesma série e um intervalo definido. Um reset por reinício da API muda a referência do contador; sistemas de consulta podem tratar isso, mas duas leituras soltas não reconstroem todos os eventos perdidos. Agregar contadores de instâncias sem separar resets também exige cuidado. Não confunda requisições por segundo com latência em segundos por requisição.</a:t>
            </a:r>
          </a:p>
          <a:p/>
          <a:p>
            <a:r>
              <a:t>CONCLUSÃO</a:t>
            </a:r>
          </a:p>
          <a:p>
            <a:r>
              <a:t>Counter é total; taxa é variação por tempo; reinícios mudam como a variação deve ser interpretada.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E6.09 — Tipos de métrica: conte, meça e distribua</a:t>
            </a:r>
          </a:p>
          <a:p/>
          <a:p>
            <a:r>
              <a:t>COMO EXPLICAR</a:t>
            </a:r>
          </a:p>
          <a:p>
            <a:r>
              <a:t>Counter não é a quantidade de requisições por segundo: é o total acumulado desde uma referência. Para taxa, compare a variação e o intervalo, considerando reinícios. Gauge representa um estado atual, como tamanho de fila. Histograma organiza uma distribuição; no formato clássico do Prometheus as faixas são cumulativas. O laboratório expõe counters e histograma em memória; docker stats oferece uma observação de recursos, sem histórico por si só.</a:t>
            </a:r>
          </a:p>
          <a:p/>
          <a:p>
            <a:r>
              <a:t>CONCLUSÃO</a:t>
            </a:r>
          </a:p>
          <a:p>
            <a:r>
              <a:t>Diga sempre o nome, a unidade, a população e o intervalo da medição.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E6.08 — Identificação da requisição: ligar resposta e evento</a:t>
            </a:r>
          </a:p>
          <a:p/>
          <a:p>
            <a:r>
              <a:t>COMO EXPLICAR</a:t>
            </a:r>
          </a:p>
          <a:p>
            <a:r>
              <a:t>Demonstre curl -i para obter o cabeçalho e depois procure o ID exato no log. A API gera um UUID, sem confiar em um valor arbitrário do cliente. Isso permite correlacionar o atendimento local. Um trace distribuído ainda exige propagar contexto entre serviços e registrar spans relacionados. O identificador não deve ser usado como label de métrica, pois criaria uma série por requisição. Mostre essa distinção antes de introduzir histogramas e traces.</a:t>
            </a:r>
          </a:p>
          <a:p/>
          <a:p>
            <a:r>
              <a:t>CONCLUSÃO</a:t>
            </a:r>
          </a:p>
          <a:p>
            <a:r>
              <a:t>request_id é uma chave de correlação; sozinho não descreve o caminho distribuído.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E6.07 — O que registrar — e o que não precisa ir para o log</a:t>
            </a:r>
          </a:p>
          <a:p/>
          <a:p>
            <a:r>
              <a:t>COMO EXPLICAR</a:t>
            </a:r>
          </a:p>
          <a:p>
            <a:r>
              <a:t>Um dump de environment ou request completo pode vazar informação. Níveis info, warn e error ajudam a filtrar, mas precisam de uma convenção coerente. Um aviso não é automaticamente um incidente; um evento info pode mostrar uma mudança importante. IDs também podem permitir correlação com pessoas, dependendo do sistema, então não assuma que todo identificador é irrelevante para privacidade. Para a aula, use requisições e registros fictícios e apenas os campos necessários.</a:t>
            </a:r>
          </a:p>
          <a:p/>
          <a:p>
            <a:r>
              <a:t>CONCLUSÃO</a:t>
            </a:r>
          </a:p>
          <a:p>
            <a:r>
              <a:t>Mais texto não significa mais evidência; selecione contexto que ajude a responder a uma pergunta.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E6.06 — Log estruturado: campos que apoiam o diagnóstico</a:t>
            </a:r>
          </a:p>
          <a:p/>
          <a:p>
            <a:r>
              <a:t>COMO EXPLICAR</a:t>
            </a:r>
          </a:p>
          <a:p>
            <a:r>
              <a:t>Leia os campos na ordem da investigação. A hora situa o evento, versão liga ao release, rota define a operação e request_id permite localizar o mesmo atendimento. O exemplo não deve ser copiado como resultado real da equipe. A duração da API mede do recebimento até preparar a resposta; não inclui toda a rede do cliente. O log não inclui senha, corpo enviado ou query string. Um error_code é evidência a interpretar, não diagnóstico final sem contexto.</a:t>
            </a:r>
          </a:p>
          <a:p/>
          <a:p>
            <a:r>
              <a:t>CONCLUSÃO</a:t>
            </a:r>
          </a:p>
          <a:p>
            <a:r>
              <a:t>Um log útil permite localizar o evento sem expor dados que a investigação não precisa.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E6.05 — Logs, métricas e traces: três perspectivas</a:t>
            </a:r>
          </a:p>
          <a:p/>
          <a:p>
            <a:r>
              <a:t>COMO EXPLICAR</a:t>
            </a:r>
          </a:p>
          <a:p>
            <a:r>
              <a:t>Uma linha de log descreve um evento; a métrica permite comparar volume ou distribuição; o trace relaciona operações de uma execução. Eles não são os únicos sinais possíveis, nem é obrigatório implantar os três em todo projeto. O laboratório gera logs e métricas; traces serão explicados por um diagrama conceitual. Não chamaremos um request_id isolado de tracing distribuído. A escolha deve seguir o que a equipe precisa investigar.</a:t>
            </a:r>
          </a:p>
          <a:p/>
          <a:p>
            <a:r>
              <a:t>CONCLUSÃO</a:t>
            </a:r>
          </a:p>
          <a:p>
            <a:r>
              <a:t>Combine perspectivas; não espere que um único sinal prove sozinho toda a causa.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E6.04 — Monitoramento e observabilidade: capacidades próximas</a:t>
            </a:r>
          </a:p>
          <a:p/>
          <a:p>
            <a:r>
              <a:t>COMO EXPLICAR</a:t>
            </a:r>
          </a:p>
          <a:p>
            <a:r>
              <a:t>Evite apresentar monitoramento e observabilidade como produtos rivais. As capacidades se sobrepõem: um painel pode revelar um problema e uma investigação pode usar o mesmo dado com outra pergunta. Instalar um dashboard não cria observabilidade automaticamente. É preciso emitir sinais pertinentes, coletá-los e interpretá-los. No projeto pequeno, um log estruturado, uma medição definida e um teste funcional já apoiam uma investigação concreta.</a:t>
            </a:r>
          </a:p>
          <a:p/>
          <a:p>
            <a:r>
              <a:t>CONCLUSÃO</a:t>
            </a:r>
          </a:p>
          <a:p>
            <a:r>
              <a:t>Ferramenta organiza dados; a instrumentação e o contrato da aplicação dão significado a eles.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E6.03 — Comece pelo caminho que o usuário percorre</a:t>
            </a:r>
          </a:p>
          <a:p/>
          <a:p>
            <a:r>
              <a:t>COMO EXPLICAR</a:t>
            </a:r>
          </a:p>
          <a:p>
            <a:r>
              <a:t>Trace a operação do ponto de vista de quem a utiliza. Um processo vivo ou uma conexão SQL isolada não comprovam que o resultado final chegou corretamente. Na demonstração, o cliente mede o tempo total da chamada e a API mede a parte executada no servidor. Os valores podem diferir por incluir etapas diferentes. Esse mapa orienta onde instrumentar e qual dado procurar quando o usuário relata erro ou lentidão.</a:t>
            </a:r>
          </a:p>
          <a:p/>
          <a:p>
            <a:r>
              <a:t>CONCLUSÃO</a:t>
            </a:r>
          </a:p>
          <a:p>
            <a:r>
              <a:t>Observe uma operação relevante; CPU baixa ou container Up não provam que ela funciona.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E6.02 — Quatro horas com espaço para as apresentações</a:t>
            </a:r>
          </a:p>
          <a:p/>
          <a:p>
            <a:r>
              <a:t>COMO EXPLICAR</a:t>
            </a:r>
          </a:p>
          <a:p>
            <a:r>
              <a:t>São 240 minutos, com 15 de intervalo, 35 de preparação e 56 reservados às apresentações. Cada bloco de oito minutos inclui a fala de cinco a sete e o restante para feedback ou transição. Com menos equipes, devolva o tempo à preparação ou ao feedback. O número de sete blocos acomoda a faixa usual de vinte a trinta estudantes em grupos de quatro a cinco; não é uma nova regra de formação. Se a turma tiver mais grupos, replaneje a exposição antes da aula, preservando o tempo oficial de cada fala.</a:t>
            </a:r>
          </a:p>
          <a:p/>
          <a:p>
            <a:r>
              <a:t>CONCLUSÃO</a:t>
            </a:r>
          </a:p>
          <a:p>
            <a:r>
              <a:t>O último encontro precisa de tempo para observar, preparar evidências e apresentar; não apenas exposição.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E6.01 — Fechar o ciclo: da entrega à evidência</a:t>
            </a:r>
          </a:p>
          <a:p/>
          <a:p>
            <a:r>
              <a:t>COMO EXPLICAR</a:t>
            </a:r>
          </a:p>
          <a:p>
            <a:r>
              <a:t>Comece pela experiência do usuário, não pela lista de ferramentas. A equipe já tem aplicação, pipeline, containerização e plano de entrega. Hoje precisa explicar o que aconteceu na execução, como soube e o que fez com essa informação. O projeto não muda, e a API do professor é apenas uma demonstração. A apresentação final tem cinco a sete minutos e usa evidências do repositório, sem uma entrega paralela fora dele.</a:t>
            </a:r>
          </a:p>
          <a:p/>
          <a:p>
            <a:r>
              <a:t>CONCLUSÃO</a:t>
            </a:r>
          </a:p>
          <a:p>
            <a:r>
              <a:t>Uma entrega só gera aprendizado quando seu comportamento pode ser observado e explicado.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39"/>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Capa do Encontro 6 — 26/09/2026. Observabilidade, IA aplicada e projeto final. Avance para o conteúdo E6·01; as referências E6·NN permanecem válidas.</a:t>
            </a:r>
          </a:p>
        </p:txBody>
      </p:sp>
      <p:sp>
        <p:nvSpPr>
          <p:cNvPr id="4" name="Slide Number Placeholder 3"/>
          <p:cNvSpPr>
            <a:spLocks noGrp="1"/>
          </p:cNvSpPr>
          <p:nvPr>
            <p:ph type="sldNum" idx="39"/>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8B6D61C-F334-430F-B1C4-20A81F584C96}" type="slidenum">
              <a:t>&lt;#&gt;</a:t>
            </a:fld>
          </a:p>
        </p:txBody>
      </p:sp>
      <p:sp>
        <p:nvSpPr>
          <p:cNvPr id="6" name="PlaceHolder 5"/>
          <p:cNvSpPr>
            <a:spLocks noGrp="1"/>
          </p:cNvSpPr>
          <p:nvPr>
            <p:ph type="dt" idx="3"/>
          </p:nvPr>
        </p:nvSpPr>
        <p:spPr/>
        <p:txBody>
          <a:bodyPr/>
          <a:p>
            <a:r>
              <a:rPr lang="pt-B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drão">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39C78721-130B-4E3F-AB9B-05D7863E81DD}" type="slidenum">
              <a:t>&lt;#&gt;</a:t>
            </a:fld>
          </a:p>
        </p:txBody>
      </p:sp>
      <p:sp>
        <p:nvSpPr>
          <p:cNvPr id="4" name="PlaceHolder 3"/>
          <p:cNvSpPr>
            <a:spLocks noGrp="1"/>
          </p:cNvSpPr>
          <p:nvPr>
            <p:ph type="dt" idx="6"/>
          </p:nvPr>
        </p:nvSpPr>
        <p:spPr/>
        <p:txBody>
          <a:bodyPr/>
          <a:p>
            <a:r>
              <a:rPr lang="pt-B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80E1C589-ACF7-4809-8AA2-ABD331C4E68A}" type="slidenum">
              <a:t>&lt;#&gt;</a:t>
            </a:fld>
          </a:p>
        </p:txBody>
      </p:sp>
      <p:sp>
        <p:nvSpPr>
          <p:cNvPr id="4" name="PlaceHolder 3"/>
          <p:cNvSpPr>
            <a:spLocks noGrp="1"/>
          </p:cNvSpPr>
          <p:nvPr>
            <p:ph type="dt" idx="9"/>
          </p:nvPr>
        </p:nvSpPr>
        <p:spPr/>
        <p:txBody>
          <a:bodyPr/>
          <a:p>
            <a:r>
              <a:rPr lang="pt-B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455DF70E-B2B8-421F-9DC9-14AB2166B10E}" type="slidenum">
              <a:t>&lt;#&gt;</a:t>
            </a:fld>
          </a:p>
        </p:txBody>
      </p:sp>
      <p:sp>
        <p:nvSpPr>
          <p:cNvPr id="4" name="PlaceHolder 3"/>
          <p:cNvSpPr>
            <a:spLocks noGrp="1"/>
          </p:cNvSpPr>
          <p:nvPr>
            <p:ph type="dt" idx="12"/>
          </p:nvPr>
        </p:nvSpPr>
        <p:spPr/>
        <p:txBody>
          <a:bodyPr/>
          <a:p>
            <a:r>
              <a:rPr lang="pt-B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A527EEB4-1E48-43A0-8B7A-DED8A9F59607}" type="slidenum">
              <a:t>&lt;#&gt;</a:t>
            </a:fld>
          </a:p>
        </p:txBody>
      </p:sp>
      <p:sp>
        <p:nvSpPr>
          <p:cNvPr id="6" name="PlaceHolder 5"/>
          <p:cNvSpPr>
            <a:spLocks noGrp="1"/>
          </p:cNvSpPr>
          <p:nvPr>
            <p:ph type="dt" idx="15"/>
          </p:nvPr>
        </p:nvSpPr>
        <p:spPr/>
        <p:txBody>
          <a:bodyPr/>
          <a:p>
            <a:r>
              <a:rPr lang="pt-B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EE701D04-6ADB-4E33-B654-D2AF90127EA6}" type="slidenum">
              <a:t>&lt;#&gt;</a:t>
            </a:fld>
          </a:p>
        </p:txBody>
      </p:sp>
      <p:sp>
        <p:nvSpPr>
          <p:cNvPr id="4" name="PlaceHolder 3"/>
          <p:cNvSpPr>
            <a:spLocks noGrp="1"/>
          </p:cNvSpPr>
          <p:nvPr>
            <p:ph type="dt" idx="18"/>
          </p:nvPr>
        </p:nvSpPr>
        <p:spPr/>
        <p:txBody>
          <a:bodyPr/>
          <a:p>
            <a:r>
              <a:rPr lang="pt-B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DC9B359A-B76C-4D66-9E87-741D4F783018}" type="slidenum">
              <a:t>&lt;#&gt;</a:t>
            </a:fld>
          </a:p>
        </p:txBody>
      </p:sp>
      <p:sp>
        <p:nvSpPr>
          <p:cNvPr id="7" name="PlaceHolder 6"/>
          <p:cNvSpPr>
            <a:spLocks noGrp="1"/>
          </p:cNvSpPr>
          <p:nvPr>
            <p:ph type="dt" idx="21"/>
          </p:nvPr>
        </p:nvSpPr>
        <p:spPr/>
        <p:txBody>
          <a:bodyPr/>
          <a:p>
            <a:r>
              <a:rPr lang="pt-B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E769396B-F904-41B0-B258-E1986DB4824F}" type="slidenum">
              <a:t>&lt;#&gt;</a:t>
            </a:fld>
          </a:p>
        </p:txBody>
      </p:sp>
      <p:sp>
        <p:nvSpPr>
          <p:cNvPr id="4" name="PlaceHolder 3"/>
          <p:cNvSpPr>
            <a:spLocks noGrp="1"/>
          </p:cNvSpPr>
          <p:nvPr>
            <p:ph type="dt" idx="24"/>
          </p:nvPr>
        </p:nvSpPr>
        <p:spPr/>
        <p:txBody>
          <a:bodyPr/>
          <a:p>
            <a:r>
              <a:rPr lang="pt-B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C556A23F-912E-4FA9-A8A8-5499E58F9E78}" type="slidenum">
              <a:t>&lt;#&gt;</a:t>
            </a:fld>
          </a:p>
        </p:txBody>
      </p:sp>
      <p:sp>
        <p:nvSpPr>
          <p:cNvPr id="5" name="PlaceHolder 4"/>
          <p:cNvSpPr>
            <a:spLocks noGrp="1"/>
          </p:cNvSpPr>
          <p:nvPr>
            <p:ph type="dt" idx="27"/>
          </p:nvPr>
        </p:nvSpPr>
        <p:spPr/>
        <p:txBody>
          <a:bodyPr/>
          <a:p>
            <a:r>
              <a:rPr lang="pt-B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FBC50F77-3936-4439-AD96-57EEDDBCFBB8}" type="slidenum">
              <a:t>&lt;#&gt;</a:t>
            </a:fld>
          </a:p>
        </p:txBody>
      </p:sp>
      <p:sp>
        <p:nvSpPr>
          <p:cNvPr id="4" name="PlaceHolder 3"/>
          <p:cNvSpPr>
            <a:spLocks noGrp="1"/>
          </p:cNvSpPr>
          <p:nvPr>
            <p:ph type="dt" idx="30"/>
          </p:nvPr>
        </p:nvSpPr>
        <p:spPr/>
        <p:txBody>
          <a:bodyPr/>
          <a:p>
            <a:r>
              <a:rPr lang="pt-B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E08C87FC-6E87-46E3-9544-739F046624CD}" type="slidenum">
              <a:t>&lt;#&gt;</a:t>
            </a:fld>
          </a:p>
        </p:txBody>
      </p:sp>
      <p:sp>
        <p:nvSpPr>
          <p:cNvPr id="4" name="PlaceHolder 3"/>
          <p:cNvSpPr>
            <a:spLocks noGrp="1"/>
          </p:cNvSpPr>
          <p:nvPr>
            <p:ph type="dt" idx="33"/>
          </p:nvPr>
        </p:nvSpPr>
        <p:spPr/>
        <p:txBody>
          <a:bodyPr/>
          <a:p>
            <a:r>
              <a:rPr lang="pt-B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B6CE4B87-6019-4739-AD60-D23B8A3718BE}" type="slidenum">
              <a:t>&lt;#&gt;</a:t>
            </a:fld>
          </a:p>
        </p:txBody>
      </p:sp>
      <p:sp>
        <p:nvSpPr>
          <p:cNvPr id="4" name="PlaceHolder 3"/>
          <p:cNvSpPr>
            <a:spLocks noGrp="1"/>
          </p:cNvSpPr>
          <p:nvPr>
            <p:ph type="dt" idx="36"/>
          </p:nvPr>
        </p:nvSpPr>
        <p:spPr/>
        <p:txBody>
          <a:bodyPr/>
          <a:p>
            <a:r>
              <a:rPr lang="pt-BR"/>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a:t>
            </a:r>
            <a:r>
              <a:rPr b="0" lang="pt-BR" sz="1800" spc="-1" strike="noStrike">
                <a:solidFill>
                  <a:srgbClr val="000000"/>
                </a:solidFill>
                <a:latin typeface="Arial"/>
              </a:rPr>
              <a:t>do título</a:t>
            </a:r>
            <a:endParaRPr b="0" lang="pt-BR" sz="1800" spc="-1" strike="noStrike">
              <a:solidFill>
                <a:srgbClr val="000000"/>
              </a:solidFill>
              <a:latin typeface="Arial"/>
            </a:endParaRPr>
          </a:p>
        </p:txBody>
      </p:sp>
      <p:sp>
        <p:nvSpPr>
          <p:cNvPr id="1" name="PlaceHolder 2"/>
          <p:cNvSpPr>
            <a:spLocks noGrp="1"/>
          </p:cNvSpPr>
          <p:nvPr>
            <p:ph type="ftr" idx="1"/>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F9A5D23D-8D87-46EE-8A36-EEACD072525D}"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8" name="PlaceHolder 2"/>
          <p:cNvSpPr>
            <a:spLocks noGrp="1"/>
          </p:cNvSpPr>
          <p:nvPr>
            <p:ph type="sldNum" idx="5"/>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75DDB37-ED10-4BC3-9888-81F84EAECECC}"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9" name="PlaceHolder 3"/>
          <p:cNvSpPr>
            <a:spLocks noGrp="1"/>
          </p:cNvSpPr>
          <p:nvPr>
            <p:ph type="dt" idx="6"/>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10"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a:t>
            </a:r>
            <a:r>
              <a:rPr b="0" lang="pt-BR" sz="4400" spc="-1" strike="noStrike">
                <a:solidFill>
                  <a:srgbClr val="000000"/>
                </a:solidFill>
                <a:latin typeface="Arial"/>
              </a:rPr>
              <a:t>do texto do título</a:t>
            </a:r>
            <a:endParaRPr b="0" lang="pt-BR" sz="4400" spc="-1" strike="noStrike">
              <a:solidFill>
                <a:srgbClr val="000000"/>
              </a:solidFill>
              <a:latin typeface="Arial"/>
            </a:endParaRPr>
          </a:p>
        </p:txBody>
      </p:sp>
      <p:sp>
        <p:nvSpPr>
          <p:cNvPr id="1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ftr" idx="7"/>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3" name="PlaceHolder 2"/>
          <p:cNvSpPr>
            <a:spLocks noGrp="1"/>
          </p:cNvSpPr>
          <p:nvPr>
            <p:ph type="sldNum" idx="8"/>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975F997-E6E9-4800-85FB-02142D3B33B3}"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14" name="PlaceHolder 3"/>
          <p:cNvSpPr>
            <a:spLocks noGrp="1"/>
          </p:cNvSpPr>
          <p:nvPr>
            <p:ph type="dt" idx="9"/>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ftr" idx="10"/>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6" name="PlaceHolder 2"/>
          <p:cNvSpPr>
            <a:spLocks noGrp="1"/>
          </p:cNvSpPr>
          <p:nvPr>
            <p:ph type="sldNum" idx="11"/>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2065FE50-892C-46F4-B583-B8DE205D14D4}"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17" name="PlaceHolder 3"/>
          <p:cNvSpPr>
            <a:spLocks noGrp="1"/>
          </p:cNvSpPr>
          <p:nvPr>
            <p:ph type="dt" idx="12"/>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19"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20" name="PlaceHolder 3"/>
          <p:cNvSpPr>
            <a:spLocks noGrp="1"/>
          </p:cNvSpPr>
          <p:nvPr>
            <p:ph type="ftr" idx="13"/>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1" name="PlaceHolder 4"/>
          <p:cNvSpPr>
            <a:spLocks noGrp="1"/>
          </p:cNvSpPr>
          <p:nvPr>
            <p:ph type="sldNum" idx="14"/>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FDC449A-5B9D-4C4C-9152-D0B89E92B931}"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22" name="PlaceHolder 5"/>
          <p:cNvSpPr>
            <a:spLocks noGrp="1"/>
          </p:cNvSpPr>
          <p:nvPr>
            <p:ph type="dt" idx="15"/>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ftr" idx="16"/>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6" name="PlaceHolder 2"/>
          <p:cNvSpPr>
            <a:spLocks noGrp="1"/>
          </p:cNvSpPr>
          <p:nvPr>
            <p:ph type="sldNum" idx="17"/>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891D63C-C7AB-438F-94AD-C7711487A23C}"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27" name="PlaceHolder 3"/>
          <p:cNvSpPr>
            <a:spLocks noGrp="1"/>
          </p:cNvSpPr>
          <p:nvPr>
            <p:ph type="dt" idx="18"/>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29"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30"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31" name="PlaceHolder 4"/>
          <p:cNvSpPr>
            <a:spLocks noGrp="1"/>
          </p:cNvSpPr>
          <p:nvPr>
            <p:ph type="ftr" idx="19"/>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2" name="PlaceHolder 5"/>
          <p:cNvSpPr>
            <a:spLocks noGrp="1"/>
          </p:cNvSpPr>
          <p:nvPr>
            <p:ph type="sldNum" idx="20"/>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FF47F75-27C9-4FC9-B628-76AE5519BC16}"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3" name="PlaceHolder 6"/>
          <p:cNvSpPr>
            <a:spLocks noGrp="1"/>
          </p:cNvSpPr>
          <p:nvPr>
            <p:ph type="dt" idx="21"/>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ftr" idx="22"/>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8" name="PlaceHolder 2"/>
          <p:cNvSpPr>
            <a:spLocks noGrp="1"/>
          </p:cNvSpPr>
          <p:nvPr>
            <p:ph type="sldNum" idx="23"/>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14845F3-1799-4AF4-85F5-985D4C865934}"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9" name="PlaceHolder 3"/>
          <p:cNvSpPr>
            <a:spLocks noGrp="1"/>
          </p:cNvSpPr>
          <p:nvPr>
            <p:ph type="dt" idx="24"/>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41" name="PlaceHolder 2"/>
          <p:cNvSpPr>
            <a:spLocks noGrp="1"/>
          </p:cNvSpPr>
          <p:nvPr>
            <p:ph type="ftr" idx="25"/>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2" name="PlaceHolder 3"/>
          <p:cNvSpPr>
            <a:spLocks noGrp="1"/>
          </p:cNvSpPr>
          <p:nvPr>
            <p:ph type="sldNum" idx="26"/>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B673C89-8F9E-4D43-BB1D-D45E488955B2}"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43" name="PlaceHolder 4"/>
          <p:cNvSpPr>
            <a:spLocks noGrp="1"/>
          </p:cNvSpPr>
          <p:nvPr>
            <p:ph type="dt" idx="27"/>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ftr" idx="28"/>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6" name="PlaceHolder 2"/>
          <p:cNvSpPr>
            <a:spLocks noGrp="1"/>
          </p:cNvSpPr>
          <p:nvPr>
            <p:ph type="sldNum" idx="29"/>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5DE24BE-5502-44F8-9AE6-452674B8141F}"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47" name="PlaceHolder 3"/>
          <p:cNvSpPr>
            <a:spLocks noGrp="1"/>
          </p:cNvSpPr>
          <p:nvPr>
            <p:ph type="dt" idx="30"/>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4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4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ftr" idx="31"/>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51" name="PlaceHolder 2"/>
          <p:cNvSpPr>
            <a:spLocks noGrp="1"/>
          </p:cNvSpPr>
          <p:nvPr>
            <p:ph type="sldNum" idx="32"/>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6BAAF24-8226-4B3F-A402-BFC5D22C96A1}"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52" name="PlaceHolder 3"/>
          <p:cNvSpPr>
            <a:spLocks noGrp="1"/>
          </p:cNvSpPr>
          <p:nvPr>
            <p:ph type="dt" idx="33"/>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ftr" idx="34"/>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54" name="PlaceHolder 2"/>
          <p:cNvSpPr>
            <a:spLocks noGrp="1"/>
          </p:cNvSpPr>
          <p:nvPr>
            <p:ph type="sldNum" idx="35"/>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D53D980-79E1-408F-9635-90CA257EFE16}"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55" name="PlaceHolder 3"/>
          <p:cNvSpPr>
            <a:spLocks noGrp="1"/>
          </p:cNvSpPr>
          <p:nvPr>
            <p:ph type="dt" idx="36"/>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pt-BR" sz="1580" spc="-1" strike="noStrike">
                <a:solidFill>
                  <a:schemeClr val="dk1"/>
                </a:solidFill>
                <a:latin typeface="Aptos"/>
              </a:rPr>
              <a:t>Clique para editar o formato do texto do título</a:t>
            </a:r>
            <a:endParaRPr b="0" lang="pt-BR" sz="1580" spc="-1" strike="noStrike">
              <a:solidFill>
                <a:schemeClr val="dk1"/>
              </a:solidFill>
              <a:latin typeface="Aptos"/>
            </a:endParaRPr>
          </a:p>
        </p:txBody>
      </p:sp>
      <p:sp>
        <p:nvSpPr>
          <p:cNvPr id="5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chemeClr val="dk1"/>
                </a:solidFill>
                <a:latin typeface="Aptos"/>
              </a:rPr>
              <a:t>Clique para editar o formato de texto dos tópicos</a:t>
            </a:r>
            <a:endParaRPr b="0" lang="pt-BR" sz="3200" spc="-1" strike="noStrike">
              <a:solidFill>
                <a:schemeClr val="dk1"/>
              </a:solidFill>
              <a:latin typeface="Aptos"/>
            </a:endParaRPr>
          </a:p>
          <a:p>
            <a:pPr lvl="1" marL="864000" indent="-324000">
              <a:spcBef>
                <a:spcPts val="1134"/>
              </a:spcBef>
              <a:buClr>
                <a:srgbClr val="000000"/>
              </a:buClr>
              <a:buSzPct val="75000"/>
              <a:buFont typeface="Symbol" charset="2"/>
              <a:buChar char=""/>
            </a:pPr>
            <a:r>
              <a:rPr b="0" lang="pt-BR" sz="2400" spc="-1" strike="noStrike">
                <a:solidFill>
                  <a:schemeClr val="dk1"/>
                </a:solidFill>
                <a:latin typeface="Aptos"/>
              </a:rPr>
              <a:t>2.º nível de tópicos</a:t>
            </a:r>
            <a:endParaRPr b="0" lang="pt-BR" sz="2400" spc="-1" strike="noStrike">
              <a:solidFill>
                <a:schemeClr val="dk1"/>
              </a:solidFill>
              <a:latin typeface="Aptos"/>
            </a:endParaRPr>
          </a:p>
          <a:p>
            <a:pPr lvl="2" marL="1296000" indent="-288000">
              <a:spcBef>
                <a:spcPts val="850"/>
              </a:spcBef>
              <a:buClr>
                <a:srgbClr val="000000"/>
              </a:buClr>
              <a:buSzPct val="45000"/>
              <a:buFont typeface="Wingdings" charset="2"/>
              <a:buChar char=""/>
            </a:pPr>
            <a:r>
              <a:rPr b="0" lang="pt-BR" sz="2000" spc="-1" strike="noStrike">
                <a:solidFill>
                  <a:schemeClr val="dk1"/>
                </a:solidFill>
                <a:latin typeface="Aptos"/>
              </a:rPr>
              <a:t>3.º nível de tópicos</a:t>
            </a:r>
            <a:endParaRPr b="0" lang="pt-BR" sz="2000" spc="-1" strike="noStrike">
              <a:solidFill>
                <a:schemeClr val="dk1"/>
              </a:solidFill>
              <a:latin typeface="Aptos"/>
            </a:endParaRPr>
          </a:p>
          <a:p>
            <a:pPr lvl="3" marL="1728000" indent="-216000">
              <a:spcBef>
                <a:spcPts val="567"/>
              </a:spcBef>
              <a:buClr>
                <a:srgbClr val="000000"/>
              </a:buClr>
              <a:buSzPct val="75000"/>
              <a:buFont typeface="Symbol" charset="2"/>
              <a:buChar char=""/>
            </a:pPr>
            <a:r>
              <a:rPr b="0" lang="pt-BR" sz="2000" spc="-1" strike="noStrike">
                <a:solidFill>
                  <a:schemeClr val="dk1"/>
                </a:solidFill>
                <a:latin typeface="Aptos"/>
              </a:rPr>
              <a:t>4.º nível de tópicos</a:t>
            </a:r>
            <a:endParaRPr b="0" lang="pt-BR" sz="2000" spc="-1" strike="noStrike">
              <a:solidFill>
                <a:schemeClr val="dk1"/>
              </a:solidFill>
              <a:latin typeface="Aptos"/>
            </a:endParaRPr>
          </a:p>
          <a:p>
            <a:pPr lvl="4" marL="2160000" indent="-216000">
              <a:spcBef>
                <a:spcPts val="283"/>
              </a:spcBef>
              <a:buClr>
                <a:srgbClr val="000000"/>
              </a:buClr>
              <a:buSzPct val="45000"/>
              <a:buFont typeface="Wingdings" charset="2"/>
              <a:buChar char=""/>
            </a:pPr>
            <a:r>
              <a:rPr b="0" lang="pt-BR" sz="2000" spc="-1" strike="noStrike">
                <a:solidFill>
                  <a:schemeClr val="dk1"/>
                </a:solidFill>
                <a:latin typeface="Aptos"/>
              </a:rPr>
              <a:t>5.º nível de tópicos</a:t>
            </a:r>
            <a:endParaRPr b="0" lang="pt-BR" sz="2000" spc="-1" strike="noStrike">
              <a:solidFill>
                <a:schemeClr val="dk1"/>
              </a:solidFill>
              <a:latin typeface="Aptos"/>
            </a:endParaRPr>
          </a:p>
          <a:p>
            <a:pPr lvl="5" marL="2592000" indent="-216000">
              <a:spcBef>
                <a:spcPts val="283"/>
              </a:spcBef>
              <a:buClr>
                <a:srgbClr val="000000"/>
              </a:buClr>
              <a:buSzPct val="45000"/>
              <a:buFont typeface="Wingdings" charset="2"/>
              <a:buChar char=""/>
            </a:pPr>
            <a:r>
              <a:rPr b="0" lang="pt-BR" sz="2000" spc="-1" strike="noStrike">
                <a:solidFill>
                  <a:schemeClr val="dk1"/>
                </a:solidFill>
                <a:latin typeface="Aptos"/>
              </a:rPr>
              <a:t>6.º nível de tópicos</a:t>
            </a:r>
            <a:endParaRPr b="0" lang="pt-BR" sz="2000" spc="-1" strike="noStrike">
              <a:solidFill>
                <a:schemeClr val="dk1"/>
              </a:solidFill>
              <a:latin typeface="Aptos"/>
            </a:endParaRPr>
          </a:p>
          <a:p>
            <a:pPr lvl="6" marL="3024000" indent="-216000">
              <a:spcBef>
                <a:spcPts val="283"/>
              </a:spcBef>
              <a:buClr>
                <a:srgbClr val="000000"/>
              </a:buClr>
              <a:buSzPct val="45000"/>
              <a:buFont typeface="Wingdings" charset="2"/>
              <a:buChar char=""/>
            </a:pPr>
            <a:r>
              <a:rPr b="0" lang="pt-BR" sz="2000" spc="-1" strike="noStrike">
                <a:solidFill>
                  <a:schemeClr val="dk1"/>
                </a:solidFill>
                <a:latin typeface="Aptos"/>
              </a:rPr>
              <a:t>7.º nível de tópicos</a:t>
            </a:r>
            <a:endParaRPr b="0" lang="pt-BR"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8.png"/><Relationship Id="rId3" Type="http://schemas.openxmlformats.org/officeDocument/2006/relationships/image" Target="../media/image1.png"/><Relationship Id="rId4" Type="http://schemas.openxmlformats.org/officeDocument/2006/relationships/notesSlide" Target="../notesSlides/notesSlide184.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132b42"/>
        </a:solidFill>
      </p:bgPr>
    </p:bg>
    <p:spTree>
      <p:nvGrpSpPr>
        <p:cNvPr id="1" name=""/>
        <p:cNvGrpSpPr/>
        <p:nvPr/>
      </p:nvGrpSpPr>
      <p:grpSpPr/>
      <p:sp>
        <p:nvSpPr>
          <p:cNvPr id="2732" name="TextBox 1"/>
          <p:cNvSpPr/>
          <p:nvPr/>
        </p:nvSpPr>
        <p:spPr>
          <a:xfrm>
            <a:off x="777240" y="2286000"/>
            <a:ext cx="10604880" cy="72936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3400" spc="-1" strike="noStrike">
                <a:solidFill>
                  <a:srgbClr val="ffffff"/>
                </a:solidFill>
                <a:latin typeface="Aptos"/>
              </a:rPr>
              <a:t>Encontro 6</a:t>
            </a:r>
            <a:endParaRPr b="0" lang="pt-BR" sz="3400" spc="-1" strike="noStrike">
              <a:solidFill>
                <a:srgbClr val="ffffff"/>
              </a:solidFill>
              <a:latin typeface="Arial"/>
            </a:endParaRPr>
          </a:p>
        </p:txBody>
      </p:sp>
      <p:sp>
        <p:nvSpPr>
          <p:cNvPr id="2733" name="TextBox 2"/>
          <p:cNvSpPr/>
          <p:nvPr/>
        </p:nvSpPr>
        <p:spPr>
          <a:xfrm>
            <a:off x="1920240" y="3090600"/>
            <a:ext cx="8318880" cy="500760"/>
          </a:xfrm>
          <a:prstGeom prst="rect">
            <a:avLst/>
          </a:prstGeom>
          <a:noFill/>
          <a:ln w="0">
            <a:noFill/>
          </a:ln>
        </p:spPr>
        <p:style>
          <a:lnRef idx="0"/>
          <a:fillRef idx="0"/>
          <a:effectRef idx="0"/>
          <a:fontRef idx="minor"/>
        </p:style>
        <p:txBody>
          <a:bodyPr lIns="45720" rIns="45720" tIns="27360" bIns="27360" anchor="t">
            <a:noAutofit/>
          </a:bodyPr>
          <a:p>
            <a:pPr>
              <a:lnSpc>
                <a:spcPct val="100000"/>
              </a:lnSpc>
            </a:pPr>
            <a:r>
              <a:rPr b="0" lang="en-US" sz="1800" spc="-1" strike="noStrike">
                <a:solidFill>
                  <a:srgbClr val="dde7f0"/>
                </a:solidFill>
                <a:latin typeface="Aptos"/>
              </a:rPr>
              <a:t>26/09/2026 | Observabilidade, IA aplicada e projeto final</a:t>
            </a:r>
            <a:endParaRPr b="0" lang="pt-BR" sz="1800" spc="-1" strike="noStrike">
              <a:solidFill>
                <a:srgbClr val="ffffff"/>
              </a:solidFill>
              <a:latin typeface="Arial"/>
            </a:endParaRPr>
          </a:p>
        </p:txBody>
      </p:sp>
      <p:sp>
        <p:nvSpPr>
          <p:cNvPr id="2734" name="TextBox 3"/>
          <p:cNvSpPr/>
          <p:nvPr/>
        </p:nvSpPr>
        <p:spPr>
          <a:xfrm>
            <a:off x="5532120" y="6263640"/>
            <a:ext cx="1186560" cy="2538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000" spc="-1" strike="noStrike">
                <a:solidFill>
                  <a:srgbClr val="dde7f0"/>
                </a:solidFill>
                <a:latin typeface="Aptos"/>
              </a:rPr>
              <a:t>E6</a:t>
            </a:r>
            <a:endParaRPr b="0" lang="pt-BR" sz="1000" spc="-1" strike="noStrike">
              <a:solidFill>
                <a:srgbClr val="ffffff"/>
              </a:solidFill>
              <a:latin typeface="Arial"/>
            </a:endParaRPr>
          </a:p>
        </p:txBody>
      </p:sp>
      <p:pic>
        <p:nvPicPr>
          <p:cNvPr id="2735" name="Picture 4" descr="e6_pulse.png"/>
          <p:cNvPicPr/>
          <p:nvPr/>
        </p:nvPicPr>
        <p:blipFill>
          <a:blip r:embed="rId2"/>
          <a:stretch/>
        </p:blipFill>
        <p:spPr>
          <a:xfrm>
            <a:off x="5615640" y="914400"/>
            <a:ext cx="957960" cy="957960"/>
          </a:xfrm>
          <a:prstGeom prst="rect">
            <a:avLst/>
          </a:prstGeom>
          <a:ln w="0">
            <a:noFill/>
          </a:ln>
        </p:spPr>
      </p:pic>
      <p:pic>
        <p:nvPicPr>
          <p:cNvPr id="2736" name="Picture 5" descr="Logo Unifor Pos.png"/>
          <p:cNvPicPr/>
          <p:nvPr/>
        </p:nvPicPr>
        <p:blipFill>
          <a:blip r:embed="rId3"/>
          <a:stretch/>
        </p:blipFill>
        <p:spPr>
          <a:xfrm>
            <a:off x="10522080" y="255960"/>
            <a:ext cx="997560" cy="345240"/>
          </a:xfrm>
          <a:prstGeom prst="rect">
            <a:avLst/>
          </a:prstGeom>
          <a:ln w="0">
            <a:noFill/>
          </a:ln>
        </p:spPr>
      </p:pic>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Fechar o ciclo: da entrega à evidência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Encontro 6 • observabilidade, diagnóstico e apresentação final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Retomar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E4: executar e integrar.</a:t>
            </a:r>
          </a:p>
          <a:p>
            <a:pPr algn="l">
              <a:lnSpc>
                <a:spcPct val="105000"/>
              </a:lnSpc>
              <a:spcAft>
                <a:spcPts val="600"/>
              </a:spcAft>
              <a:defRPr sz="1800" b="0">
                <a:solidFill>
                  <a:srgbClr val="26364A"/>
                </a:solidFill>
                <a:latin typeface="Aptos"/>
              </a:defRPr>
            </a:pPr>
            <a:r>
              <a:t>E5: entregar e recuperar.</a:t>
            </a:r>
          </a:p>
          <a:p>
            <a:pPr algn="l">
              <a:lnSpc>
                <a:spcPct val="105000"/>
              </a:lnSpc>
              <a:spcAft>
                <a:spcPts val="600"/>
              </a:spcAft>
              <a:defRPr sz="1800" b="0">
                <a:solidFill>
                  <a:srgbClr val="26364A"/>
                </a:solidFill>
                <a:latin typeface="Aptos"/>
              </a:defRPr>
            </a:pPr>
            <a:r>
              <a:t>E6: observar o efeito da mudança.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Compreender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Logs, métricas e traces.</a:t>
            </a:r>
          </a:p>
          <a:p>
            <a:pPr algn="l">
              <a:lnSpc>
                <a:spcPct val="105000"/>
              </a:lnSpc>
              <a:spcAft>
                <a:spcPts val="600"/>
              </a:spcAft>
              <a:defRPr sz="1800" b="0">
                <a:solidFill>
                  <a:srgbClr val="26364A"/>
                </a:solidFill>
                <a:latin typeface="Aptos"/>
              </a:defRPr>
            </a:pPr>
            <a:r>
              <a:t>Indicadores, objetivos e alertas.</a:t>
            </a:r>
          </a:p>
          <a:p>
            <a:pPr algn="l">
              <a:lnSpc>
                <a:spcPct val="105000"/>
              </a:lnSpc>
              <a:spcAft>
                <a:spcPts val="600"/>
              </a:spcAft>
              <a:defRPr sz="1800" b="0">
                <a:solidFill>
                  <a:srgbClr val="26364A"/>
                </a:solidFill>
                <a:latin typeface="Aptos"/>
              </a:defRPr>
            </a:pPr>
            <a:r>
              <a:t>Incidente com causa comprovada.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Demonstrar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Instrumentação mínima.</a:t>
            </a:r>
          </a:p>
          <a:p>
            <a:pPr algn="l">
              <a:lnSpc>
                <a:spcPct val="105000"/>
              </a:lnSpc>
              <a:spcAft>
                <a:spcPts val="600"/>
              </a:spcAft>
              <a:defRPr sz="1800" b="0">
                <a:solidFill>
                  <a:srgbClr val="26364A"/>
                </a:solidFill>
                <a:latin typeface="Aptos"/>
              </a:defRPr>
            </a:pPr>
            <a:r>
              <a:t>Relatório do incidente.</a:t>
            </a:r>
          </a:p>
          <a:p>
            <a:pPr algn="l">
              <a:lnSpc>
                <a:spcPct val="105000"/>
              </a:lnSpc>
              <a:spcAft>
                <a:spcPts val="600"/>
              </a:spcAft>
              <a:defRPr sz="1800" b="0">
                <a:solidFill>
                  <a:srgbClr val="26364A"/>
                </a:solidFill>
                <a:latin typeface="Aptos"/>
              </a:defRPr>
            </a:pPr>
            <a:r>
              <a:t>Apresentação do mesmo projeto da equipe.</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entrega só gera aprendizado quando seu comportamento pode ser observado e explicado.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E6·01</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Quatro horas com espaço para as apresentações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Planejamento para até sete equipes • ajustar ao número real de grupos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0–80 min | Base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0–10: contexto.</a:t>
            </a:r>
          </a:p>
          <a:p>
            <a:pPr algn="l">
              <a:lnSpc>
                <a:spcPct val="105000"/>
              </a:lnSpc>
              <a:spcAft>
                <a:spcPts val="600"/>
              </a:spcAft>
              <a:defRPr sz="1800" b="0">
                <a:solidFill>
                  <a:srgbClr val="26364A"/>
                </a:solidFill>
                <a:latin typeface="Aptos"/>
              </a:defRPr>
            </a:pPr>
            <a:r>
              <a:t>10–40: sinais e instrumentação.</a:t>
            </a:r>
          </a:p>
          <a:p>
            <a:pPr algn="l">
              <a:lnSpc>
                <a:spcPct val="105000"/>
              </a:lnSpc>
              <a:spcAft>
                <a:spcPts val="600"/>
              </a:spcAft>
              <a:defRPr sz="1800" b="0">
                <a:solidFill>
                  <a:srgbClr val="26364A"/>
                </a:solidFill>
                <a:latin typeface="Aptos"/>
              </a:defRPr>
            </a:pPr>
            <a:r>
              <a:t>40–60: SLI/SLO e alertas.</a:t>
            </a:r>
          </a:p>
          <a:p>
            <a:pPr algn="l">
              <a:lnSpc>
                <a:spcPct val="105000"/>
              </a:lnSpc>
              <a:spcAft>
                <a:spcPts val="600"/>
              </a:spcAft>
              <a:defRPr sz="1800" b="0">
                <a:solidFill>
                  <a:srgbClr val="26364A"/>
                </a:solidFill>
                <a:latin typeface="Aptos"/>
              </a:defRPr>
            </a:pPr>
            <a:r>
              <a:t>60–80: diagnóstico de incidente.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80–180 min | Aplicar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80–95: intervalo.</a:t>
            </a:r>
          </a:p>
          <a:p>
            <a:pPr algn="l">
              <a:lnSpc>
                <a:spcPct val="105000"/>
              </a:lnSpc>
              <a:spcAft>
                <a:spcPts val="600"/>
              </a:spcAft>
              <a:defRPr sz="1800" b="0">
                <a:solidFill>
                  <a:srgbClr val="26364A"/>
                </a:solidFill>
                <a:latin typeface="Aptos"/>
              </a:defRPr>
            </a:pPr>
            <a:r>
              <a:t>95–125: demo guiada.</a:t>
            </a:r>
          </a:p>
          <a:p>
            <a:pPr algn="l">
              <a:lnSpc>
                <a:spcPct val="105000"/>
              </a:lnSpc>
              <a:spcAft>
                <a:spcPts val="600"/>
              </a:spcAft>
              <a:defRPr sz="1800" b="0">
                <a:solidFill>
                  <a:srgbClr val="26364A"/>
                </a:solidFill>
                <a:latin typeface="Aptos"/>
              </a:defRPr>
            </a:pPr>
            <a:r>
              <a:t>125–145: IA e revisão.</a:t>
            </a:r>
          </a:p>
          <a:p>
            <a:pPr algn="l">
              <a:lnSpc>
                <a:spcPct val="105000"/>
              </a:lnSpc>
              <a:spcAft>
                <a:spcPts val="600"/>
              </a:spcAft>
              <a:defRPr sz="1800" b="0">
                <a:solidFill>
                  <a:srgbClr val="26364A"/>
                </a:solidFill>
                <a:latin typeface="Aptos"/>
              </a:defRPr>
            </a:pPr>
            <a:r>
              <a:t>145–180: preparação das equipes.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022" b="1">
                <a:solidFill>
                  <a:srgbClr val="2A5C8A"/>
                </a:solidFill>
                <a:latin typeface="Aptos"/>
              </a:defRPr>
            </a:pPr>
            <a:r>
              <a:t>180–240 min | Fechar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180–236: até 7 blocos de 8 min.</a:t>
            </a:r>
          </a:p>
          <a:p>
            <a:pPr algn="l">
              <a:lnSpc>
                <a:spcPct val="105000"/>
              </a:lnSpc>
              <a:spcAft>
                <a:spcPts val="600"/>
              </a:spcAft>
              <a:defRPr sz="1800" b="0">
                <a:solidFill>
                  <a:srgbClr val="26364A"/>
                </a:solidFill>
                <a:latin typeface="Aptos"/>
              </a:defRPr>
            </a:pPr>
            <a:r>
              <a:t>Cada fala: 5–7 min.</a:t>
            </a:r>
          </a:p>
          <a:p>
            <a:pPr algn="l">
              <a:lnSpc>
                <a:spcPct val="105000"/>
              </a:lnSpc>
              <a:spcAft>
                <a:spcPts val="600"/>
              </a:spcAft>
              <a:defRPr sz="1800" b="0">
                <a:solidFill>
                  <a:srgbClr val="26364A"/>
                </a:solidFill>
                <a:latin typeface="Aptos"/>
              </a:defRPr>
            </a:pPr>
            <a:r>
              <a:t>236–240: síntese e submissão final.</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último encontro precisa de tempo para observar, preparar evidências e apresentar; não apenas exposição.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E6·02</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Comece pelo caminho que o usuário percorre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conhecido: consultar o contador de visitas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Cliente</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GET /visitas</a:t>
            </a:r>
          </a:p>
          <a:p>
            <a:pPr algn="l">
              <a:lnSpc>
                <a:spcPct val="105000"/>
              </a:lnSpc>
              <a:spcAft>
                <a:spcPts val="600"/>
              </a:spcAft>
              <a:defRPr sz="1800" b="0">
                <a:solidFill>
                  <a:srgbClr val="26364A"/>
                </a:solidFill>
                <a:latin typeface="Aptos"/>
              </a:defRPr>
            </a:pPr>
            <a:r>
              <a:t>Espera resposta correta</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API</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Recebe e processa</a:t>
            </a:r>
          </a:p>
          <a:p>
            <a:pPr algn="l">
              <a:lnSpc>
                <a:spcPct val="105000"/>
              </a:lnSpc>
              <a:spcAft>
                <a:spcPts val="600"/>
              </a:spcAft>
              <a:defRPr sz="1800" b="0">
                <a:solidFill>
                  <a:srgbClr val="26364A"/>
                </a:solidFill>
                <a:latin typeface="Aptos"/>
              </a:defRPr>
            </a:pPr>
            <a:r>
              <a:t>Consulta a dependência</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Banco</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Lê o contador</a:t>
            </a:r>
          </a:p>
          <a:p>
            <a:pPr algn="l">
              <a:lnSpc>
                <a:spcPct val="105000"/>
              </a:lnSpc>
              <a:spcAft>
                <a:spcPts val="600"/>
              </a:spcAft>
              <a:defRPr sz="1800" b="0">
                <a:solidFill>
                  <a:srgbClr val="26364A"/>
                </a:solidFill>
                <a:latin typeface="Aptos"/>
              </a:defRPr>
            </a:pPr>
            <a:r>
              <a:t>Responde à consulta</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Cliente</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Recebe status e corpo</a:t>
            </a:r>
          </a:p>
          <a:p>
            <a:pPr algn="l">
              <a:lnSpc>
                <a:spcPct val="105000"/>
              </a:lnSpc>
              <a:spcAft>
                <a:spcPts val="600"/>
              </a:spcAft>
              <a:defRPr sz="1800" b="0">
                <a:solidFill>
                  <a:srgbClr val="26364A"/>
                </a:solidFill>
                <a:latin typeface="Aptos"/>
              </a:defRPr>
            </a:pPr>
            <a:r>
              <a:t>Percebe tempo e resultado</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Observe uma operação relevante; CPU baixa ou container Up não provam que ela funciona.</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E6·03</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82" b="1">
                <a:solidFill>
                  <a:srgbClr val="1B2A4A"/>
                </a:solidFill>
                <a:latin typeface="Aptos"/>
              </a:defRPr>
            </a:pPr>
            <a:r>
              <a:t>Monitoramento e observabilidade: capacidades próximas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Medir o conhecido e investigar o comportamento do sistema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Monitorar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Acompanhar condições escolhidas.</a:t>
            </a:r>
          </a:p>
          <a:p>
            <a:pPr algn="l">
              <a:lnSpc>
                <a:spcPct val="105000"/>
              </a:lnSpc>
              <a:spcAft>
                <a:spcPts val="600"/>
              </a:spcAft>
              <a:defRPr sz="1800" b="0">
                <a:solidFill>
                  <a:srgbClr val="26364A"/>
                </a:solidFill>
                <a:latin typeface="Aptos"/>
              </a:defRPr>
            </a:pPr>
            <a:r>
              <a:t>Ex.: erro e duração de uma rota.</a:t>
            </a:r>
          </a:p>
          <a:p>
            <a:pPr algn="l">
              <a:lnSpc>
                <a:spcPct val="105000"/>
              </a:lnSpc>
              <a:spcAft>
                <a:spcPts val="600"/>
              </a:spcAft>
              <a:defRPr sz="1800" b="0">
                <a:solidFill>
                  <a:srgbClr val="26364A"/>
                </a:solidFill>
                <a:latin typeface="Aptos"/>
              </a:defRPr>
            </a:pPr>
            <a:r>
              <a:t>Detectar desvio de um critério.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Investigar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Combinar sinais e contexto.</a:t>
            </a:r>
          </a:p>
          <a:p>
            <a:pPr algn="l">
              <a:lnSpc>
                <a:spcPct val="105000"/>
              </a:lnSpc>
              <a:spcAft>
                <a:spcPts val="600"/>
              </a:spcAft>
              <a:defRPr sz="1800" b="0">
                <a:solidFill>
                  <a:srgbClr val="26364A"/>
                </a:solidFill>
                <a:latin typeface="Aptos"/>
              </a:defRPr>
            </a:pPr>
            <a:r>
              <a:t>Explorar uma falha ainda não prevista.</a:t>
            </a:r>
          </a:p>
          <a:p>
            <a:pPr algn="l">
              <a:lnSpc>
                <a:spcPct val="105000"/>
              </a:lnSpc>
              <a:spcAft>
                <a:spcPts val="600"/>
              </a:spcAft>
              <a:defRPr sz="1800" b="0">
                <a:solidFill>
                  <a:srgbClr val="26364A"/>
                </a:solidFill>
                <a:latin typeface="Aptos"/>
              </a:defRPr>
            </a:pPr>
            <a:r>
              <a:t>Formular e testar hipóteses.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Instrumentar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Emitir dados úteis no código.</a:t>
            </a:r>
          </a:p>
          <a:p>
            <a:pPr algn="l">
              <a:lnSpc>
                <a:spcPct val="105000"/>
              </a:lnSpc>
              <a:spcAft>
                <a:spcPts val="600"/>
              </a:spcAft>
              <a:defRPr sz="1800" b="0">
                <a:solidFill>
                  <a:srgbClr val="26364A"/>
                </a:solidFill>
                <a:latin typeface="Aptos"/>
              </a:defRPr>
            </a:pPr>
            <a:r>
              <a:t>Preservar versão, tempo e contexto.</a:t>
            </a:r>
          </a:p>
          <a:p>
            <a:pPr algn="l">
              <a:lnSpc>
                <a:spcPct val="105000"/>
              </a:lnSpc>
              <a:spcAft>
                <a:spcPts val="600"/>
              </a:spcAft>
              <a:defRPr sz="1800" b="0">
                <a:solidFill>
                  <a:srgbClr val="26364A"/>
                </a:solidFill>
                <a:latin typeface="Aptos"/>
              </a:defRPr>
            </a:pPr>
            <a:r>
              <a:t>Coletar e consultar os sinais.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Ferramenta organiza dados; a instrumentação e o contrato da aplicação dão significado a eles.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E6·04</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Logs, métricas e traces: três perspectivas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Cada sinal responde melhor a um tipo de pergunta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9385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7007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Sinal</a:t>
            </a:r>
          </a:p>
        </p:txBody>
      </p:sp>
      <p:sp>
        <p:nvSpPr>
          <p:cNvPr id="7" name="Rounded Rectangle 6"/>
          <p:cNvSpPr/>
          <p:nvPr/>
        </p:nvSpPr>
        <p:spPr>
          <a:xfrm>
            <a:off x="640080" y="2386584"/>
            <a:ext cx="193852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70078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Log</a:t>
            </a:r>
          </a:p>
        </p:txBody>
      </p:sp>
      <p:sp>
        <p:nvSpPr>
          <p:cNvPr id="9" name="Rounded Rectangle 8"/>
          <p:cNvSpPr/>
          <p:nvPr/>
        </p:nvSpPr>
        <p:spPr>
          <a:xfrm>
            <a:off x="640080" y="3282696"/>
            <a:ext cx="1938528"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170078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Métrica</a:t>
            </a:r>
          </a:p>
        </p:txBody>
      </p:sp>
      <p:sp>
        <p:nvSpPr>
          <p:cNvPr id="11" name="Rounded Rectangle 10"/>
          <p:cNvSpPr/>
          <p:nvPr/>
        </p:nvSpPr>
        <p:spPr>
          <a:xfrm>
            <a:off x="640080" y="4178808"/>
            <a:ext cx="193852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170078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Trace</a:t>
            </a:r>
          </a:p>
        </p:txBody>
      </p:sp>
      <p:sp>
        <p:nvSpPr>
          <p:cNvPr id="13" name="Rounded Rectangle 12"/>
          <p:cNvSpPr/>
          <p:nvPr/>
        </p:nvSpPr>
        <p:spPr>
          <a:xfrm>
            <a:off x="2615184"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34056"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representa</a:t>
            </a:r>
          </a:p>
        </p:txBody>
      </p:sp>
      <p:sp>
        <p:nvSpPr>
          <p:cNvPr id="15" name="Rounded Rectangle 14"/>
          <p:cNvSpPr/>
          <p:nvPr/>
        </p:nvSpPr>
        <p:spPr>
          <a:xfrm>
            <a:off x="2615184" y="2386584"/>
            <a:ext cx="435254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34056" y="2436876"/>
            <a:ext cx="4114800"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Registro de um evento com contexto.</a:t>
            </a:r>
          </a:p>
        </p:txBody>
      </p:sp>
      <p:sp>
        <p:nvSpPr>
          <p:cNvPr id="17" name="Rounded Rectangle 16"/>
          <p:cNvSpPr/>
          <p:nvPr/>
        </p:nvSpPr>
        <p:spPr>
          <a:xfrm>
            <a:off x="2615184" y="3282696"/>
            <a:ext cx="4352544"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34056" y="3332988"/>
            <a:ext cx="4114800"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Medição agregada ao longo do tempo.</a:t>
            </a:r>
          </a:p>
        </p:txBody>
      </p:sp>
      <p:sp>
        <p:nvSpPr>
          <p:cNvPr id="19" name="Rounded Rectangle 18"/>
          <p:cNvSpPr/>
          <p:nvPr/>
        </p:nvSpPr>
        <p:spPr>
          <a:xfrm>
            <a:off x="2615184" y="4178808"/>
            <a:ext cx="435254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4056" y="4229100"/>
            <a:ext cx="4114800"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Caminho e duração de operações correlacionadas.</a:t>
            </a:r>
          </a:p>
        </p:txBody>
      </p:sp>
      <p:sp>
        <p:nvSpPr>
          <p:cNvPr id="21" name="Rounded Rectangle 20"/>
          <p:cNvSpPr/>
          <p:nvPr/>
        </p:nvSpPr>
        <p:spPr>
          <a:xfrm>
            <a:off x="7004304"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3176"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23" name="Rounded Rectangle 22"/>
          <p:cNvSpPr/>
          <p:nvPr/>
        </p:nvSpPr>
        <p:spPr>
          <a:xfrm>
            <a:off x="7004304" y="2386584"/>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3176" y="2436876"/>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Requisição terminou com 503 e código de erro.</a:t>
            </a:r>
          </a:p>
        </p:txBody>
      </p:sp>
      <p:sp>
        <p:nvSpPr>
          <p:cNvPr id="25" name="Rounded Rectangle 24"/>
          <p:cNvSpPr/>
          <p:nvPr/>
        </p:nvSpPr>
        <p:spPr>
          <a:xfrm>
            <a:off x="7004304" y="3282696"/>
            <a:ext cx="457200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23176" y="3332988"/>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5 falhas em 20 requisições.</a:t>
            </a:r>
          </a:p>
        </p:txBody>
      </p:sp>
      <p:sp>
        <p:nvSpPr>
          <p:cNvPr id="27" name="Rounded Rectangle 26"/>
          <p:cNvSpPr/>
          <p:nvPr/>
        </p:nvSpPr>
        <p:spPr>
          <a:xfrm>
            <a:off x="7004304" y="4178808"/>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23176" y="4229100"/>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API aguardou uma chamada à dependência.</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Combine perspectivas; não espere que um único sinal prove sozinho toda a causa.</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E6·05</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76" b="1">
                <a:solidFill>
                  <a:srgbClr val="1B2A4A"/>
                </a:solidFill>
                <a:latin typeface="Aptos"/>
              </a:defRPr>
            </a:pPr>
            <a:r>
              <a:t>Log estruturado: campos que apoiam o diagnóstico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ilustrativo com valores fictícios • JSON facilita consulta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{"timestamp":"2026-09-26T12:00:00Z",</a:t>
            </a:r>
          </a:p>
          <a:p>
            <a:pPr algn="l">
              <a:lnSpc>
                <a:spcPct val="105000"/>
              </a:lnSpc>
              <a:spcAft>
                <a:spcPts val="100"/>
              </a:spcAft>
              <a:defRPr sz="1800" b="0">
                <a:solidFill>
                  <a:srgbClr val="FFFFFF"/>
                </a:solidFill>
                <a:latin typeface="DejaVu Sans Mono"/>
              </a:defRPr>
            </a:pPr>
            <a:r>
              <a:t> "service":"api-visitas",</a:t>
            </a:r>
          </a:p>
          <a:p>
            <a:pPr algn="l">
              <a:lnSpc>
                <a:spcPct val="105000"/>
              </a:lnSpc>
              <a:spcAft>
                <a:spcPts val="100"/>
              </a:spcAft>
              <a:defRPr sz="1800" b="0">
                <a:solidFill>
                  <a:srgbClr val="FFFFFF"/>
                </a:solidFill>
                <a:latin typeface="DejaVu Sans Mono"/>
              </a:defRPr>
            </a:pPr>
            <a:r>
              <a:t> "version":"3.0.0-observabilidade",</a:t>
            </a:r>
          </a:p>
          <a:p>
            <a:pPr algn="l">
              <a:lnSpc>
                <a:spcPct val="105000"/>
              </a:lnSpc>
              <a:spcAft>
                <a:spcPts val="100"/>
              </a:spcAft>
              <a:defRPr sz="1800" b="0">
                <a:solidFill>
                  <a:srgbClr val="FFFFFF"/>
                </a:solidFill>
                <a:latin typeface="DejaVu Sans Mono"/>
              </a:defRPr>
            </a:pPr>
            <a:r>
              <a:t> "request_id":"exemplo-123",</a:t>
            </a:r>
          </a:p>
          <a:p>
            <a:pPr algn="l">
              <a:lnSpc>
                <a:spcPct val="105000"/>
              </a:lnSpc>
              <a:spcAft>
                <a:spcPts val="100"/>
              </a:spcAft>
              <a:defRPr sz="1800" b="0">
                <a:solidFill>
                  <a:srgbClr val="FFFFFF"/>
                </a:solidFill>
                <a:latin typeface="DejaVu Sans Mono"/>
              </a:defRPr>
            </a:pPr>
            <a:r>
              <a:t> "method":"GET", "route":"/visitas",</a:t>
            </a:r>
          </a:p>
          <a:p>
            <a:pPr algn="l">
              <a:lnSpc>
                <a:spcPct val="105000"/>
              </a:lnSpc>
              <a:spcAft>
                <a:spcPts val="100"/>
              </a:spcAft>
              <a:defRPr sz="1800" b="0">
                <a:solidFill>
                  <a:srgbClr val="FFFFFF"/>
                </a:solidFill>
                <a:latin typeface="DejaVu Sans Mono"/>
              </a:defRPr>
            </a:pPr>
            <a:r>
              <a:t> "status":503, "duration_ms":12.4,</a:t>
            </a:r>
          </a:p>
          <a:p>
            <a:pPr algn="l">
              <a:lnSpc>
                <a:spcPct val="105000"/>
              </a:lnSpc>
              <a:spcAft>
                <a:spcPts val="100"/>
              </a:spcAft>
              <a:defRPr sz="1800" b="0">
                <a:solidFill>
                  <a:srgbClr val="FFFFFF"/>
                </a:solidFill>
                <a:latin typeface="DejaVu Sans Mono"/>
              </a:defRPr>
            </a:pPr>
            <a:r>
              <a:t> "error_code":"ECONNREFUSED"}</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Contexto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timestamp: quando.</a:t>
            </a:r>
          </a:p>
          <a:p>
            <a:pPr algn="l">
              <a:lnSpc>
                <a:spcPct val="100000"/>
              </a:lnSpc>
              <a:spcAft>
                <a:spcPts val="300"/>
              </a:spcAft>
              <a:defRPr sz="1500" b="0">
                <a:solidFill>
                  <a:srgbClr val="26364A"/>
                </a:solidFill>
                <a:latin typeface="Aptos"/>
              </a:defRPr>
            </a:pPr>
            <a:r>
              <a:t>version: qual código.</a:t>
            </a:r>
          </a:p>
          <a:p>
            <a:pPr algn="l">
              <a:lnSpc>
                <a:spcPct val="100000"/>
              </a:lnSpc>
              <a:spcAft>
                <a:spcPts val="300"/>
              </a:spcAft>
              <a:defRPr sz="1500" b="0">
                <a:solidFill>
                  <a:srgbClr val="26364A"/>
                </a:solidFill>
                <a:latin typeface="Aptos"/>
              </a:defRPr>
            </a:pPr>
            <a:r>
              <a:t>request_id: qual chamada.</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Resultado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route e status: operação e resposta.</a:t>
            </a:r>
          </a:p>
          <a:p>
            <a:pPr algn="l">
              <a:lnSpc>
                <a:spcPct val="100000"/>
              </a:lnSpc>
              <a:spcAft>
                <a:spcPts val="300"/>
              </a:spcAft>
              <a:defRPr sz="1500" b="0">
                <a:solidFill>
                  <a:srgbClr val="26364A"/>
                </a:solidFill>
                <a:latin typeface="Aptos"/>
              </a:defRPr>
            </a:pPr>
            <a:r>
              <a:t>duration_ms: tempo no servidor.</a:t>
            </a:r>
          </a:p>
          <a:p>
            <a:pPr algn="l">
              <a:lnSpc>
                <a:spcPct val="100000"/>
              </a:lnSpc>
              <a:spcAft>
                <a:spcPts val="300"/>
              </a:spcAft>
              <a:defRPr sz="1500" b="0">
                <a:solidFill>
                  <a:srgbClr val="26364A"/>
                </a:solidFill>
                <a:latin typeface="Aptos"/>
              </a:defRPr>
            </a:pPr>
            <a:r>
              <a:t>error_code: pista da falha.</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log útil permite localizar o evento sem expor dados que a investigação não precisa.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E6·06</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23" b="1">
                <a:solidFill>
                  <a:srgbClr val="1B2A4A"/>
                </a:solidFill>
                <a:latin typeface="Aptos"/>
              </a:defRPr>
            </a:pPr>
            <a:r>
              <a:t>O que registrar — e o que não precisa ir para o log</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Utilidade, retenção e acesso fazem parte do desenho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Registrar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Evento, hora e serviço.</a:t>
            </a:r>
          </a:p>
          <a:p>
            <a:pPr algn="l">
              <a:lnSpc>
                <a:spcPct val="105000"/>
              </a:lnSpc>
              <a:spcAft>
                <a:spcPts val="600"/>
              </a:spcAft>
              <a:defRPr sz="1800" b="0">
                <a:solidFill>
                  <a:srgbClr val="26364A"/>
                </a:solidFill>
                <a:latin typeface="Aptos"/>
              </a:defRPr>
            </a:pPr>
            <a:r>
              <a:t>Rota normalizada, status e duração.</a:t>
            </a:r>
          </a:p>
          <a:p>
            <a:pPr algn="l">
              <a:lnSpc>
                <a:spcPct val="105000"/>
              </a:lnSpc>
              <a:spcAft>
                <a:spcPts val="600"/>
              </a:spcAft>
              <a:defRPr sz="1800" b="0">
                <a:solidFill>
                  <a:srgbClr val="26364A"/>
                </a:solidFill>
                <a:latin typeface="Aptos"/>
              </a:defRPr>
            </a:pPr>
            <a:r>
              <a:t>Versão e identificador de correlação.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Evitar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Senha, token e cabeçalho de autorização.</a:t>
            </a:r>
          </a:p>
          <a:p>
            <a:pPr algn="l">
              <a:lnSpc>
                <a:spcPct val="105000"/>
              </a:lnSpc>
              <a:spcAft>
                <a:spcPts val="600"/>
              </a:spcAft>
              <a:defRPr sz="1800" b="0">
                <a:solidFill>
                  <a:srgbClr val="26364A"/>
                </a:solidFill>
                <a:latin typeface="Aptos"/>
              </a:defRPr>
            </a:pPr>
            <a:r>
              <a:t>Payload completo sem necessidade.</a:t>
            </a:r>
          </a:p>
          <a:p>
            <a:pPr algn="l">
              <a:lnSpc>
                <a:spcPct val="105000"/>
              </a:lnSpc>
              <a:spcAft>
                <a:spcPts val="600"/>
              </a:spcAft>
              <a:defRPr sz="1800" b="0">
                <a:solidFill>
                  <a:srgbClr val="26364A"/>
                </a:solidFill>
                <a:latin typeface="Aptos"/>
              </a:defRPr>
            </a:pPr>
            <a:r>
              <a:t>Dados pessoais e URLs sensíveis.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Controlar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Quem consulta e por quanto tempo.</a:t>
            </a:r>
          </a:p>
          <a:p>
            <a:pPr algn="l">
              <a:lnSpc>
                <a:spcPct val="105000"/>
              </a:lnSpc>
              <a:spcAft>
                <a:spcPts val="600"/>
              </a:spcAft>
              <a:defRPr sz="1800" b="0">
                <a:solidFill>
                  <a:srgbClr val="26364A"/>
                </a:solidFill>
                <a:latin typeface="Aptos"/>
              </a:defRPr>
            </a:pPr>
            <a:r>
              <a:t>Volume e nível dos eventos.</a:t>
            </a:r>
          </a:p>
          <a:p>
            <a:pPr algn="l">
              <a:lnSpc>
                <a:spcPct val="105000"/>
              </a:lnSpc>
              <a:spcAft>
                <a:spcPts val="600"/>
              </a:spcAft>
              <a:defRPr sz="1800" b="0">
                <a:solidFill>
                  <a:srgbClr val="26364A"/>
                </a:solidFill>
                <a:latin typeface="Aptos"/>
              </a:defRPr>
            </a:pPr>
            <a:r>
              <a:t>Separar produção de dados fictícios.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Mais texto não significa mais evidência; selecione contexto que ajude a responder a uma pergunta.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E6·07</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76" b="1">
                <a:solidFill>
                  <a:srgbClr val="1B2A4A"/>
                </a:solidFill>
                <a:latin typeface="Aptos"/>
              </a:defRPr>
            </a:pPr>
            <a:r>
              <a:t>Identificação da requisição: ligar resposta e evento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No laboratório a API gera X-Request-Id para cada chamada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Resposta HTTP</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Cabeçalho com o ID</a:t>
            </a:r>
          </a:p>
          <a:p>
            <a:pPr algn="l">
              <a:lnSpc>
                <a:spcPct val="105000"/>
              </a:lnSpc>
              <a:spcAft>
                <a:spcPts val="600"/>
              </a:spcAft>
              <a:defRPr sz="1800" b="0">
                <a:solidFill>
                  <a:srgbClr val="26364A"/>
                </a:solidFill>
                <a:latin typeface="Aptos"/>
              </a:defRPr>
            </a:pPr>
            <a:r>
              <a:t>Copiar o valor observado</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Log da API</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Mesmo request_id</a:t>
            </a:r>
          </a:p>
          <a:p>
            <a:pPr algn="l">
              <a:lnSpc>
                <a:spcPct val="105000"/>
              </a:lnSpc>
              <a:spcAft>
                <a:spcPts val="600"/>
              </a:spcAft>
              <a:defRPr sz="1800" b="0">
                <a:solidFill>
                  <a:srgbClr val="26364A"/>
                </a:solidFill>
                <a:latin typeface="Aptos"/>
              </a:defRPr>
            </a:pPr>
            <a:r>
              <a:t>Status, versão e duração</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Investigação</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Localizar aquele evento</a:t>
            </a:r>
          </a:p>
          <a:p>
            <a:pPr algn="l">
              <a:lnSpc>
                <a:spcPct val="105000"/>
              </a:lnSpc>
              <a:spcAft>
                <a:spcPts val="600"/>
              </a:spcAft>
              <a:defRPr sz="1800" b="0">
                <a:solidFill>
                  <a:srgbClr val="26364A"/>
                </a:solidFill>
                <a:latin typeface="Aptos"/>
              </a:defRPr>
            </a:pPr>
            <a:r>
              <a:t>Comparar com outros sinais</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request_id é uma chave de correlação; sozinho não descreve o caminho distribuído.</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E6·08</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Tipos de métrica: conte, meça e distribua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Escolher o tipo evita interpretações erradas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37744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13969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Tipo</a:t>
            </a:r>
          </a:p>
        </p:txBody>
      </p:sp>
      <p:sp>
        <p:nvSpPr>
          <p:cNvPr id="7" name="Rounded Rectangle 6"/>
          <p:cNvSpPr/>
          <p:nvPr/>
        </p:nvSpPr>
        <p:spPr>
          <a:xfrm>
            <a:off x="640080" y="2386584"/>
            <a:ext cx="237744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139696"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Counter</a:t>
            </a:r>
          </a:p>
        </p:txBody>
      </p:sp>
      <p:sp>
        <p:nvSpPr>
          <p:cNvPr id="9" name="Rounded Rectangle 8"/>
          <p:cNvSpPr/>
          <p:nvPr/>
        </p:nvSpPr>
        <p:spPr>
          <a:xfrm>
            <a:off x="640080" y="3282696"/>
            <a:ext cx="237744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139696"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Gauge</a:t>
            </a:r>
          </a:p>
        </p:txBody>
      </p:sp>
      <p:sp>
        <p:nvSpPr>
          <p:cNvPr id="11" name="Rounded Rectangle 10"/>
          <p:cNvSpPr/>
          <p:nvPr/>
        </p:nvSpPr>
        <p:spPr>
          <a:xfrm>
            <a:off x="640080" y="4178808"/>
            <a:ext cx="237744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139696"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Histograma</a:t>
            </a:r>
          </a:p>
        </p:txBody>
      </p:sp>
      <p:sp>
        <p:nvSpPr>
          <p:cNvPr id="13" name="Rounded Rectangle 12"/>
          <p:cNvSpPr/>
          <p:nvPr/>
        </p:nvSpPr>
        <p:spPr>
          <a:xfrm>
            <a:off x="3054096" y="1764792"/>
            <a:ext cx="46817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72968" y="1874519"/>
            <a:ext cx="44439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Comportamento</a:t>
            </a:r>
          </a:p>
        </p:txBody>
      </p:sp>
      <p:sp>
        <p:nvSpPr>
          <p:cNvPr id="15" name="Rounded Rectangle 14"/>
          <p:cNvSpPr/>
          <p:nvPr/>
        </p:nvSpPr>
        <p:spPr>
          <a:xfrm>
            <a:off x="3054096" y="2386584"/>
            <a:ext cx="468172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72968" y="2436876"/>
            <a:ext cx="444398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Acumula eventos; pode zerar na reinicialização.</a:t>
            </a:r>
          </a:p>
        </p:txBody>
      </p:sp>
      <p:sp>
        <p:nvSpPr>
          <p:cNvPr id="17" name="Rounded Rectangle 16"/>
          <p:cNvSpPr/>
          <p:nvPr/>
        </p:nvSpPr>
        <p:spPr>
          <a:xfrm>
            <a:off x="3054096" y="3282696"/>
            <a:ext cx="4681728"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72968" y="3332988"/>
            <a:ext cx="444398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Valor que pode subir e descer.</a:t>
            </a:r>
          </a:p>
        </p:txBody>
      </p:sp>
      <p:sp>
        <p:nvSpPr>
          <p:cNvPr id="19" name="Rounded Rectangle 18"/>
          <p:cNvSpPr/>
          <p:nvPr/>
        </p:nvSpPr>
        <p:spPr>
          <a:xfrm>
            <a:off x="3054096" y="4178808"/>
            <a:ext cx="468172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72968" y="4229100"/>
            <a:ext cx="444398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Conta observações em faixas de valores.</a:t>
            </a:r>
          </a:p>
        </p:txBody>
      </p:sp>
      <p:sp>
        <p:nvSpPr>
          <p:cNvPr id="21" name="Rounded Rectangle 20"/>
          <p:cNvSpPr/>
          <p:nvPr/>
        </p:nvSpPr>
        <p:spPr>
          <a:xfrm>
            <a:off x="7772400" y="1764792"/>
            <a:ext cx="380390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91272" y="1874519"/>
            <a:ext cx="356615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23" name="Rounded Rectangle 22"/>
          <p:cNvSpPr/>
          <p:nvPr/>
        </p:nvSpPr>
        <p:spPr>
          <a:xfrm>
            <a:off x="7772400" y="2386584"/>
            <a:ext cx="3803903"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91272" y="2436876"/>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Total de respostas 503.</a:t>
            </a:r>
          </a:p>
        </p:txBody>
      </p:sp>
      <p:sp>
        <p:nvSpPr>
          <p:cNvPr id="25" name="Rounded Rectangle 24"/>
          <p:cNvSpPr/>
          <p:nvPr/>
        </p:nvSpPr>
        <p:spPr>
          <a:xfrm>
            <a:off x="7772400" y="3282696"/>
            <a:ext cx="3803903"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91272" y="3332988"/>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Memória usada ou fila atual.</a:t>
            </a:r>
          </a:p>
        </p:txBody>
      </p:sp>
      <p:sp>
        <p:nvSpPr>
          <p:cNvPr id="27" name="Rounded Rectangle 26"/>
          <p:cNvSpPr/>
          <p:nvPr/>
        </p:nvSpPr>
        <p:spPr>
          <a:xfrm>
            <a:off x="7772400" y="4178808"/>
            <a:ext cx="3803903"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91272" y="4229100"/>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Duração das requisições.</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Diga sempre o nome, a unidade, a população e o intervalo da medição.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E6·09</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De contador a taxa: exemplo resolvido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Mesma instância, sem reinício entre as duas leituras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91363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367588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Observação</a:t>
            </a:r>
          </a:p>
        </p:txBody>
      </p:sp>
      <p:sp>
        <p:nvSpPr>
          <p:cNvPr id="7" name="Rounded Rectangle 6"/>
          <p:cNvSpPr/>
          <p:nvPr/>
        </p:nvSpPr>
        <p:spPr>
          <a:xfrm>
            <a:off x="640080" y="2386584"/>
            <a:ext cx="391363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12:00:00 → total 100</a:t>
            </a:r>
          </a:p>
        </p:txBody>
      </p:sp>
      <p:sp>
        <p:nvSpPr>
          <p:cNvPr id="9" name="Rounded Rectangle 8"/>
          <p:cNvSpPr/>
          <p:nvPr/>
        </p:nvSpPr>
        <p:spPr>
          <a:xfrm>
            <a:off x="640080" y="3163824"/>
            <a:ext cx="3913632"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12:00:10 → total 140</a:t>
            </a:r>
          </a:p>
        </p:txBody>
      </p:sp>
      <p:sp>
        <p:nvSpPr>
          <p:cNvPr id="11" name="Rounded Rectangle 10"/>
          <p:cNvSpPr/>
          <p:nvPr/>
        </p:nvSpPr>
        <p:spPr>
          <a:xfrm>
            <a:off x="640080" y="3941063"/>
            <a:ext cx="391363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Taxa média</a:t>
            </a:r>
          </a:p>
        </p:txBody>
      </p:sp>
      <p:sp>
        <p:nvSpPr>
          <p:cNvPr id="13" name="Rounded Rectangle 12"/>
          <p:cNvSpPr/>
          <p:nvPr/>
        </p:nvSpPr>
        <p:spPr>
          <a:xfrm>
            <a:off x="640080" y="4718304"/>
            <a:ext cx="3913632"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Se o valor caiu para 3</a:t>
            </a:r>
          </a:p>
        </p:txBody>
      </p:sp>
      <p:sp>
        <p:nvSpPr>
          <p:cNvPr id="15" name="Rounded Rectangle 14"/>
          <p:cNvSpPr/>
          <p:nvPr/>
        </p:nvSpPr>
        <p:spPr>
          <a:xfrm>
            <a:off x="4590288" y="1764792"/>
            <a:ext cx="698601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1874519"/>
            <a:ext cx="674827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Cálculo e interpretação</a:t>
            </a:r>
          </a:p>
        </p:txBody>
      </p:sp>
      <p:sp>
        <p:nvSpPr>
          <p:cNvPr id="17" name="Rounded Rectangle 16"/>
          <p:cNvSpPr/>
          <p:nvPr/>
        </p:nvSpPr>
        <p:spPr>
          <a:xfrm>
            <a:off x="4590288" y="2386584"/>
            <a:ext cx="698601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2436876"/>
            <a:ext cx="674827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Primeira leitura do counter.</a:t>
            </a:r>
          </a:p>
        </p:txBody>
      </p:sp>
      <p:sp>
        <p:nvSpPr>
          <p:cNvPr id="19" name="Rounded Rectangle 18"/>
          <p:cNvSpPr/>
          <p:nvPr/>
        </p:nvSpPr>
        <p:spPr>
          <a:xfrm>
            <a:off x="4590288" y="3163824"/>
            <a:ext cx="6986016"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9160" y="3214116"/>
            <a:ext cx="674827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Foram concluídas 40 requisições no intervalo.</a:t>
            </a:r>
          </a:p>
        </p:txBody>
      </p:sp>
      <p:sp>
        <p:nvSpPr>
          <p:cNvPr id="21" name="Rounded Rectangle 20"/>
          <p:cNvSpPr/>
          <p:nvPr/>
        </p:nvSpPr>
        <p:spPr>
          <a:xfrm>
            <a:off x="4590288" y="3941063"/>
            <a:ext cx="698601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9160" y="3991355"/>
            <a:ext cx="674827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(140 − 100) / 10 s = 4 requisições/s.</a:t>
            </a:r>
          </a:p>
        </p:txBody>
      </p:sp>
      <p:sp>
        <p:nvSpPr>
          <p:cNvPr id="23" name="Rounded Rectangle 22"/>
          <p:cNvSpPr/>
          <p:nvPr/>
        </p:nvSpPr>
        <p:spPr>
          <a:xfrm>
            <a:off x="4590288" y="4718304"/>
            <a:ext cx="6986016"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60" y="4768596"/>
            <a:ext cx="674827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ter ocorrido reset; não calcular uma taxa negativa.</a:t>
            </a:r>
          </a:p>
        </p:txBody>
      </p:sp>
      <p:sp>
        <p:nvSpPr>
          <p:cNvPr id="25" name="Rounded Rectangle 2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Counter é total; taxa é variação por tempo; reinícios mudam como a variação deve ser interpretada.</a:t>
            </a:r>
          </a:p>
        </p:txBody>
      </p:sp>
      <p:sp>
        <p:nvSpPr>
          <p:cNvPr id="27" name="TextBox 2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28" name="TextBox 2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Média e percentil mostram coisas diferentes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sintético: 100 requisições ordenadas por duração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38528"/>
            <a:ext cx="2743200" cy="594360"/>
          </a:xfrm>
          <a:prstGeom prst="rect">
            <a:avLst/>
          </a:prstGeom>
          <a:noFill/>
        </p:spPr>
        <p:txBody>
          <a:bodyPr wrap="square" anchor="t" anchorCtr="0" lIns="27432" rIns="27432" tIns="18288" bIns="0">
            <a:noAutofit/>
          </a:bodyPr>
          <a:lstStyle/>
          <a:p>
            <a:pPr algn="l">
              <a:lnSpc>
                <a:spcPct val="105000"/>
              </a:lnSpc>
              <a:spcAft>
                <a:spcPts val="500"/>
              </a:spcAft>
              <a:defRPr sz="1900" b="1">
                <a:solidFill>
                  <a:srgbClr val="26364A"/>
                </a:solidFill>
                <a:latin typeface="Aptos"/>
              </a:defRPr>
            </a:pPr>
            <a:r>
              <a:t>95 chamadas × 20 ms</a:t>
            </a:r>
          </a:p>
        </p:txBody>
      </p:sp>
      <p:sp>
        <p:nvSpPr>
          <p:cNvPr id="6" name="Rounded Rectangle 5"/>
          <p:cNvSpPr/>
          <p:nvPr/>
        </p:nvSpPr>
        <p:spPr>
          <a:xfrm>
            <a:off x="3657600" y="1984248"/>
            <a:ext cx="4572000" cy="457200"/>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871216"/>
            <a:ext cx="2743200" cy="594360"/>
          </a:xfrm>
          <a:prstGeom prst="rect">
            <a:avLst/>
          </a:prstGeom>
          <a:noFill/>
        </p:spPr>
        <p:txBody>
          <a:bodyPr wrap="square" anchor="t" anchorCtr="0" lIns="27432" rIns="27432" tIns="18288" bIns="0">
            <a:noAutofit/>
          </a:bodyPr>
          <a:lstStyle/>
          <a:p>
            <a:pPr algn="l">
              <a:lnSpc>
                <a:spcPct val="105000"/>
              </a:lnSpc>
              <a:spcAft>
                <a:spcPts val="500"/>
              </a:spcAft>
              <a:defRPr sz="1900" b="1">
                <a:solidFill>
                  <a:srgbClr val="26364A"/>
                </a:solidFill>
                <a:latin typeface="Aptos"/>
              </a:defRPr>
            </a:pPr>
            <a:r>
              <a:t>4 chamadas × 200 ms</a:t>
            </a:r>
          </a:p>
        </p:txBody>
      </p:sp>
      <p:sp>
        <p:nvSpPr>
          <p:cNvPr id="8" name="Rounded Rectangle 7"/>
          <p:cNvSpPr/>
          <p:nvPr/>
        </p:nvSpPr>
        <p:spPr>
          <a:xfrm>
            <a:off x="3657600" y="2916936"/>
            <a:ext cx="192505" cy="45720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03904"/>
            <a:ext cx="2743200" cy="594360"/>
          </a:xfrm>
          <a:prstGeom prst="rect">
            <a:avLst/>
          </a:prstGeom>
          <a:noFill/>
        </p:spPr>
        <p:txBody>
          <a:bodyPr wrap="square" anchor="t" anchorCtr="0" lIns="27432" rIns="27432" tIns="18288" bIns="0">
            <a:noAutofit/>
          </a:bodyPr>
          <a:lstStyle/>
          <a:p>
            <a:pPr algn="l">
              <a:lnSpc>
                <a:spcPct val="105000"/>
              </a:lnSpc>
              <a:spcAft>
                <a:spcPts val="500"/>
              </a:spcAft>
              <a:defRPr sz="1900" b="1">
                <a:solidFill>
                  <a:srgbClr val="26364A"/>
                </a:solidFill>
                <a:latin typeface="Aptos"/>
              </a:defRPr>
            </a:pPr>
            <a:r>
              <a:t>1 chamadas × 2000 ms</a:t>
            </a:r>
          </a:p>
        </p:txBody>
      </p:sp>
      <p:sp>
        <p:nvSpPr>
          <p:cNvPr id="10" name="Rounded Rectangle 9"/>
          <p:cNvSpPr/>
          <p:nvPr/>
        </p:nvSpPr>
        <p:spPr>
          <a:xfrm>
            <a:off x="3657600" y="3849624"/>
            <a:ext cx="48126" cy="457200"/>
          </a:xfrm>
          <a:prstGeom prst="roundRect">
            <a:avLst/>
          </a:prstGeom>
          <a:solidFill>
            <a:srgbClr val="A9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10424160" cy="457200"/>
          </a:xfrm>
          <a:prstGeom prst="rect">
            <a:avLst/>
          </a:prstGeom>
          <a:noFill/>
        </p:spPr>
        <p:txBody>
          <a:bodyPr wrap="square" anchor="t" anchorCtr="0" lIns="27432" rIns="27432" tIns="18288" bIns="0">
            <a:noAutofit/>
          </a:bodyPr>
          <a:lstStyle/>
          <a:p>
            <a:pPr algn="l">
              <a:lnSpc>
                <a:spcPct val="105000"/>
              </a:lnSpc>
              <a:spcAft>
                <a:spcPts val="500"/>
              </a:spcAft>
              <a:defRPr sz="1700" b="0">
                <a:solidFill>
                  <a:srgbClr val="2A5C8A"/>
                </a:solidFill>
                <a:latin typeface="Aptos"/>
              </a:defRPr>
            </a:pPr>
            <a:r>
              <a:t>Comprimento das barras = quantidade de chamadas (total: 100).</a:t>
            </a:r>
          </a:p>
        </p:txBody>
      </p:sp>
      <p:sp>
        <p:nvSpPr>
          <p:cNvPr id="12" name="Rounded Rectangle 11"/>
          <p:cNvSpPr/>
          <p:nvPr/>
        </p:nvSpPr>
        <p:spPr>
          <a:xfrm>
            <a:off x="8549640" y="1847088"/>
            <a:ext cx="2926080" cy="30175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05088" y="1965960"/>
            <a:ext cx="26151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RESULTADO</a:t>
            </a:r>
          </a:p>
        </p:txBody>
      </p:sp>
      <p:sp>
        <p:nvSpPr>
          <p:cNvPr id="14" name="TextBox 13"/>
          <p:cNvSpPr txBox="1"/>
          <p:nvPr/>
        </p:nvSpPr>
        <p:spPr>
          <a:xfrm>
            <a:off x="8705088" y="2505456"/>
            <a:ext cx="2615184" cy="225856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Média: 47 ms</a:t>
            </a:r>
          </a:p>
          <a:p>
            <a:pPr algn="l">
              <a:lnSpc>
                <a:spcPct val="105000"/>
              </a:lnSpc>
              <a:spcAft>
                <a:spcPts val="600"/>
              </a:spcAft>
              <a:defRPr sz="1800" b="0">
                <a:solidFill>
                  <a:srgbClr val="26364A"/>
                </a:solidFill>
                <a:latin typeface="Aptos"/>
              </a:defRPr>
            </a:pPr>
            <a:r>
              <a:t>p95: 20 ms</a:t>
            </a:r>
          </a:p>
          <a:p>
            <a:pPr algn="l">
              <a:lnSpc>
                <a:spcPct val="105000"/>
              </a:lnSpc>
              <a:spcAft>
                <a:spcPts val="600"/>
              </a:spcAft>
              <a:defRPr sz="1800" b="0">
                <a:solidFill>
                  <a:srgbClr val="26364A"/>
                </a:solidFill>
                <a:latin typeface="Aptos"/>
              </a:defRPr>
            </a:pPr>
            <a:r>
              <a:t>p99: 200 ms</a:t>
            </a:r>
          </a:p>
          <a:p>
            <a:pPr algn="l">
              <a:lnSpc>
                <a:spcPct val="105000"/>
              </a:lnSpc>
              <a:spcAft>
                <a:spcPts val="600"/>
              </a:spcAft>
              <a:defRPr sz="1800" b="0">
                <a:solidFill>
                  <a:srgbClr val="26364A"/>
                </a:solidFill>
                <a:latin typeface="Aptos"/>
              </a:defRPr>
            </a:pPr>
            <a:r>
              <a:t>Máximo: 2.000 ms</a:t>
            </a:r>
          </a:p>
        </p:txBody>
      </p:sp>
      <p:sp>
        <p:nvSpPr>
          <p:cNvPr id="15" name="Rounded Rectangle 1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média baixa pode conviver com requisições lentas; percentil também depende da amostra e do método.</a:t>
            </a:r>
          </a:p>
        </p:txBody>
      </p:sp>
      <p:sp>
        <p:nvSpPr>
          <p:cNvPr id="17" name="TextBox 1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8" name="TextBox 1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E6·11</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78" b="1">
                <a:solidFill>
                  <a:srgbClr val="1B2A4A"/>
                </a:solidFill>
                <a:latin typeface="Aptos"/>
              </a:defRPr>
            </a:pPr>
            <a:r>
              <a:t>Trace: visualizar a duração e a relação entre operações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Diagrama conceitual • valores ilustrativos, não capturados no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10512"/>
            <a:ext cx="10515600" cy="502920"/>
          </a:xfrm>
          <a:prstGeom prst="rect">
            <a:avLst/>
          </a:prstGeom>
          <a:noFill/>
        </p:spPr>
        <p:txBody>
          <a:bodyPr wrap="square" anchor="t" anchorCtr="0" lIns="27432" rIns="27432" tIns="18288" bIns="0">
            <a:noAutofit/>
          </a:bodyPr>
          <a:lstStyle/>
          <a:p>
            <a:pPr algn="l">
              <a:lnSpc>
                <a:spcPct val="105000"/>
              </a:lnSpc>
              <a:spcAft>
                <a:spcPts val="500"/>
              </a:spcAft>
              <a:defRPr sz="2000" b="1">
                <a:solidFill>
                  <a:srgbClr val="2A5C8A"/>
                </a:solidFill>
                <a:latin typeface="Aptos"/>
              </a:defRPr>
            </a:pPr>
            <a:r>
              <a:t>Uma requisição • eixo horizontal: tempo desde o início</a:t>
            </a:r>
          </a:p>
        </p:txBody>
      </p:sp>
      <p:sp>
        <p:nvSpPr>
          <p:cNvPr id="6" name="Rounded Rectangle 5"/>
          <p:cNvSpPr/>
          <p:nvPr/>
        </p:nvSpPr>
        <p:spPr>
          <a:xfrm>
            <a:off x="960120" y="2697480"/>
            <a:ext cx="9875520" cy="594360"/>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70632"/>
            <a:ext cx="9144000" cy="457200"/>
          </a:xfrm>
          <a:prstGeom prst="rect">
            <a:avLst/>
          </a:prstGeom>
          <a:noFill/>
        </p:spPr>
        <p:txBody>
          <a:bodyPr wrap="square" anchor="t" anchorCtr="0" lIns="27432" rIns="27432" tIns="18288" bIns="0">
            <a:noAutofit/>
          </a:bodyPr>
          <a:lstStyle/>
          <a:p>
            <a:pPr algn="l">
              <a:lnSpc>
                <a:spcPct val="105000"/>
              </a:lnSpc>
              <a:spcAft>
                <a:spcPts val="500"/>
              </a:spcAft>
              <a:defRPr sz="2100" b="1">
                <a:solidFill>
                  <a:srgbClr val="FFFFFF"/>
                </a:solidFill>
                <a:latin typeface="Aptos"/>
              </a:defRPr>
            </a:pPr>
            <a:r>
              <a:t>Span pai: API • 120 ms</a:t>
            </a:r>
          </a:p>
        </p:txBody>
      </p:sp>
      <p:sp>
        <p:nvSpPr>
          <p:cNvPr id="8" name="Rounded Rectangle 7"/>
          <p:cNvSpPr/>
          <p:nvPr/>
        </p:nvSpPr>
        <p:spPr>
          <a:xfrm>
            <a:off x="2606040" y="3675887"/>
            <a:ext cx="6583680" cy="59436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3749039"/>
            <a:ext cx="6217920" cy="457200"/>
          </a:xfrm>
          <a:prstGeom prst="rect">
            <a:avLst/>
          </a:prstGeom>
          <a:noFill/>
        </p:spPr>
        <p:txBody>
          <a:bodyPr wrap="square" anchor="t" anchorCtr="0" lIns="27432" rIns="27432" tIns="18288" bIns="0">
            <a:noAutofit/>
          </a:bodyPr>
          <a:lstStyle/>
          <a:p>
            <a:pPr algn="l">
              <a:lnSpc>
                <a:spcPct val="105000"/>
              </a:lnSpc>
              <a:spcAft>
                <a:spcPts val="500"/>
              </a:spcAft>
              <a:defRPr sz="2000" b="1">
                <a:solidFill>
                  <a:srgbClr val="FFFFFF"/>
                </a:solidFill>
                <a:latin typeface="Aptos"/>
              </a:defRPr>
            </a:pPr>
            <a:r>
              <a:t>Span filho: consulta ao banco • 80 ms</a:t>
            </a:r>
          </a:p>
        </p:txBody>
      </p:sp>
      <p:sp>
        <p:nvSpPr>
          <p:cNvPr id="10" name="TextBox 9"/>
          <p:cNvSpPr txBox="1"/>
          <p:nvPr/>
        </p:nvSpPr>
        <p:spPr>
          <a:xfrm>
            <a:off x="795528" y="2340864"/>
            <a:ext cx="1280160" cy="320040"/>
          </a:xfrm>
          <a:prstGeom prst="rect">
            <a:avLst/>
          </a:prstGeom>
          <a:noFill/>
        </p:spPr>
        <p:txBody>
          <a:bodyPr wrap="square" anchor="t" anchorCtr="0" lIns="27432" rIns="27432" tIns="18288" bIns="0">
            <a:noAutofit/>
          </a:bodyPr>
          <a:lstStyle/>
          <a:p>
            <a:pPr algn="l">
              <a:lnSpc>
                <a:spcPct val="105000"/>
              </a:lnSpc>
              <a:spcAft>
                <a:spcPts val="500"/>
              </a:spcAft>
              <a:defRPr sz="1400" b="0">
                <a:solidFill>
                  <a:srgbClr val="26364A"/>
                </a:solidFill>
                <a:latin typeface="Aptos"/>
              </a:defRPr>
            </a:pPr>
            <a:r>
              <a:t>0 ms</a:t>
            </a:r>
          </a:p>
        </p:txBody>
      </p:sp>
      <p:sp>
        <p:nvSpPr>
          <p:cNvPr id="11" name="TextBox 10"/>
          <p:cNvSpPr txBox="1"/>
          <p:nvPr/>
        </p:nvSpPr>
        <p:spPr>
          <a:xfrm>
            <a:off x="2441448" y="2340864"/>
            <a:ext cx="1280160" cy="320040"/>
          </a:xfrm>
          <a:prstGeom prst="rect">
            <a:avLst/>
          </a:prstGeom>
          <a:noFill/>
        </p:spPr>
        <p:txBody>
          <a:bodyPr wrap="square" anchor="t" anchorCtr="0" lIns="27432" rIns="27432" tIns="18288" bIns="0">
            <a:noAutofit/>
          </a:bodyPr>
          <a:lstStyle/>
          <a:p>
            <a:pPr algn="l">
              <a:lnSpc>
                <a:spcPct val="105000"/>
              </a:lnSpc>
              <a:spcAft>
                <a:spcPts val="500"/>
              </a:spcAft>
              <a:defRPr sz="1400" b="0">
                <a:solidFill>
                  <a:srgbClr val="26364A"/>
                </a:solidFill>
                <a:latin typeface="Aptos"/>
              </a:defRPr>
            </a:pPr>
            <a:r>
              <a:t>20 ms</a:t>
            </a:r>
          </a:p>
        </p:txBody>
      </p:sp>
      <p:sp>
        <p:nvSpPr>
          <p:cNvPr id="12" name="TextBox 11"/>
          <p:cNvSpPr txBox="1"/>
          <p:nvPr/>
        </p:nvSpPr>
        <p:spPr>
          <a:xfrm>
            <a:off x="9025128" y="2340864"/>
            <a:ext cx="1280160" cy="320040"/>
          </a:xfrm>
          <a:prstGeom prst="rect">
            <a:avLst/>
          </a:prstGeom>
          <a:noFill/>
        </p:spPr>
        <p:txBody>
          <a:bodyPr wrap="square" anchor="t" anchorCtr="0" lIns="27432" rIns="27432" tIns="18288" bIns="0">
            <a:noAutofit/>
          </a:bodyPr>
          <a:lstStyle/>
          <a:p>
            <a:pPr algn="l">
              <a:lnSpc>
                <a:spcPct val="105000"/>
              </a:lnSpc>
              <a:spcAft>
                <a:spcPts val="500"/>
              </a:spcAft>
              <a:defRPr sz="1400" b="0">
                <a:solidFill>
                  <a:srgbClr val="26364A"/>
                </a:solidFill>
                <a:latin typeface="Aptos"/>
              </a:defRPr>
            </a:pPr>
            <a:r>
              <a:t>100 ms</a:t>
            </a:r>
          </a:p>
        </p:txBody>
      </p:sp>
      <p:sp>
        <p:nvSpPr>
          <p:cNvPr id="13" name="TextBox 12"/>
          <p:cNvSpPr txBox="1"/>
          <p:nvPr/>
        </p:nvSpPr>
        <p:spPr>
          <a:xfrm>
            <a:off x="10488168" y="2340864"/>
            <a:ext cx="1280160" cy="320040"/>
          </a:xfrm>
          <a:prstGeom prst="rect">
            <a:avLst/>
          </a:prstGeom>
          <a:noFill/>
        </p:spPr>
        <p:txBody>
          <a:bodyPr wrap="square" anchor="t" anchorCtr="0" lIns="27432" rIns="27432" tIns="18288" bIns="0">
            <a:noAutofit/>
          </a:bodyPr>
          <a:lstStyle/>
          <a:p>
            <a:pPr algn="l">
              <a:lnSpc>
                <a:spcPct val="105000"/>
              </a:lnSpc>
              <a:spcAft>
                <a:spcPts val="500"/>
              </a:spcAft>
              <a:defRPr sz="1400" b="0">
                <a:solidFill>
                  <a:srgbClr val="26364A"/>
                </a:solidFill>
                <a:latin typeface="Aptos"/>
              </a:defRPr>
            </a:pPr>
            <a:r>
              <a:t>120 ms</a:t>
            </a:r>
          </a:p>
        </p:txBody>
      </p:sp>
      <p:sp>
        <p:nvSpPr>
          <p:cNvPr id="14" name="TextBox 13"/>
          <p:cNvSpPr txBox="1"/>
          <p:nvPr/>
        </p:nvSpPr>
        <p:spPr>
          <a:xfrm>
            <a:off x="777240" y="4809744"/>
            <a:ext cx="10515600" cy="594360"/>
          </a:xfrm>
          <a:prstGeom prst="rect">
            <a:avLst/>
          </a:prstGeom>
          <a:noFill/>
        </p:spPr>
        <p:txBody>
          <a:bodyPr wrap="square" anchor="t" anchorCtr="0" lIns="27432" rIns="27432" tIns="18288" bIns="0">
            <a:noAutofit/>
          </a:bodyPr>
          <a:lstStyle/>
          <a:p>
            <a:pPr algn="l">
              <a:lnSpc>
                <a:spcPct val="105000"/>
              </a:lnSpc>
              <a:spcAft>
                <a:spcPts val="500"/>
              </a:spcAft>
              <a:defRPr sz="2100" b="1">
                <a:solidFill>
                  <a:srgbClr val="007F86"/>
                </a:solidFill>
                <a:latin typeface="Aptos"/>
              </a:defRPr>
            </a:pPr>
            <a:r>
              <a:t>Os 80 ms estão dentro dos 120 ms: não somar pai + filho.</a:t>
            </a:r>
          </a:p>
        </p:txBody>
      </p:sp>
      <p:sp>
        <p:nvSpPr>
          <p:cNvPr id="15" name="Rounded Rectangle 1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Spans mostram relações e intervalos; duração maior sugere onde investigar, não prova a causa sozinha.</a:t>
            </a:r>
          </a:p>
        </p:txBody>
      </p:sp>
      <p:sp>
        <p:nvSpPr>
          <p:cNvPr id="17" name="TextBox 1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8" name="TextBox 1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E6·12</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06" b="1">
                <a:solidFill>
                  <a:srgbClr val="1B2A4A"/>
                </a:solidFill>
                <a:latin typeface="Aptos"/>
              </a:defRPr>
            </a:pPr>
            <a:r>
              <a:t>Do código ao painel: como a telemetria chega à consulta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Separar instrumentação, transporte, armazenamento e uso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Emitir</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Aplicação registra</a:t>
            </a:r>
          </a:p>
          <a:p>
            <a:pPr algn="l">
              <a:lnSpc>
                <a:spcPct val="105000"/>
              </a:lnSpc>
              <a:spcAft>
                <a:spcPts val="600"/>
              </a:spcAft>
              <a:defRPr sz="1800" b="0">
                <a:solidFill>
                  <a:srgbClr val="26364A"/>
                </a:solidFill>
                <a:latin typeface="Aptos"/>
              </a:defRPr>
            </a:pPr>
            <a:r>
              <a:t>Logs, medidas ou spans</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Coletar</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Agente/coletor obtém</a:t>
            </a:r>
          </a:p>
          <a:p>
            <a:pPr algn="l">
              <a:lnSpc>
                <a:spcPct val="105000"/>
              </a:lnSpc>
              <a:spcAft>
                <a:spcPts val="600"/>
              </a:spcAft>
              <a:defRPr sz="1800" b="0">
                <a:solidFill>
                  <a:srgbClr val="26364A"/>
                </a:solidFill>
                <a:latin typeface="Aptos"/>
              </a:defRPr>
            </a:pPr>
            <a:r>
              <a:t>Processa e encaminha</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Armazenar</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Backend indexa</a:t>
            </a:r>
          </a:p>
          <a:p>
            <a:pPr algn="l">
              <a:lnSpc>
                <a:spcPct val="105000"/>
              </a:lnSpc>
              <a:spcAft>
                <a:spcPts val="600"/>
              </a:spcAft>
              <a:defRPr sz="1800" b="0">
                <a:solidFill>
                  <a:srgbClr val="26364A"/>
                </a:solidFill>
                <a:latin typeface="Aptos"/>
              </a:defRPr>
            </a:pPr>
            <a:r>
              <a:t>Mantém histórico</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Usar</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Consultar e visualizar</a:t>
            </a:r>
          </a:p>
          <a:p>
            <a:pPr algn="l">
              <a:lnSpc>
                <a:spcPct val="105000"/>
              </a:lnSpc>
              <a:spcAft>
                <a:spcPts val="600"/>
              </a:spcAft>
              <a:defRPr sz="1800" b="0">
                <a:solidFill>
                  <a:srgbClr val="26364A"/>
                </a:solidFill>
                <a:latin typeface="Aptos"/>
              </a:defRPr>
            </a:pPr>
            <a:r>
              <a:t>Alertar e investigar</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dado precisa chegar à consulta com contexto; emitir um endpoint não cria automaticamente histórico.</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E6·13</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45" b="1">
                <a:solidFill>
                  <a:srgbClr val="1B2A4A"/>
                </a:solidFill>
                <a:latin typeface="Aptos"/>
              </a:defRPr>
            </a:pPr>
            <a:r>
              <a:t>Ferramentas: reconhecer a responsabilidade de cada uma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Exemplos de componentes • nenhuma plataforma paga é exigida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9260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6883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Componente</a:t>
            </a:r>
          </a:p>
        </p:txBody>
      </p:sp>
      <p:sp>
        <p:nvSpPr>
          <p:cNvPr id="7" name="Rounded Rectangle 6"/>
          <p:cNvSpPr/>
          <p:nvPr/>
        </p:nvSpPr>
        <p:spPr>
          <a:xfrm>
            <a:off x="640080" y="2386584"/>
            <a:ext cx="292608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Logs do Docker</a:t>
            </a:r>
          </a:p>
        </p:txBody>
      </p:sp>
      <p:sp>
        <p:nvSpPr>
          <p:cNvPr id="9" name="Rounded Rectangle 8"/>
          <p:cNvSpPr/>
          <p:nvPr/>
        </p:nvSpPr>
        <p:spPr>
          <a:xfrm>
            <a:off x="640080" y="3163824"/>
            <a:ext cx="292608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Prometheus</a:t>
            </a:r>
          </a:p>
        </p:txBody>
      </p:sp>
      <p:sp>
        <p:nvSpPr>
          <p:cNvPr id="11" name="Rounded Rectangle 10"/>
          <p:cNvSpPr/>
          <p:nvPr/>
        </p:nvSpPr>
        <p:spPr>
          <a:xfrm>
            <a:off x="640080" y="3941063"/>
            <a:ext cx="292608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Grafana</a:t>
            </a:r>
          </a:p>
        </p:txBody>
      </p:sp>
      <p:sp>
        <p:nvSpPr>
          <p:cNvPr id="13" name="Rounded Rectangle 12"/>
          <p:cNvSpPr/>
          <p:nvPr/>
        </p:nvSpPr>
        <p:spPr>
          <a:xfrm>
            <a:off x="640080" y="4718304"/>
            <a:ext cx="292608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OpenTelemetry / Jaeger</a:t>
            </a:r>
          </a:p>
        </p:txBody>
      </p:sp>
      <p:sp>
        <p:nvSpPr>
          <p:cNvPr id="15" name="Rounded Rectangle 14"/>
          <p:cNvSpPr/>
          <p:nvPr/>
        </p:nvSpPr>
        <p:spPr>
          <a:xfrm>
            <a:off x="3602736" y="1764792"/>
            <a:ext cx="46817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21608" y="1874519"/>
            <a:ext cx="44439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Papel típico</a:t>
            </a:r>
          </a:p>
        </p:txBody>
      </p:sp>
      <p:sp>
        <p:nvSpPr>
          <p:cNvPr id="17" name="Rounded Rectangle 16"/>
          <p:cNvSpPr/>
          <p:nvPr/>
        </p:nvSpPr>
        <p:spPr>
          <a:xfrm>
            <a:off x="3602736" y="2386584"/>
            <a:ext cx="46817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21608" y="2436876"/>
            <a:ext cx="444398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Acessar a saída emitida pelo processo.</a:t>
            </a:r>
          </a:p>
        </p:txBody>
      </p:sp>
      <p:sp>
        <p:nvSpPr>
          <p:cNvPr id="19" name="Rounded Rectangle 18"/>
          <p:cNvSpPr/>
          <p:nvPr/>
        </p:nvSpPr>
        <p:spPr>
          <a:xfrm>
            <a:off x="3602736" y="3163824"/>
            <a:ext cx="468172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21608" y="3214116"/>
            <a:ext cx="444398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Coletar e consultar séries de métricas.</a:t>
            </a:r>
          </a:p>
        </p:txBody>
      </p:sp>
      <p:sp>
        <p:nvSpPr>
          <p:cNvPr id="21" name="Rounded Rectangle 20"/>
          <p:cNvSpPr/>
          <p:nvPr/>
        </p:nvSpPr>
        <p:spPr>
          <a:xfrm>
            <a:off x="3602736" y="3941063"/>
            <a:ext cx="46817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991355"/>
            <a:ext cx="444398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Visualizar dados de fontes configuradas.</a:t>
            </a:r>
          </a:p>
        </p:txBody>
      </p:sp>
      <p:sp>
        <p:nvSpPr>
          <p:cNvPr id="23" name="Rounded Rectangle 22"/>
          <p:cNvSpPr/>
          <p:nvPr/>
        </p:nvSpPr>
        <p:spPr>
          <a:xfrm>
            <a:off x="3602736" y="4718304"/>
            <a:ext cx="468172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608" y="4768596"/>
            <a:ext cx="444398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Instrumentar/exportar; analisar traces, respectivamente.</a:t>
            </a:r>
          </a:p>
        </p:txBody>
      </p:sp>
      <p:sp>
        <p:nvSpPr>
          <p:cNvPr id="25" name="Rounded Rectangle 24"/>
          <p:cNvSpPr/>
          <p:nvPr/>
        </p:nvSpPr>
        <p:spPr>
          <a:xfrm>
            <a:off x="8321040" y="1764792"/>
            <a:ext cx="325526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39912" y="1874519"/>
            <a:ext cx="301752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Na aula</a:t>
            </a:r>
          </a:p>
        </p:txBody>
      </p:sp>
      <p:sp>
        <p:nvSpPr>
          <p:cNvPr id="27" name="Rounded Rectangle 26"/>
          <p:cNvSpPr/>
          <p:nvPr/>
        </p:nvSpPr>
        <p:spPr>
          <a:xfrm>
            <a:off x="8321040" y="2386584"/>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39912" y="243687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Usado na demonstração.</a:t>
            </a:r>
          </a:p>
        </p:txBody>
      </p:sp>
      <p:sp>
        <p:nvSpPr>
          <p:cNvPr id="29" name="Rounded Rectangle 28"/>
          <p:cNvSpPr/>
          <p:nvPr/>
        </p:nvSpPr>
        <p:spPr>
          <a:xfrm>
            <a:off x="8321040" y="316382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39912" y="321411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Formato de exposição e consulta conceitual.</a:t>
            </a:r>
          </a:p>
        </p:txBody>
      </p:sp>
      <p:sp>
        <p:nvSpPr>
          <p:cNvPr id="31" name="Rounded Rectangle 30"/>
          <p:cNvSpPr/>
          <p:nvPr/>
        </p:nvSpPr>
        <p:spPr>
          <a:xfrm>
            <a:off x="8321040" y="3941063"/>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39912" y="3991355"/>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Exemplo de finalidade de dashboard.</a:t>
            </a:r>
          </a:p>
        </p:txBody>
      </p:sp>
      <p:sp>
        <p:nvSpPr>
          <p:cNvPr id="33" name="Rounded Rectangle 32"/>
          <p:cNvSpPr/>
          <p:nvPr/>
        </p:nvSpPr>
        <p:spPr>
          <a:xfrm>
            <a:off x="8321040" y="471830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39912" y="476859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Conceitos e diagrama.</a:t>
            </a:r>
          </a:p>
        </p:txBody>
      </p:sp>
      <p:sp>
        <p:nvSpPr>
          <p:cNvPr id="35" name="Rounded Rectangle 3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Comece pela pergunta operacional; depois escolha como emitir, guardar e consultar o sinal.</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E6·14</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Interpretar os sinais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dos conceitos e exemplos • explique a evidência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counter está em 500. Isso significa 500 requisições por segundo?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Uma chamada tem request_id no log. Já temos um trace distribuído completo?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média é 47 ms. Podemos afirmar que ninguém esperou dois segundos?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E6·15</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Interpretar os sinais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do conceito à decisão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É um total acumulado. Para taxa, calcule variação por tempo e trate resets.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Correlação local não substitui spans e propagação de contexto entre operações e serviços.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A média pode esconder cauda lenta; no exemplo há uma chamada de 2000 ms.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Diferencie o que foi observado, o que é hipótese e o que foi confirmado.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E6·16</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SLI: definir exatamente o que será medido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Indicador de nível de serviço ligado a uma experiência do usuário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População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GET /visitas elegíveis.</a:t>
            </a:r>
          </a:p>
          <a:p>
            <a:pPr algn="l">
              <a:lnSpc>
                <a:spcPct val="105000"/>
              </a:lnSpc>
              <a:spcAft>
                <a:spcPts val="600"/>
              </a:spcAft>
              <a:defRPr sz="1800" b="0">
                <a:solidFill>
                  <a:srgbClr val="26364A"/>
                </a:solidFill>
                <a:latin typeface="Aptos"/>
              </a:defRPr>
            </a:pPr>
            <a:r>
              <a:t>Janela declarada.</a:t>
            </a:r>
          </a:p>
          <a:p>
            <a:pPr algn="l">
              <a:lnSpc>
                <a:spcPct val="105000"/>
              </a:lnSpc>
              <a:spcAft>
                <a:spcPts val="600"/>
              </a:spcAft>
              <a:defRPr sz="1800" b="0">
                <a:solidFill>
                  <a:srgbClr val="26364A"/>
                </a:solidFill>
                <a:latin typeface="Aptos"/>
              </a:defRPr>
            </a:pPr>
            <a:r>
              <a:t>Origem da observação identificada.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Evento bom</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Status 200 e total inteiro válido.</a:t>
            </a:r>
          </a:p>
          <a:p>
            <a:pPr algn="l">
              <a:lnSpc>
                <a:spcPct val="105000"/>
              </a:lnSpc>
              <a:spcAft>
                <a:spcPts val="600"/>
              </a:spcAft>
              <a:defRPr sz="1800" b="0">
                <a:solidFill>
                  <a:srgbClr val="26364A"/>
                </a:solidFill>
                <a:latin typeface="Aptos"/>
              </a:defRPr>
            </a:pPr>
            <a:r>
              <a:t>Falha de conexão também importa na visão do cliente.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Indicador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Chamadas boas / chamadas elegíveis.</a:t>
            </a:r>
          </a:p>
          <a:p>
            <a:pPr algn="l">
              <a:lnSpc>
                <a:spcPct val="105000"/>
              </a:lnSpc>
              <a:spcAft>
                <a:spcPts val="600"/>
              </a:spcAft>
              <a:defRPr sz="1800" b="0">
                <a:solidFill>
                  <a:srgbClr val="26364A"/>
                </a:solidFill>
                <a:latin typeface="Aptos"/>
              </a:defRPr>
            </a:pPr>
            <a:r>
              <a:t>Reportar volume e resultado.</a:t>
            </a:r>
          </a:p>
          <a:p>
            <a:pPr algn="l">
              <a:lnSpc>
                <a:spcPct val="105000"/>
              </a:lnSpc>
              <a:spcAft>
                <a:spcPts val="600"/>
              </a:spcAft>
              <a:defRPr sz="1800" b="0">
                <a:solidFill>
                  <a:srgbClr val="26364A"/>
                </a:solidFill>
                <a:latin typeface="Aptos"/>
              </a:defRPr>
            </a:pPr>
            <a:r>
              <a:t>Sem chamadas: sem amostra.</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SLI é útil quando população, sucesso, janela e origem estão definidos.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E6·17</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SLI calculado: explicação passo a passo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fictício de uma janela já encerrada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9260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6883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Dado</a:t>
            </a:r>
          </a:p>
        </p:txBody>
      </p:sp>
      <p:sp>
        <p:nvSpPr>
          <p:cNvPr id="7" name="Rounded Rectangle 6"/>
          <p:cNvSpPr/>
          <p:nvPr/>
        </p:nvSpPr>
        <p:spPr>
          <a:xfrm>
            <a:off x="640080" y="2386584"/>
            <a:ext cx="292608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Elegíveis</a:t>
            </a:r>
          </a:p>
        </p:txBody>
      </p:sp>
      <p:sp>
        <p:nvSpPr>
          <p:cNvPr id="9" name="Rounded Rectangle 8"/>
          <p:cNvSpPr/>
          <p:nvPr/>
        </p:nvSpPr>
        <p:spPr>
          <a:xfrm>
            <a:off x="640080" y="3163824"/>
            <a:ext cx="292608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Boas</a:t>
            </a:r>
          </a:p>
        </p:txBody>
      </p:sp>
      <p:sp>
        <p:nvSpPr>
          <p:cNvPr id="11" name="Rounded Rectangle 10"/>
          <p:cNvSpPr/>
          <p:nvPr/>
        </p:nvSpPr>
        <p:spPr>
          <a:xfrm>
            <a:off x="640080" y="3941063"/>
            <a:ext cx="292608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Falhas</a:t>
            </a:r>
          </a:p>
        </p:txBody>
      </p:sp>
      <p:sp>
        <p:nvSpPr>
          <p:cNvPr id="13" name="Rounded Rectangle 12"/>
          <p:cNvSpPr/>
          <p:nvPr/>
        </p:nvSpPr>
        <p:spPr>
          <a:xfrm>
            <a:off x="640080" y="4718304"/>
            <a:ext cx="292608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SLI de sucesso</a:t>
            </a:r>
          </a:p>
        </p:txBody>
      </p:sp>
      <p:sp>
        <p:nvSpPr>
          <p:cNvPr id="15" name="Rounded Rectangle 14"/>
          <p:cNvSpPr/>
          <p:nvPr/>
        </p:nvSpPr>
        <p:spPr>
          <a:xfrm>
            <a:off x="3602736" y="1764792"/>
            <a:ext cx="79735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21608" y="1874519"/>
            <a:ext cx="7735823"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Cálculo / significado</a:t>
            </a:r>
          </a:p>
        </p:txBody>
      </p:sp>
      <p:sp>
        <p:nvSpPr>
          <p:cNvPr id="17" name="Rounded Rectangle 16"/>
          <p:cNvSpPr/>
          <p:nvPr/>
        </p:nvSpPr>
        <p:spPr>
          <a:xfrm>
            <a:off x="3602736" y="2386584"/>
            <a:ext cx="797356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21608" y="2436876"/>
            <a:ext cx="7735823"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1000 chamadas de GET /visitas.</a:t>
            </a:r>
          </a:p>
        </p:txBody>
      </p:sp>
      <p:sp>
        <p:nvSpPr>
          <p:cNvPr id="19" name="Rounded Rectangle 18"/>
          <p:cNvSpPr/>
          <p:nvPr/>
        </p:nvSpPr>
        <p:spPr>
          <a:xfrm>
            <a:off x="3602736" y="3163824"/>
            <a:ext cx="797356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21608" y="3214116"/>
            <a:ext cx="7735823"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992 retornaram o contrato esperado.</a:t>
            </a:r>
          </a:p>
        </p:txBody>
      </p:sp>
      <p:sp>
        <p:nvSpPr>
          <p:cNvPr id="21" name="Rounded Rectangle 20"/>
          <p:cNvSpPr/>
          <p:nvPr/>
        </p:nvSpPr>
        <p:spPr>
          <a:xfrm>
            <a:off x="3602736" y="3941063"/>
            <a:ext cx="797356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991355"/>
            <a:ext cx="7735823"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1000 − 992 = 8 chamadas não boas.</a:t>
            </a:r>
          </a:p>
        </p:txBody>
      </p:sp>
      <p:sp>
        <p:nvSpPr>
          <p:cNvPr id="23" name="Rounded Rectangle 22"/>
          <p:cNvSpPr/>
          <p:nvPr/>
        </p:nvSpPr>
        <p:spPr>
          <a:xfrm>
            <a:off x="3602736" y="4718304"/>
            <a:ext cx="797356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608" y="4768596"/>
            <a:ext cx="7735823"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992 / 1000 × 100 = 99,2%.</a:t>
            </a:r>
          </a:p>
        </p:txBody>
      </p:sp>
      <p:sp>
        <p:nvSpPr>
          <p:cNvPr id="25" name="Rounded Rectangle 2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99,2% descreve esta população nesta janela; não é uma promessa para todas as situações.</a:t>
            </a:r>
          </a:p>
        </p:txBody>
      </p:sp>
      <p:sp>
        <p:nvSpPr>
          <p:cNvPr id="27" name="TextBox 2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28" name="TextBox 2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E6·18</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SLI, SLO e SLA: medida, objetivo e compromisso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meta deve fazer sentido para quem usa o serviço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71907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48132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Termo</a:t>
            </a:r>
          </a:p>
        </p:txBody>
      </p:sp>
      <p:sp>
        <p:nvSpPr>
          <p:cNvPr id="7" name="Rounded Rectangle 6"/>
          <p:cNvSpPr/>
          <p:nvPr/>
        </p:nvSpPr>
        <p:spPr>
          <a:xfrm>
            <a:off x="640080" y="2386584"/>
            <a:ext cx="1719072"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481328"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SLI</a:t>
            </a:r>
          </a:p>
        </p:txBody>
      </p:sp>
      <p:sp>
        <p:nvSpPr>
          <p:cNvPr id="9" name="Rounded Rectangle 8"/>
          <p:cNvSpPr/>
          <p:nvPr/>
        </p:nvSpPr>
        <p:spPr>
          <a:xfrm>
            <a:off x="640080" y="3282696"/>
            <a:ext cx="1719072"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1481328"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SLO</a:t>
            </a:r>
          </a:p>
        </p:txBody>
      </p:sp>
      <p:sp>
        <p:nvSpPr>
          <p:cNvPr id="11" name="Rounded Rectangle 10"/>
          <p:cNvSpPr/>
          <p:nvPr/>
        </p:nvSpPr>
        <p:spPr>
          <a:xfrm>
            <a:off x="640080" y="4178808"/>
            <a:ext cx="1719072"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1481328"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SLA</a:t>
            </a:r>
          </a:p>
        </p:txBody>
      </p:sp>
      <p:sp>
        <p:nvSpPr>
          <p:cNvPr id="13" name="Rounded Rectangle 12"/>
          <p:cNvSpPr/>
          <p:nvPr/>
        </p:nvSpPr>
        <p:spPr>
          <a:xfrm>
            <a:off x="2395728"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Significado</a:t>
            </a:r>
          </a:p>
        </p:txBody>
      </p:sp>
      <p:sp>
        <p:nvSpPr>
          <p:cNvPr id="15" name="Rounded Rectangle 14"/>
          <p:cNvSpPr/>
          <p:nvPr/>
        </p:nvSpPr>
        <p:spPr>
          <a:xfrm>
            <a:off x="2395728" y="2386584"/>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4600" y="2436876"/>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Indicador observado.</a:t>
            </a:r>
          </a:p>
        </p:txBody>
      </p:sp>
      <p:sp>
        <p:nvSpPr>
          <p:cNvPr id="17" name="Rounded Rectangle 16"/>
          <p:cNvSpPr/>
          <p:nvPr/>
        </p:nvSpPr>
        <p:spPr>
          <a:xfrm>
            <a:off x="2395728" y="3282696"/>
            <a:ext cx="457200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4600" y="3332988"/>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Objetivo para indicador e janela definidos.</a:t>
            </a:r>
          </a:p>
        </p:txBody>
      </p:sp>
      <p:sp>
        <p:nvSpPr>
          <p:cNvPr id="19" name="Rounded Rectangle 18"/>
          <p:cNvSpPr/>
          <p:nvPr/>
        </p:nvSpPr>
        <p:spPr>
          <a:xfrm>
            <a:off x="2395728" y="4178808"/>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4600" y="4229100"/>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Compromisso formal com condições próprias.</a:t>
            </a:r>
          </a:p>
        </p:txBody>
      </p:sp>
      <p:sp>
        <p:nvSpPr>
          <p:cNvPr id="21" name="Rounded Rectangle 20"/>
          <p:cNvSpPr/>
          <p:nvPr/>
        </p:nvSpPr>
        <p:spPr>
          <a:xfrm>
            <a:off x="7004304"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3176"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 didático</a:t>
            </a:r>
          </a:p>
        </p:txBody>
      </p:sp>
      <p:sp>
        <p:nvSpPr>
          <p:cNvPr id="23" name="Rounded Rectangle 22"/>
          <p:cNvSpPr/>
          <p:nvPr/>
        </p:nvSpPr>
        <p:spPr>
          <a:xfrm>
            <a:off x="7004304" y="2386584"/>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3176" y="2436876"/>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99,2% de chamadas boas na janela.</a:t>
            </a:r>
          </a:p>
        </p:txBody>
      </p:sp>
      <p:sp>
        <p:nvSpPr>
          <p:cNvPr id="25" name="Rounded Rectangle 24"/>
          <p:cNvSpPr/>
          <p:nvPr/>
        </p:nvSpPr>
        <p:spPr>
          <a:xfrm>
            <a:off x="7004304" y="3282696"/>
            <a:ext cx="457200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23176" y="3332988"/>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Pelo menos 99% no período acordado.</a:t>
            </a:r>
          </a:p>
        </p:txBody>
      </p:sp>
      <p:sp>
        <p:nvSpPr>
          <p:cNvPr id="27" name="Rounded Rectangle 26"/>
          <p:cNvSpPr/>
          <p:nvPr/>
        </p:nvSpPr>
        <p:spPr>
          <a:xfrm>
            <a:off x="7004304" y="4178808"/>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23176" y="4229100"/>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Nível acordado e consequências previstas.</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Medida observada, meta interna e compromisso formal são objetos diferentes.</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E6·19</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48" b="1">
                <a:solidFill>
                  <a:srgbClr val="1B2A4A"/>
                </a:solidFill>
                <a:latin typeface="Aptos"/>
              </a:defRPr>
            </a:pPr>
            <a:r>
              <a:t>Error budget: quanto da tolerância já foi consumido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Mesmo exemplo: 1000 chamadas • SLO 99% • 8 falhas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47088"/>
            <a:ext cx="3063240" cy="32004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965960"/>
            <a:ext cx="275234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CONTRATO</a:t>
            </a:r>
          </a:p>
        </p:txBody>
      </p:sp>
      <p:sp>
        <p:nvSpPr>
          <p:cNvPr id="7" name="TextBox 6"/>
          <p:cNvSpPr txBox="1"/>
          <p:nvPr/>
        </p:nvSpPr>
        <p:spPr>
          <a:xfrm>
            <a:off x="932688" y="2505456"/>
            <a:ext cx="2752344" cy="244144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1.000 operações</a:t>
            </a:r>
          </a:p>
          <a:p>
            <a:pPr algn="l">
              <a:lnSpc>
                <a:spcPct val="105000"/>
              </a:lnSpc>
              <a:spcAft>
                <a:spcPts val="600"/>
              </a:spcAft>
              <a:defRPr sz="1800" b="0">
                <a:solidFill>
                  <a:srgbClr val="26364A"/>
                </a:solidFill>
                <a:latin typeface="Aptos"/>
              </a:defRPr>
            </a:pPr>
            <a:r>
              <a:t>SLO: 99% boas</a:t>
            </a:r>
          </a:p>
          <a:p>
            <a:pPr algn="l">
              <a:lnSpc>
                <a:spcPct val="105000"/>
              </a:lnSpc>
              <a:spcAft>
                <a:spcPts val="600"/>
              </a:spcAft>
              <a:defRPr sz="1800" b="0">
                <a:solidFill>
                  <a:srgbClr val="26364A"/>
                </a:solidFill>
                <a:latin typeface="Aptos"/>
              </a:defRPr>
            </a:pPr>
            <a:r>
              <a:t>10 falhas permitidas</a:t>
            </a:r>
          </a:p>
        </p:txBody>
      </p:sp>
      <p:sp>
        <p:nvSpPr>
          <p:cNvPr id="8" name="TextBox 7"/>
          <p:cNvSpPr txBox="1"/>
          <p:nvPr/>
        </p:nvSpPr>
        <p:spPr>
          <a:xfrm>
            <a:off x="4251960" y="1975104"/>
            <a:ext cx="6766560" cy="59436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26364A"/>
                </a:solidFill>
                <a:latin typeface="Aptos"/>
              </a:defRPr>
            </a:pPr>
            <a:r>
              <a:t>8 falhas observadas → 80% do orçamento usado</a:t>
            </a:r>
          </a:p>
        </p:txBody>
      </p:sp>
      <p:sp>
        <p:nvSpPr>
          <p:cNvPr id="9" name="Rounded Rectangle 8"/>
          <p:cNvSpPr/>
          <p:nvPr/>
        </p:nvSpPr>
        <p:spPr>
          <a:xfrm>
            <a:off x="4251960" y="2962656"/>
            <a:ext cx="5413248" cy="731520"/>
          </a:xfrm>
          <a:prstGeom prst="roundRect">
            <a:avLst/>
          </a:prstGeom>
          <a:solidFill>
            <a:srgbClr val="A9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65208" y="2962656"/>
            <a:ext cx="1353312" cy="7315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3099816"/>
            <a:ext cx="5029200" cy="457200"/>
          </a:xfrm>
          <a:prstGeom prst="rect">
            <a:avLst/>
          </a:prstGeom>
          <a:noFill/>
        </p:spPr>
        <p:txBody>
          <a:bodyPr wrap="square" anchor="t" anchorCtr="0" lIns="27432" rIns="27432" tIns="18288" bIns="0">
            <a:noAutofit/>
          </a:bodyPr>
          <a:lstStyle/>
          <a:p>
            <a:pPr algn="l">
              <a:lnSpc>
                <a:spcPct val="105000"/>
              </a:lnSpc>
              <a:spcAft>
                <a:spcPts val="500"/>
              </a:spcAft>
              <a:defRPr sz="2100" b="1">
                <a:solidFill>
                  <a:srgbClr val="FFFFFF"/>
                </a:solidFill>
                <a:latin typeface="Aptos"/>
              </a:defRPr>
            </a:pPr>
            <a:r>
              <a:t>8 usadas</a:t>
            </a:r>
          </a:p>
        </p:txBody>
      </p:sp>
      <p:sp>
        <p:nvSpPr>
          <p:cNvPr id="12" name="TextBox 11"/>
          <p:cNvSpPr txBox="1"/>
          <p:nvPr/>
        </p:nvSpPr>
        <p:spPr>
          <a:xfrm>
            <a:off x="9729216" y="3127248"/>
            <a:ext cx="1188720" cy="365760"/>
          </a:xfrm>
          <a:prstGeom prst="rect">
            <a:avLst/>
          </a:prstGeom>
          <a:noFill/>
        </p:spPr>
        <p:txBody>
          <a:bodyPr wrap="square" anchor="t" anchorCtr="0" lIns="27432" rIns="27432" tIns="18288" bIns="0">
            <a:noAutofit/>
          </a:bodyPr>
          <a:lstStyle/>
          <a:p>
            <a:pPr algn="l">
              <a:lnSpc>
                <a:spcPct val="105000"/>
              </a:lnSpc>
              <a:spcAft>
                <a:spcPts val="500"/>
              </a:spcAft>
              <a:defRPr sz="1700" b="1">
                <a:solidFill>
                  <a:srgbClr val="FFFFFF"/>
                </a:solidFill>
                <a:latin typeface="Aptos"/>
              </a:defRPr>
            </a:pPr>
            <a:r>
              <a:t>2 livres</a:t>
            </a:r>
          </a:p>
        </p:txBody>
      </p:sp>
      <p:sp>
        <p:nvSpPr>
          <p:cNvPr id="13" name="TextBox 12"/>
          <p:cNvSpPr txBox="1"/>
          <p:nvPr/>
        </p:nvSpPr>
        <p:spPr>
          <a:xfrm>
            <a:off x="4251960" y="4169663"/>
            <a:ext cx="6766560" cy="77724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2A5C8A"/>
                </a:solidFill>
                <a:latin typeface="Aptos"/>
              </a:defRPr>
            </a:pPr>
            <a:r>
              <a:t>992 / 1.000 = 99,2% boas</a:t>
            </a:r>
          </a:p>
          <a:p>
            <a:pPr algn="l">
              <a:lnSpc>
                <a:spcPct val="105000"/>
              </a:lnSpc>
              <a:spcAft>
                <a:spcPts val="500"/>
              </a:spcAft>
              <a:defRPr sz="2200" b="1">
                <a:solidFill>
                  <a:srgbClr val="2A5C8A"/>
                </a:solidFill>
                <a:latin typeface="Aptos"/>
              </a:defRPr>
            </a:pPr>
            <a:r>
              <a:t>Objetivo cumprido nesta janela.</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Orçamento permitido: 10 • consumido: 8 • restante: 2; a política define como isso orienta decisões.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Alertas: condição, impacto e 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Exemplos ilustrativos; calibrar janela e volume para o serviço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145535"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907791"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Alerta</a:t>
            </a:r>
          </a:p>
        </p:txBody>
      </p:sp>
      <p:sp>
        <p:nvSpPr>
          <p:cNvPr id="7" name="Rounded Rectangle 6"/>
          <p:cNvSpPr/>
          <p:nvPr/>
        </p:nvSpPr>
        <p:spPr>
          <a:xfrm>
            <a:off x="640080" y="2386584"/>
            <a:ext cx="3145535"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CPU &gt; 80% em uma amostra</a:t>
            </a:r>
          </a:p>
        </p:txBody>
      </p:sp>
      <p:sp>
        <p:nvSpPr>
          <p:cNvPr id="9" name="Rounded Rectangle 8"/>
          <p:cNvSpPr/>
          <p:nvPr/>
        </p:nvSpPr>
        <p:spPr>
          <a:xfrm>
            <a:off x="640080" y="3163824"/>
            <a:ext cx="3145535"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Erros aumentaram na operação</a:t>
            </a:r>
          </a:p>
        </p:txBody>
      </p:sp>
      <p:sp>
        <p:nvSpPr>
          <p:cNvPr id="11" name="Rounded Rectangle 10"/>
          <p:cNvSpPr/>
          <p:nvPr/>
        </p:nvSpPr>
        <p:spPr>
          <a:xfrm>
            <a:off x="640080" y="3941063"/>
            <a:ext cx="3145535"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Dependência indisponível</a:t>
            </a:r>
          </a:p>
        </p:txBody>
      </p:sp>
      <p:sp>
        <p:nvSpPr>
          <p:cNvPr id="13" name="Rounded Rectangle 12"/>
          <p:cNvSpPr/>
          <p:nvPr/>
        </p:nvSpPr>
        <p:spPr>
          <a:xfrm>
            <a:off x="640080" y="4718304"/>
            <a:ext cx="3145535"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Sonda sem dados</a:t>
            </a:r>
          </a:p>
        </p:txBody>
      </p:sp>
      <p:sp>
        <p:nvSpPr>
          <p:cNvPr id="15" name="Rounded Rectangle 14"/>
          <p:cNvSpPr/>
          <p:nvPr/>
        </p:nvSpPr>
        <p:spPr>
          <a:xfrm>
            <a:off x="3822191" y="1764792"/>
            <a:ext cx="380390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41063" y="1874519"/>
            <a:ext cx="356615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Problema ou mérito</a:t>
            </a:r>
          </a:p>
        </p:txBody>
      </p:sp>
      <p:sp>
        <p:nvSpPr>
          <p:cNvPr id="17" name="Rounded Rectangle 16"/>
          <p:cNvSpPr/>
          <p:nvPr/>
        </p:nvSpPr>
        <p:spPr>
          <a:xfrm>
            <a:off x="3822191" y="2386584"/>
            <a:ext cx="380390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41063" y="2436876"/>
            <a:ext cx="3566159"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não representar falha percebida.</a:t>
            </a:r>
          </a:p>
        </p:txBody>
      </p:sp>
      <p:sp>
        <p:nvSpPr>
          <p:cNvPr id="19" name="Rounded Rectangle 18"/>
          <p:cNvSpPr/>
          <p:nvPr/>
        </p:nvSpPr>
        <p:spPr>
          <a:xfrm>
            <a:off x="3822191" y="3163824"/>
            <a:ext cx="380390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41063" y="3214116"/>
            <a:ext cx="3566159"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Sinal próximo do resultado do usuário.</a:t>
            </a:r>
          </a:p>
        </p:txBody>
      </p:sp>
      <p:sp>
        <p:nvSpPr>
          <p:cNvPr id="21" name="Rounded Rectangle 20"/>
          <p:cNvSpPr/>
          <p:nvPr/>
        </p:nvSpPr>
        <p:spPr>
          <a:xfrm>
            <a:off x="3822191" y="3941063"/>
            <a:ext cx="380390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41063" y="3991355"/>
            <a:ext cx="3566159"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Contexto útil, mas pode duplicar alertas.</a:t>
            </a:r>
          </a:p>
        </p:txBody>
      </p:sp>
      <p:sp>
        <p:nvSpPr>
          <p:cNvPr id="23" name="Rounded Rectangle 22"/>
          <p:cNvSpPr/>
          <p:nvPr/>
        </p:nvSpPr>
        <p:spPr>
          <a:xfrm>
            <a:off x="3822191" y="4718304"/>
            <a:ext cx="380390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41063" y="4768596"/>
            <a:ext cx="3566159"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Não é sucesso nem falha medida da aplicação.</a:t>
            </a:r>
          </a:p>
        </p:txBody>
      </p:sp>
      <p:sp>
        <p:nvSpPr>
          <p:cNvPr id="25" name="Rounded Rectangle 24"/>
          <p:cNvSpPr/>
          <p:nvPr/>
        </p:nvSpPr>
        <p:spPr>
          <a:xfrm>
            <a:off x="7662671" y="1764792"/>
            <a:ext cx="391363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81544" y="1874519"/>
            <a:ext cx="367588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Melhoria / ação</a:t>
            </a:r>
          </a:p>
        </p:txBody>
      </p:sp>
      <p:sp>
        <p:nvSpPr>
          <p:cNvPr id="27" name="Rounded Rectangle 26"/>
          <p:cNvSpPr/>
          <p:nvPr/>
        </p:nvSpPr>
        <p:spPr>
          <a:xfrm>
            <a:off x="7662671" y="2386584"/>
            <a:ext cx="391363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81544" y="243687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Relacionar a saturação e impacto; observar duração.</a:t>
            </a:r>
          </a:p>
        </p:txBody>
      </p:sp>
      <p:sp>
        <p:nvSpPr>
          <p:cNvPr id="29" name="Rounded Rectangle 28"/>
          <p:cNvSpPr/>
          <p:nvPr/>
        </p:nvSpPr>
        <p:spPr>
          <a:xfrm>
            <a:off x="7662671" y="3163824"/>
            <a:ext cx="3913632"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81544" y="321411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Definir janela, amostra mínima e destino.</a:t>
            </a:r>
          </a:p>
        </p:txBody>
      </p:sp>
      <p:sp>
        <p:nvSpPr>
          <p:cNvPr id="31" name="Rounded Rectangle 30"/>
          <p:cNvSpPr/>
          <p:nvPr/>
        </p:nvSpPr>
        <p:spPr>
          <a:xfrm>
            <a:off x="7662671" y="3941063"/>
            <a:ext cx="391363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81544" y="3991355"/>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Agrupar por incidente e consultar runbook.</a:t>
            </a:r>
          </a:p>
        </p:txBody>
      </p:sp>
      <p:sp>
        <p:nvSpPr>
          <p:cNvPr id="33" name="Rounded Rectangle 32"/>
          <p:cNvSpPr/>
          <p:nvPr/>
        </p:nvSpPr>
        <p:spPr>
          <a:xfrm>
            <a:off x="7662671" y="4718304"/>
            <a:ext cx="3913632"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81544" y="476859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Investigar a coleta e o acesso ao destino.</a:t>
            </a:r>
          </a:p>
        </p:txBody>
      </p:sp>
      <p:sp>
        <p:nvSpPr>
          <p:cNvPr id="35" name="Rounded Rectangle 3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Alerta é um convite a agir com contexto, não apenas uma cor vermelha no painel.</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E6·21</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00" b="1">
                <a:solidFill>
                  <a:srgbClr val="1B2A4A"/>
                </a:solidFill>
                <a:latin typeface="Aptos"/>
              </a:defRPr>
            </a:pPr>
            <a:r>
              <a:t>Dashboard mínimo: quatro perguntas operacionais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Esboço didático • cada painel precisa de unidade, janela e contexto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47088"/>
            <a:ext cx="5212080" cy="158191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965960"/>
            <a:ext cx="49011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TRÁFEGO</a:t>
            </a:r>
          </a:p>
        </p:txBody>
      </p:sp>
      <p:sp>
        <p:nvSpPr>
          <p:cNvPr id="7" name="TextBox 6"/>
          <p:cNvSpPr txBox="1"/>
          <p:nvPr/>
        </p:nvSpPr>
        <p:spPr>
          <a:xfrm>
            <a:off x="932688" y="2404872"/>
            <a:ext cx="4901184" cy="941832"/>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Chamadas por segundo</a:t>
            </a:r>
          </a:p>
          <a:p>
            <a:pPr algn="l">
              <a:lnSpc>
                <a:spcPct val="100000"/>
              </a:lnSpc>
              <a:spcAft>
                <a:spcPts val="300"/>
              </a:spcAft>
              <a:defRPr sz="1500" b="0">
                <a:solidFill>
                  <a:srgbClr val="26364A"/>
                </a:solidFill>
                <a:latin typeface="Aptos"/>
              </a:defRPr>
            </a:pPr>
            <a:r>
              <a:t>Volume na janela escolhida</a:t>
            </a:r>
          </a:p>
        </p:txBody>
      </p:sp>
      <p:sp>
        <p:nvSpPr>
          <p:cNvPr id="8" name="Rounded Rectangle 7"/>
          <p:cNvSpPr/>
          <p:nvPr/>
        </p:nvSpPr>
        <p:spPr>
          <a:xfrm>
            <a:off x="6263640" y="1847088"/>
            <a:ext cx="5212080" cy="158191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965960"/>
            <a:ext cx="49011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ERROS</a:t>
            </a:r>
          </a:p>
        </p:txBody>
      </p:sp>
      <p:sp>
        <p:nvSpPr>
          <p:cNvPr id="10" name="TextBox 9"/>
          <p:cNvSpPr txBox="1"/>
          <p:nvPr/>
        </p:nvSpPr>
        <p:spPr>
          <a:xfrm>
            <a:off x="6419088" y="2404872"/>
            <a:ext cx="4901184" cy="941832"/>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 de operações não boas</a:t>
            </a:r>
          </a:p>
          <a:p>
            <a:pPr algn="l">
              <a:lnSpc>
                <a:spcPct val="100000"/>
              </a:lnSpc>
              <a:spcAft>
                <a:spcPts val="300"/>
              </a:spcAft>
              <a:defRPr sz="1500" b="0">
                <a:solidFill>
                  <a:srgbClr val="26364A"/>
                </a:solidFill>
                <a:latin typeface="Aptos"/>
              </a:defRPr>
            </a:pPr>
            <a:r>
              <a:t>Contrato e denominador explícitos</a:t>
            </a:r>
          </a:p>
        </p:txBody>
      </p:sp>
      <p:sp>
        <p:nvSpPr>
          <p:cNvPr id="11" name="Rounded Rectangle 10"/>
          <p:cNvSpPr/>
          <p:nvPr/>
        </p:nvSpPr>
        <p:spPr>
          <a:xfrm>
            <a:off x="777240" y="3557016"/>
            <a:ext cx="5212080" cy="158191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675888"/>
            <a:ext cx="49011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LATÊNCIA</a:t>
            </a:r>
          </a:p>
        </p:txBody>
      </p:sp>
      <p:sp>
        <p:nvSpPr>
          <p:cNvPr id="13" name="TextBox 12"/>
          <p:cNvSpPr txBox="1"/>
          <p:nvPr/>
        </p:nvSpPr>
        <p:spPr>
          <a:xfrm>
            <a:off x="932688" y="4114800"/>
            <a:ext cx="4901184" cy="941832"/>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p95 em milissegundos</a:t>
            </a:r>
          </a:p>
          <a:p>
            <a:pPr algn="l">
              <a:lnSpc>
                <a:spcPct val="100000"/>
              </a:lnSpc>
              <a:spcAft>
                <a:spcPts val="300"/>
              </a:spcAft>
              <a:defRPr sz="1500" b="0">
                <a:solidFill>
                  <a:srgbClr val="26364A"/>
                </a:solidFill>
                <a:latin typeface="Aptos"/>
              </a:defRPr>
            </a:pPr>
            <a:r>
              <a:t>População e janela definidas</a:t>
            </a:r>
          </a:p>
        </p:txBody>
      </p:sp>
      <p:sp>
        <p:nvSpPr>
          <p:cNvPr id="14" name="Rounded Rectangle 13"/>
          <p:cNvSpPr/>
          <p:nvPr/>
        </p:nvSpPr>
        <p:spPr>
          <a:xfrm>
            <a:off x="6263640" y="3557016"/>
            <a:ext cx="5212080" cy="158191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3675888"/>
            <a:ext cx="49011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SATURAÇÃO</a:t>
            </a:r>
          </a:p>
        </p:txBody>
      </p:sp>
      <p:sp>
        <p:nvSpPr>
          <p:cNvPr id="16" name="TextBox 15"/>
          <p:cNvSpPr txBox="1"/>
          <p:nvPr/>
        </p:nvSpPr>
        <p:spPr>
          <a:xfrm>
            <a:off x="6419088" y="4114800"/>
            <a:ext cx="4901184" cy="941832"/>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Uso / limite do recurso</a:t>
            </a:r>
          </a:p>
          <a:p>
            <a:pPr algn="l">
              <a:lnSpc>
                <a:spcPct val="100000"/>
              </a:lnSpc>
              <a:spcAft>
                <a:spcPts val="300"/>
              </a:spcAft>
              <a:defRPr sz="1500" b="0">
                <a:solidFill>
                  <a:srgbClr val="26364A"/>
                </a:solidFill>
                <a:latin typeface="Aptos"/>
              </a:defRPr>
            </a:pPr>
            <a:r>
              <a:t>Ex.: conexões usadas / disponíveis</a:t>
            </a:r>
          </a:p>
        </p:txBody>
      </p:sp>
      <p:sp>
        <p:nvSpPr>
          <p:cNvPr id="17" name="Rounded Rectangle 16"/>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Quatro sinais úteis: tráfego, erros, latência e saturação; associe-os à operação que importa.</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E6·22</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Indicadores e decisões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dos conceitos e exemplos • explique a evidência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Em 1000 chamadas, 992 boas e SLO 99%, quanto orçamento foi consumido?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houve chamadas. Podemos exibir 100% de sucesso?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50 alertas por dia são ignorados. Basta desligar todos para resolver?</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E6·23</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Indicadores e decisões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do conceito à decisão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tolerância é 10 falhas. Oito foram consumidas: 80% do orçamento, restando duas nesta população.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denominador é zero: faltam observações. Indique ausência de amostra e confira a coleta.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Priorize sinais ligados a impacto, agrupe duplicados e defina ação, dono e janela de cada regra.</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Diferencie o que foi observado, o que é hipótese e o que foi confirmado.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E6·24</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15" b="1">
                <a:solidFill>
                  <a:srgbClr val="1B2A4A"/>
                </a:solidFill>
                <a:latin typeface="Aptos"/>
              </a:defRPr>
            </a:pPr>
            <a:r>
              <a:t>Incidente: do impacto à recuperação e ao aprendizado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Sequência de resposta • algumas etapas ocorrem em paralelo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Detectar</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Perceber o sintoma</a:t>
            </a:r>
          </a:p>
          <a:p>
            <a:pPr algn="l">
              <a:lnSpc>
                <a:spcPct val="105000"/>
              </a:lnSpc>
              <a:spcAft>
                <a:spcPts val="600"/>
              </a:spcAft>
              <a:defRPr sz="1800" b="0">
                <a:solidFill>
                  <a:srgbClr val="26364A"/>
                </a:solidFill>
                <a:latin typeface="Aptos"/>
              </a:defRPr>
            </a:pPr>
            <a:r>
              <a:t>Delimitar o impacto</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Investigar</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Coletar evidências</a:t>
            </a:r>
          </a:p>
          <a:p>
            <a:pPr algn="l">
              <a:lnSpc>
                <a:spcPct val="105000"/>
              </a:lnSpc>
              <a:spcAft>
                <a:spcPts val="600"/>
              </a:spcAft>
              <a:defRPr sz="1800" b="0">
                <a:solidFill>
                  <a:srgbClr val="26364A"/>
                </a:solidFill>
                <a:latin typeface="Aptos"/>
              </a:defRPr>
            </a:pPr>
            <a:r>
              <a:t>Testar hipóteses</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Recuperar</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Conter ou corrigir</a:t>
            </a:r>
          </a:p>
          <a:p>
            <a:pPr algn="l">
              <a:lnSpc>
                <a:spcPct val="105000"/>
              </a:lnSpc>
              <a:spcAft>
                <a:spcPts val="600"/>
              </a:spcAft>
              <a:defRPr sz="1800" b="0">
                <a:solidFill>
                  <a:srgbClr val="26364A"/>
                </a:solidFill>
                <a:latin typeface="Aptos"/>
              </a:defRPr>
            </a:pPr>
            <a:r>
              <a:t>Validar a operação</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Aprender</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Registrar fatores</a:t>
            </a:r>
          </a:p>
          <a:p>
            <a:pPr algn="l">
              <a:lnSpc>
                <a:spcPct val="105000"/>
              </a:lnSpc>
              <a:spcAft>
                <a:spcPts val="600"/>
              </a:spcAft>
              <a:defRPr sz="1800" b="0">
                <a:solidFill>
                  <a:srgbClr val="26364A"/>
                </a:solidFill>
                <a:latin typeface="Aptos"/>
              </a:defRPr>
            </a:pPr>
            <a:r>
              <a:t>Prevenir recorrência</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Restaurar o serviço e explicar a causa são objetivos relacionados; um não substitui o outro.</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Diagnóstico</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E6·25</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Linha do tempo: medir intervalos com definições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fictício de um único incidente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011680"/>
            <a:ext cx="3474720" cy="23774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2130552"/>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10:00 | Impacto</a:t>
            </a:r>
          </a:p>
        </p:txBody>
      </p:sp>
      <p:sp>
        <p:nvSpPr>
          <p:cNvPr id="7" name="TextBox 6"/>
          <p:cNvSpPr txBox="1"/>
          <p:nvPr/>
        </p:nvSpPr>
        <p:spPr>
          <a:xfrm>
            <a:off x="886968" y="2670048"/>
            <a:ext cx="3163824" cy="16184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Operação deixa de atender.</a:t>
            </a:r>
          </a:p>
          <a:p>
            <a:pPr algn="l">
              <a:lnSpc>
                <a:spcPct val="105000"/>
              </a:lnSpc>
              <a:spcAft>
                <a:spcPts val="600"/>
              </a:spcAft>
              <a:defRPr sz="1800" b="0">
                <a:solidFill>
                  <a:srgbClr val="26364A"/>
                </a:solidFill>
                <a:latin typeface="Aptos"/>
              </a:defRPr>
            </a:pPr>
            <a:r>
              <a:t>Início da janela de impacto.</a:t>
            </a:r>
          </a:p>
        </p:txBody>
      </p:sp>
      <p:sp>
        <p:nvSpPr>
          <p:cNvPr id="8" name="Right Arrow 7"/>
          <p:cNvSpPr/>
          <p:nvPr/>
        </p:nvSpPr>
        <p:spPr>
          <a:xfrm>
            <a:off x="4224528" y="3017520"/>
            <a:ext cx="22860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80559" y="2011680"/>
            <a:ext cx="3474720" cy="23774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2130552"/>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10:02 | Detecção</a:t>
            </a:r>
          </a:p>
        </p:txBody>
      </p:sp>
      <p:sp>
        <p:nvSpPr>
          <p:cNvPr id="11" name="TextBox 10"/>
          <p:cNvSpPr txBox="1"/>
          <p:nvPr/>
        </p:nvSpPr>
        <p:spPr>
          <a:xfrm>
            <a:off x="4636007" y="2670048"/>
            <a:ext cx="3163824" cy="16184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Sinais indicam o problema.</a:t>
            </a:r>
          </a:p>
          <a:p>
            <a:pPr algn="l">
              <a:lnSpc>
                <a:spcPct val="105000"/>
              </a:lnSpc>
              <a:spcAft>
                <a:spcPts val="600"/>
              </a:spcAft>
              <a:defRPr sz="1800" b="0">
                <a:solidFill>
                  <a:srgbClr val="26364A"/>
                </a:solidFill>
                <a:latin typeface="Aptos"/>
              </a:defRPr>
            </a:pPr>
            <a:r>
              <a:t>2 min após o início.</a:t>
            </a:r>
          </a:p>
        </p:txBody>
      </p:sp>
      <p:sp>
        <p:nvSpPr>
          <p:cNvPr id="12" name="Right Arrow 11"/>
          <p:cNvSpPr/>
          <p:nvPr/>
        </p:nvSpPr>
        <p:spPr>
          <a:xfrm>
            <a:off x="7973567" y="3017520"/>
            <a:ext cx="22860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0" y="2011680"/>
            <a:ext cx="3474720" cy="23774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8" y="2130552"/>
            <a:ext cx="3163824" cy="438912"/>
          </a:xfrm>
          <a:prstGeom prst="rect">
            <a:avLst/>
          </a:prstGeom>
          <a:noFill/>
        </p:spPr>
        <p:txBody>
          <a:bodyPr wrap="none" anchor="t" anchorCtr="0" lIns="27432" rIns="27432" tIns="18288" bIns="0">
            <a:noAutofit/>
          </a:bodyPr>
          <a:lstStyle/>
          <a:p>
            <a:pPr algn="l">
              <a:spcAft>
                <a:spcPts val="900"/>
              </a:spcAft>
              <a:defRPr sz="2094" b="1">
                <a:solidFill>
                  <a:srgbClr val="2A5C8A"/>
                </a:solidFill>
                <a:latin typeface="Aptos"/>
              </a:defRPr>
            </a:pPr>
            <a:r>
              <a:t>10:07 | Recuperação</a:t>
            </a:r>
          </a:p>
        </p:txBody>
      </p:sp>
      <p:sp>
        <p:nvSpPr>
          <p:cNvPr id="15" name="TextBox 14"/>
          <p:cNvSpPr txBox="1"/>
          <p:nvPr/>
        </p:nvSpPr>
        <p:spPr>
          <a:xfrm>
            <a:off x="8385048" y="2670048"/>
            <a:ext cx="3163824" cy="16184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Operação validada novamente.</a:t>
            </a:r>
          </a:p>
          <a:p>
            <a:pPr algn="l">
              <a:lnSpc>
                <a:spcPct val="105000"/>
              </a:lnSpc>
              <a:spcAft>
                <a:spcPts val="600"/>
              </a:spcAft>
              <a:defRPr sz="1800" b="0">
                <a:solidFill>
                  <a:srgbClr val="26364A"/>
                </a:solidFill>
                <a:latin typeface="Aptos"/>
              </a:defRPr>
            </a:pPr>
            <a:r>
              <a:t>7 min de impacto total.</a:t>
            </a:r>
          </a:p>
        </p:txBody>
      </p:sp>
      <p:sp>
        <p:nvSpPr>
          <p:cNvPr id="16" name="TextBox 15"/>
          <p:cNvSpPr txBox="1"/>
          <p:nvPr/>
        </p:nvSpPr>
        <p:spPr>
          <a:xfrm>
            <a:off x="777240" y="4754880"/>
            <a:ext cx="10789920" cy="640080"/>
          </a:xfrm>
          <a:prstGeom prst="rect">
            <a:avLst/>
          </a:prstGeom>
          <a:noFill/>
        </p:spPr>
        <p:txBody>
          <a:bodyPr wrap="square" anchor="t" anchorCtr="0" lIns="27432" rIns="27432" tIns="18288" bIns="0">
            <a:noAutofit/>
          </a:bodyPr>
          <a:lstStyle/>
          <a:p>
            <a:pPr algn="l">
              <a:lnSpc>
                <a:spcPct val="105000"/>
              </a:lnSpc>
              <a:spcAft>
                <a:spcPts val="500"/>
              </a:spcAft>
              <a:defRPr sz="2000" b="1">
                <a:solidFill>
                  <a:srgbClr val="007F86"/>
                </a:solidFill>
                <a:latin typeface="Aptos"/>
              </a:defRPr>
            </a:pPr>
            <a:r>
              <a:t>Detecção → recuperação: 5 min. Um incidente não é uma média (MTTR).</a:t>
            </a:r>
          </a:p>
        </p:txBody>
      </p:sp>
      <p:sp>
        <p:nvSpPr>
          <p:cNvPr id="17" name="Rounded Rectangle 16"/>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Início → detecção: 2 min • início → restauração: 7 min • detecção → restauração: 5 min.</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Diagnóstico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E6·26</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Sintoma, hipótese e causa confirmada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GET /visitas retorna 503</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9385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7007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Etapa</a:t>
            </a:r>
          </a:p>
        </p:txBody>
      </p:sp>
      <p:sp>
        <p:nvSpPr>
          <p:cNvPr id="7" name="Rounded Rectangle 6"/>
          <p:cNvSpPr/>
          <p:nvPr/>
        </p:nvSpPr>
        <p:spPr>
          <a:xfrm>
            <a:off x="640080" y="2386584"/>
            <a:ext cx="19385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Sintoma</a:t>
            </a:r>
          </a:p>
        </p:txBody>
      </p:sp>
      <p:sp>
        <p:nvSpPr>
          <p:cNvPr id="9" name="Rounded Rectangle 8"/>
          <p:cNvSpPr/>
          <p:nvPr/>
        </p:nvSpPr>
        <p:spPr>
          <a:xfrm>
            <a:off x="640080" y="3163824"/>
            <a:ext cx="193852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Hipótese</a:t>
            </a:r>
          </a:p>
        </p:txBody>
      </p:sp>
      <p:sp>
        <p:nvSpPr>
          <p:cNvPr id="11" name="Rounded Rectangle 10"/>
          <p:cNvSpPr/>
          <p:nvPr/>
        </p:nvSpPr>
        <p:spPr>
          <a:xfrm>
            <a:off x="640080" y="3941063"/>
            <a:ext cx="19385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Teste</a:t>
            </a:r>
          </a:p>
        </p:txBody>
      </p:sp>
      <p:sp>
        <p:nvSpPr>
          <p:cNvPr id="13" name="Rounded Rectangle 12"/>
          <p:cNvSpPr/>
          <p:nvPr/>
        </p:nvSpPr>
        <p:spPr>
          <a:xfrm>
            <a:off x="640080" y="4718304"/>
            <a:ext cx="193852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Conclusão</a:t>
            </a:r>
          </a:p>
        </p:txBody>
      </p:sp>
      <p:sp>
        <p:nvSpPr>
          <p:cNvPr id="15" name="Rounded Rectangle 14"/>
          <p:cNvSpPr/>
          <p:nvPr/>
        </p:nvSpPr>
        <p:spPr>
          <a:xfrm>
            <a:off x="2615184"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34056"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dizer</a:t>
            </a:r>
          </a:p>
        </p:txBody>
      </p:sp>
      <p:sp>
        <p:nvSpPr>
          <p:cNvPr id="17" name="Rounded Rectangle 16"/>
          <p:cNvSpPr/>
          <p:nvPr/>
        </p:nvSpPr>
        <p:spPr>
          <a:xfrm>
            <a:off x="2615184" y="2386584"/>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34056" y="243687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consulta falhou para o cliente.</a:t>
            </a:r>
          </a:p>
        </p:txBody>
      </p:sp>
      <p:sp>
        <p:nvSpPr>
          <p:cNvPr id="19" name="Rounded Rectangle 18"/>
          <p:cNvSpPr/>
          <p:nvPr/>
        </p:nvSpPr>
        <p:spPr>
          <a:xfrm>
            <a:off x="2615184" y="3163824"/>
            <a:ext cx="4352544"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4056" y="321411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dependência está indisponível.</a:t>
            </a:r>
          </a:p>
        </p:txBody>
      </p:sp>
      <p:sp>
        <p:nvSpPr>
          <p:cNvPr id="21" name="Rounded Rectangle 20"/>
          <p:cNvSpPr/>
          <p:nvPr/>
        </p:nvSpPr>
        <p:spPr>
          <a:xfrm>
            <a:off x="2615184" y="3941063"/>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34056" y="3991355"/>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Recuperar a dependência no ensaio.</a:t>
            </a:r>
          </a:p>
        </p:txBody>
      </p:sp>
      <p:sp>
        <p:nvSpPr>
          <p:cNvPr id="23" name="Rounded Rectangle 22"/>
          <p:cNvSpPr/>
          <p:nvPr/>
        </p:nvSpPr>
        <p:spPr>
          <a:xfrm>
            <a:off x="2615184" y="4718304"/>
            <a:ext cx="4352544"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34056" y="476859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parada do banco causou a falha provocada.</a:t>
            </a:r>
          </a:p>
        </p:txBody>
      </p:sp>
      <p:sp>
        <p:nvSpPr>
          <p:cNvPr id="25" name="Rounded Rectangle 24"/>
          <p:cNvSpPr/>
          <p:nvPr/>
        </p:nvSpPr>
        <p:spPr>
          <a:xfrm>
            <a:off x="7004304"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23176"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Como sustentar</a:t>
            </a:r>
          </a:p>
        </p:txBody>
      </p:sp>
      <p:sp>
        <p:nvSpPr>
          <p:cNvPr id="27" name="Rounded Rectangle 26"/>
          <p:cNvSpPr/>
          <p:nvPr/>
        </p:nvSpPr>
        <p:spPr>
          <a:xfrm>
            <a:off x="7004304" y="2386584"/>
            <a:ext cx="457200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23176" y="243687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Status e corpo da chamada.</a:t>
            </a:r>
          </a:p>
        </p:txBody>
      </p:sp>
      <p:sp>
        <p:nvSpPr>
          <p:cNvPr id="29" name="Rounded Rectangle 28"/>
          <p:cNvSpPr/>
          <p:nvPr/>
        </p:nvSpPr>
        <p:spPr>
          <a:xfrm>
            <a:off x="7004304" y="3163824"/>
            <a:ext cx="457200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23176" y="321411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Verificar estado do db e códigos de erro.</a:t>
            </a:r>
          </a:p>
        </p:txBody>
      </p:sp>
      <p:sp>
        <p:nvSpPr>
          <p:cNvPr id="31" name="Rounded Rectangle 30"/>
          <p:cNvSpPr/>
          <p:nvPr/>
        </p:nvSpPr>
        <p:spPr>
          <a:xfrm>
            <a:off x="7004304" y="3941063"/>
            <a:ext cx="457200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23176" y="3991355"/>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Repetir a mesma operação.</a:t>
            </a:r>
          </a:p>
        </p:txBody>
      </p:sp>
      <p:sp>
        <p:nvSpPr>
          <p:cNvPr id="33" name="Rounded Rectangle 32"/>
          <p:cNvSpPr/>
          <p:nvPr/>
        </p:nvSpPr>
        <p:spPr>
          <a:xfrm>
            <a:off x="7004304" y="4718304"/>
            <a:ext cx="457200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23176" y="476859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Linha do tempo, estado e teste após recuperação.</a:t>
            </a:r>
          </a:p>
        </p:txBody>
      </p:sp>
      <p:sp>
        <p:nvSpPr>
          <p:cNvPr id="35" name="Rounded Rectangle 3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causa confirmada explica as evidências e o efeito da intervenção, não só repete o sintoma.</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Diagnóstico</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E6·27</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49" b="1">
                <a:solidFill>
                  <a:srgbClr val="1B2A4A"/>
                </a:solidFill>
                <a:latin typeface="Aptos"/>
              </a:defRPr>
            </a:pPr>
            <a:r>
              <a:t>Relatório sem culpa: transformar o incidente em melhoria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Contexto e decisões do sistema, sem procurar um culpado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Descrever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Impacto, início e recuperação.</a:t>
            </a:r>
          </a:p>
          <a:p>
            <a:pPr algn="l">
              <a:lnSpc>
                <a:spcPct val="105000"/>
              </a:lnSpc>
              <a:spcAft>
                <a:spcPts val="600"/>
              </a:spcAft>
              <a:defRPr sz="1800" b="0">
                <a:solidFill>
                  <a:srgbClr val="26364A"/>
                </a:solidFill>
                <a:latin typeface="Aptos"/>
              </a:defRPr>
            </a:pPr>
            <a:r>
              <a:t>Evidências e linha do tempo.</a:t>
            </a:r>
          </a:p>
          <a:p>
            <a:pPr algn="l">
              <a:lnSpc>
                <a:spcPct val="105000"/>
              </a:lnSpc>
              <a:spcAft>
                <a:spcPts val="600"/>
              </a:spcAft>
              <a:defRPr sz="1800" b="0">
                <a:solidFill>
                  <a:srgbClr val="26364A"/>
                </a:solidFill>
                <a:latin typeface="Aptos"/>
              </a:defRPr>
            </a:pPr>
            <a:r>
              <a:t>O que era conhecido em cada decisão.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Explicar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Causa técnica e fatores contribuintes.</a:t>
            </a:r>
          </a:p>
          <a:p>
            <a:pPr algn="l">
              <a:lnSpc>
                <a:spcPct val="105000"/>
              </a:lnSpc>
              <a:spcAft>
                <a:spcPts val="600"/>
              </a:spcAft>
              <a:defRPr sz="1800" b="0">
                <a:solidFill>
                  <a:srgbClr val="26364A"/>
                </a:solidFill>
                <a:latin typeface="Aptos"/>
              </a:defRPr>
            </a:pPr>
            <a:r>
              <a:t>O que funcionou e o que atrasou.</a:t>
            </a:r>
          </a:p>
          <a:p>
            <a:pPr algn="l">
              <a:lnSpc>
                <a:spcPct val="105000"/>
              </a:lnSpc>
              <a:spcAft>
                <a:spcPts val="600"/>
              </a:spcAft>
              <a:defRPr sz="1800" b="0">
                <a:solidFill>
                  <a:srgbClr val="26364A"/>
                </a:solidFill>
                <a:latin typeface="Aptos"/>
              </a:defRPr>
            </a:pPr>
            <a:r>
              <a:t>Limites da investigação.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Melhorar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Ação concreta, responsável e prazo.</a:t>
            </a:r>
          </a:p>
          <a:p>
            <a:pPr algn="l">
              <a:lnSpc>
                <a:spcPct val="105000"/>
              </a:lnSpc>
              <a:spcAft>
                <a:spcPts val="600"/>
              </a:spcAft>
              <a:defRPr sz="1800" b="0">
                <a:solidFill>
                  <a:srgbClr val="26364A"/>
                </a:solidFill>
                <a:latin typeface="Aptos"/>
              </a:defRPr>
            </a:pPr>
            <a:r>
              <a:t>Como verificar a melhoria.</a:t>
            </a:r>
          </a:p>
          <a:p>
            <a:pPr algn="l">
              <a:lnSpc>
                <a:spcPct val="105000"/>
              </a:lnSpc>
              <a:spcAft>
                <a:spcPts val="600"/>
              </a:spcAft>
              <a:defRPr sz="1800" b="0">
                <a:solidFill>
                  <a:srgbClr val="26364A"/>
                </a:solidFill>
                <a:latin typeface="Aptos"/>
              </a:defRPr>
            </a:pPr>
            <a:r>
              <a:t>Runbook, teste ou alerta atualizado.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boa prevenção tem mudança verificável, responsável e prazo; não apenas uma recomendação vaga.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Diagnóstico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E6·28</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73" b="1">
                <a:solidFill>
                  <a:srgbClr val="1B2A4A"/>
                </a:solidFill>
                <a:latin typeface="Aptos"/>
              </a:defRPr>
            </a:pPr>
            <a:r>
              <a:t>Demonstração: observar a mesma API em três momentos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Ambiente E6 separado dos projetos E4 e E5</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Antes</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Operação funciona</a:t>
            </a:r>
          </a:p>
          <a:p>
            <a:pPr algn="l">
              <a:lnSpc>
                <a:spcPct val="105000"/>
              </a:lnSpc>
              <a:spcAft>
                <a:spcPts val="600"/>
              </a:spcAft>
              <a:defRPr sz="1800" b="0">
                <a:solidFill>
                  <a:srgbClr val="26364A"/>
                </a:solidFill>
                <a:latin typeface="Aptos"/>
              </a:defRPr>
            </a:pPr>
            <a:r>
              <a:t>Coletar referência</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Durante</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Parar somente db</a:t>
            </a:r>
          </a:p>
          <a:p>
            <a:pPr algn="l">
              <a:lnSpc>
                <a:spcPct val="105000"/>
              </a:lnSpc>
              <a:spcAft>
                <a:spcPts val="600"/>
              </a:spcAft>
              <a:defRPr sz="1800" b="0">
                <a:solidFill>
                  <a:srgbClr val="26364A"/>
                </a:solidFill>
                <a:latin typeface="Aptos"/>
              </a:defRPr>
            </a:pPr>
            <a:r>
              <a:t>Observar 503 e logs</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Depois</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Retomar db</a:t>
            </a:r>
          </a:p>
          <a:p>
            <a:pPr algn="l">
              <a:lnSpc>
                <a:spcPct val="105000"/>
              </a:lnSpc>
              <a:spcAft>
                <a:spcPts val="600"/>
              </a:spcAft>
              <a:defRPr sz="1800" b="0">
                <a:solidFill>
                  <a:srgbClr val="26364A"/>
                </a:solidFill>
                <a:latin typeface="Aptos"/>
              </a:defRPr>
            </a:pPr>
            <a:r>
              <a:t>Repetir teste e conferir dados</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prova é a comparação da mesma operação antes, durante e após uma intervenção controlada.</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E6·29</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Preparar o laboratório de observabilidade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Bash/zsh • Docker/Compose e Python 3 • porta 18086 livre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cd Práticas/encontro-6-observabilidade</a:t>
            </a:r>
          </a:p>
          <a:p>
            <a:pPr algn="l">
              <a:lnSpc>
                <a:spcPct val="105000"/>
              </a:lnSpc>
              <a:spcAft>
                <a:spcPts val="100"/>
              </a:spcAft>
              <a:defRPr sz="1800" b="0">
                <a:solidFill>
                  <a:srgbClr val="FFFFFF"/>
                </a:solidFill>
                <a:latin typeface="DejaVu Sans Mono"/>
              </a:defRPr>
            </a:pPr>
            <a:r>
              <a:t>docker compose config --quiet</a:t>
            </a:r>
          </a:p>
          <a:p>
            <a:pPr algn="l">
              <a:lnSpc>
                <a:spcPct val="105000"/>
              </a:lnSpc>
              <a:spcAft>
                <a:spcPts val="100"/>
              </a:spcAft>
              <a:defRPr sz="1800" b="0">
                <a:solidFill>
                  <a:srgbClr val="FFFFFF"/>
                </a:solidFill>
                <a:latin typeface="DejaVu Sans Mono"/>
              </a:defRPr>
            </a:pPr>
            <a:r>
              <a:t>docker compose up -d --build --wait</a:t>
            </a:r>
          </a:p>
          <a:p>
            <a:pPr algn="l">
              <a:lnSpc>
                <a:spcPct val="105000"/>
              </a:lnSpc>
              <a:spcAft>
                <a:spcPts val="100"/>
              </a:spcAft>
              <a:defRPr sz="1800" b="0">
                <a:solidFill>
                  <a:srgbClr val="FFFFFF"/>
                </a:solidFill>
                <a:latin typeface="DejaVu Sans Mono"/>
              </a:defRPr>
            </a:pPr>
            <a:r>
              <a:t>curl -fsS localhost:18086/version</a:t>
            </a:r>
          </a:p>
          <a:p>
            <a:pPr algn="l">
              <a:lnSpc>
                <a:spcPct val="105000"/>
              </a:lnSpc>
              <a:spcAft>
                <a:spcPts val="100"/>
              </a:spcAft>
              <a:defRPr sz="1800" b="0">
                <a:solidFill>
                  <a:srgbClr val="FFFFFF"/>
                </a:solidFill>
                <a:latin typeface="DejaVu Sans Mono"/>
              </a:defRPr>
            </a:pPr>
            <a:r>
              <a:t>python3 observar.py --amostras 10</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Arquivo completo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Terminal na pasta do E6.</a:t>
            </a:r>
          </a:p>
          <a:p>
            <a:pPr algn="l">
              <a:lnSpc>
                <a:spcPct val="100000"/>
              </a:lnSpc>
              <a:spcAft>
                <a:spcPts val="300"/>
              </a:spcAft>
              <a:defRPr sz="1500" b="0">
                <a:solidFill>
                  <a:srgbClr val="26364A"/>
                </a:solidFill>
                <a:latin typeface="Aptos"/>
              </a:defRPr>
            </a:pPr>
            <a:r>
              <a:t>Build cria a API instrumentada.</a:t>
            </a:r>
          </a:p>
          <a:p>
            <a:pPr algn="l">
              <a:lnSpc>
                <a:spcPct val="100000"/>
              </a:lnSpc>
              <a:spcAft>
                <a:spcPts val="300"/>
              </a:spcAft>
              <a:defRPr sz="1500" b="0">
                <a:solidFill>
                  <a:srgbClr val="26364A"/>
                </a:solidFill>
                <a:latin typeface="Aptos"/>
              </a:defRPr>
            </a:pPr>
            <a:r>
              <a:t>O banco usa dados fictícios.</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Contratos</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/health/live: processo HTTP.</a:t>
            </a:r>
          </a:p>
          <a:p>
            <a:pPr algn="l">
              <a:lnSpc>
                <a:spcPct val="100000"/>
              </a:lnSpc>
              <a:spcAft>
                <a:spcPts val="300"/>
              </a:spcAft>
              <a:defRPr sz="1500" b="0">
                <a:solidFill>
                  <a:srgbClr val="26364A"/>
                </a:solidFill>
                <a:latin typeface="Aptos"/>
              </a:defRPr>
            </a:pPr>
            <a:r>
              <a:t>/health/ready: consulta básica.</a:t>
            </a:r>
          </a:p>
          <a:p>
            <a:pPr algn="l">
              <a:lnSpc>
                <a:spcPct val="100000"/>
              </a:lnSpc>
              <a:spcAft>
                <a:spcPts val="300"/>
              </a:spcAft>
              <a:defRPr sz="1500" b="0">
                <a:solidFill>
                  <a:srgbClr val="26364A"/>
                </a:solidFill>
                <a:latin typeface="Aptos"/>
              </a:defRPr>
            </a:pPr>
            <a:r>
              <a:t>/visitas: operação de negócio.</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preparação identifica destino e versão antes de provocar qualquer falha.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28" b="1">
                <a:solidFill>
                  <a:srgbClr val="1B2A4A"/>
                </a:solidFill>
                <a:latin typeface="Aptos"/>
              </a:defRPr>
            </a:pPr>
            <a:r>
              <a:t>1. Capturar a referência e correlacionar uma chamada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Saídas reais variam: anote os valores observados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curl -fsS -X POST localhost:18086/visitas</a:t>
            </a:r>
          </a:p>
          <a:p>
            <a:pPr algn="l">
              <a:lnSpc>
                <a:spcPct val="105000"/>
              </a:lnSpc>
              <a:spcAft>
                <a:spcPts val="100"/>
              </a:spcAft>
              <a:defRPr sz="1800" b="0">
                <a:solidFill>
                  <a:srgbClr val="FFFFFF"/>
                </a:solidFill>
                <a:latin typeface="DejaVu Sans Mono"/>
              </a:defRPr>
            </a:pPr>
            <a:r>
              <a:t>curl -i localhost:18086/visitas</a:t>
            </a:r>
          </a:p>
          <a:p>
            <a:pPr algn="l">
              <a:lnSpc>
                <a:spcPct val="105000"/>
              </a:lnSpc>
              <a:spcAft>
                <a:spcPts val="100"/>
              </a:spcAft>
              <a:defRPr sz="1800" b="0">
                <a:solidFill>
                  <a:srgbClr val="FFFFFF"/>
                </a:solidFill>
                <a:latin typeface="DejaVu Sans Mono"/>
              </a:defRPr>
            </a:pPr>
            <a:r>
              <a:t>python3 observar.py --amostras 10</a:t>
            </a:r>
          </a:p>
          <a:p>
            <a:pPr algn="l">
              <a:lnSpc>
                <a:spcPct val="105000"/>
              </a:lnSpc>
              <a:spcAft>
                <a:spcPts val="100"/>
              </a:spcAft>
              <a:defRPr sz="1800" b="0">
                <a:solidFill>
                  <a:srgbClr val="FFFFFF"/>
                </a:solidFill>
                <a:latin typeface="DejaVu Sans Mono"/>
              </a:defRPr>
            </a:pPr>
            <a:r>
              <a:t>docker compose logs --tail=40 app</a:t>
            </a:r>
          </a:p>
          <a:p>
            <a:pPr algn="l">
              <a:lnSpc>
                <a:spcPct val="105000"/>
              </a:lnSpc>
              <a:spcAft>
                <a:spcPts val="100"/>
              </a:spcAft>
              <a:defRPr sz="1800" b="0">
                <a:solidFill>
                  <a:srgbClr val="FFFFFF"/>
                </a:solidFill>
                <a:latin typeface="DejaVu Sans Mono"/>
              </a:defRPr>
            </a:pPr>
            <a:r>
              <a:t>curl -fsS localhost:18086/metrics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Referência</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POST incrementa o contador.</a:t>
            </a:r>
          </a:p>
          <a:p>
            <a:pPr algn="l">
              <a:lnSpc>
                <a:spcPct val="100000"/>
              </a:lnSpc>
              <a:spcAft>
                <a:spcPts val="300"/>
              </a:spcAft>
              <a:defRPr sz="1500" b="0">
                <a:solidFill>
                  <a:srgbClr val="26364A"/>
                </a:solidFill>
                <a:latin typeface="Aptos"/>
              </a:defRPr>
            </a:pPr>
            <a:r>
              <a:t>Anote o total N.</a:t>
            </a:r>
          </a:p>
          <a:p>
            <a:pPr algn="l">
              <a:lnSpc>
                <a:spcPct val="100000"/>
              </a:lnSpc>
              <a:spcAft>
                <a:spcPts val="300"/>
              </a:spcAft>
              <a:defRPr sz="1500" b="0">
                <a:solidFill>
                  <a:srgbClr val="26364A"/>
                </a:solidFill>
                <a:latin typeface="Aptos"/>
              </a:defRPr>
            </a:pPr>
            <a:r>
              <a:t>Sonda deve ter 10 boas de 10.</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Correlação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curl -i mostra X-Request-Id.</a:t>
            </a:r>
          </a:p>
          <a:p>
            <a:pPr algn="l">
              <a:lnSpc>
                <a:spcPct val="100000"/>
              </a:lnSpc>
              <a:spcAft>
                <a:spcPts val="300"/>
              </a:spcAft>
              <a:defRPr sz="1500" b="0">
                <a:solidFill>
                  <a:srgbClr val="26364A"/>
                </a:solidFill>
                <a:latin typeface="Aptos"/>
              </a:defRPr>
            </a:pPr>
            <a:r>
              <a:t>Localize o ID no log da API.</a:t>
            </a:r>
          </a:p>
          <a:p>
            <a:pPr algn="l">
              <a:lnSpc>
                <a:spcPct val="100000"/>
              </a:lnSpc>
              <a:spcAft>
                <a:spcPts val="300"/>
              </a:spcAft>
              <a:defRPr sz="1500" b="0">
                <a:solidFill>
                  <a:srgbClr val="26364A"/>
                </a:solidFill>
                <a:latin typeface="Aptos"/>
              </a:defRPr>
            </a:pPr>
            <a:r>
              <a:t>Compare status e rota.</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Mesmo período e mesma população são necessários para comparar números.</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E6·31</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2. Provocar uma falha na dependência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Somente no projeto local do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715" b="0">
                <a:solidFill>
                  <a:srgbClr val="FFFFFF"/>
                </a:solidFill>
                <a:latin typeface="DejaVu Sans Mono"/>
              </a:defRPr>
            </a:pPr>
            <a:r>
              <a:t>docker compose stop db</a:t>
            </a:r>
          </a:p>
          <a:p>
            <a:pPr algn="l">
              <a:lnSpc>
                <a:spcPct val="105000"/>
              </a:lnSpc>
              <a:spcAft>
                <a:spcPts val="100"/>
              </a:spcAft>
              <a:defRPr sz="1715" b="0">
                <a:solidFill>
                  <a:srgbClr val="FFFFFF"/>
                </a:solidFill>
                <a:latin typeface="DejaVu Sans Mono"/>
              </a:defRPr>
            </a:pPr>
            <a:r>
              <a:t>curl -i localhost:18086/health/live</a:t>
            </a:r>
          </a:p>
          <a:p>
            <a:pPr algn="l">
              <a:lnSpc>
                <a:spcPct val="105000"/>
              </a:lnSpc>
              <a:spcAft>
                <a:spcPts val="100"/>
              </a:spcAft>
              <a:defRPr sz="1715" b="0">
                <a:solidFill>
                  <a:srgbClr val="FFFFFF"/>
                </a:solidFill>
                <a:latin typeface="DejaVu Sans Mono"/>
              </a:defRPr>
            </a:pPr>
            <a:r>
              <a:t>curl -i localhost:18086/visitas</a:t>
            </a:r>
          </a:p>
          <a:p>
            <a:pPr algn="l">
              <a:lnSpc>
                <a:spcPct val="105000"/>
              </a:lnSpc>
              <a:spcAft>
                <a:spcPts val="100"/>
              </a:spcAft>
              <a:defRPr sz="1715" b="0">
                <a:solidFill>
                  <a:srgbClr val="FFFFFF"/>
                </a:solidFill>
                <a:latin typeface="DejaVu Sans Mono"/>
              </a:defRPr>
            </a:pPr>
            <a:r>
              <a:t>python3 observar.py --amostras 5 --esperado 503</a:t>
            </a:r>
          </a:p>
          <a:p>
            <a:pPr algn="l">
              <a:lnSpc>
                <a:spcPct val="105000"/>
              </a:lnSpc>
              <a:spcAft>
                <a:spcPts val="100"/>
              </a:spcAft>
              <a:defRPr sz="1715" b="0">
                <a:solidFill>
                  <a:srgbClr val="FFFFFF"/>
                </a:solidFill>
                <a:latin typeface="DejaVu Sans Mono"/>
              </a:defRPr>
            </a:pPr>
            <a:r>
              <a:t>docker compose ps -a</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O que muda</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db fica parado.</a:t>
            </a:r>
          </a:p>
          <a:p>
            <a:pPr algn="l">
              <a:lnSpc>
                <a:spcPct val="100000"/>
              </a:lnSpc>
              <a:spcAft>
                <a:spcPts val="300"/>
              </a:spcAft>
              <a:defRPr sz="1500" b="0">
                <a:solidFill>
                  <a:srgbClr val="26364A"/>
                </a:solidFill>
                <a:latin typeface="Aptos"/>
              </a:defRPr>
            </a:pPr>
            <a:r>
              <a:t>A API continua viva.</a:t>
            </a:r>
          </a:p>
          <a:p>
            <a:pPr algn="l">
              <a:lnSpc>
                <a:spcPct val="100000"/>
              </a:lnSpc>
              <a:spcAft>
                <a:spcPts val="300"/>
              </a:spcAft>
              <a:defRPr sz="1500" b="0">
                <a:solidFill>
                  <a:srgbClr val="26364A"/>
                </a:solidFill>
                <a:latin typeface="Aptos"/>
              </a:defRPr>
            </a:pPr>
            <a:r>
              <a:t>A operação dependente falha.</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Resultado esperado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/health/live: 200.</a:t>
            </a:r>
          </a:p>
          <a:p>
            <a:pPr algn="l">
              <a:lnSpc>
                <a:spcPct val="100000"/>
              </a:lnSpc>
              <a:spcAft>
                <a:spcPts val="300"/>
              </a:spcAft>
              <a:defRPr sz="1500" b="0">
                <a:solidFill>
                  <a:srgbClr val="26364A"/>
                </a:solidFill>
                <a:latin typeface="Aptos"/>
              </a:defRPr>
            </a:pPr>
            <a:r>
              <a:t>/visitas: 503.</a:t>
            </a:r>
          </a:p>
          <a:p>
            <a:pPr algn="l">
              <a:lnSpc>
                <a:spcPct val="100000"/>
              </a:lnSpc>
              <a:spcAft>
                <a:spcPts val="300"/>
              </a:spcAft>
              <a:defRPr sz="1500" b="0">
                <a:solidFill>
                  <a:srgbClr val="26364A"/>
                </a:solidFill>
                <a:latin typeface="Aptos"/>
              </a:defRPr>
            </a:pPr>
            <a:r>
              <a:t>Sonda: 0 boas de 5.</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Processo vivo, healthcheck e função de negócio observam contratos diferentes.</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E6·32</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3. Reunir evidência antes de decidir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Estado + evento + resultado funcional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715" b="0">
                <a:solidFill>
                  <a:srgbClr val="FFFFFF"/>
                </a:solidFill>
                <a:latin typeface="DejaVu Sans Mono"/>
              </a:defRPr>
            </a:pPr>
            <a:r>
              <a:t>docker compose ps -a</a:t>
            </a:r>
          </a:p>
          <a:p>
            <a:pPr algn="l">
              <a:lnSpc>
                <a:spcPct val="105000"/>
              </a:lnSpc>
              <a:spcAft>
                <a:spcPts val="100"/>
              </a:spcAft>
              <a:defRPr sz="1715" b="0">
                <a:solidFill>
                  <a:srgbClr val="FFFFFF"/>
                </a:solidFill>
                <a:latin typeface="DejaVu Sans Mono"/>
              </a:defRPr>
            </a:pPr>
            <a:r>
              <a:t>docker compose logs --since=5m --tail=80 app</a:t>
            </a:r>
          </a:p>
          <a:p>
            <a:pPr algn="l">
              <a:lnSpc>
                <a:spcPct val="105000"/>
              </a:lnSpc>
              <a:spcAft>
                <a:spcPts val="100"/>
              </a:spcAft>
              <a:defRPr sz="1715" b="0">
                <a:solidFill>
                  <a:srgbClr val="FFFFFF"/>
                </a:solidFill>
                <a:latin typeface="DejaVu Sans Mono"/>
              </a:defRPr>
            </a:pPr>
            <a:r>
              <a:t>curl -fsS localhost:18086/metrics</a:t>
            </a:r>
          </a:p>
          <a:p>
            <a:pPr algn="l">
              <a:lnSpc>
                <a:spcPct val="105000"/>
              </a:lnSpc>
              <a:spcAft>
                <a:spcPts val="100"/>
              </a:spcAft>
              <a:defRPr sz="1715" b="0">
                <a:solidFill>
                  <a:srgbClr val="FFFFFF"/>
                </a:solidFill>
                <a:latin typeface="DejaVu Sans Mono"/>
              </a:defRPr>
            </a:pPr>
            <a:r>
              <a:t># No log: request_id, route, status, error_code</a:t>
            </a:r>
          </a:p>
          <a:p>
            <a:pPr algn="l">
              <a:lnSpc>
                <a:spcPct val="105000"/>
              </a:lnSpc>
              <a:spcAft>
                <a:spcPts val="100"/>
              </a:spcAft>
              <a:defRPr sz="1715" b="0">
                <a:solidFill>
                  <a:srgbClr val="FFFFFF"/>
                </a:solidFill>
                <a:latin typeface="DejaVu Sans Mono"/>
              </a:defRPr>
            </a:pPr>
            <a:r>
              <a:t># Nas métricas: método, rota, status e duração</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Estado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ps -a mostra db parado.</a:t>
            </a:r>
          </a:p>
          <a:p>
            <a:pPr algn="l">
              <a:lnSpc>
                <a:spcPct val="100000"/>
              </a:lnSpc>
              <a:spcAft>
                <a:spcPts val="300"/>
              </a:spcAft>
              <a:defRPr sz="1500" b="0">
                <a:solidFill>
                  <a:srgbClr val="26364A"/>
                </a:solidFill>
                <a:latin typeface="Aptos"/>
              </a:defRPr>
            </a:pPr>
            <a:r>
              <a:t>app pode estar Up e depois unhealthy.</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Evento e métrica</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Log associa 503, rota e ID.</a:t>
            </a:r>
          </a:p>
          <a:p>
            <a:pPr algn="l">
              <a:lnSpc>
                <a:spcPct val="100000"/>
              </a:lnSpc>
              <a:spcAft>
                <a:spcPts val="300"/>
              </a:spcAft>
              <a:defRPr sz="1500" b="0">
                <a:solidFill>
                  <a:srgbClr val="26364A"/>
                </a:solidFill>
                <a:latin typeface="Aptos"/>
              </a:defRPr>
            </a:pPr>
            <a:r>
              <a:t>Counter de falhas aumenta.</a:t>
            </a:r>
          </a:p>
          <a:p>
            <a:pPr algn="l">
              <a:lnSpc>
                <a:spcPct val="100000"/>
              </a:lnSpc>
              <a:spcAft>
                <a:spcPts val="300"/>
              </a:spcAft>
              <a:defRPr sz="1500" b="0">
                <a:solidFill>
                  <a:srgbClr val="26364A"/>
                </a:solidFill>
                <a:latin typeface="Aptos"/>
              </a:defRPr>
            </a:pPr>
            <a:r>
              <a:t>A janela da sonda mostra impacto.</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soma dos sinais deve sustentar a hipótese; guarde também o contexto e os limites da coleta.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E6·33</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4. Recuperar e repetir o mesmo teste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processo da API trata a indisponibilidade e aceita novas consultas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645" b="0">
                <a:solidFill>
                  <a:srgbClr val="FFFFFF"/>
                </a:solidFill>
                <a:latin typeface="DejaVu Sans Mono"/>
              </a:defRPr>
            </a:pPr>
            <a:r>
              <a:t>docker compose start db</a:t>
            </a:r>
          </a:p>
          <a:p>
            <a:pPr algn="l">
              <a:lnSpc>
                <a:spcPct val="105000"/>
              </a:lnSpc>
              <a:spcAft>
                <a:spcPts val="100"/>
              </a:spcAft>
              <a:defRPr sz="1645" b="0">
                <a:solidFill>
                  <a:srgbClr val="FFFFFF"/>
                </a:solidFill>
                <a:latin typeface="DejaVu Sans Mono"/>
              </a:defRPr>
            </a:pPr>
            <a:r>
              <a:t>python3 aguardar.py</a:t>
            </a:r>
          </a:p>
          <a:p>
            <a:pPr algn="l">
              <a:lnSpc>
                <a:spcPct val="105000"/>
              </a:lnSpc>
              <a:spcAft>
                <a:spcPts val="100"/>
              </a:spcAft>
              <a:defRPr sz="1645" b="0">
                <a:solidFill>
                  <a:srgbClr val="FFFFFF"/>
                </a:solidFill>
                <a:latin typeface="DejaVu Sans Mono"/>
              </a:defRPr>
            </a:pPr>
            <a:r>
              <a:t># Se a espera falhar, investigar antes de seguir.</a:t>
            </a:r>
          </a:p>
          <a:p>
            <a:pPr algn="l">
              <a:lnSpc>
                <a:spcPct val="105000"/>
              </a:lnSpc>
              <a:spcAft>
                <a:spcPts val="100"/>
              </a:spcAft>
              <a:defRPr sz="1645" b="0">
                <a:solidFill>
                  <a:srgbClr val="FFFFFF"/>
                </a:solidFill>
                <a:latin typeface="DejaVu Sans Mono"/>
              </a:defRPr>
            </a:pPr>
            <a:r>
              <a:t>python3 observar.py --amostras 10</a:t>
            </a:r>
          </a:p>
          <a:p>
            <a:pPr algn="l">
              <a:lnSpc>
                <a:spcPct val="105000"/>
              </a:lnSpc>
              <a:spcAft>
                <a:spcPts val="100"/>
              </a:spcAft>
              <a:defRPr sz="1645" b="0">
                <a:solidFill>
                  <a:srgbClr val="FFFFFF"/>
                </a:solidFill>
                <a:latin typeface="DejaVu Sans Mono"/>
              </a:defRPr>
            </a:pPr>
            <a:r>
              <a:t>curl -fsS localhost:18086/visitas</a:t>
            </a:r>
          </a:p>
          <a:p>
            <a:pPr algn="l">
              <a:lnSpc>
                <a:spcPct val="105000"/>
              </a:lnSpc>
              <a:spcAft>
                <a:spcPts val="100"/>
              </a:spcAft>
              <a:defRPr sz="1645" b="0">
                <a:solidFill>
                  <a:srgbClr val="FFFFFF"/>
                </a:solidFill>
                <a:latin typeface="DejaVu Sans Mono"/>
              </a:defRPr>
            </a:pPr>
            <a:r>
              <a:t>docker compose logs --tail=30 app</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Recuperar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start db retoma o banco.</a:t>
            </a:r>
          </a:p>
          <a:p>
            <a:pPr algn="l">
              <a:lnSpc>
                <a:spcPct val="100000"/>
              </a:lnSpc>
              <a:spcAft>
                <a:spcPts val="300"/>
              </a:spcAft>
              <a:defRPr sz="1500" b="0">
                <a:solidFill>
                  <a:srgbClr val="26364A"/>
                </a:solidFill>
                <a:latin typeface="Aptos"/>
              </a:defRPr>
            </a:pPr>
            <a:r>
              <a:t>Aguardar /health/ready.</a:t>
            </a:r>
          </a:p>
          <a:p>
            <a:pPr algn="l">
              <a:lnSpc>
                <a:spcPct val="100000"/>
              </a:lnSpc>
              <a:spcAft>
                <a:spcPts val="300"/>
              </a:spcAft>
              <a:defRPr sz="1500" b="0">
                <a:solidFill>
                  <a:srgbClr val="26364A"/>
                </a:solidFill>
                <a:latin typeface="Aptos"/>
              </a:defRPr>
            </a:pPr>
            <a:r>
              <a:t>Não recriar app neste ensaio.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Validar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Sonda volta a 10 boas de 10.</a:t>
            </a:r>
          </a:p>
          <a:p>
            <a:pPr algn="l">
              <a:lnSpc>
                <a:spcPct val="100000"/>
              </a:lnSpc>
              <a:spcAft>
                <a:spcPts val="300"/>
              </a:spcAft>
              <a:defRPr sz="1500" b="0">
                <a:solidFill>
                  <a:srgbClr val="26364A"/>
                </a:solidFill>
                <a:latin typeface="Aptos"/>
              </a:defRPr>
            </a:pPr>
            <a:r>
              <a:t>Contador permanece N.</a:t>
            </a:r>
          </a:p>
          <a:p>
            <a:pPr algn="l">
              <a:lnSpc>
                <a:spcPct val="100000"/>
              </a:lnSpc>
              <a:spcAft>
                <a:spcPts val="300"/>
              </a:spcAft>
              <a:defRPr sz="1500" b="0">
                <a:solidFill>
                  <a:srgbClr val="26364A"/>
                </a:solidFill>
                <a:latin typeface="Aptos"/>
              </a:defRPr>
            </a:pPr>
            <a:r>
              <a:t>Novos logs têm status 200.</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Recuperação comprovada = operação restaurada + dados conferidos + evidência registrada.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E6·34</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50" b="1">
                <a:solidFill>
                  <a:srgbClr val="1B2A4A"/>
                </a:solidFill>
                <a:latin typeface="Aptos"/>
              </a:defRPr>
            </a:pPr>
            <a:r>
              <a:t>Antes, durante e depois: interpretar sem misturar janelas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de resultados esperados • tempos reais vêm da execução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25526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301752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Janela da sonda</a:t>
            </a:r>
          </a:p>
        </p:txBody>
      </p:sp>
      <p:sp>
        <p:nvSpPr>
          <p:cNvPr id="7" name="Rounded Rectangle 6"/>
          <p:cNvSpPr/>
          <p:nvPr/>
        </p:nvSpPr>
        <p:spPr>
          <a:xfrm>
            <a:off x="640080" y="2386584"/>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Antes: 10 chamadas</a:t>
            </a:r>
          </a:p>
        </p:txBody>
      </p:sp>
      <p:sp>
        <p:nvSpPr>
          <p:cNvPr id="9" name="Rounded Rectangle 8"/>
          <p:cNvSpPr/>
          <p:nvPr/>
        </p:nvSpPr>
        <p:spPr>
          <a:xfrm>
            <a:off x="640080" y="316382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Durante: 5 chamadas</a:t>
            </a:r>
          </a:p>
        </p:txBody>
      </p:sp>
      <p:sp>
        <p:nvSpPr>
          <p:cNvPr id="11" name="Rounded Rectangle 10"/>
          <p:cNvSpPr/>
          <p:nvPr/>
        </p:nvSpPr>
        <p:spPr>
          <a:xfrm>
            <a:off x="640080" y="3941063"/>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Depois: 10 chamadas</a:t>
            </a:r>
          </a:p>
        </p:txBody>
      </p:sp>
      <p:sp>
        <p:nvSpPr>
          <p:cNvPr id="13" name="Rounded Rectangle 12"/>
          <p:cNvSpPr/>
          <p:nvPr/>
        </p:nvSpPr>
        <p:spPr>
          <a:xfrm>
            <a:off x="640080" y="471830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Todo o ensaio: 25</a:t>
            </a:r>
          </a:p>
        </p:txBody>
      </p:sp>
      <p:sp>
        <p:nvSpPr>
          <p:cNvPr id="15" name="Rounded Rectangle 14"/>
          <p:cNvSpPr/>
          <p:nvPr/>
        </p:nvSpPr>
        <p:spPr>
          <a:xfrm>
            <a:off x="3931920" y="1764792"/>
            <a:ext cx="325526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50791" y="1874519"/>
            <a:ext cx="301752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Resultado</a:t>
            </a:r>
          </a:p>
        </p:txBody>
      </p:sp>
      <p:sp>
        <p:nvSpPr>
          <p:cNvPr id="17" name="Rounded Rectangle 16"/>
          <p:cNvSpPr/>
          <p:nvPr/>
        </p:nvSpPr>
        <p:spPr>
          <a:xfrm>
            <a:off x="3931920" y="2386584"/>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50791" y="243687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 boas; 0 falhas.</a:t>
            </a:r>
          </a:p>
        </p:txBody>
      </p:sp>
      <p:sp>
        <p:nvSpPr>
          <p:cNvPr id="19" name="Rounded Rectangle 18"/>
          <p:cNvSpPr/>
          <p:nvPr/>
        </p:nvSpPr>
        <p:spPr>
          <a:xfrm>
            <a:off x="3931920" y="316382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50791" y="321411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0 boas; 5 falhas.</a:t>
            </a:r>
          </a:p>
        </p:txBody>
      </p:sp>
      <p:sp>
        <p:nvSpPr>
          <p:cNvPr id="21" name="Rounded Rectangle 20"/>
          <p:cNvSpPr/>
          <p:nvPr/>
        </p:nvSpPr>
        <p:spPr>
          <a:xfrm>
            <a:off x="3931920" y="3941063"/>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50791" y="3991355"/>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 boas; 0 falhas.</a:t>
            </a:r>
          </a:p>
        </p:txBody>
      </p:sp>
      <p:sp>
        <p:nvSpPr>
          <p:cNvPr id="23" name="Rounded Rectangle 22"/>
          <p:cNvSpPr/>
          <p:nvPr/>
        </p:nvSpPr>
        <p:spPr>
          <a:xfrm>
            <a:off x="3931920" y="471830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50791" y="476859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20 / 25 = 80% boas.</a:t>
            </a:r>
          </a:p>
        </p:txBody>
      </p:sp>
      <p:sp>
        <p:nvSpPr>
          <p:cNvPr id="25" name="Rounded Rectangle 24"/>
          <p:cNvSpPr/>
          <p:nvPr/>
        </p:nvSpPr>
        <p:spPr>
          <a:xfrm>
            <a:off x="7223759"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42631"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Conclusão</a:t>
            </a:r>
          </a:p>
        </p:txBody>
      </p:sp>
      <p:sp>
        <p:nvSpPr>
          <p:cNvPr id="27" name="Rounded Rectangle 26"/>
          <p:cNvSpPr/>
          <p:nvPr/>
        </p:nvSpPr>
        <p:spPr>
          <a:xfrm>
            <a:off x="7223759" y="2386584"/>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42631" y="243687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Referência funcional observada.</a:t>
            </a:r>
          </a:p>
        </p:txBody>
      </p:sp>
      <p:sp>
        <p:nvSpPr>
          <p:cNvPr id="29" name="Rounded Rectangle 28"/>
          <p:cNvSpPr/>
          <p:nvPr/>
        </p:nvSpPr>
        <p:spPr>
          <a:xfrm>
            <a:off x="7223759" y="3163824"/>
            <a:ext cx="4352544"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42631" y="321411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Dependência indisponível afetou a operação.</a:t>
            </a:r>
          </a:p>
        </p:txBody>
      </p:sp>
      <p:sp>
        <p:nvSpPr>
          <p:cNvPr id="31" name="Rounded Rectangle 30"/>
          <p:cNvSpPr/>
          <p:nvPr/>
        </p:nvSpPr>
        <p:spPr>
          <a:xfrm>
            <a:off x="7223759" y="3941063"/>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42631" y="3991355"/>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Recuperação funcional observada.</a:t>
            </a:r>
          </a:p>
        </p:txBody>
      </p:sp>
      <p:sp>
        <p:nvSpPr>
          <p:cNvPr id="33" name="Rounded Rectangle 32"/>
          <p:cNvSpPr/>
          <p:nvPr/>
        </p:nvSpPr>
        <p:spPr>
          <a:xfrm>
            <a:off x="7223759" y="4718304"/>
            <a:ext cx="4352544"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42631" y="476859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Agregado mistura referência e falha deliberada.</a:t>
            </a:r>
          </a:p>
        </p:txBody>
      </p:sp>
      <p:sp>
        <p:nvSpPr>
          <p:cNvPr id="35" name="Rounded Rectangle 3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Informe a janela e o propósito do ensaio; o mesmo conjunto de dados admite resumos com sentidos diferentes.</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E6·35</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42" b="1">
                <a:solidFill>
                  <a:srgbClr val="1B2A4A"/>
                </a:solidFill>
                <a:latin typeface="Aptos"/>
              </a:defRPr>
            </a:pPr>
            <a:r>
              <a:t>Caso resolvido: HTTP 200, mas o usuário espera demais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Cenário ilustrativo; atraso opcional reproduzível no README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Sintoma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Sucesso por status continua alto.</a:t>
            </a:r>
          </a:p>
          <a:p>
            <a:pPr algn="l">
              <a:lnSpc>
                <a:spcPct val="105000"/>
              </a:lnSpc>
              <a:spcAft>
                <a:spcPts val="600"/>
              </a:spcAft>
              <a:defRPr sz="1800" b="0">
                <a:solidFill>
                  <a:srgbClr val="26364A"/>
                </a:solidFill>
                <a:latin typeface="Aptos"/>
              </a:defRPr>
            </a:pPr>
            <a:r>
              <a:t>Duração da chamada aumenta.</a:t>
            </a:r>
          </a:p>
          <a:p>
            <a:pPr algn="l">
              <a:lnSpc>
                <a:spcPct val="105000"/>
              </a:lnSpc>
              <a:spcAft>
                <a:spcPts val="600"/>
              </a:spcAft>
              <a:defRPr sz="1800" b="0">
                <a:solidFill>
                  <a:srgbClr val="26364A"/>
                </a:solidFill>
                <a:latin typeface="Aptos"/>
              </a:defRPr>
            </a:pPr>
            <a:r>
              <a:t>Usuário percebe lentidão.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Evidência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Compare cliente e servidor.</a:t>
            </a:r>
          </a:p>
          <a:p>
            <a:pPr algn="l">
              <a:lnSpc>
                <a:spcPct val="105000"/>
              </a:lnSpc>
              <a:spcAft>
                <a:spcPts val="600"/>
              </a:spcAft>
              <a:defRPr sz="1800" b="0">
                <a:solidFill>
                  <a:srgbClr val="26364A"/>
                </a:solidFill>
                <a:latin typeface="Aptos"/>
              </a:defRPr>
            </a:pPr>
            <a:r>
              <a:t>Veja tempo da dependência.</a:t>
            </a:r>
          </a:p>
          <a:p>
            <a:pPr algn="l">
              <a:lnSpc>
                <a:spcPct val="105000"/>
              </a:lnSpc>
              <a:spcAft>
                <a:spcPts val="600"/>
              </a:spcAft>
              <a:defRPr sz="1800" b="0">
                <a:solidFill>
                  <a:srgbClr val="26364A"/>
                </a:solidFill>
                <a:latin typeface="Aptos"/>
              </a:defRPr>
            </a:pPr>
            <a:r>
              <a:t>Confira configuração e versão.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Causa no ensaio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DEMO_DELAY_MS adiciona espera no código.</a:t>
            </a:r>
          </a:p>
          <a:p>
            <a:pPr algn="l">
              <a:lnSpc>
                <a:spcPct val="105000"/>
              </a:lnSpc>
              <a:spcAft>
                <a:spcPts val="600"/>
              </a:spcAft>
              <a:defRPr sz="1800" b="0">
                <a:solidFill>
                  <a:srgbClr val="26364A"/>
                </a:solidFill>
                <a:latin typeface="Aptos"/>
              </a:defRPr>
            </a:pPr>
            <a:r>
              <a:t>Remover o atraso e repetir a sonda.</a:t>
            </a:r>
          </a:p>
          <a:p>
            <a:pPr algn="l">
              <a:lnSpc>
                <a:spcPct val="105000"/>
              </a:lnSpc>
              <a:spcAft>
                <a:spcPts val="600"/>
              </a:spcAft>
              <a:defRPr sz="1800" b="0">
                <a:solidFill>
                  <a:srgbClr val="26364A"/>
                </a:solidFill>
                <a:latin typeface="Aptos"/>
              </a:defRPr>
            </a:pPr>
            <a:r>
              <a:t>Não atribuir automaticamente ao banco.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operação pode estar disponível e ainda falhar no objetivo de tempo; medir apenas status deixa essa falha invisível.</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E6·36</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Confirmar a recuperação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dos conceitos e exemplos • explique a evidência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sonda recebeu 503, mas app está Up. Há contradição?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Após recuperar, o counter de falhas continua em 5. O serviço ainda está falhando?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dependency_ms alto prova que o servidor do banco está lento?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E6·37</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83" b="1">
                <a:solidFill>
                  <a:srgbClr val="1B2A4A"/>
                </a:solidFill>
                <a:latin typeface="Aptos"/>
              </a:defRPr>
            </a:pPr>
            <a:r>
              <a:t>Respostas comentadas | Confirmar a recuperação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do conceito à decisão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processo da API segue vivo enquanto a operação que usa db pode estar indisponível.</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necessariamente. Counter acumula história. Observe a variação na nova janela e repita a operação.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Inclui a espera medida pelo cliente da dependência; no ensaio opcional há atraso artificial no código.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Diferencie o que foi observado, o que é hipótese e o que foi confirmado.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E6·38</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IA na investigação: propor, confrontar e registrar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Retomar a governança do encontro 5</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Entrada útil</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Sintoma, janela e versão.</a:t>
            </a:r>
          </a:p>
          <a:p>
            <a:pPr algn="l">
              <a:lnSpc>
                <a:spcPct val="105000"/>
              </a:lnSpc>
              <a:spcAft>
                <a:spcPts val="600"/>
              </a:spcAft>
              <a:defRPr sz="1800" b="0">
                <a:solidFill>
                  <a:srgbClr val="26364A"/>
                </a:solidFill>
                <a:latin typeface="Aptos"/>
              </a:defRPr>
            </a:pPr>
            <a:r>
              <a:t>Logs mínimos sem segredos.</a:t>
            </a:r>
          </a:p>
          <a:p>
            <a:pPr algn="l">
              <a:lnSpc>
                <a:spcPct val="105000"/>
              </a:lnSpc>
              <a:spcAft>
                <a:spcPts val="600"/>
              </a:spcAft>
              <a:defRPr sz="1800" b="0">
                <a:solidFill>
                  <a:srgbClr val="26364A"/>
                </a:solidFill>
                <a:latin typeface="Aptos"/>
              </a:defRPr>
            </a:pPr>
            <a:r>
              <a:t>O que já foi testado.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Saída esperada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Hipóteses com evidência.</a:t>
            </a:r>
          </a:p>
          <a:p>
            <a:pPr algn="l">
              <a:lnSpc>
                <a:spcPct val="105000"/>
              </a:lnSpc>
              <a:spcAft>
                <a:spcPts val="600"/>
              </a:spcAft>
              <a:defRPr sz="1800" b="0">
                <a:solidFill>
                  <a:srgbClr val="26364A"/>
                </a:solidFill>
                <a:latin typeface="Aptos"/>
              </a:defRPr>
            </a:pPr>
            <a:r>
              <a:t>Teste que possa refutá-las.</a:t>
            </a:r>
          </a:p>
          <a:p>
            <a:pPr algn="l">
              <a:lnSpc>
                <a:spcPct val="105000"/>
              </a:lnSpc>
              <a:spcAft>
                <a:spcPts val="600"/>
              </a:spcAft>
              <a:defRPr sz="1800" b="0">
                <a:solidFill>
                  <a:srgbClr val="26364A"/>
                </a:solidFill>
                <a:latin typeface="Aptos"/>
              </a:defRPr>
            </a:pPr>
            <a:r>
              <a:t>Limitações e próximo passo.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Decisão humana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Revisar comandos e impacto.</a:t>
            </a:r>
          </a:p>
          <a:p>
            <a:pPr algn="l">
              <a:lnSpc>
                <a:spcPct val="105000"/>
              </a:lnSpc>
              <a:spcAft>
                <a:spcPts val="600"/>
              </a:spcAft>
              <a:defRPr sz="1800" b="0">
                <a:solidFill>
                  <a:srgbClr val="26364A"/>
                </a:solidFill>
                <a:latin typeface="Aptos"/>
              </a:defRPr>
            </a:pPr>
            <a:r>
              <a:t>Executar teste controlado.</a:t>
            </a:r>
          </a:p>
          <a:p>
            <a:pPr algn="l">
              <a:lnSpc>
                <a:spcPct val="105000"/>
              </a:lnSpc>
              <a:spcAft>
                <a:spcPts val="600"/>
              </a:spcAft>
              <a:defRPr sz="1800" b="0">
                <a:solidFill>
                  <a:srgbClr val="26364A"/>
                </a:solidFill>
                <a:latin typeface="Aptos"/>
              </a:defRPr>
            </a:pPr>
            <a:r>
              <a:t>Registrar resultado e divergências.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evidência vem do sistema e do teste; a resposta da IA é uma contribuição a revisar.</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E6·39</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Exemplo de prompt com critérios verificáveis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Dados sintéticos • copiar e adaptar ao contexto autorizado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493" b="0">
                <a:solidFill>
                  <a:srgbClr val="FFFFFF"/>
                </a:solidFill>
                <a:latin typeface="DejaVu Sans Mono"/>
              </a:defRPr>
            </a:pPr>
            <a:r>
              <a:t>Contexto: laboratório local, API versão 3.0.0.</a:t>
            </a:r>
          </a:p>
          <a:p>
            <a:pPr algn="l">
              <a:lnSpc>
                <a:spcPct val="105000"/>
              </a:lnSpc>
              <a:spcAft>
                <a:spcPts val="100"/>
              </a:spcAft>
              <a:defRPr sz="1493" b="0">
                <a:solidFill>
                  <a:srgbClr val="FFFFFF"/>
                </a:solidFill>
                <a:latin typeface="DejaVu Sans Mono"/>
              </a:defRPr>
            </a:pPr>
            <a:r>
              <a:t>Fatos: /health/live=200; /visitas=503; db está parado.</a:t>
            </a:r>
          </a:p>
          <a:p>
            <a:pPr algn="l">
              <a:lnSpc>
                <a:spcPct val="105000"/>
              </a:lnSpc>
              <a:spcAft>
                <a:spcPts val="100"/>
              </a:spcAft>
              <a:defRPr sz="1493" b="0">
                <a:solidFill>
                  <a:srgbClr val="FFFFFF"/>
                </a:solidFill>
                <a:latin typeface="DejaVu Sans Mono"/>
              </a:defRPr>
            </a:pPr>
            <a:r>
              <a:t>Mudança conhecida: executei compose stop db.</a:t>
            </a:r>
          </a:p>
          <a:p>
            <a:pPr algn="l">
              <a:lnSpc>
                <a:spcPct val="105000"/>
              </a:lnSpc>
              <a:spcAft>
                <a:spcPts val="100"/>
              </a:spcAft>
              <a:defRPr sz="1493" b="0">
                <a:solidFill>
                  <a:srgbClr val="FFFFFF"/>
                </a:solidFill>
                <a:latin typeface="DejaVu Sans Mono"/>
              </a:defRPr>
            </a:pPr>
            <a:r>
              <a:t>Não há evidência de perda de dados.</a:t>
            </a:r>
          </a:p>
          <a:p>
            <a:pPr algn="l">
              <a:lnSpc>
                <a:spcPct val="105000"/>
              </a:lnSpc>
              <a:spcAft>
                <a:spcPts val="100"/>
              </a:spcAft>
              <a:defRPr sz="1493" b="0">
                <a:solidFill>
                  <a:srgbClr val="FFFFFF"/>
                </a:solidFill>
                <a:latin typeface="DejaVu Sans Mono"/>
              </a:defRPr>
            </a:pPr>
            <a:r>
              <a:t>Separe fatos e hipóteses. Para cada hipótese:</a:t>
            </a:r>
          </a:p>
          <a:p>
            <a:pPr algn="l">
              <a:lnSpc>
                <a:spcPct val="105000"/>
              </a:lnSpc>
              <a:spcAft>
                <a:spcPts val="100"/>
              </a:spcAft>
              <a:defRPr sz="1493" b="0">
                <a:solidFill>
                  <a:srgbClr val="FFFFFF"/>
                </a:solidFill>
                <a:latin typeface="DejaVu Sans Mono"/>
              </a:defRPr>
            </a:pPr>
            <a:r>
              <a:t>- cite o fato que a sustenta;</a:t>
            </a:r>
          </a:p>
          <a:p>
            <a:pPr algn="l">
              <a:lnSpc>
                <a:spcPct val="105000"/>
              </a:lnSpc>
              <a:spcAft>
                <a:spcPts val="100"/>
              </a:spcAft>
              <a:defRPr sz="1493" b="0">
                <a:solidFill>
                  <a:srgbClr val="FFFFFF"/>
                </a:solidFill>
                <a:latin typeface="DejaVu Sans Mono"/>
              </a:defRPr>
            </a:pPr>
            <a:r>
              <a:t>- proponha um teste e como refutá-la;</a:t>
            </a:r>
          </a:p>
          <a:p>
            <a:pPr algn="l">
              <a:lnSpc>
                <a:spcPct val="105000"/>
              </a:lnSpc>
              <a:spcAft>
                <a:spcPts val="100"/>
              </a:spcAft>
              <a:defRPr sz="1493" b="0">
                <a:solidFill>
                  <a:srgbClr val="FFFFFF"/>
                </a:solidFill>
                <a:latin typeface="DejaVu Sans Mono"/>
              </a:defRPr>
            </a:pPr>
            <a:r>
              <a:t>- explique riscos e limites.</a:t>
            </a:r>
          </a:p>
          <a:p>
            <a:pPr algn="l">
              <a:lnSpc>
                <a:spcPct val="105000"/>
              </a:lnSpc>
              <a:spcAft>
                <a:spcPts val="100"/>
              </a:spcAft>
              <a:defRPr sz="1493" b="0">
                <a:solidFill>
                  <a:srgbClr val="FFFFFF"/>
                </a:solidFill>
                <a:latin typeface="DejaVu Sans Mono"/>
              </a:defRPr>
            </a:pPr>
            <a:r>
              <a:t>Não proponha apagar volumes ou dados.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Peça vínculo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Cada hipótese deve citar um fato.</a:t>
            </a:r>
          </a:p>
          <a:p>
            <a:pPr algn="l">
              <a:lnSpc>
                <a:spcPct val="100000"/>
              </a:lnSpc>
              <a:spcAft>
                <a:spcPts val="300"/>
              </a:spcAft>
              <a:defRPr sz="1500" b="0">
                <a:solidFill>
                  <a:srgbClr val="26364A"/>
                </a:solidFill>
                <a:latin typeface="Aptos"/>
              </a:defRPr>
            </a:pPr>
            <a:r>
              <a:t>Se faltar dado, declarar a lacuna.</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Peça um teste</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Indicar o resultado esperado.</a:t>
            </a:r>
          </a:p>
          <a:p>
            <a:pPr algn="l">
              <a:lnSpc>
                <a:spcPct val="100000"/>
              </a:lnSpc>
              <a:spcAft>
                <a:spcPts val="300"/>
              </a:spcAft>
              <a:defRPr sz="1500" b="0">
                <a:solidFill>
                  <a:srgbClr val="26364A"/>
                </a:solidFill>
                <a:latin typeface="Aptos"/>
              </a:defRPr>
            </a:pPr>
            <a:r>
              <a:t>Definir o que refutaria a hipótese.</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pergunta melhor produz uma investigação mais verificável, não uma garantia de acerto.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91" b="1">
                <a:solidFill>
                  <a:srgbClr val="1B2A4A"/>
                </a:solidFill>
                <a:latin typeface="Aptos"/>
              </a:defRPr>
            </a:pPr>
            <a:r>
              <a:t>Caso resolvido: “apague o volume e tente novamente”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Resposta gerada deve passar por revisão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Problema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conselho destruiria dados.</a:t>
            </a:r>
          </a:p>
          <a:p>
            <a:pPr algn="l">
              <a:lnSpc>
                <a:spcPct val="105000"/>
              </a:lnSpc>
              <a:spcAft>
                <a:spcPts val="600"/>
              </a:spcAft>
              <a:defRPr sz="1800" b="0">
                <a:solidFill>
                  <a:srgbClr val="26364A"/>
                </a:solidFill>
                <a:latin typeface="Aptos"/>
              </a:defRPr>
            </a:pPr>
            <a:r>
              <a:t>Não explica a causa do 503.</a:t>
            </a:r>
          </a:p>
          <a:p>
            <a:pPr algn="l">
              <a:lnSpc>
                <a:spcPct val="105000"/>
              </a:lnSpc>
              <a:spcAft>
                <a:spcPts val="600"/>
              </a:spcAft>
              <a:defRPr sz="1800" b="0">
                <a:solidFill>
                  <a:srgbClr val="26364A"/>
                </a:solidFill>
                <a:latin typeface="Aptos"/>
              </a:defRPr>
            </a:pPr>
            <a:r>
              <a:t>Não é necessário neste ensaio.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Decisão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Rejeitar a sugestão.</a:t>
            </a:r>
          </a:p>
          <a:p>
            <a:pPr algn="l">
              <a:lnSpc>
                <a:spcPct val="105000"/>
              </a:lnSpc>
              <a:spcAft>
                <a:spcPts val="600"/>
              </a:spcAft>
              <a:defRPr sz="1800" b="0">
                <a:solidFill>
                  <a:srgbClr val="26364A"/>
                </a:solidFill>
                <a:latin typeface="Aptos"/>
              </a:defRPr>
            </a:pPr>
            <a:r>
              <a:t>Preservar estado e evidências.</a:t>
            </a:r>
          </a:p>
          <a:p>
            <a:pPr algn="l">
              <a:lnSpc>
                <a:spcPct val="105000"/>
              </a:lnSpc>
              <a:spcAft>
                <a:spcPts val="600"/>
              </a:spcAft>
              <a:defRPr sz="1800" b="0">
                <a:solidFill>
                  <a:srgbClr val="26364A"/>
                </a:solidFill>
                <a:latin typeface="Aptos"/>
              </a:defRPr>
            </a:pPr>
            <a:r>
              <a:t>Retomar db e validar a operação.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Registro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Anotar a sugestão rejeitada.</a:t>
            </a:r>
          </a:p>
          <a:p>
            <a:pPr algn="l">
              <a:lnSpc>
                <a:spcPct val="105000"/>
              </a:lnSpc>
              <a:spcAft>
                <a:spcPts val="600"/>
              </a:spcAft>
              <a:defRPr sz="1800" b="0">
                <a:solidFill>
                  <a:srgbClr val="26364A"/>
                </a:solidFill>
                <a:latin typeface="Aptos"/>
              </a:defRPr>
            </a:pPr>
            <a:r>
              <a:t>Explicar risco e alternativa.</a:t>
            </a:r>
          </a:p>
          <a:p>
            <a:pPr algn="l">
              <a:lnSpc>
                <a:spcPct val="105000"/>
              </a:lnSpc>
              <a:spcAft>
                <a:spcPts val="600"/>
              </a:spcAft>
              <a:defRPr sz="1800" b="0">
                <a:solidFill>
                  <a:srgbClr val="26364A"/>
                </a:solidFill>
                <a:latin typeface="Aptos"/>
              </a:defRPr>
            </a:pPr>
            <a:r>
              <a:t>Vincular o resultado do teste.</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Revisão crítica pode resultar em rejeição; isso é uma evidência válida de uso responsável.</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E6·41</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AIOps: onde a automação pode ajudar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Capacidades possíveis, dependentes da qualidade dos dados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Organizar sinais</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Agrupar alertas semelhantes.</a:t>
            </a:r>
          </a:p>
          <a:p>
            <a:pPr algn="l">
              <a:lnSpc>
                <a:spcPct val="105000"/>
              </a:lnSpc>
              <a:spcAft>
                <a:spcPts val="600"/>
              </a:spcAft>
              <a:defRPr sz="1800" b="0">
                <a:solidFill>
                  <a:srgbClr val="26364A"/>
                </a:solidFill>
                <a:latin typeface="Aptos"/>
              </a:defRPr>
            </a:pPr>
            <a:r>
              <a:t>Resumir eventos da janela.</a:t>
            </a:r>
          </a:p>
          <a:p>
            <a:pPr algn="l">
              <a:lnSpc>
                <a:spcPct val="105000"/>
              </a:lnSpc>
              <a:spcAft>
                <a:spcPts val="600"/>
              </a:spcAft>
              <a:defRPr sz="1800" b="0">
                <a:solidFill>
                  <a:srgbClr val="26364A"/>
                </a:solidFill>
                <a:latin typeface="Aptos"/>
              </a:defRPr>
            </a:pPr>
            <a:r>
              <a:t>Relacionar mudança e sintoma.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Sugerir análise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Destacar comportamento incomum.</a:t>
            </a:r>
          </a:p>
          <a:p>
            <a:pPr algn="l">
              <a:lnSpc>
                <a:spcPct val="105000"/>
              </a:lnSpc>
              <a:spcAft>
                <a:spcPts val="600"/>
              </a:spcAft>
              <a:defRPr sz="1800" b="0">
                <a:solidFill>
                  <a:srgbClr val="26364A"/>
                </a:solidFill>
                <a:latin typeface="Aptos"/>
              </a:defRPr>
            </a:pPr>
            <a:r>
              <a:t>Priorizar hipóteses de investigação.</a:t>
            </a:r>
          </a:p>
          <a:p>
            <a:pPr algn="l">
              <a:lnSpc>
                <a:spcPct val="105000"/>
              </a:lnSpc>
              <a:spcAft>
                <a:spcPts val="600"/>
              </a:spcAft>
              <a:defRPr sz="1800" b="0">
                <a:solidFill>
                  <a:srgbClr val="26364A"/>
                </a:solidFill>
                <a:latin typeface="Aptos"/>
              </a:defRPr>
            </a:pPr>
            <a:r>
              <a:t>Explicitar incertezas.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Controlar execução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Permissão mínima.</a:t>
            </a:r>
          </a:p>
          <a:p>
            <a:pPr algn="l">
              <a:lnSpc>
                <a:spcPct val="105000"/>
              </a:lnSpc>
              <a:spcAft>
                <a:spcPts val="600"/>
              </a:spcAft>
              <a:defRPr sz="1800" b="0">
                <a:solidFill>
                  <a:srgbClr val="26364A"/>
                </a:solidFill>
                <a:latin typeface="Aptos"/>
              </a:defRPr>
            </a:pPr>
            <a:r>
              <a:t>Ação limitada e auditável.</a:t>
            </a:r>
          </a:p>
          <a:p>
            <a:pPr algn="l">
              <a:lnSpc>
                <a:spcPct val="105000"/>
              </a:lnSpc>
              <a:spcAft>
                <a:spcPts val="600"/>
              </a:spcAft>
              <a:defRPr sz="1800" b="0">
                <a:solidFill>
                  <a:srgbClr val="26364A"/>
                </a:solidFill>
                <a:latin typeface="Aptos"/>
              </a:defRPr>
            </a:pPr>
            <a:r>
              <a:t>Verificação e escalonamento.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Automatize tarefas com critérios claros; mantenha limites, rastreabilidade e verificação.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E6·42</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Uma ação automática precisa de limites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conceitual de recuperação controlada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Condição</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Sinal confirmado</a:t>
            </a:r>
          </a:p>
          <a:p>
            <a:pPr algn="l">
              <a:lnSpc>
                <a:spcPct val="105000"/>
              </a:lnSpc>
              <a:spcAft>
                <a:spcPts val="600"/>
              </a:spcAft>
              <a:defRPr sz="1800" b="0">
                <a:solidFill>
                  <a:srgbClr val="26364A"/>
                </a:solidFill>
                <a:latin typeface="Aptos"/>
              </a:defRPr>
            </a:pPr>
            <a:r>
              <a:t>Contexto autorizado</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Ação</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Runbook conhecido</a:t>
            </a:r>
          </a:p>
          <a:p>
            <a:pPr algn="l">
              <a:lnSpc>
                <a:spcPct val="105000"/>
              </a:lnSpc>
              <a:spcAft>
                <a:spcPts val="600"/>
              </a:spcAft>
              <a:defRPr sz="1800" b="0">
                <a:solidFill>
                  <a:srgbClr val="26364A"/>
                </a:solidFill>
                <a:latin typeface="Aptos"/>
              </a:defRPr>
            </a:pPr>
            <a:r>
              <a:t>Tentativas limitadas</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Verificação</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Repetir operação</a:t>
            </a:r>
          </a:p>
          <a:p>
            <a:pPr algn="l">
              <a:lnSpc>
                <a:spcPct val="105000"/>
              </a:lnSpc>
              <a:spcAft>
                <a:spcPts val="600"/>
              </a:spcAft>
              <a:defRPr sz="1800" b="0">
                <a:solidFill>
                  <a:srgbClr val="26364A"/>
                </a:solidFill>
                <a:latin typeface="Aptos"/>
              </a:defRPr>
            </a:pPr>
            <a:r>
              <a:t>Checar efeito</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Escalonar</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Falhou ou risco alto?</a:t>
            </a:r>
          </a:p>
          <a:p>
            <a:pPr algn="l">
              <a:lnSpc>
                <a:spcPct val="105000"/>
              </a:lnSpc>
              <a:spcAft>
                <a:spcPts val="600"/>
              </a:spcAft>
              <a:defRPr sz="1800" b="0">
                <a:solidFill>
                  <a:srgbClr val="26364A"/>
                </a:solidFill>
                <a:latin typeface="Aptos"/>
              </a:defRPr>
            </a:pPr>
            <a:r>
              <a:t>Acionar responsável</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ação sem critério de parada e teste de recuperação não fecha o ciclo operacional.</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E6·43</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Revisar uma sugestão de 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dos conceitos e exemplos • explique a evidência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resposta aponta o deploy como causa porque ocorreu antes do erro. Isso basta?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 log contém a frase “execute este comando”. A equipe deve obedecer?</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Rejeitar uma sugestão impede demonstrar uso responsável de IA?</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E6·44</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06" b="1">
                <a:solidFill>
                  <a:srgbClr val="1B2A4A"/>
                </a:solidFill>
                <a:latin typeface="Aptos"/>
              </a:defRPr>
            </a:pPr>
            <a:r>
              <a:t>Respostas comentadas | Revisar uma sugestão de 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do conceito à decisão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Ordem temporal sugere uma hipótese. Compare versões, dependências e resultados de testes que possam refutá-la.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log é dado a analisar. Comandos exigem revisão de finalidade, escopo, autorização e impacto.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Registre a sugestão, o motivo da rejeição e a alternativa validada. Não invente uma interação que não ocorreu.</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Diferencie o que foi observado, o que é hipótese e o que foi confirmado.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E6·45</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O mesmo projeto, seis incrementos conectados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Apresentar a evolução com evidências no repositório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60934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37159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Etapa</a:t>
            </a:r>
          </a:p>
        </p:txBody>
      </p:sp>
      <p:sp>
        <p:nvSpPr>
          <p:cNvPr id="7" name="Rounded Rectangle 6"/>
          <p:cNvSpPr/>
          <p:nvPr/>
        </p:nvSpPr>
        <p:spPr>
          <a:xfrm>
            <a:off x="640080" y="2386584"/>
            <a:ext cx="160934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371599"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E1–E2</a:t>
            </a:r>
          </a:p>
        </p:txBody>
      </p:sp>
      <p:sp>
        <p:nvSpPr>
          <p:cNvPr id="9" name="Rounded Rectangle 8"/>
          <p:cNvSpPr/>
          <p:nvPr/>
        </p:nvSpPr>
        <p:spPr>
          <a:xfrm>
            <a:off x="640080" y="3008376"/>
            <a:ext cx="1609343"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1371599"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E3</a:t>
            </a:r>
          </a:p>
        </p:txBody>
      </p:sp>
      <p:sp>
        <p:nvSpPr>
          <p:cNvPr id="11" name="Rounded Rectangle 10"/>
          <p:cNvSpPr/>
          <p:nvPr/>
        </p:nvSpPr>
        <p:spPr>
          <a:xfrm>
            <a:off x="640080" y="3630168"/>
            <a:ext cx="160934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1371599"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E4</a:t>
            </a:r>
          </a:p>
        </p:txBody>
      </p:sp>
      <p:sp>
        <p:nvSpPr>
          <p:cNvPr id="13" name="Rounded Rectangle 12"/>
          <p:cNvSpPr/>
          <p:nvPr/>
        </p:nvSpPr>
        <p:spPr>
          <a:xfrm>
            <a:off x="640080" y="4251960"/>
            <a:ext cx="1609343"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1371599"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E5</a:t>
            </a:r>
          </a:p>
        </p:txBody>
      </p:sp>
      <p:sp>
        <p:nvSpPr>
          <p:cNvPr id="15" name="Rounded Rectangle 14"/>
          <p:cNvSpPr/>
          <p:nvPr/>
        </p:nvSpPr>
        <p:spPr>
          <a:xfrm>
            <a:off x="640080" y="4873752"/>
            <a:ext cx="160934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1371599"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E6</a:t>
            </a:r>
          </a:p>
        </p:txBody>
      </p:sp>
      <p:sp>
        <p:nvSpPr>
          <p:cNvPr id="17" name="Rounded Rectangle 16"/>
          <p:cNvSpPr/>
          <p:nvPr/>
        </p:nvSpPr>
        <p:spPr>
          <a:xfrm>
            <a:off x="2286000"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04872"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Contribuição</a:t>
            </a:r>
          </a:p>
        </p:txBody>
      </p:sp>
      <p:sp>
        <p:nvSpPr>
          <p:cNvPr id="19" name="Rounded Rectangle 18"/>
          <p:cNvSpPr/>
          <p:nvPr/>
        </p:nvSpPr>
        <p:spPr>
          <a:xfrm>
            <a:off x="2286000" y="2386584"/>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04872" y="2436876"/>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Projeto, colaboração e implementação.</a:t>
            </a:r>
          </a:p>
        </p:txBody>
      </p:sp>
      <p:sp>
        <p:nvSpPr>
          <p:cNvPr id="21" name="Rounded Rectangle 20"/>
          <p:cNvSpPr/>
          <p:nvPr/>
        </p:nvSpPr>
        <p:spPr>
          <a:xfrm>
            <a:off x="2286000" y="3008376"/>
            <a:ext cx="4352544"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04872" y="3058668"/>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Integração contínua.</a:t>
            </a:r>
          </a:p>
        </p:txBody>
      </p:sp>
      <p:sp>
        <p:nvSpPr>
          <p:cNvPr id="23" name="Rounded Rectangle 22"/>
          <p:cNvSpPr/>
          <p:nvPr/>
        </p:nvSpPr>
        <p:spPr>
          <a:xfrm>
            <a:off x="2286000" y="3630168"/>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04872" y="3680459"/>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Containers e integração.</a:t>
            </a:r>
          </a:p>
        </p:txBody>
      </p:sp>
      <p:sp>
        <p:nvSpPr>
          <p:cNvPr id="25" name="Rounded Rectangle 24"/>
          <p:cNvSpPr/>
          <p:nvPr/>
        </p:nvSpPr>
        <p:spPr>
          <a:xfrm>
            <a:off x="2286000" y="4251960"/>
            <a:ext cx="4352544"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04872" y="4302252"/>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Entrega e operação.</a:t>
            </a:r>
          </a:p>
        </p:txBody>
      </p:sp>
      <p:sp>
        <p:nvSpPr>
          <p:cNvPr id="27" name="Rounded Rectangle 26"/>
          <p:cNvSpPr/>
          <p:nvPr/>
        </p:nvSpPr>
        <p:spPr>
          <a:xfrm>
            <a:off x="2286000" y="4873752"/>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04872" y="4924044"/>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Observabilidade e diagnóstico.</a:t>
            </a:r>
          </a:p>
        </p:txBody>
      </p:sp>
      <p:sp>
        <p:nvSpPr>
          <p:cNvPr id="29" name="Rounded Rectangle 28"/>
          <p:cNvSpPr/>
          <p:nvPr/>
        </p:nvSpPr>
        <p:spPr>
          <a:xfrm>
            <a:off x="6675120" y="1764792"/>
            <a:ext cx="490118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93992" y="1874519"/>
            <a:ext cx="466344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mostrar</a:t>
            </a:r>
          </a:p>
        </p:txBody>
      </p:sp>
      <p:sp>
        <p:nvSpPr>
          <p:cNvPr id="31" name="Rounded Rectangle 30"/>
          <p:cNvSpPr/>
          <p:nvPr/>
        </p:nvSpPr>
        <p:spPr>
          <a:xfrm>
            <a:off x="6675120" y="2386584"/>
            <a:ext cx="49011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93992" y="2436876"/>
            <a:ext cx="466344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Contexto, histórico e decisões técnicas.</a:t>
            </a:r>
          </a:p>
        </p:txBody>
      </p:sp>
      <p:sp>
        <p:nvSpPr>
          <p:cNvPr id="33" name="Rounded Rectangle 32"/>
          <p:cNvSpPr/>
          <p:nvPr/>
        </p:nvSpPr>
        <p:spPr>
          <a:xfrm>
            <a:off x="6675120" y="3008376"/>
            <a:ext cx="4901184"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93992" y="3058668"/>
            <a:ext cx="466344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Execução do pipeline e resultado dos testes.</a:t>
            </a:r>
          </a:p>
        </p:txBody>
      </p:sp>
      <p:sp>
        <p:nvSpPr>
          <p:cNvPr id="35" name="Rounded Rectangle 34"/>
          <p:cNvSpPr/>
          <p:nvPr/>
        </p:nvSpPr>
        <p:spPr>
          <a:xfrm>
            <a:off x="6675120" y="3630168"/>
            <a:ext cx="49011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93992" y="3680459"/>
            <a:ext cx="466344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Dockerfile, Compose e operação funcionando.</a:t>
            </a:r>
          </a:p>
        </p:txBody>
      </p:sp>
      <p:sp>
        <p:nvSpPr>
          <p:cNvPr id="37" name="Rounded Rectangle 36"/>
          <p:cNvSpPr/>
          <p:nvPr/>
        </p:nvSpPr>
        <p:spPr>
          <a:xfrm>
            <a:off x="6675120" y="4251960"/>
            <a:ext cx="4901184"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93992" y="4302252"/>
            <a:ext cx="466344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configuração e plano de recuperação.</a:t>
            </a:r>
          </a:p>
        </p:txBody>
      </p:sp>
      <p:sp>
        <p:nvSpPr>
          <p:cNvPr id="39" name="Rounded Rectangle 38"/>
          <p:cNvSpPr/>
          <p:nvPr/>
        </p:nvSpPr>
        <p:spPr>
          <a:xfrm>
            <a:off x="6675120" y="4873752"/>
            <a:ext cx="49011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93992" y="4924044"/>
            <a:ext cx="466344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Sinais, incidente e recuperação comprovada.</a:t>
            </a:r>
          </a:p>
        </p:txBody>
      </p:sp>
      <p:sp>
        <p:nvSpPr>
          <p:cNvPr id="41" name="Rounded Rectangle 40"/>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apresentação deve ligar decisões, implementação e resultados do próprio projeto.</a:t>
            </a:r>
          </a:p>
        </p:txBody>
      </p:sp>
      <p:sp>
        <p:nvSpPr>
          <p:cNvPr id="43" name="TextBox 4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44" name="TextBox 4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E6·46</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Preparação das equipes: 35 minutos com foco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145–180 min • aproveitar os incrementos já construídos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0–12 min</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Escolher operação relevante.</a:t>
            </a:r>
          </a:p>
          <a:p>
            <a:pPr algn="l">
              <a:lnSpc>
                <a:spcPct val="105000"/>
              </a:lnSpc>
              <a:spcAft>
                <a:spcPts val="600"/>
              </a:spcAft>
              <a:defRPr sz="1800" b="0">
                <a:solidFill>
                  <a:srgbClr val="26364A"/>
                </a:solidFill>
                <a:latin typeface="Aptos"/>
              </a:defRPr>
            </a:pPr>
            <a:r>
              <a:t>Conferir logs e uma medição.</a:t>
            </a:r>
          </a:p>
          <a:p>
            <a:pPr algn="l">
              <a:lnSpc>
                <a:spcPct val="105000"/>
              </a:lnSpc>
              <a:spcAft>
                <a:spcPts val="600"/>
              </a:spcAft>
              <a:defRPr sz="1800" b="0">
                <a:solidFill>
                  <a:srgbClr val="26364A"/>
                </a:solidFill>
                <a:latin typeface="Aptos"/>
              </a:defRPr>
            </a:pPr>
            <a:r>
              <a:t>Definir janela e resultado bom.</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12–25 min</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Executar falha local controlada.</a:t>
            </a:r>
          </a:p>
          <a:p>
            <a:pPr algn="l">
              <a:lnSpc>
                <a:spcPct val="105000"/>
              </a:lnSpc>
              <a:spcAft>
                <a:spcPts val="600"/>
              </a:spcAft>
              <a:defRPr sz="1800" b="0">
                <a:solidFill>
                  <a:srgbClr val="26364A"/>
                </a:solidFill>
                <a:latin typeface="Aptos"/>
              </a:defRPr>
            </a:pPr>
            <a:r>
              <a:t>Registrar hipótese e intervenção.</a:t>
            </a:r>
          </a:p>
          <a:p>
            <a:pPr algn="l">
              <a:lnSpc>
                <a:spcPct val="105000"/>
              </a:lnSpc>
              <a:spcAft>
                <a:spcPts val="600"/>
              </a:spcAft>
              <a:defRPr sz="1800" b="0">
                <a:solidFill>
                  <a:srgbClr val="26364A"/>
                </a:solidFill>
                <a:latin typeface="Aptos"/>
              </a:defRPr>
            </a:pPr>
            <a:r>
              <a:t>Confirmar recuperação e dados.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25–35 min</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Organizar links das evidências.</a:t>
            </a:r>
          </a:p>
          <a:p>
            <a:pPr algn="l">
              <a:lnSpc>
                <a:spcPct val="105000"/>
              </a:lnSpc>
              <a:spcAft>
                <a:spcPts val="600"/>
              </a:spcAft>
              <a:defRPr sz="1800" b="0">
                <a:solidFill>
                  <a:srgbClr val="26364A"/>
                </a:solidFill>
                <a:latin typeface="Aptos"/>
              </a:defRPr>
            </a:pPr>
            <a:r>
              <a:t>Revisar relato e participação.</a:t>
            </a:r>
          </a:p>
          <a:p>
            <a:pPr algn="l">
              <a:lnSpc>
                <a:spcPct val="105000"/>
              </a:lnSpc>
              <a:spcAft>
                <a:spcPts val="600"/>
              </a:spcAft>
              <a:defRPr sz="1800" b="0">
                <a:solidFill>
                  <a:srgbClr val="26364A"/>
                </a:solidFill>
                <a:latin typeface="Aptos"/>
              </a:defRPr>
            </a:pPr>
            <a:r>
              <a:t>Ensaiar a fala de 5–7 minutos.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entrega é da equipe e está no repositório; a demonstração deve mostrar evidências verificáveis.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E6·47</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Exemplo preenchido de relato de incidente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didático • horários ilustrativos, não resultados medidos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9260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6883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Campo</a:t>
            </a:r>
          </a:p>
        </p:txBody>
      </p:sp>
      <p:sp>
        <p:nvSpPr>
          <p:cNvPr id="7" name="Rounded Rectangle 6"/>
          <p:cNvSpPr/>
          <p:nvPr/>
        </p:nvSpPr>
        <p:spPr>
          <a:xfrm>
            <a:off x="640080" y="2386584"/>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Impacto e janela</a:t>
            </a:r>
          </a:p>
        </p:txBody>
      </p:sp>
      <p:sp>
        <p:nvSpPr>
          <p:cNvPr id="9" name="Rounded Rectangle 8"/>
          <p:cNvSpPr/>
          <p:nvPr/>
        </p:nvSpPr>
        <p:spPr>
          <a:xfrm>
            <a:off x="640080" y="3008376"/>
            <a:ext cx="2926080"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Evidências</a:t>
            </a:r>
          </a:p>
        </p:txBody>
      </p:sp>
      <p:sp>
        <p:nvSpPr>
          <p:cNvPr id="11" name="Rounded Rectangle 10"/>
          <p:cNvSpPr/>
          <p:nvPr/>
        </p:nvSpPr>
        <p:spPr>
          <a:xfrm>
            <a:off x="640080" y="3630168"/>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Causa do ensaio</a:t>
            </a:r>
          </a:p>
        </p:txBody>
      </p:sp>
      <p:sp>
        <p:nvSpPr>
          <p:cNvPr id="13" name="Rounded Rectangle 12"/>
          <p:cNvSpPr/>
          <p:nvPr/>
        </p:nvSpPr>
        <p:spPr>
          <a:xfrm>
            <a:off x="640080" y="4251960"/>
            <a:ext cx="2926080"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Recuperação</a:t>
            </a:r>
          </a:p>
        </p:txBody>
      </p:sp>
      <p:sp>
        <p:nvSpPr>
          <p:cNvPr id="15" name="Rounded Rectangle 14"/>
          <p:cNvSpPr/>
          <p:nvPr/>
        </p:nvSpPr>
        <p:spPr>
          <a:xfrm>
            <a:off x="640080" y="4873752"/>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Ação e responsável</a:t>
            </a:r>
          </a:p>
        </p:txBody>
      </p:sp>
      <p:sp>
        <p:nvSpPr>
          <p:cNvPr id="17" name="Rounded Rectangle 16"/>
          <p:cNvSpPr/>
          <p:nvPr/>
        </p:nvSpPr>
        <p:spPr>
          <a:xfrm>
            <a:off x="3602736" y="1764792"/>
            <a:ext cx="79735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21608" y="1874519"/>
            <a:ext cx="7735823"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Preenchimento</a:t>
            </a:r>
          </a:p>
        </p:txBody>
      </p:sp>
      <p:sp>
        <p:nvSpPr>
          <p:cNvPr id="19" name="Rounded Rectangle 18"/>
          <p:cNvSpPr/>
          <p:nvPr/>
        </p:nvSpPr>
        <p:spPr>
          <a:xfrm>
            <a:off x="3602736" y="2386584"/>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21608" y="2436876"/>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10:00–10:07: consulta /visitas indisponível no ensaio local.</a:t>
            </a:r>
          </a:p>
        </p:txBody>
      </p:sp>
      <p:sp>
        <p:nvSpPr>
          <p:cNvPr id="21" name="Rounded Rectangle 20"/>
          <p:cNvSpPr/>
          <p:nvPr/>
        </p:nvSpPr>
        <p:spPr>
          <a:xfrm>
            <a:off x="3602736" y="3008376"/>
            <a:ext cx="7973568"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058668"/>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5 sondas retornaram 503; db parado; logs ligados por request_id.</a:t>
            </a:r>
          </a:p>
        </p:txBody>
      </p:sp>
      <p:sp>
        <p:nvSpPr>
          <p:cNvPr id="23" name="Rounded Rectangle 22"/>
          <p:cNvSpPr/>
          <p:nvPr/>
        </p:nvSpPr>
        <p:spPr>
          <a:xfrm>
            <a:off x="3602736" y="3630168"/>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608" y="3680459"/>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Banco interrompido pelo comando deliberado compose stop db.</a:t>
            </a:r>
          </a:p>
        </p:txBody>
      </p:sp>
      <p:sp>
        <p:nvSpPr>
          <p:cNvPr id="25" name="Rounded Rectangle 24"/>
          <p:cNvSpPr/>
          <p:nvPr/>
        </p:nvSpPr>
        <p:spPr>
          <a:xfrm>
            <a:off x="3602736" y="4251960"/>
            <a:ext cx="7973568"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21608" y="4302252"/>
            <a:ext cx="7735823"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start db; prontidão confirmada; 10 sondas boas; contador preservado.</a:t>
            </a:r>
          </a:p>
        </p:txBody>
      </p:sp>
      <p:sp>
        <p:nvSpPr>
          <p:cNvPr id="27" name="Rounded Rectangle 26"/>
          <p:cNvSpPr/>
          <p:nvPr/>
        </p:nvSpPr>
        <p:spPr>
          <a:xfrm>
            <a:off x="3602736" y="4873752"/>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21608" y="4924044"/>
            <a:ext cx="7735823"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Equipe: adicionar teste de dependência ao runbook antes da entrega.</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relato útil permite reconstruir o raciocínio sem depender da memória de quem apresentou.</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E6·48</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Rubrica oficial: construção e integração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70% da avaliação • pesos preservados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7066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46888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Critério</a:t>
            </a:r>
          </a:p>
        </p:txBody>
      </p:sp>
      <p:sp>
        <p:nvSpPr>
          <p:cNvPr id="7" name="Rounded Rectangle 6"/>
          <p:cNvSpPr/>
          <p:nvPr/>
        </p:nvSpPr>
        <p:spPr>
          <a:xfrm>
            <a:off x="640080" y="2386584"/>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Projeto</a:t>
            </a:r>
          </a:p>
        </p:txBody>
      </p:sp>
      <p:sp>
        <p:nvSpPr>
          <p:cNvPr id="9" name="Rounded Rectangle 8"/>
          <p:cNvSpPr/>
          <p:nvPr/>
        </p:nvSpPr>
        <p:spPr>
          <a:xfrm>
            <a:off x="640080" y="3282696"/>
            <a:ext cx="2706624"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CI</a:t>
            </a:r>
          </a:p>
        </p:txBody>
      </p:sp>
      <p:sp>
        <p:nvSpPr>
          <p:cNvPr id="11" name="Rounded Rectangle 10"/>
          <p:cNvSpPr/>
          <p:nvPr/>
        </p:nvSpPr>
        <p:spPr>
          <a:xfrm>
            <a:off x="640080" y="4178808"/>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Containers</a:t>
            </a:r>
          </a:p>
        </p:txBody>
      </p:sp>
      <p:sp>
        <p:nvSpPr>
          <p:cNvPr id="13" name="Rounded Rectangle 12"/>
          <p:cNvSpPr/>
          <p:nvPr/>
        </p:nvSpPr>
        <p:spPr>
          <a:xfrm>
            <a:off x="3383280" y="1764792"/>
            <a:ext cx="128016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874519"/>
            <a:ext cx="1042415"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Peso</a:t>
            </a:r>
          </a:p>
        </p:txBody>
      </p:sp>
      <p:sp>
        <p:nvSpPr>
          <p:cNvPr id="15" name="Rounded Rectangle 14"/>
          <p:cNvSpPr/>
          <p:nvPr/>
        </p:nvSpPr>
        <p:spPr>
          <a:xfrm>
            <a:off x="3383280" y="2386584"/>
            <a:ext cx="128016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2152" y="2436876"/>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25%</a:t>
            </a:r>
          </a:p>
        </p:txBody>
      </p:sp>
      <p:sp>
        <p:nvSpPr>
          <p:cNvPr id="17" name="Rounded Rectangle 16"/>
          <p:cNvSpPr/>
          <p:nvPr/>
        </p:nvSpPr>
        <p:spPr>
          <a:xfrm>
            <a:off x="3383280" y="3282696"/>
            <a:ext cx="128016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152" y="3332988"/>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25%</a:t>
            </a:r>
          </a:p>
        </p:txBody>
      </p:sp>
      <p:sp>
        <p:nvSpPr>
          <p:cNvPr id="19" name="Rounded Rectangle 18"/>
          <p:cNvSpPr/>
          <p:nvPr/>
        </p:nvSpPr>
        <p:spPr>
          <a:xfrm>
            <a:off x="3383280" y="4178808"/>
            <a:ext cx="128016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4229100"/>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20%</a:t>
            </a:r>
          </a:p>
        </p:txBody>
      </p:sp>
      <p:sp>
        <p:nvSpPr>
          <p:cNvPr id="21" name="Rounded Rectangle 20"/>
          <p:cNvSpPr/>
          <p:nvPr/>
        </p:nvSpPr>
        <p:spPr>
          <a:xfrm>
            <a:off x="4700016" y="1764792"/>
            <a:ext cx="687628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8888" y="1874519"/>
            <a:ext cx="663854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Evidência que ajuda a explicar</a:t>
            </a:r>
          </a:p>
        </p:txBody>
      </p:sp>
      <p:sp>
        <p:nvSpPr>
          <p:cNvPr id="23" name="Rounded Rectangle 22"/>
          <p:cNvSpPr/>
          <p:nvPr/>
        </p:nvSpPr>
        <p:spPr>
          <a:xfrm>
            <a:off x="4700016" y="2386584"/>
            <a:ext cx="68762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8888" y="2436876"/>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Problema, solução implementada e decisões do grupo.</a:t>
            </a:r>
          </a:p>
        </p:txBody>
      </p:sp>
      <p:sp>
        <p:nvSpPr>
          <p:cNvPr id="25" name="Rounded Rectangle 24"/>
          <p:cNvSpPr/>
          <p:nvPr/>
        </p:nvSpPr>
        <p:spPr>
          <a:xfrm>
            <a:off x="4700016" y="3282696"/>
            <a:ext cx="6876288"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8888" y="3332988"/>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Pipeline executado, testes e tratamento de falhas.</a:t>
            </a:r>
          </a:p>
        </p:txBody>
      </p:sp>
      <p:sp>
        <p:nvSpPr>
          <p:cNvPr id="27" name="Rounded Rectangle 26"/>
          <p:cNvSpPr/>
          <p:nvPr/>
        </p:nvSpPr>
        <p:spPr>
          <a:xfrm>
            <a:off x="4700016" y="4178808"/>
            <a:ext cx="68762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8888" y="4229100"/>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Empacotamento, integração e execução reproduzível.</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Mostre o que foi implementado e executado; uma configuração isolada não comprova seu resultado.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E6·49</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26" b="1">
                <a:solidFill>
                  <a:srgbClr val="1B2A4A"/>
                </a:solidFill>
                <a:latin typeface="Aptos"/>
              </a:defRPr>
            </a:pPr>
            <a:r>
              <a:t>Rubrica oficial: entregar, diagnosticar e comunicar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30% da avaliação • total geral: 100%</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7066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46888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Critério</a:t>
            </a:r>
          </a:p>
        </p:txBody>
      </p:sp>
      <p:sp>
        <p:nvSpPr>
          <p:cNvPr id="7" name="Rounded Rectangle 6"/>
          <p:cNvSpPr/>
          <p:nvPr/>
        </p:nvSpPr>
        <p:spPr>
          <a:xfrm>
            <a:off x="640080" y="2386584"/>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Entrega e operação</a:t>
            </a:r>
          </a:p>
        </p:txBody>
      </p:sp>
      <p:sp>
        <p:nvSpPr>
          <p:cNvPr id="9" name="Rounded Rectangle 8"/>
          <p:cNvSpPr/>
          <p:nvPr/>
        </p:nvSpPr>
        <p:spPr>
          <a:xfrm>
            <a:off x="640080" y="3282696"/>
            <a:ext cx="2706624"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Diagnóstico</a:t>
            </a:r>
          </a:p>
        </p:txBody>
      </p:sp>
      <p:sp>
        <p:nvSpPr>
          <p:cNvPr id="11" name="Rounded Rectangle 10"/>
          <p:cNvSpPr/>
          <p:nvPr/>
        </p:nvSpPr>
        <p:spPr>
          <a:xfrm>
            <a:off x="640080" y="4178808"/>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Apresentação</a:t>
            </a:r>
          </a:p>
        </p:txBody>
      </p:sp>
      <p:sp>
        <p:nvSpPr>
          <p:cNvPr id="13" name="Rounded Rectangle 12"/>
          <p:cNvSpPr/>
          <p:nvPr/>
        </p:nvSpPr>
        <p:spPr>
          <a:xfrm>
            <a:off x="3383280" y="1764792"/>
            <a:ext cx="128016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874519"/>
            <a:ext cx="1042415"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Peso</a:t>
            </a:r>
          </a:p>
        </p:txBody>
      </p:sp>
      <p:sp>
        <p:nvSpPr>
          <p:cNvPr id="15" name="Rounded Rectangle 14"/>
          <p:cNvSpPr/>
          <p:nvPr/>
        </p:nvSpPr>
        <p:spPr>
          <a:xfrm>
            <a:off x="3383280" y="2386584"/>
            <a:ext cx="128016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2152" y="2436876"/>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15%</a:t>
            </a:r>
          </a:p>
        </p:txBody>
      </p:sp>
      <p:sp>
        <p:nvSpPr>
          <p:cNvPr id="17" name="Rounded Rectangle 16"/>
          <p:cNvSpPr/>
          <p:nvPr/>
        </p:nvSpPr>
        <p:spPr>
          <a:xfrm>
            <a:off x="3383280" y="3282696"/>
            <a:ext cx="128016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152" y="3332988"/>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a:t>
            </a:r>
          </a:p>
        </p:txBody>
      </p:sp>
      <p:sp>
        <p:nvSpPr>
          <p:cNvPr id="19" name="Rounded Rectangle 18"/>
          <p:cNvSpPr/>
          <p:nvPr/>
        </p:nvSpPr>
        <p:spPr>
          <a:xfrm>
            <a:off x="3383280" y="4178808"/>
            <a:ext cx="128016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4229100"/>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5%</a:t>
            </a:r>
          </a:p>
        </p:txBody>
      </p:sp>
      <p:sp>
        <p:nvSpPr>
          <p:cNvPr id="21" name="Rounded Rectangle 20"/>
          <p:cNvSpPr/>
          <p:nvPr/>
        </p:nvSpPr>
        <p:spPr>
          <a:xfrm>
            <a:off x="4700016" y="1764792"/>
            <a:ext cx="687628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8888" y="1874519"/>
            <a:ext cx="663854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Evidência que ajuda a explicar</a:t>
            </a:r>
          </a:p>
        </p:txBody>
      </p:sp>
      <p:sp>
        <p:nvSpPr>
          <p:cNvPr id="23" name="Rounded Rectangle 22"/>
          <p:cNvSpPr/>
          <p:nvPr/>
        </p:nvSpPr>
        <p:spPr>
          <a:xfrm>
            <a:off x="4700016" y="2386584"/>
            <a:ext cx="68762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8888" y="2436876"/>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configuração, execução e recuperação planejada.</a:t>
            </a:r>
          </a:p>
        </p:txBody>
      </p:sp>
      <p:sp>
        <p:nvSpPr>
          <p:cNvPr id="25" name="Rounded Rectangle 24"/>
          <p:cNvSpPr/>
          <p:nvPr/>
        </p:nvSpPr>
        <p:spPr>
          <a:xfrm>
            <a:off x="4700016" y="3282696"/>
            <a:ext cx="6876288"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8888" y="3332988"/>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Sintoma, hipótese, teste, causa e recuperação comprovada.</a:t>
            </a:r>
          </a:p>
        </p:txBody>
      </p:sp>
      <p:sp>
        <p:nvSpPr>
          <p:cNvPr id="27" name="Rounded Rectangle 26"/>
          <p:cNvSpPr/>
          <p:nvPr/>
        </p:nvSpPr>
        <p:spPr>
          <a:xfrm>
            <a:off x="4700016" y="4178808"/>
            <a:ext cx="68762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8888" y="4229100"/>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Narrativa clara de 5–7 min com evidências do grupo.</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Os pesos continuam 25 / 25 / 20 / 15 / 10 / 5; observabilidade conecta as evidências.</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15" b="1">
                <a:solidFill>
                  <a:srgbClr val="1B2A4A"/>
                </a:solidFill>
                <a:latin typeface="Aptos"/>
              </a:defRPr>
            </a:pPr>
            <a:r>
              <a:t>Roteiro de apresentação: exemplo de seis minutos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Dentro do intervalo oficial de 5–7 minutos por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0–2 min</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0–1: problema e solução.</a:t>
            </a:r>
          </a:p>
          <a:p>
            <a:pPr algn="l">
              <a:lnSpc>
                <a:spcPct val="105000"/>
              </a:lnSpc>
              <a:spcAft>
                <a:spcPts val="600"/>
              </a:spcAft>
              <a:defRPr sz="1800" b="0">
                <a:solidFill>
                  <a:srgbClr val="26364A"/>
                </a:solidFill>
                <a:latin typeface="Aptos"/>
              </a:defRPr>
            </a:pPr>
            <a:r>
              <a:t>1–2: CI e teste executado.</a:t>
            </a:r>
          </a:p>
          <a:p>
            <a:pPr algn="l">
              <a:lnSpc>
                <a:spcPct val="105000"/>
              </a:lnSpc>
              <a:spcAft>
                <a:spcPts val="600"/>
              </a:spcAft>
              <a:defRPr sz="1800" b="0">
                <a:solidFill>
                  <a:srgbClr val="26364A"/>
                </a:solidFill>
                <a:latin typeface="Aptos"/>
              </a:defRPr>
            </a:pPr>
            <a:r>
              <a:t>Use links já abertos.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2–4 min</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2–3: containers e integração.</a:t>
            </a:r>
          </a:p>
          <a:p>
            <a:pPr algn="l">
              <a:lnSpc>
                <a:spcPct val="105000"/>
              </a:lnSpc>
              <a:spcAft>
                <a:spcPts val="600"/>
              </a:spcAft>
              <a:defRPr sz="1800" b="0">
                <a:solidFill>
                  <a:srgbClr val="26364A"/>
                </a:solidFill>
                <a:latin typeface="Aptos"/>
              </a:defRPr>
            </a:pPr>
            <a:r>
              <a:t>3–4: entrega e recuperação.</a:t>
            </a:r>
          </a:p>
          <a:p>
            <a:pPr algn="l">
              <a:lnSpc>
                <a:spcPct val="105000"/>
              </a:lnSpc>
              <a:spcAft>
                <a:spcPts val="600"/>
              </a:spcAft>
              <a:defRPr sz="1800" b="0">
                <a:solidFill>
                  <a:srgbClr val="26364A"/>
                </a:solidFill>
                <a:latin typeface="Aptos"/>
              </a:defRPr>
            </a:pPr>
            <a:r>
              <a:t>Mostre versão e configuração.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4–6 min</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4–5: incidente e evidências.</a:t>
            </a:r>
          </a:p>
          <a:p>
            <a:pPr algn="l">
              <a:lnSpc>
                <a:spcPct val="105000"/>
              </a:lnSpc>
              <a:spcAft>
                <a:spcPts val="600"/>
              </a:spcAft>
              <a:defRPr sz="1800" b="0">
                <a:solidFill>
                  <a:srgbClr val="26364A"/>
                </a:solidFill>
                <a:latin typeface="Aptos"/>
              </a:defRPr>
            </a:pPr>
            <a:r>
              <a:t>5–6: decisões, IA e limites.</a:t>
            </a:r>
          </a:p>
          <a:p>
            <a:pPr algn="l">
              <a:lnSpc>
                <a:spcPct val="105000"/>
              </a:lnSpc>
              <a:spcAft>
                <a:spcPts val="600"/>
              </a:spcAft>
              <a:defRPr sz="1800" b="0">
                <a:solidFill>
                  <a:srgbClr val="26364A"/>
                </a:solidFill>
                <a:latin typeface="Aptos"/>
              </a:defRPr>
            </a:pPr>
            <a:r>
              <a:t>Concluir com aprendizado.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Selecione uma narrativa demonstrável: o problema, a entrega, a falha e o que a equipe aprendeu.</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E6·51</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06" b="1">
                <a:solidFill>
                  <a:srgbClr val="1B2A4A"/>
                </a:solidFill>
                <a:latin typeface="Aptos"/>
              </a:defRPr>
            </a:pPr>
            <a:r>
              <a:t>Organizar evidências para quem não acompanhou a aula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Modelo de índice no README do repositório da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README.md</a:t>
            </a:r>
          </a:p>
          <a:p>
            <a:pPr algn="l">
              <a:lnSpc>
                <a:spcPct val="105000"/>
              </a:lnSpc>
              <a:spcAft>
                <a:spcPts val="100"/>
              </a:spcAft>
              <a:defRPr sz="1800" b="0">
                <a:solidFill>
                  <a:srgbClr val="FFFFFF"/>
                </a:solidFill>
                <a:latin typeface="DejaVu Sans Mono"/>
              </a:defRPr>
            </a:pPr>
            <a:r>
              <a:t>docs/arquitetura.md</a:t>
            </a:r>
          </a:p>
          <a:p>
            <a:pPr algn="l">
              <a:lnSpc>
                <a:spcPct val="105000"/>
              </a:lnSpc>
              <a:spcAft>
                <a:spcPts val="100"/>
              </a:spcAft>
              <a:defRPr sz="1800" b="0">
                <a:solidFill>
                  <a:srgbClr val="FFFFFF"/>
                </a:solidFill>
                <a:latin typeface="DejaVu Sans Mono"/>
              </a:defRPr>
            </a:pPr>
            <a:r>
              <a:t>docs/entrega-e-recuperacao.md</a:t>
            </a:r>
          </a:p>
          <a:p>
            <a:pPr algn="l">
              <a:lnSpc>
                <a:spcPct val="105000"/>
              </a:lnSpc>
              <a:spcAft>
                <a:spcPts val="100"/>
              </a:spcAft>
              <a:defRPr sz="1800" b="0">
                <a:solidFill>
                  <a:srgbClr val="FFFFFF"/>
                </a:solidFill>
                <a:latin typeface="DejaVu Sans Mono"/>
              </a:defRPr>
            </a:pPr>
            <a:r>
              <a:t>docs/incidente.md</a:t>
            </a:r>
          </a:p>
          <a:p>
            <a:pPr algn="l">
              <a:lnSpc>
                <a:spcPct val="105000"/>
              </a:lnSpc>
              <a:spcAft>
                <a:spcPts val="100"/>
              </a:spcAft>
              <a:defRPr sz="1800" b="0">
                <a:solidFill>
                  <a:srgbClr val="FFFFFF"/>
                </a:solidFill>
                <a:latin typeface="DejaVu Sans Mono"/>
              </a:defRPr>
            </a:pPr>
            <a:r>
              <a:t>docs/uso-de-ia.md</a:t>
            </a:r>
          </a:p>
          <a:p>
            <a:pPr algn="l">
              <a:lnSpc>
                <a:spcPct val="105000"/>
              </a:lnSpc>
              <a:spcAft>
                <a:spcPts val="100"/>
              </a:spcAft>
              <a:defRPr sz="1800" b="0">
                <a:solidFill>
                  <a:srgbClr val="FFFFFF"/>
                </a:solidFill>
                <a:latin typeface="DejaVu Sans Mono"/>
              </a:defRPr>
            </a:pPr>
            <a:r>
              <a:t>evidencias/ci/</a:t>
            </a:r>
          </a:p>
          <a:p>
            <a:pPr algn="l">
              <a:lnSpc>
                <a:spcPct val="105000"/>
              </a:lnSpc>
              <a:spcAft>
                <a:spcPts val="100"/>
              </a:spcAft>
              <a:defRPr sz="1800" b="0">
                <a:solidFill>
                  <a:srgbClr val="FFFFFF"/>
                </a:solidFill>
                <a:latin typeface="DejaVu Sans Mono"/>
              </a:defRPr>
            </a:pPr>
            <a:r>
              <a:t>evidencias/containers/</a:t>
            </a:r>
          </a:p>
          <a:p>
            <a:pPr algn="l">
              <a:lnSpc>
                <a:spcPct val="105000"/>
              </a:lnSpc>
              <a:spcAft>
                <a:spcPts val="100"/>
              </a:spcAft>
              <a:defRPr sz="1800" b="0">
                <a:solidFill>
                  <a:srgbClr val="FFFFFF"/>
                </a:solidFill>
                <a:latin typeface="DejaVu Sans Mono"/>
              </a:defRPr>
            </a:pPr>
            <a:r>
              <a:t>evidencias/antes.jsonl</a:t>
            </a:r>
          </a:p>
          <a:p>
            <a:pPr algn="l">
              <a:lnSpc>
                <a:spcPct val="105000"/>
              </a:lnSpc>
              <a:spcAft>
                <a:spcPts val="100"/>
              </a:spcAft>
              <a:defRPr sz="1800" b="0">
                <a:solidFill>
                  <a:srgbClr val="FFFFFF"/>
                </a:solidFill>
                <a:latin typeface="DejaVu Sans Mono"/>
              </a:defRPr>
            </a:pPr>
            <a:r>
              <a:t>evidencias/durante.jsonl</a:t>
            </a:r>
          </a:p>
          <a:p>
            <a:pPr algn="l">
              <a:lnSpc>
                <a:spcPct val="105000"/>
              </a:lnSpc>
              <a:spcAft>
                <a:spcPts val="100"/>
              </a:spcAft>
              <a:defRPr sz="1800" b="0">
                <a:solidFill>
                  <a:srgbClr val="FFFFFF"/>
                </a:solidFill>
                <a:latin typeface="DejaVu Sans Mono"/>
              </a:defRPr>
            </a:pPr>
            <a:r>
              <a:t>evidencias/depois.jsonl</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Caminhos reais</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Trocar exemplos pelos arquivos do grupo.</a:t>
            </a:r>
          </a:p>
          <a:p>
            <a:pPr algn="l">
              <a:lnSpc>
                <a:spcPct val="100000"/>
              </a:lnSpc>
              <a:spcAft>
                <a:spcPts val="300"/>
              </a:spcAft>
              <a:defRPr sz="1500" b="0">
                <a:solidFill>
                  <a:srgbClr val="26364A"/>
                </a:solidFill>
                <a:latin typeface="Aptos"/>
              </a:defRPr>
            </a:pPr>
            <a:r>
              <a:t>Preferir links diretos e datas.</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Contexto mínimo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Comando, versão, janela e resultado.</a:t>
            </a:r>
          </a:p>
          <a:p>
            <a:pPr algn="l">
              <a:lnSpc>
                <a:spcPct val="100000"/>
              </a:lnSpc>
              <a:spcAft>
                <a:spcPts val="300"/>
              </a:spcAft>
              <a:defRPr sz="1500" b="0">
                <a:solidFill>
                  <a:srgbClr val="26364A"/>
                </a:solidFill>
                <a:latin typeface="Aptos"/>
              </a:defRPr>
            </a:pPr>
            <a:r>
              <a:t>Captura sem contexto é ambígua.</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evidência deve ser localizável e interpretável, não apenas existir em uma pasta.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E6·52</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Defender as evidências do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dos conceitos e exemplos • explique a evidência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grupo mostra apenas um dashboard verde. O diagnóstico está demonstrado?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Uma captura foi feita ontem. Pode entrar na apresentação?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contador de falhas acumulado é diferente do total da sonda. Há necessariamente erro?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E6·53</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499" b="1">
                <a:solidFill>
                  <a:srgbClr val="1B2A4A"/>
                </a:solidFill>
                <a:latin typeface="Aptos"/>
              </a:defRPr>
            </a:pPr>
            <a:r>
              <a:t>Respostas comentadas | Defender as evidências do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do conceito à decisão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Explique operação, janela, sintoma, hipótese, teste, causa sustentada e recuperação. O painel é uma parte da evidência.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Sim, se identificada como registro anterior, com data, versão e contexto. Não a apresentar como execução ao vivo.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Podem ter janelas e populações diferentes. A API inclui chamadas manuais; a sonda conta somente suas chamadas.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Diferencie o que foi observado, o que é hipótese e o que foi confirmado.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E6·54</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Fechamento: explicar o ciclo completo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Do problema ao aprendizado operacional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Construir e integrar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Mudanças rastreáveis.</a:t>
            </a:r>
          </a:p>
          <a:p>
            <a:pPr algn="l">
              <a:lnSpc>
                <a:spcPct val="105000"/>
              </a:lnSpc>
              <a:spcAft>
                <a:spcPts val="600"/>
              </a:spcAft>
              <a:defRPr sz="1800" b="0">
                <a:solidFill>
                  <a:srgbClr val="26364A"/>
                </a:solidFill>
                <a:latin typeface="Aptos"/>
              </a:defRPr>
            </a:pPr>
            <a:r>
              <a:t>Testes e pipeline.</a:t>
            </a:r>
          </a:p>
          <a:p>
            <a:pPr algn="l">
              <a:lnSpc>
                <a:spcPct val="105000"/>
              </a:lnSpc>
              <a:spcAft>
                <a:spcPts val="600"/>
              </a:spcAft>
              <a:defRPr sz="1800" b="0">
                <a:solidFill>
                  <a:srgbClr val="26364A"/>
                </a:solidFill>
                <a:latin typeface="Aptos"/>
              </a:defRPr>
            </a:pPr>
            <a:r>
              <a:t>Execução em containers.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Entregar e observar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Configuração e versão.</a:t>
            </a:r>
          </a:p>
          <a:p>
            <a:pPr algn="l">
              <a:lnSpc>
                <a:spcPct val="105000"/>
              </a:lnSpc>
              <a:spcAft>
                <a:spcPts val="600"/>
              </a:spcAft>
              <a:defRPr sz="1800" b="0">
                <a:solidFill>
                  <a:srgbClr val="26364A"/>
                </a:solidFill>
                <a:latin typeface="Aptos"/>
              </a:defRPr>
            </a:pPr>
            <a:r>
              <a:t>Sinais com significado.</a:t>
            </a:r>
          </a:p>
          <a:p>
            <a:pPr algn="l">
              <a:lnSpc>
                <a:spcPct val="105000"/>
              </a:lnSpc>
              <a:spcAft>
                <a:spcPts val="600"/>
              </a:spcAft>
              <a:defRPr sz="1800" b="0">
                <a:solidFill>
                  <a:srgbClr val="26364A"/>
                </a:solidFill>
                <a:latin typeface="Aptos"/>
              </a:defRPr>
            </a:pPr>
            <a:r>
              <a:t>Objetivos e recuperação.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939" b="1">
                <a:solidFill>
                  <a:srgbClr val="2A5C8A"/>
                </a:solidFill>
                <a:latin typeface="Aptos"/>
              </a:defRPr>
            </a:pPr>
            <a:r>
              <a:t>Aprender e comunicar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Causa sustentada por evidência.</a:t>
            </a:r>
          </a:p>
          <a:p>
            <a:pPr algn="l">
              <a:lnSpc>
                <a:spcPct val="105000"/>
              </a:lnSpc>
              <a:spcAft>
                <a:spcPts val="600"/>
              </a:spcAft>
              <a:defRPr sz="1800" b="0">
                <a:solidFill>
                  <a:srgbClr val="26364A"/>
                </a:solidFill>
                <a:latin typeface="Aptos"/>
              </a:defRPr>
            </a:pPr>
            <a:r>
              <a:t>Ação de melhoria com responsável.</a:t>
            </a:r>
          </a:p>
          <a:p>
            <a:pPr algn="l">
              <a:lnSpc>
                <a:spcPct val="105000"/>
              </a:lnSpc>
              <a:spcAft>
                <a:spcPts val="600"/>
              </a:spcAft>
              <a:defRPr sz="1800" b="0">
                <a:solidFill>
                  <a:srgbClr val="26364A"/>
                </a:solidFill>
                <a:latin typeface="Aptos"/>
              </a:defRPr>
            </a:pPr>
            <a:r>
              <a:t>Repositório e apresentação final.</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DevOps conecta colaboração, entrega e feedback; o projeto final deve tornar essa conexão visível.</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Fechamento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E6·55</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Request ID não é tracing distribuído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Como evoluir a instrumentação depois do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Correlação local</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 ID liga resposta e log.</a:t>
            </a:r>
          </a:p>
          <a:p>
            <a:pPr algn="l">
              <a:lnSpc>
                <a:spcPct val="105000"/>
              </a:lnSpc>
              <a:spcAft>
                <a:spcPts val="600"/>
              </a:spcAft>
              <a:defRPr sz="1800" b="0">
                <a:solidFill>
                  <a:srgbClr val="26364A"/>
                </a:solidFill>
                <a:latin typeface="Aptos"/>
              </a:defRPr>
            </a:pPr>
            <a:r>
              <a:t>Ajuda a buscar uma requisição.</a:t>
            </a:r>
          </a:p>
          <a:p>
            <a:pPr algn="l">
              <a:lnSpc>
                <a:spcPct val="105000"/>
              </a:lnSpc>
              <a:spcAft>
                <a:spcPts val="600"/>
              </a:spcAft>
              <a:defRPr sz="1800" b="0">
                <a:solidFill>
                  <a:srgbClr val="26364A"/>
                </a:solidFill>
                <a:latin typeface="Aptos"/>
              </a:defRPr>
            </a:pPr>
            <a:r>
              <a:t>Não cria spans automaticamente.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Trace distribuído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Contexto propagado entre serviços.</a:t>
            </a:r>
          </a:p>
          <a:p>
            <a:pPr algn="l">
              <a:lnSpc>
                <a:spcPct val="105000"/>
              </a:lnSpc>
              <a:spcAft>
                <a:spcPts val="600"/>
              </a:spcAft>
              <a:defRPr sz="1800" b="0">
                <a:solidFill>
                  <a:srgbClr val="26364A"/>
                </a:solidFill>
                <a:latin typeface="Aptos"/>
              </a:defRPr>
            </a:pPr>
            <a:r>
              <a:t>Spans com início, fim e relação.</a:t>
            </a:r>
          </a:p>
          <a:p>
            <a:pPr algn="l">
              <a:lnSpc>
                <a:spcPct val="105000"/>
              </a:lnSpc>
              <a:spcAft>
                <a:spcPts val="600"/>
              </a:spcAft>
              <a:defRPr sz="1800" b="0">
                <a:solidFill>
                  <a:srgbClr val="26364A"/>
                </a:solidFill>
                <a:latin typeface="Aptos"/>
              </a:defRPr>
            </a:pPr>
            <a:r>
              <a:t>Instrumentação e exportação.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Decisões</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Escolher pontos de coleta.</a:t>
            </a:r>
          </a:p>
          <a:p>
            <a:pPr algn="l">
              <a:lnSpc>
                <a:spcPct val="105000"/>
              </a:lnSpc>
              <a:spcAft>
                <a:spcPts val="600"/>
              </a:spcAft>
              <a:defRPr sz="1800" b="0">
                <a:solidFill>
                  <a:srgbClr val="26364A"/>
                </a:solidFill>
                <a:latin typeface="Aptos"/>
              </a:defRPr>
            </a:pPr>
            <a:r>
              <a:t>Controlar dados e amostragem.</a:t>
            </a:r>
          </a:p>
          <a:p>
            <a:pPr algn="l">
              <a:lnSpc>
                <a:spcPct val="105000"/>
              </a:lnSpc>
              <a:spcAft>
                <a:spcPts val="600"/>
              </a:spcAft>
              <a:defRPr sz="1800" b="0">
                <a:solidFill>
                  <a:srgbClr val="26364A"/>
                </a:solidFill>
                <a:latin typeface="Aptos"/>
              </a:defRPr>
            </a:pPr>
            <a:r>
              <a:t>Verificar custo e utilidade.</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Adote tracing quando a pergunta exigir relações entre operações; não apenas para acrescentar uma ferramenta.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E6·56</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O custo de colocar tudo em labels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Métricas agregadas e eventos detalhados precisam de escolhas diferentes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Labels úteis</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Método normalizado.</a:t>
            </a:r>
          </a:p>
          <a:p>
            <a:pPr algn="l">
              <a:lnSpc>
                <a:spcPct val="105000"/>
              </a:lnSpc>
              <a:spcAft>
                <a:spcPts val="600"/>
              </a:spcAft>
              <a:defRPr sz="1800" b="0">
                <a:solidFill>
                  <a:srgbClr val="26364A"/>
                </a:solidFill>
                <a:latin typeface="Aptos"/>
              </a:defRPr>
            </a:pPr>
            <a:r>
              <a:t>Rota conhecida.</a:t>
            </a:r>
          </a:p>
          <a:p>
            <a:pPr algn="l">
              <a:lnSpc>
                <a:spcPct val="105000"/>
              </a:lnSpc>
              <a:spcAft>
                <a:spcPts val="600"/>
              </a:spcAft>
              <a:defRPr sz="1800" b="0">
                <a:solidFill>
                  <a:srgbClr val="26364A"/>
                </a:solidFill>
                <a:latin typeface="Aptos"/>
              </a:defRPr>
            </a:pPr>
            <a:r>
              <a:t>Status HTTP.</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Evitar sem controle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request_id único.</a:t>
            </a:r>
          </a:p>
          <a:p>
            <a:pPr algn="l">
              <a:lnSpc>
                <a:spcPct val="105000"/>
              </a:lnSpc>
              <a:spcAft>
                <a:spcPts val="600"/>
              </a:spcAft>
              <a:defRPr sz="1800" b="0">
                <a:solidFill>
                  <a:srgbClr val="26364A"/>
                </a:solidFill>
                <a:latin typeface="Aptos"/>
              </a:defRPr>
            </a:pPr>
            <a:r>
              <a:t>URL com parâmetros livres.</a:t>
            </a:r>
          </a:p>
          <a:p>
            <a:pPr algn="l">
              <a:lnSpc>
                <a:spcPct val="105000"/>
              </a:lnSpc>
              <a:spcAft>
                <a:spcPts val="600"/>
              </a:spcAft>
              <a:defRPr sz="1800" b="0">
                <a:solidFill>
                  <a:srgbClr val="26364A"/>
                </a:solidFill>
                <a:latin typeface="Aptos"/>
              </a:defRPr>
            </a:pPr>
            <a:r>
              <a:t>Identidade de cada usuário.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Por quê?</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Cada combinação cria uma série.</a:t>
            </a:r>
          </a:p>
          <a:p>
            <a:pPr algn="l">
              <a:lnSpc>
                <a:spcPct val="105000"/>
              </a:lnSpc>
              <a:spcAft>
                <a:spcPts val="600"/>
              </a:spcAft>
              <a:defRPr sz="1800" b="0">
                <a:solidFill>
                  <a:srgbClr val="26364A"/>
                </a:solidFill>
                <a:latin typeface="Aptos"/>
              </a:defRPr>
            </a:pPr>
            <a:r>
              <a:t>Mais séries elevam custo.</a:t>
            </a:r>
          </a:p>
          <a:p>
            <a:pPr algn="l">
              <a:lnSpc>
                <a:spcPct val="105000"/>
              </a:lnSpc>
              <a:spcAft>
                <a:spcPts val="600"/>
              </a:spcAft>
              <a:defRPr sz="1800" b="0">
                <a:solidFill>
                  <a:srgbClr val="26364A"/>
                </a:solidFill>
                <a:latin typeface="Aptos"/>
              </a:defRPr>
            </a:pPr>
            <a:r>
              <a:t>Detalhes cabem em logs revisados.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Colete o contexto necessário no lugar apropriado e limite dimensões sem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E6·57</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Ler os buckets de um histograma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No laboratório: duração no servidor em segundos; buckets cumulativos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Exemplo didático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le="0.1": 8 chamadas.</a:t>
            </a:r>
          </a:p>
          <a:p>
            <a:pPr algn="l">
              <a:lnSpc>
                <a:spcPct val="105000"/>
              </a:lnSpc>
              <a:spcAft>
                <a:spcPts val="600"/>
              </a:spcAft>
              <a:defRPr sz="1800" b="0">
                <a:solidFill>
                  <a:srgbClr val="26364A"/>
                </a:solidFill>
                <a:latin typeface="Aptos"/>
              </a:defRPr>
            </a:pPr>
            <a:r>
              <a:t>le="0.3": 10 chamadas.</a:t>
            </a:r>
          </a:p>
          <a:p>
            <a:pPr algn="l">
              <a:lnSpc>
                <a:spcPct val="105000"/>
              </a:lnSpc>
              <a:spcAft>
                <a:spcPts val="600"/>
              </a:spcAft>
              <a:defRPr sz="1800" b="0">
                <a:solidFill>
                  <a:srgbClr val="26364A"/>
                </a:solidFill>
                <a:latin typeface="Aptos"/>
              </a:defRPr>
            </a:pPr>
            <a:r>
              <a:t>8 já estão contidas nas 10.</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Interpretação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2 chamadas entre 0,1 e 0,3 s.</a:t>
            </a:r>
          </a:p>
          <a:p>
            <a:pPr algn="l">
              <a:lnSpc>
                <a:spcPct val="105000"/>
              </a:lnSpc>
              <a:spcAft>
                <a:spcPts val="600"/>
              </a:spcAft>
              <a:defRPr sz="1800" b="0">
                <a:solidFill>
                  <a:srgbClr val="26364A"/>
                </a:solidFill>
                <a:latin typeface="Aptos"/>
              </a:defRPr>
            </a:pPr>
            <a:r>
              <a:t>Não somar todos os buckets.</a:t>
            </a:r>
          </a:p>
          <a:p>
            <a:pPr algn="l">
              <a:lnSpc>
                <a:spcPct val="105000"/>
              </a:lnSpc>
              <a:spcAft>
                <a:spcPts val="600"/>
              </a:spcAft>
              <a:defRPr sz="1800" b="0">
                <a:solidFill>
                  <a:srgbClr val="26364A"/>
                </a:solidFill>
                <a:latin typeface="Aptos"/>
              </a:defRPr>
            </a:pPr>
            <a:r>
              <a:t>+Inf deve igualar _count.</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Limitação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Faixas não guardam cada duração.</a:t>
            </a:r>
          </a:p>
          <a:p>
            <a:pPr algn="l">
              <a:lnSpc>
                <a:spcPct val="105000"/>
              </a:lnSpc>
              <a:spcAft>
                <a:spcPts val="600"/>
              </a:spcAft>
              <a:defRPr sz="1800" b="0">
                <a:solidFill>
                  <a:srgbClr val="26364A"/>
                </a:solidFill>
                <a:latin typeface="Aptos"/>
              </a:defRPr>
            </a:pPr>
            <a:r>
              <a:t>Percentis são estimados.</a:t>
            </a:r>
          </a:p>
          <a:p>
            <a:pPr algn="l">
              <a:lnSpc>
                <a:spcPct val="105000"/>
              </a:lnSpc>
              <a:spcAft>
                <a:spcPts val="600"/>
              </a:spcAft>
              <a:defRPr sz="1800" b="0">
                <a:solidFill>
                  <a:srgbClr val="26364A"/>
                </a:solidFill>
                <a:latin typeface="Aptos"/>
              </a:defRPr>
            </a:pPr>
            <a:r>
              <a:t>A sonda tem amostras do cliente.</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Unidade, população, janela e reinício precisam acompanhar qualquer cálculo.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E6·58</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Reproduzir a lentidão controlada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Opcional • executar somente no laboratório local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DEMO_DELAY_MS=400 docker compose up -d \</a:t>
            </a:r>
          </a:p>
          <a:p>
            <a:pPr algn="l">
              <a:lnSpc>
                <a:spcPct val="105000"/>
              </a:lnSpc>
              <a:spcAft>
                <a:spcPts val="100"/>
              </a:spcAft>
              <a:defRPr sz="1800" b="0">
                <a:solidFill>
                  <a:srgbClr val="FFFFFF"/>
                </a:solidFill>
                <a:latin typeface="DejaVu Sans Mono"/>
              </a:defRPr>
            </a:pPr>
            <a:r>
              <a:t>  --no-deps --force-recreate --wait app</a:t>
            </a:r>
          </a:p>
          <a:p>
            <a:pPr algn="l">
              <a:lnSpc>
                <a:spcPct val="105000"/>
              </a:lnSpc>
              <a:spcAft>
                <a:spcPts val="100"/>
              </a:spcAft>
              <a:defRPr sz="1800" b="0">
                <a:solidFill>
                  <a:srgbClr val="FFFFFF"/>
                </a:solidFill>
                <a:latin typeface="DejaVu Sans Mono"/>
              </a:defRPr>
            </a:pPr>
            <a:r>
              <a:t>python3 observar.py --amostras 10</a:t>
            </a:r>
          </a:p>
          <a:p>
            <a:pPr algn="l">
              <a:lnSpc>
                <a:spcPct val="105000"/>
              </a:lnSpc>
              <a:spcAft>
                <a:spcPts val="100"/>
              </a:spcAft>
              <a:defRPr sz="1800" b="0">
                <a:solidFill>
                  <a:srgbClr val="FFFFFF"/>
                </a:solidFill>
                <a:latin typeface="DejaVu Sans Mono"/>
              </a:defRPr>
            </a:pPr>
            <a:r>
              <a:t>curl -fsS localhost:18086/version</a:t>
            </a:r>
          </a:p>
          <a:p>
            <a:pPr algn="l">
              <a:lnSpc>
                <a:spcPct val="105000"/>
              </a:lnSpc>
              <a:spcAft>
                <a:spcPts val="100"/>
              </a:spcAft>
              <a:defRPr sz="1800" b="0">
                <a:solidFill>
                  <a:srgbClr val="FFFFFF"/>
                </a:solidFill>
                <a:latin typeface="DejaVu Sans Mono"/>
              </a:defRPr>
            </a:pPr>
            <a:r>
              <a:t>DEMO_DELAY_MS=0 docker compose up -d \</a:t>
            </a:r>
          </a:p>
          <a:p>
            <a:pPr algn="l">
              <a:lnSpc>
                <a:spcPct val="105000"/>
              </a:lnSpc>
              <a:spcAft>
                <a:spcPts val="100"/>
              </a:spcAft>
              <a:defRPr sz="1800" b="0">
                <a:solidFill>
                  <a:srgbClr val="FFFFFF"/>
                </a:solidFill>
                <a:latin typeface="DejaVu Sans Mono"/>
              </a:defRPr>
            </a:pPr>
            <a:r>
              <a:t>  --no-deps --force-recreate --wait app</a:t>
            </a:r>
          </a:p>
          <a:p>
            <a:pPr algn="l">
              <a:lnSpc>
                <a:spcPct val="105000"/>
              </a:lnSpc>
              <a:spcAft>
                <a:spcPts val="100"/>
              </a:spcAft>
              <a:defRPr sz="1800" b="0">
                <a:solidFill>
                  <a:srgbClr val="FFFFFF"/>
                </a:solidFill>
                <a:latin typeface="DejaVu Sans Mono"/>
              </a:defRPr>
            </a:pPr>
            <a:r>
              <a:t>python3 observar.py --amostras 10</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Comparar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Nova janela: status e p95.</a:t>
            </a:r>
          </a:p>
          <a:p>
            <a:pPr algn="l">
              <a:lnSpc>
                <a:spcPct val="100000"/>
              </a:lnSpc>
              <a:spcAft>
                <a:spcPts val="300"/>
              </a:spcAft>
              <a:defRPr sz="1500" b="0">
                <a:solidFill>
                  <a:srgbClr val="26364A"/>
                </a:solidFill>
                <a:latin typeface="Aptos"/>
              </a:defRPr>
            </a:pPr>
            <a:r>
              <a:t>DEMO_DELAY_MS adiciona espera.</a:t>
            </a:r>
          </a:p>
          <a:p>
            <a:pPr algn="l">
              <a:lnSpc>
                <a:spcPct val="100000"/>
              </a:lnSpc>
              <a:spcAft>
                <a:spcPts val="300"/>
              </a:spcAft>
              <a:defRPr sz="1500" b="0">
                <a:solidFill>
                  <a:srgbClr val="26364A"/>
                </a:solidFill>
                <a:latin typeface="Aptos"/>
              </a:defRPr>
            </a:pPr>
            <a:r>
              <a:t>Não é falha real do PostgreSQL.</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Restaurar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Voltar a zero e repetir a sonda.</a:t>
            </a:r>
          </a:p>
          <a:p>
            <a:pPr algn="l">
              <a:lnSpc>
                <a:spcPct val="100000"/>
              </a:lnSpc>
              <a:spcAft>
                <a:spcPts val="300"/>
              </a:spcAft>
              <a:defRPr sz="1500" b="0">
                <a:solidFill>
                  <a:srgbClr val="26364A"/>
                </a:solidFill>
                <a:latin typeface="Aptos"/>
              </a:defRPr>
            </a:pPr>
            <a:r>
              <a:t>A recriação zera métricas locais.</a:t>
            </a:r>
          </a:p>
          <a:p>
            <a:pPr algn="l">
              <a:lnSpc>
                <a:spcPct val="100000"/>
              </a:lnSpc>
              <a:spcAft>
                <a:spcPts val="300"/>
              </a:spcAft>
              <a:defRPr sz="1500" b="0">
                <a:solidFill>
                  <a:srgbClr val="26364A"/>
                </a:solidFill>
                <a:latin typeface="Aptos"/>
              </a:defRPr>
            </a:pPr>
            <a:r>
              <a:t>O volume do banco permanece.</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mesma operação precisa atender ao resultado esperado e ao objetivo de tempo definido.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Consulta  |  CONSULTA / APROFUNDAMENTO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E6·59</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1092</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pt-BR</dc:language>
  <cp:lastModifiedBy/>
  <dcterms:modified xsi:type="dcterms:W3CDTF">2026-09-11T15:50:09Z</dcterms:modified>
  <cp:revision>16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