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42.jpeg" ContentType="image/jpe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45.jpeg" ContentType="image/jpeg"/>
  <Override PartName="/ppt/media/image21.png" ContentType="image/png"/>
  <Override PartName="/ppt/media/image19.png" ContentType="image/png"/>
  <Override PartName="/ppt/media/image41.jpeg" ContentType="image/jpeg"/>
  <Override PartName="/ppt/media/image14.png" ContentType="image/png"/>
  <Override PartName="/ppt/media/image5.png" ContentType="image/png"/>
  <Override PartName="/ppt/media/image37.png" ContentType="image/png"/>
  <Override PartName="/ppt/media/image9.png" ContentType="image/png"/>
  <Override PartName="/ppt/media/image20.png" ContentType="image/png"/>
  <Override PartName="/ppt/media/image18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12.png" ContentType="image/png"/>
  <Override PartName="/ppt/media/image44.jpeg" ContentType="image/jpeg"/>
  <Override PartName="/ppt/media/image10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9.jpeg" ContentType="image/jpeg"/>
  <Override PartName="/ppt/media/image15.png" ContentType="image/png"/>
  <Override PartName="/ppt/media/image40.jpeg" ContentType="image/jpe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43.jpeg" ContentType="image/jpeg"/>
  <Override PartName="/ppt/media/image7.png" ContentType="image/png"/>
  <Override PartName="/ppt/media/image16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38.png" ContentType="image/png"/>
  <Override PartName="/ppt/slides/_rels/slide87.xml.rels" ContentType="application/vnd.openxmlformats-package.relationships+xml"/>
  <Override PartName="/ppt/slides/_rels/slide19.xml.rels" ContentType="application/vnd.openxmlformats-package.relationships+xml"/>
  <Override PartName="/ppt/slides/_rels/slide132.xml.rels" ContentType="application/vnd.openxmlformats-package.relationships+xml"/>
  <Override PartName="/ppt/slides/_rels/slide86.xml.rels" ContentType="application/vnd.openxmlformats-package.relationships+xml"/>
  <Override PartName="/ppt/slides/_rels/slide18.xml.rels" ContentType="application/vnd.openxmlformats-package.relationships+xml"/>
  <Override PartName="/ppt/slides/_rels/slide131.xml.rels" ContentType="application/vnd.openxmlformats-package.relationships+xml"/>
  <Override PartName="/ppt/slides/_rels/slide85.xml.rels" ContentType="application/vnd.openxmlformats-package.relationships+xml"/>
  <Override PartName="/ppt/slides/_rels/slide17.xml.rels" ContentType="application/vnd.openxmlformats-package.relationships+xml"/>
  <Override PartName="/ppt/slides/_rels/slide130.xml.rels" ContentType="application/vnd.openxmlformats-package.relationships+xml"/>
  <Override PartName="/ppt/slides/_rels/slide79.xml.rels" ContentType="application/vnd.openxmlformats-package.relationships+xml"/>
  <Override PartName="/ppt/slides/_rels/slide124.xml.rels" ContentType="application/vnd.openxmlformats-package.relationships+xml"/>
  <Override PartName="/ppt/slides/_rels/slide78.xml.rels" ContentType="application/vnd.openxmlformats-package.relationships+xml"/>
  <Override PartName="/ppt/slides/_rels/slide123.xml.rels" ContentType="application/vnd.openxmlformats-package.relationships+xml"/>
  <Override PartName="/ppt/slides/_rels/slide41.xml.rels" ContentType="application/vnd.openxmlformats-package.relationships+xml"/>
  <Override PartName="/ppt/slides/_rels/slide54.xml.rels" ContentType="application/vnd.openxmlformats-package.relationships+xml"/>
  <Override PartName="/ppt/slides/_rels/slide62.xml.rels" ContentType="application/vnd.openxmlformats-package.relationships+xml"/>
  <Override PartName="/ppt/slides/_rels/slide138.xml.rels" ContentType="application/vnd.openxmlformats-package.relationships+xml"/>
  <Override PartName="/ppt/slides/_rels/slide38.xml.rels" ContentType="application/vnd.openxmlformats-package.relationships+xml"/>
  <Override PartName="/ppt/slides/_rels/slide116.xml.rels" ContentType="application/vnd.openxmlformats-package.relationships+xml"/>
  <Override PartName="/ppt/slides/_rels/slide53.xml.rels" ContentType="application/vnd.openxmlformats-package.relationships+xml"/>
  <Override PartName="/ppt/slides/_rels/slide40.xml.rels" ContentType="application/vnd.openxmlformats-package.relationships+xml"/>
  <Override PartName="/ppt/slides/_rels/slide115.xml.rels" ContentType="application/vnd.openxmlformats-package.relationships+xml"/>
  <Override PartName="/ppt/slides/_rels/slide37.xml.rels" ContentType="application/vnd.openxmlformats-package.relationships+xml"/>
  <Override PartName="/ppt/slides/_rels/slide128.xml.rels" ContentType="application/vnd.openxmlformats-package.relationships+xml"/>
  <Override PartName="/ppt/slides/_rels/slide52.xml.rels" ContentType="application/vnd.openxmlformats-package.relationships+xml"/>
  <Override PartName="/ppt/slides/_rels/slide39.xml.rels" ContentType="application/vnd.openxmlformats-package.relationships+xml"/>
  <Override PartName="/ppt/slides/_rels/slide117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30.xml.rels" ContentType="application/vnd.openxmlformats-package.relationships+xml"/>
  <Override PartName="/ppt/slides/_rels/slide137.xml.rels" ContentType="application/vnd.openxmlformats-package.relationships+xml"/>
  <Override PartName="/ppt/slides/_rels/slide108.xml.rels" ContentType="application/vnd.openxmlformats-package.relationships+xml"/>
  <Override PartName="/ppt/slides/_rels/slide2.xml.rels" ContentType="application/vnd.openxmlformats-package.relationships+xml"/>
  <Override PartName="/ppt/slides/_rels/slide140.xml.rels" ContentType="application/vnd.openxmlformats-package.relationships+xml"/>
  <Override PartName="/ppt/slides/_rels/slide95.xml.rels" ContentType="application/vnd.openxmlformats-package.relationships+xml"/>
  <Override PartName="/ppt/slides/_rels/slide27.xml.rels" ContentType="application/vnd.openxmlformats-package.relationships+xml"/>
  <Override PartName="/ppt/slides/_rels/slide105.xml.rels" ContentType="application/vnd.openxmlformats-package.relationships+xml"/>
  <Override PartName="/ppt/slides/_rels/slide59.xml.rels" ContentType="application/vnd.openxmlformats-package.relationships+xml"/>
  <Override PartName="/ppt/slides/_rels/slide104.xml.rels" ContentType="application/vnd.openxmlformats-package.relationships+xml"/>
  <Override PartName="/ppt/slides/_rels/slide109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6.xml.rels" ContentType="application/vnd.openxmlformats-package.relationships+xml"/>
  <Override PartName="/ppt/slides/_rels/slide118.xml.rels" ContentType="application/vnd.openxmlformats-package.relationships+xml"/>
  <Override PartName="/ppt/slides/_rels/slide107.xml.rels" ContentType="application/vnd.openxmlformats-package.relationships+xml"/>
  <Override PartName="/ppt/slides/_rels/slide26.xml.rels" ContentType="application/vnd.openxmlformats-package.relationships+xml"/>
  <Override PartName="/ppt/slides/_rels/slide94.xml.rels" ContentType="application/vnd.openxmlformats-package.relationships+xml"/>
  <Override PartName="/ppt/slides/_rels/slide119.xml.rels" ContentType="application/vnd.openxmlformats-package.relationships+xml"/>
  <Override PartName="/ppt/slides/_rels/slide35.xml.rels" ContentType="application/vnd.openxmlformats-package.relationships+xml"/>
  <Override PartName="/ppt/slides/_rels/slide126.xml.rels" ContentType="application/vnd.openxmlformats-package.relationships+xml"/>
  <Override PartName="/ppt/slides/_rels/slide48.xml.rels" ContentType="application/vnd.openxmlformats-package.relationships+xml"/>
  <Override PartName="/ppt/slides/_rels/slide99.xml.rels" ContentType="application/vnd.openxmlformats-package.relationships+xml"/>
  <Override PartName="/ppt/slides/_rels/slide6.xml.rels" ContentType="application/vnd.openxmlformats-package.relationships+xml"/>
  <Override PartName="/ppt/slides/_rels/slide98.xml.rels" ContentType="application/vnd.openxmlformats-package.relationships+xml"/>
  <Override PartName="/ppt/slides/_rels/slide5.xml.rels" ContentType="application/vnd.openxmlformats-package.relationships+xml"/>
  <Override PartName="/ppt/slides/_rels/slide36.xml.rels" ContentType="application/vnd.openxmlformats-package.relationships+xml"/>
  <Override PartName="/ppt/slides/_rels/slide127.xml.rels" ContentType="application/vnd.openxmlformats-package.relationships+xml"/>
  <Override PartName="/ppt/slides/_rels/slide49.xml.rels" ContentType="application/vnd.openxmlformats-package.relationships+xml"/>
  <Override PartName="/ppt/slides/_rels/slide135.xml.rels" ContentType="application/vnd.openxmlformats-package.relationships+xml"/>
  <Override PartName="/ppt/slides/_rels/slide20.xml.rels" ContentType="application/vnd.openxmlformats-package.relationships+xml"/>
  <Override PartName="/ppt/slides/_rels/slide91.xml.rels" ContentType="application/vnd.openxmlformats-package.relationships+xml"/>
  <Override PartName="/ppt/slides/_rels/slide23.xml.rels" ContentType="application/vnd.openxmlformats-package.relationships+xml"/>
  <Override PartName="/ppt/slides/_rels/slide93.xml.rels" ContentType="application/vnd.openxmlformats-package.relationships+xml"/>
  <Override PartName="/ppt/slides/_rels/slide2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97.xml.rels" ContentType="application/vnd.openxmlformats-package.relationships+xml"/>
  <Override PartName="/ppt/slides/_rels/slide103.xml.rels" ContentType="application/vnd.openxmlformats-package.relationships+xml"/>
  <Override PartName="/ppt/slides/_rels/slide58.xml.rels" ContentType="application/vnd.openxmlformats-package.relationships+xml"/>
  <Override PartName="/ppt/slides/_rels/slide136.xml.rels" ContentType="application/vnd.openxmlformats-package.relationships+xml"/>
  <Override PartName="/ppt/slides/_rels/slide57.xml.rels" ContentType="application/vnd.openxmlformats-package.relationships+xml"/>
  <Override PartName="/ppt/slides/_rels/slide102.xml.rels" ContentType="application/vnd.openxmlformats-package.relationships+xml"/>
  <Override PartName="/ppt/slides/_rels/slide92.xml.rels" ContentType="application/vnd.openxmlformats-package.relationships+xml"/>
  <Override PartName="/ppt/slides/_rels/slide24.xml.rels" ContentType="application/vnd.openxmlformats-package.relationships+xml"/>
  <Override PartName="/ppt/slides/_rels/slide11.xml.rels" ContentType="application/vnd.openxmlformats-package.relationships+xml"/>
  <Override PartName="/ppt/slides/_rels/slide90.xml.rels" ContentType="application/vnd.openxmlformats-package.relationships+xml"/>
  <Override PartName="/ppt/slides/_rels/slide22.xml.rels" ContentType="application/vnd.openxmlformats-package.relationships+xml"/>
  <Override PartName="/ppt/slides/_rels/slide139.xml.rels" ContentType="application/vnd.openxmlformats-package.relationships+xml"/>
  <Override PartName="/ppt/slides/_rels/slide88.xml.rels" ContentType="application/vnd.openxmlformats-package.relationships+xml"/>
  <Override PartName="/ppt/slides/_rels/slide133.xml.rels" ContentType="application/vnd.openxmlformats-package.relationships+xml"/>
  <Override PartName="/ppt/slides/_rels/slide100.xml.rels" ContentType="application/vnd.openxmlformats-package.relationships+xml"/>
  <Override PartName="/ppt/slides/_rels/slide55.xml.rels" ContentType="application/vnd.openxmlformats-package.relationships+xml"/>
  <Override PartName="/ppt/slides/_rels/slide42.xml.rels" ContentType="application/vnd.openxmlformats-package.relationships+xml"/>
  <Override PartName="/ppt/slides/_rels/slide101.xml.rels" ContentType="application/vnd.openxmlformats-package.relationships+xml"/>
  <Override PartName="/ppt/slides/_rels/slide56.xml.rels" ContentType="application/vnd.openxmlformats-package.relationships+xml"/>
  <Override PartName="/ppt/slides/_rels/slide134.xml.rels" ContentType="application/vnd.openxmlformats-package.relationships+xml"/>
  <Override PartName="/ppt/slides/_rels/slide89.xml.rels" ContentType="application/vnd.openxmlformats-package.relationships+xml"/>
  <Override PartName="/ppt/slides/_rels/slide51.xml.rels" ContentType="application/vnd.openxmlformats-package.relationships+xml"/>
  <Override PartName="/ppt/slides/_rels/slide63.xml.rels" ContentType="application/vnd.openxmlformats-package.relationships+xml"/>
  <Override PartName="/ppt/slides/_rels/slide96.xml.rels" ContentType="application/vnd.openxmlformats-package.relationships+xml"/>
  <Override PartName="/ppt/slides/_rels/slide28.xml.rels" ContentType="application/vnd.openxmlformats-package.relationships+xml"/>
  <Override PartName="/ppt/slides/_rels/slide14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4.xml.rels" ContentType="application/vnd.openxmlformats-package.relationships+xml"/>
  <Override PartName="/ppt/slides/_rels/slide77.xml.rels" ContentType="application/vnd.openxmlformats-package.relationships+xml"/>
  <Override PartName="/ppt/slides/_rels/slide122.xml.rels" ContentType="application/vnd.openxmlformats-package.relationships+xml"/>
  <Override PartName="/ppt/slides/_rels/slide43.xml.rels" ContentType="application/vnd.openxmlformats-package.relationships+xml"/>
  <Override PartName="/ppt/slides/_rels/slide47.xml.rels" ContentType="application/vnd.openxmlformats-package.relationships+xml"/>
  <Override PartName="/ppt/slides/_rels/slide125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84.xml.rels" ContentType="application/vnd.openxmlformats-package.relationships+xml"/>
  <Override PartName="/ppt/slides/_rels/slide16.xml.rels" ContentType="application/vnd.openxmlformats-package.relationships+xml"/>
  <Override PartName="/ppt/slides/_rels/slide81.xml.rels" ContentType="application/vnd.openxmlformats-package.relationships+xml"/>
  <Override PartName="/ppt/slides/_rels/slide13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129.xml.rels" ContentType="application/vnd.openxmlformats-package.relationships+xml"/>
  <Override PartName="/ppt/slides/_rels/slide7.xml.rels" ContentType="application/vnd.openxmlformats-package.relationships+xml"/>
  <Override PartName="/ppt/slides/_rels/slide83.xml.rels" ContentType="application/vnd.openxmlformats-package.relationships+xml"/>
  <Override PartName="/ppt/slides/_rels/slide15.xml.rels" ContentType="application/vnd.openxmlformats-package.relationships+xml"/>
  <Override PartName="/ppt/slides/_rels/slide80.xml.rels" ContentType="application/vnd.openxmlformats-package.relationships+xml"/>
  <Override PartName="/ppt/slides/_rels/slide12.xml.rels" ContentType="application/vnd.openxmlformats-package.relationships+xml"/>
  <Override PartName="/ppt/slides/_rels/slide82.xml.rels" ContentType="application/vnd.openxmlformats-package.relationships+xml"/>
  <Override PartName="/ppt/slides/_rels/slide14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4.xml.rels" ContentType="application/vnd.openxmlformats-package.relationships+xml"/>
  <Override PartName="/ppt/slides/_rels/slide110.xml.rels" ContentType="application/vnd.openxmlformats-package.relationships+xml"/>
  <Override PartName="/ppt/slides/_rels/slide65.xml.rels" ContentType="application/vnd.openxmlformats-package.relationships+xml"/>
  <Override PartName="/ppt/slides/_rels/slide111.xml.rels" ContentType="application/vnd.openxmlformats-package.relationships+xml"/>
  <Override PartName="/ppt/slides/_rels/slide66.xml.rels" ContentType="application/vnd.openxmlformats-package.relationships+xml"/>
  <Override PartName="/ppt/slides/_rels/slide112.xml.rels" ContentType="application/vnd.openxmlformats-package.relationships+xml"/>
  <Override PartName="/ppt/slides/_rels/slide67.xml.rels" ContentType="application/vnd.openxmlformats-package.relationships+xml"/>
  <Override PartName="/ppt/slides/_rels/slide113.xml.rels" ContentType="application/vnd.openxmlformats-package.relationships+xml"/>
  <Override PartName="/ppt/slides/_rels/slide68.xml.rels" ContentType="application/vnd.openxmlformats-package.relationships+xml"/>
  <Override PartName="/ppt/slides/_rels/slide114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120.xml.rels" ContentType="application/vnd.openxmlformats-package.relationships+xml"/>
  <Override PartName="/ppt/slides/_rels/slide75.xml.rels" ContentType="application/vnd.openxmlformats-package.relationships+xml"/>
  <Override PartName="/ppt/slides/_rels/slide121.xml.rels" ContentType="application/vnd.openxmlformats-package.relationships+xml"/>
  <Override PartName="/ppt/slides/_rels/slide76.xml.rels" ContentType="application/vnd.openxmlformats-package.relationships+xml"/>
  <Override PartName="/ppt/slides/slide127.xml" ContentType="application/vnd.openxmlformats-officedocument.presentationml.slide+xml"/>
  <Override PartName="/ppt/slides/slide126.xml" ContentType="application/vnd.openxmlformats-officedocument.presentationml.slide+xml"/>
  <Override PartName="/ppt/slides/slide119.xml" ContentType="application/vnd.openxmlformats-officedocument.presentationml.slide+xml"/>
  <Override PartName="/ppt/slides/slide118.xml" ContentType="application/vnd.openxmlformats-officedocument.presentationml.slide+xml"/>
  <Override PartName="/ppt/slides/slide117.xml" ContentType="application/vnd.openxmlformats-officedocument.presentationml.slide+xml"/>
  <Override PartName="/ppt/slides/slide116.xml" ContentType="application/vnd.openxmlformats-officedocument.presentationml.slide+xml"/>
  <Override PartName="/ppt/slides/slide109.xml" ContentType="application/vnd.openxmlformats-officedocument.presentationml.slide+xml"/>
  <Override PartName="/ppt/slides/slide108.xml" ContentType="application/vnd.openxmlformats-officedocument.presentationml.slide+xml"/>
  <Override PartName="/ppt/slides/slide107.xml" ContentType="application/vnd.openxmlformats-officedocument.presentationml.slide+xml"/>
  <Override PartName="/ppt/slides/slide106.xml" ContentType="application/vnd.openxmlformats-officedocument.presentationml.slide+xml"/>
  <Override PartName="/ppt/slides/slide95.xml" ContentType="application/vnd.openxmlformats-officedocument.presentationml.slide+xml"/>
  <Override PartName="/ppt/slides/slide27.xml" ContentType="application/vnd.openxmlformats-officedocument.presentationml.slide+xml"/>
  <Override PartName="/ppt/slides/slide89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slides/slide98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99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90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10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130.xml" ContentType="application/vnd.openxmlformats-officedocument.presentationml.slide+xml"/>
  <Override PartName="/ppt/slides/slide128.xml" ContentType="application/vnd.openxmlformats-officedocument.presentationml.slide+xml"/>
  <Override PartName="/ppt/slides/slide50.xml" ContentType="application/vnd.openxmlformats-officedocument.presentationml.slide+xml"/>
  <Override PartName="/ppt/slides/slide131.xml" ContentType="application/vnd.openxmlformats-officedocument.presentationml.slide+xml"/>
  <Override PartName="/ppt/slides/slide129.xml" ContentType="application/vnd.openxmlformats-officedocument.presentationml.slide+xml"/>
  <Override PartName="/ppt/slides/slide51.xml" ContentType="application/vnd.openxmlformats-officedocument.presentationml.slide+xml"/>
  <Override PartName="/ppt/slides/slide132.xml" ContentType="application/vnd.openxmlformats-officedocument.presentationml.slide+xml"/>
  <Override PartName="/ppt/slides/slide52.xml" ContentType="application/vnd.openxmlformats-officedocument.presentationml.slide+xml"/>
  <Override PartName="/ppt/slides/slide133.xml" ContentType="application/vnd.openxmlformats-officedocument.presentationml.slide+xml"/>
  <Override PartName="/ppt/slides/slide19.xml" ContentType="application/vnd.openxmlformats-officedocument.presentationml.slide+xml"/>
  <Override PartName="/ppt/slides/slide87.xml" ContentType="application/vnd.openxmlformats-officedocument.presentationml.slide+xml"/>
  <Override PartName="/ppt/slides/slide53.xml" ContentType="application/vnd.openxmlformats-officedocument.presentationml.slide+xml"/>
  <Override PartName="/ppt/slides/slide134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135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136.xml" ContentType="application/vnd.openxmlformats-officedocument.presentationml.slide+xml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35.xml" ContentType="application/vnd.openxmlformats-officedocument.presentationml.slide+xml"/>
  <Override PartName="/ppt/slides/slide140.xml" ContentType="application/vnd.openxmlformats-officedocument.presentationml.slide+xml"/>
  <Override PartName="/ppt/slides/slide139.xml" ContentType="application/vnd.openxmlformats-officedocument.presentationml.slide+xml"/>
  <Override PartName="/ppt/slides/slide36.xml" ContentType="application/vnd.openxmlformats-officedocument.presentationml.slide+xml"/>
  <Override PartName="/ppt/slides/slide141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97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13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86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82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91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92.xml" ContentType="application/vnd.openxmlformats-officedocument.presentationml.slide+xml"/>
  <Override PartName="/ppt/slides/slide96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93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110.xml" ContentType="application/vnd.openxmlformats-officedocument.presentationml.slide+xml"/>
  <Override PartName="/ppt/slides/slide65.xml" ContentType="application/vnd.openxmlformats-officedocument.presentationml.slide+xml"/>
  <Override PartName="/ppt/slides/slide111.xml" ContentType="application/vnd.openxmlformats-officedocument.presentationml.slide+xml"/>
  <Override PartName="/ppt/slides/slide66.xml" ContentType="application/vnd.openxmlformats-officedocument.presentationml.slide+xml"/>
  <Override PartName="/ppt/slides/slide112.xml" ContentType="application/vnd.openxmlformats-officedocument.presentationml.slide+xml"/>
  <Override PartName="/ppt/slides/slide67.xml" ContentType="application/vnd.openxmlformats-officedocument.presentationml.slide+xml"/>
  <Override PartName="/ppt/slides/slide113.xml" ContentType="application/vnd.openxmlformats-officedocument.presentationml.slide+xml"/>
  <Override PartName="/ppt/slides/slide68.xml" ContentType="application/vnd.openxmlformats-officedocument.presentationml.slide+xml"/>
  <Override PartName="/ppt/slides/slide114.xml" ContentType="application/vnd.openxmlformats-officedocument.presentationml.slide+xml"/>
  <Override PartName="/ppt/slides/slide69.xml" ContentType="application/vnd.openxmlformats-officedocument.presentationml.slide+xml"/>
  <Override PartName="/ppt/slides/slide115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120.xml" ContentType="application/vnd.openxmlformats-officedocument.presentationml.slide+xml"/>
  <Override PartName="/ppt/slides/slide75.xml" ContentType="application/vnd.openxmlformats-officedocument.presentationml.slide+xml"/>
  <Override PartName="/ppt/slides/slide121.xml" ContentType="application/vnd.openxmlformats-officedocument.presentationml.slide+xml"/>
  <Override PartName="/ppt/slides/slide76.xml" ContentType="application/vnd.openxmlformats-officedocument.presentationml.slide+xml"/>
  <Override PartName="/ppt/slides/slide122.xml" ContentType="application/vnd.openxmlformats-officedocument.presentationml.slide+xml"/>
  <Override PartName="/ppt/slides/slide77.xml" ContentType="application/vnd.openxmlformats-officedocument.presentationml.slide+xml"/>
  <Override PartName="/ppt/slides/slide123.xml" ContentType="application/vnd.openxmlformats-officedocument.presentationml.slide+xml"/>
  <Override PartName="/ppt/slides/slide78.xml" ContentType="application/vnd.openxmlformats-officedocument.presentationml.slide+xml"/>
  <Override PartName="/ppt/slides/slide124.xml" ContentType="application/vnd.openxmlformats-officedocument.presentationml.slide+xml"/>
  <Override PartName="/ppt/slides/slide79.xml" ContentType="application/vnd.openxmlformats-officedocument.presentationml.slide+xml"/>
  <Override PartName="/ppt/slides/slide125.xml" ContentType="application/vnd.openxmlformats-officedocument.presentationml.slide+xml"/>
  <Override PartName="/ppt/notesSlides/notesSlide5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_rels/notesSlide32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77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78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76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135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79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73.xml.rels" ContentType="application/vnd.openxmlformats-package.relationships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  <p:sldId id="366" r:id="rId124"/>
    <p:sldId id="367" r:id="rId125"/>
    <p:sldId id="368" r:id="rId126"/>
    <p:sldId id="369" r:id="rId127"/>
    <p:sldId id="370" r:id="rId128"/>
    <p:sldId id="371" r:id="rId129"/>
    <p:sldId id="372" r:id="rId130"/>
    <p:sldId id="373" r:id="rId131"/>
    <p:sldId id="374" r:id="rId132"/>
    <p:sldId id="375" r:id="rId133"/>
    <p:sldId id="376" r:id="rId134"/>
    <p:sldId id="377" r:id="rId135"/>
    <p:sldId id="378" r:id="rId136"/>
    <p:sldId id="379" r:id="rId137"/>
    <p:sldId id="380" r:id="rId138"/>
    <p:sldId id="381" r:id="rId139"/>
    <p:sldId id="382" r:id="rId140"/>
    <p:sldId id="383" r:id="rId141"/>
    <p:sldId id="384" r:id="rId142"/>
    <p:sldId id="385" r:id="rId143"/>
    <p:sldId id="386" r:id="rId144"/>
    <p:sldId id="387" r:id="rId145"/>
    <p:sldId id="388" r:id="rId146"/>
    <p:sldId id="389" r:id="rId147"/>
    <p:sldId id="390" r:id="rId148"/>
    <p:sldId id="391" r:id="rId149"/>
    <p:sldId id="392" r:id="rId150"/>
    <p:sldId id="393" r:id="rId151"/>
    <p:sldId id="394" r:id="rId152"/>
    <p:sldId id="395" r:id="rId153"/>
    <p:sldId id="396" r:id="rId15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mover o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7A84882-5E2C-45EA-921F-D49DC6FC1D4E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135.xml.rels><?xml version="1.0" encoding="UTF-8"?>
<Relationships xmlns="http://schemas.openxmlformats.org/package/2006/relationships"><Relationship Id="rId1" Type="http://schemas.openxmlformats.org/officeDocument/2006/relationships/slide" Target="../slides/slide135.xml"/><Relationship Id="rId2" Type="http://schemas.openxmlformats.org/officeDocument/2006/relationships/notesMaster" Target="../notesMasters/notesMaster1.xml"/>
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DCFB3E-5EC9-4563-86AD-79F2F04504E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FDBFA7-E17A-4572-AB11-2E0184E1982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9DEB9B-FD7C-4271-97BC-594F0BA246D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4A2A66-D0FA-42DE-A4C2-5C485529592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5F5A74-D7EC-4960-B012-C4F0B26CE09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F62B41-B83E-4FBF-8E69-1A89A076805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C43AB5-64C2-4371-8972-0CCFC256177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07DB3E-B18E-4991-9ED1-031B8E2F8D4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BA250B-3FE2-42EE-8C6C-4C5929C9201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C1E39C-7506-421C-A3DF-A18480494AF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DE31AA-9A91-4C2E-B93B-BE1E69C18DF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436C80-B470-4205-B14D-8395A0270AF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6663BA-BBF0-47F6-9216-008FD109C13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DA4F32-80B2-4F59-BCB0-C99CE751D9F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41E996-8ABA-4DF5-BCE3-CE423D76075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B4545A-B9B8-4DE2-8ACC-C02795FE9A4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C588A3-F875-4E88-8406-58E6BF30581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8CFDF4-BDC7-4F12-9574-5121E999447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83257A-36F8-4044-A2D7-2EDA6C060AF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971035-DE4C-419C-9A09-16A616FDB1C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Apresente conceitos, grafos e exemplos comentados; comandos são ilustrativos.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Use uma revisão já preparada para discutir qualidade e IA, sem exigir laboratório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isolado de branches ou merges; a Atividade 2 inicializa o projeto real da equipe com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primeiro commit na main. Os pesos oficiais de avaliação permanecem inalterados;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incremento E2 passa a ser organização, acessos e base executável publicada.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Referências: https://git-scm.com/book/en/v2/Git-Branching-Basic-Branching-and-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FD9729-A8BA-4213-9DEE-F10EA86DBB1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1321104-A305-436B-8E21-011D0B2C9A7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F843F2-AE3D-4DCE-8B7F-48C6E7370B7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A49DF3-02B1-4180-A4F9-6EBE537544D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Apresente conceitos, grafos e exemplos comentados; comandos são ilustrativos.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Use uma revisão já preparada para discutir qualidade e IA, sem exigir laboratório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isolado de branches ou merges; a Atividade 2 inicializa o projeto real da equipe com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primeiro commit na main. Os pesos oficiais de avaliação permanecem inalterados;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incremento E2 passa a ser organização, acessos e base executável publicada.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Referências: https://git-scm.com/book/en/v2/Git-Branching-Basic-Branching-and-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CDAD8C-0E65-41A4-8D31-BF2CD137531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0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1B8372-F205-44C0-94E2-E132092FB6A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3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8530F1-1D8E-426D-B0F3-D13B9D0F9E0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6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9612E6-FE9C-4A30-8AF6-7795B8092F3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9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BDA5C5-992F-4D38-BC4A-61325585006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2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60708F-6B77-4B5E-A092-B72615557DD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5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5C665C-1BC2-4B23-A649-2FB4ED332A2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222E52-EAF4-404B-BBB1-4AC38592A3E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1DEBD8-BDD6-4C85-9A8C-26A7DE49F5E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4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C456C7-FE37-4B32-A73C-587478BC34A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7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C48A7E-7491-4012-A337-64F95C0D90D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0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6C2FEF-3A16-4877-A652-D708AB43D8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3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61C606-1D3A-49E5-BFF4-46B66BD0C40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6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FC65C9-F37A-4EAF-8331-0AF1A9A99BD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9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ABCC4E-240F-4ABC-8E0C-1493EDAB8EC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2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108B2D-F784-441A-B072-C5BCE65826A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5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FB4156-B097-4D21-B7A2-8446CE77DB4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8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3A4725-45E1-4C7B-AF08-92E3B8D1E8E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1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37335E-82BA-46A0-81C0-68995B730BA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4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D7B9D1-4A06-4C0F-ACE6-51A48829A50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7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C67803-B116-4885-8CC7-FD2C110089D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0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572D14-71D7-4136-91D9-98CD4CE5E88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3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3F0010-B5B4-46FC-8746-FF4C6A12097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6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EA10F3-7E33-4B69-B306-D4BE607F922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Encontro 2 revisado conforme orientação da coordenação: sem laboratórios de Git. Apresente conceitos, grafos e exemplos comentados; comandos são ilustrativos. Use uma revisão já preparada para discutir qualidade e IA, sem exigir laboratório isolado de branches ou merges; a Atividade 2 inicializa o projeto real da equipe com primeiro commit na main. Os pesos oficiais de avaliação permanecem inalterados; o incremento E2 passa a ser organização, acessos e base executável publicada. Referências: https://git-scm.com/book/en/v2/Git-Branching-Basic-Branching-and-Merging e https://git-scm.com/docs/git-merge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9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52A425-D77D-4134-8E3B-631F77AE352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2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416254-F016-4CBB-AC9B-0D98E69D4D8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Atividade 2: incremento real do projeto integrador, não laboratório isolado de Git. Um integrante cria organização e repositório vazio, convida os demais e confirma aceite e escrita. A equipe cria base executável, README, .gitignore e teste simples. Primeiro commit direto na main é exceção de inicialização; alterações seguintes usam branch/PR. Sem exigir PR ou tag como aceite desta etapa. Preservar os pesos oficiais de avaliação. Autenticação e criação de organização podem exigir navegador. Referências: https://docs.github.com/en/organizations/managing-membership-in-your-organization/inviting-users-to-join-your-organization e https://docs.github.com/en/migrations/importing-source-code/using-the-command-line-to-import-source-code/adding-locally-hosted-code-to-github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5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8E5672-00E5-4AB5-96C9-01879F75FBC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052AD4-AE2D-4990-B0EB-C9D37F39C7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36D350-F8C0-467B-B29E-49FDC55F0E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DA2D5C-9D93-4BCF-AF05-58ADD73238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DD2950A-5505-4947-8068-048149319C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31323F7-9D39-4E25-ACE2-B75115B449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E81698D-E529-4C52-933D-F39E541965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8E540D9-3B1A-41A2-A060-E1C5094556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E73BA9A-93A8-4085-88E4-9547A5B7A4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0F74F03-68CB-457D-9903-DB7B6FE264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F4FBE1F-F872-49EF-BA18-05129A5237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6B61F79-C0AC-47D5-992E-28838F3468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02ED629-B16B-4091-9199-1FEED32146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6C2EA9-5BC6-46E9-9FEB-AEF39D6872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3E061A9-D98A-4A87-8A66-546CEAAF55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3BBD60-BA50-45DD-9C37-BE74578A27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2C0FA7B-3956-4D72-8505-41C79BE364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B6D173-8960-45D7-BF00-52C154C949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2DD151-CCEB-4E31-93F4-55D8DD1039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71BC46-B516-4C5A-84BE-7BF1593C7D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DDD772-3159-444A-984B-1EEFB2B699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A3FA51-7B83-4DA3-B0FE-FBC3CE569C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B6A2AF-9890-4696-B831-89F2BBEA203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30B873-3B9F-41D0-8C67-9858FF0D46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.png"/><Relationship Id="rId9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6.png"/><Relationship Id="rId15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6.png"/><Relationship Id="rId8" Type="http://schemas.openxmlformats.org/officeDocument/2006/relationships/image" Target="../media/image1.png"/><Relationship Id="rId9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5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0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9.jpeg"/><Relationship Id="rId3" Type="http://schemas.openxmlformats.org/officeDocument/2006/relationships/image" Target="../media/image40.jpeg"/><Relationship Id="rId4" Type="http://schemas.openxmlformats.org/officeDocument/2006/relationships/image" Target="../media/image41.jpeg"/><Relationship Id="rId5" Type="http://schemas.openxmlformats.org/officeDocument/2006/relationships/image" Target="../media/image42.jpe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3.jpeg"/><Relationship Id="rId3" Type="http://schemas.openxmlformats.org/officeDocument/2006/relationships/image" Target="../media/image44.jpeg"/><Relationship Id="rId4" Type="http://schemas.openxmlformats.org/officeDocument/2006/relationships/image" Target="../media/image45.jpe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731520" y="1005840"/>
            <a:ext cx="1060524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700" spc="-1" strike="noStrike">
                <a:solidFill>
                  <a:srgbClr val="ffffff"/>
                </a:solidFill>
                <a:latin typeface="Aptos"/>
              </a:rPr>
              <a:t>Desenvolvimento de Software Integrado - DevOps</a:t>
            </a:r>
            <a:endParaRPr b="0" lang="pt-BR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1508760" y="1737360"/>
            <a:ext cx="914220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ae5ed"/>
                </a:solidFill>
                <a:latin typeface="Aptos"/>
              </a:rPr>
              <a:t>Slides da disciplina | Turma 4 - Z251 | Semestre 2026.2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Rounded Rectangle 3"/>
          <p:cNvSpPr/>
          <p:nvPr/>
        </p:nvSpPr>
        <p:spPr>
          <a:xfrm>
            <a:off x="914400" y="3246120"/>
            <a:ext cx="985680" cy="528480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TextBox 4"/>
          <p:cNvSpPr/>
          <p:nvPr/>
        </p:nvSpPr>
        <p:spPr>
          <a:xfrm>
            <a:off x="914400" y="3401640"/>
            <a:ext cx="9856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Plan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Rounded Rectangle 5"/>
          <p:cNvSpPr/>
          <p:nvPr/>
        </p:nvSpPr>
        <p:spPr>
          <a:xfrm>
            <a:off x="2212920" y="3246120"/>
            <a:ext cx="985680" cy="528480"/>
          </a:xfrm>
          <a:prstGeom prst="roundRect">
            <a:avLst>
              <a:gd name="adj" fmla="val 16667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2212920" y="3401640"/>
            <a:ext cx="9856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Code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ounded Rectangle 7"/>
          <p:cNvSpPr/>
          <p:nvPr/>
        </p:nvSpPr>
        <p:spPr>
          <a:xfrm>
            <a:off x="3511440" y="3246120"/>
            <a:ext cx="985680" cy="528480"/>
          </a:xfrm>
          <a:prstGeom prst="roundRect">
            <a:avLst>
              <a:gd name="adj" fmla="val 16667"/>
            </a:avLst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3511440" y="3401640"/>
            <a:ext cx="9856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Build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ounded Rectangle 9"/>
          <p:cNvSpPr/>
          <p:nvPr/>
        </p:nvSpPr>
        <p:spPr>
          <a:xfrm>
            <a:off x="4809600" y="3246120"/>
            <a:ext cx="985680" cy="52848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4809600" y="3401640"/>
            <a:ext cx="9856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Test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ounded Rectangle 11"/>
          <p:cNvSpPr/>
          <p:nvPr/>
        </p:nvSpPr>
        <p:spPr>
          <a:xfrm>
            <a:off x="6108120" y="3246120"/>
            <a:ext cx="985680" cy="528480"/>
          </a:xfrm>
          <a:prstGeom prst="roundRect">
            <a:avLst>
              <a:gd name="adj" fmla="val 16667"/>
            </a:avLst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12"/>
          <p:cNvSpPr/>
          <p:nvPr/>
        </p:nvSpPr>
        <p:spPr>
          <a:xfrm>
            <a:off x="6108120" y="3401640"/>
            <a:ext cx="9856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Release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ounded Rectangle 13"/>
          <p:cNvSpPr/>
          <p:nvPr/>
        </p:nvSpPr>
        <p:spPr>
          <a:xfrm>
            <a:off x="7406640" y="3246120"/>
            <a:ext cx="985680" cy="528480"/>
          </a:xfrm>
          <a:prstGeom prst="roundRect">
            <a:avLst>
              <a:gd name="adj" fmla="val 16667"/>
            </a:avLst>
          </a:prstGeom>
          <a:solidFill>
            <a:srgbClr val="b736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7406640" y="3401640"/>
            <a:ext cx="9856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Deploy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ounded Rectangle 15"/>
          <p:cNvSpPr/>
          <p:nvPr/>
        </p:nvSpPr>
        <p:spPr>
          <a:xfrm>
            <a:off x="8705160" y="3246120"/>
            <a:ext cx="985680" cy="528480"/>
          </a:xfrm>
          <a:prstGeom prst="roundRect">
            <a:avLst>
              <a:gd name="adj" fmla="val 16667"/>
            </a:avLst>
          </a:prstGeom>
          <a:solidFill>
            <a:srgbClr val="55647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16"/>
          <p:cNvSpPr/>
          <p:nvPr/>
        </p:nvSpPr>
        <p:spPr>
          <a:xfrm>
            <a:off x="8705160" y="3401640"/>
            <a:ext cx="9856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Operate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ounded Rectangle 17"/>
          <p:cNvSpPr/>
          <p:nvPr/>
        </p:nvSpPr>
        <p:spPr>
          <a:xfrm>
            <a:off x="10003680" y="3246120"/>
            <a:ext cx="985680" cy="528480"/>
          </a:xfrm>
          <a:prstGeom prst="roundRect">
            <a:avLst>
              <a:gd name="adj" fmla="val 16667"/>
            </a:avLst>
          </a:prstGeom>
          <a:solidFill>
            <a:srgbClr val="248c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18"/>
          <p:cNvSpPr/>
          <p:nvPr/>
        </p:nvSpPr>
        <p:spPr>
          <a:xfrm>
            <a:off x="10003680" y="3401640"/>
            <a:ext cx="9856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Monitor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20"/>
          <p:cNvSpPr/>
          <p:nvPr/>
        </p:nvSpPr>
        <p:spPr>
          <a:xfrm>
            <a:off x="4983480" y="6217920"/>
            <a:ext cx="22384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ae5ed"/>
                </a:solidFill>
                <a:latin typeface="Aptos"/>
              </a:rPr>
              <a:t>Arimatéia Júnior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Picture 21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Sobre o Professor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Quem conduz esta disciplina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0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5" descr="Foto Perfil JR.png"/>
          <p:cNvPicPr/>
          <p:nvPr/>
        </p:nvPicPr>
        <p:blipFill>
          <a:blip r:embed="rId2"/>
          <a:stretch/>
        </p:blipFill>
        <p:spPr>
          <a:xfrm>
            <a:off x="800280" y="1508760"/>
            <a:ext cx="3061440" cy="306144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82" name="TextBox 6"/>
          <p:cNvSpPr/>
          <p:nvPr/>
        </p:nvSpPr>
        <p:spPr>
          <a:xfrm>
            <a:off x="914400" y="4663440"/>
            <a:ext cx="283284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32b42"/>
                </a:solidFill>
                <a:latin typeface="Aptos"/>
              </a:rPr>
              <a:t>Arimatéia Júnior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30" spc="-1" strike="noStrike">
                <a:solidFill>
                  <a:srgbClr val="5e6c7a"/>
                </a:solidFill>
                <a:latin typeface="Aptos"/>
              </a:rPr>
              <a:t>Professor - Desenvolvimento de Software Integrado - DevOps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7"/>
          <p:cNvSpPr/>
          <p:nvPr/>
        </p:nvSpPr>
        <p:spPr>
          <a:xfrm>
            <a:off x="4846320" y="1508760"/>
            <a:ext cx="6444720" cy="1689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4846320" y="1508760"/>
            <a:ext cx="71280" cy="168984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5010840" y="1636920"/>
            <a:ext cx="6152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Formação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10" descr="ic_grad.png"/>
          <p:cNvPicPr/>
          <p:nvPr/>
        </p:nvPicPr>
        <p:blipFill>
          <a:blip r:embed="rId3"/>
          <a:stretch/>
        </p:blipFill>
        <p:spPr>
          <a:xfrm>
            <a:off x="5010840" y="1984320"/>
            <a:ext cx="345600" cy="345600"/>
          </a:xfrm>
          <a:prstGeom prst="rect">
            <a:avLst/>
          </a:prstGeom>
          <a:ln w="0">
            <a:noFill/>
          </a:ln>
        </p:spPr>
      </p:pic>
      <p:sp>
        <p:nvSpPr>
          <p:cNvPr id="87" name="TextBox 11"/>
          <p:cNvSpPr/>
          <p:nvPr/>
        </p:nvSpPr>
        <p:spPr>
          <a:xfrm>
            <a:off x="5010840" y="2312280"/>
            <a:ext cx="615204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Pós-graduado em Engenharia de Software com ênfase em DevOps — UNIFOR (2025).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MBA em Arquitetura de Software e Soluções — XP Educação (2023).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Especialização em Segurança da Informação — UNINASSAU (2021).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Formado em Redes de Computadores — Faculdade Lourenço Filho (2014).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12"/>
          <p:cNvSpPr/>
          <p:nvPr/>
        </p:nvSpPr>
        <p:spPr>
          <a:xfrm>
            <a:off x="4846320" y="3337560"/>
            <a:ext cx="3130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13"/>
          <p:cNvSpPr/>
          <p:nvPr/>
        </p:nvSpPr>
        <p:spPr>
          <a:xfrm>
            <a:off x="4846320" y="3337560"/>
            <a:ext cx="71280" cy="17355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4"/>
          <p:cNvSpPr/>
          <p:nvPr/>
        </p:nvSpPr>
        <p:spPr>
          <a:xfrm>
            <a:off x="5010840" y="3465720"/>
            <a:ext cx="2837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Experiência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15" descr="ic_briefcase.png"/>
          <p:cNvPicPr/>
          <p:nvPr/>
        </p:nvPicPr>
        <p:blipFill>
          <a:blip r:embed="rId4"/>
          <a:stretch/>
        </p:blipFill>
        <p:spPr>
          <a:xfrm>
            <a:off x="5010840" y="3813120"/>
            <a:ext cx="345600" cy="345600"/>
          </a:xfrm>
          <a:prstGeom prst="rect">
            <a:avLst/>
          </a:prstGeom>
          <a:ln w="0">
            <a:noFill/>
          </a:ln>
        </p:spPr>
      </p:pic>
      <p:sp>
        <p:nvSpPr>
          <p:cNvPr id="92" name="TextBox 16"/>
          <p:cNvSpPr/>
          <p:nvPr/>
        </p:nvSpPr>
        <p:spPr>
          <a:xfrm>
            <a:off x="5010840" y="4270320"/>
            <a:ext cx="283752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Arquiteto de Software e Soluções — TIVIT (cliente Petrobras).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Consultor de Tecnologia — ARI JR Technology.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17"/>
          <p:cNvSpPr/>
          <p:nvPr/>
        </p:nvSpPr>
        <p:spPr>
          <a:xfrm>
            <a:off x="8160840" y="3337560"/>
            <a:ext cx="3130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ectangle 18"/>
          <p:cNvSpPr/>
          <p:nvPr/>
        </p:nvSpPr>
        <p:spPr>
          <a:xfrm>
            <a:off x="8160840" y="3337560"/>
            <a:ext cx="71280" cy="17355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19"/>
          <p:cNvSpPr/>
          <p:nvPr/>
        </p:nvSpPr>
        <p:spPr>
          <a:xfrm>
            <a:off x="8325720" y="3465720"/>
            <a:ext cx="2837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Certificações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20" descr="ic_medal.png"/>
          <p:cNvPicPr/>
          <p:nvPr/>
        </p:nvPicPr>
        <p:blipFill>
          <a:blip r:embed="rId5"/>
          <a:stretch/>
        </p:blipFill>
        <p:spPr>
          <a:xfrm>
            <a:off x="8325720" y="3813120"/>
            <a:ext cx="345600" cy="345600"/>
          </a:xfrm>
          <a:prstGeom prst="rect">
            <a:avLst/>
          </a:prstGeom>
          <a:ln w="0">
            <a:noFill/>
          </a:ln>
        </p:spPr>
      </p:pic>
      <p:sp>
        <p:nvSpPr>
          <p:cNvPr id="97" name="TextBox 21"/>
          <p:cNvSpPr/>
          <p:nvPr/>
        </p:nvSpPr>
        <p:spPr>
          <a:xfrm>
            <a:off x="8325720" y="4270320"/>
            <a:ext cx="2837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Microsoft, AWS, Google Cloud, Oracle e VMware.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22"/>
          <p:cNvSpPr/>
          <p:nvPr/>
        </p:nvSpPr>
        <p:spPr>
          <a:xfrm>
            <a:off x="4846320" y="5212080"/>
            <a:ext cx="6492240" cy="90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23"/>
          <p:cNvSpPr/>
          <p:nvPr/>
        </p:nvSpPr>
        <p:spPr>
          <a:xfrm>
            <a:off x="4846320" y="5212080"/>
            <a:ext cx="71280" cy="54684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4"/>
          <p:cNvSpPr/>
          <p:nvPr/>
        </p:nvSpPr>
        <p:spPr>
          <a:xfrm>
            <a:off x="5010840" y="5340240"/>
            <a:ext cx="6152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Sobre mim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5"/>
          <p:cNvSpPr/>
          <p:nvPr/>
        </p:nvSpPr>
        <p:spPr>
          <a:xfrm>
            <a:off x="5010840" y="5651280"/>
            <a:ext cx="615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Apaixonado por família, tecnologia e futebol.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26" descr="Logo Unifor.png"/>
          <p:cNvPicPr/>
          <p:nvPr/>
        </p:nvPicPr>
        <p:blipFill>
          <a:blip r:embed="rId6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03" name="TextBox 27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28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Visão Geral da Disciplina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24h em seis encontros: cultura, automação, entrega, operação e IA aplicada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685800" y="1508760"/>
            <a:ext cx="3427200" cy="182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5"/>
          <p:cNvSpPr/>
          <p:nvPr/>
        </p:nvSpPr>
        <p:spPr>
          <a:xfrm>
            <a:off x="685800" y="1508760"/>
            <a:ext cx="71280" cy="1827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850320" y="163692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Objetivo da turma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850320" y="2011680"/>
            <a:ext cx="313452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Conectar desenvolvimento, qualidade e operação em um fluxo único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Trabalhar com artefatos reais: repositório, pipeline, containers, evidências e 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Fechar com projeto integrador e uso responsável de IA registrado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8"/>
          <p:cNvSpPr/>
          <p:nvPr/>
        </p:nvSpPr>
        <p:spPr>
          <a:xfrm>
            <a:off x="4389120" y="1508760"/>
            <a:ext cx="3427200" cy="182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9"/>
          <p:cNvSpPr/>
          <p:nvPr/>
        </p:nvSpPr>
        <p:spPr>
          <a:xfrm>
            <a:off x="4389120" y="1508760"/>
            <a:ext cx="71280" cy="1827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4553640" y="163692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Eixo prático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4553640" y="2011680"/>
            <a:ext cx="313452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Diagnóstico + IA no SDLC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Git, PR e revisão assistida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CI, testes e qualidade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Docker/Compose e troubleshooting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CD, segurança, observabilidade e evidências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12"/>
          <p:cNvSpPr/>
          <p:nvPr/>
        </p:nvSpPr>
        <p:spPr>
          <a:xfrm>
            <a:off x="8092440" y="1508760"/>
            <a:ext cx="3427200" cy="182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ectangle 13"/>
          <p:cNvSpPr/>
          <p:nvPr/>
        </p:nvSpPr>
        <p:spPr>
          <a:xfrm>
            <a:off x="8092440" y="1508760"/>
            <a:ext cx="71280" cy="182700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8256960" y="163692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Resultado esperado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5"/>
          <p:cNvSpPr/>
          <p:nvPr/>
        </p:nvSpPr>
        <p:spPr>
          <a:xfrm>
            <a:off x="8256960" y="2011680"/>
            <a:ext cx="313452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Aplicação executável em ambiente reproduzível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Pipeline com validações e evidências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Uso de IA documentado e validado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Release/rollback ou plano de rollback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20" spc="-1" strike="noStrike">
                <a:solidFill>
                  <a:srgbClr val="0f172a"/>
                </a:solidFill>
                <a:latin typeface="Aptos"/>
              </a:rPr>
              <a:t>Evidências de operação e melhoria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16"/>
          <p:cNvSpPr/>
          <p:nvPr/>
        </p:nvSpPr>
        <p:spPr>
          <a:xfrm>
            <a:off x="685800" y="3794760"/>
            <a:ext cx="10833840" cy="136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ectangle 17"/>
          <p:cNvSpPr/>
          <p:nvPr/>
        </p:nvSpPr>
        <p:spPr>
          <a:xfrm>
            <a:off x="685800" y="3794760"/>
            <a:ext cx="71280" cy="13698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18"/>
          <p:cNvSpPr/>
          <p:nvPr/>
        </p:nvSpPr>
        <p:spPr>
          <a:xfrm>
            <a:off x="850320" y="3922920"/>
            <a:ext cx="10541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 orientadora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9"/>
          <p:cNvSpPr/>
          <p:nvPr/>
        </p:nvSpPr>
        <p:spPr>
          <a:xfrm>
            <a:off x="850320" y="4297680"/>
            <a:ext cx="1054116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Como transformar uma aplicação em um produto entregável, observável, seguro e evolutivo usando DevOps e IA com validação humana?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0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1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3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22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23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Objetivos de Aprendizagem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que você deve conseguir fazer ao final da disciplina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1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32" name="Rounded Rectangle 5"/>
          <p:cNvSpPr/>
          <p:nvPr/>
        </p:nvSpPr>
        <p:spPr>
          <a:xfrm>
            <a:off x="68580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tangle 6"/>
          <p:cNvSpPr/>
          <p:nvPr/>
        </p:nvSpPr>
        <p:spPr>
          <a:xfrm>
            <a:off x="685800" y="1508760"/>
            <a:ext cx="71280" cy="25495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Compreender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85032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Explicar cultura DevOps e responsabilidade compartilhada.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Identificar gargalos entre desenvolvimento, qualidade e operação.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Relacionar métricas, feedback e melhoria contínua.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9"/>
          <p:cNvSpPr/>
          <p:nvPr/>
        </p:nvSpPr>
        <p:spPr>
          <a:xfrm>
            <a:off x="438912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10"/>
          <p:cNvSpPr/>
          <p:nvPr/>
        </p:nvSpPr>
        <p:spPr>
          <a:xfrm>
            <a:off x="4389120" y="1508760"/>
            <a:ext cx="71280" cy="25495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Construir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2"/>
          <p:cNvSpPr/>
          <p:nvPr/>
        </p:nvSpPr>
        <p:spPr>
          <a:xfrm>
            <a:off x="4553640" y="199332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Aplicar Git e PRs com revisão objetiva.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Criar pipeline de CI com testes e artefatos.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Containerizar uma aplicação e padronizar execução.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Planejar CD com segurança básica e rollback.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ounded Rectangle 13"/>
          <p:cNvSpPr/>
          <p:nvPr/>
        </p:nvSpPr>
        <p:spPr>
          <a:xfrm>
            <a:off x="809244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ectangle 14"/>
          <p:cNvSpPr/>
          <p:nvPr/>
        </p:nvSpPr>
        <p:spPr>
          <a:xfrm>
            <a:off x="8092440" y="1508760"/>
            <a:ext cx="71280" cy="25495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Avaliar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Usar IA criticamente no SDLC.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Analisar logs, falhas, riscos e decisões.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Defender o projeto final com evidências executáveis.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45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4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Linha do Tempo dos Encontros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Datas oficiais da turma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ounded Rectangle 4"/>
          <p:cNvSpPr/>
          <p:nvPr/>
        </p:nvSpPr>
        <p:spPr>
          <a:xfrm>
            <a:off x="685800" y="1508760"/>
            <a:ext cx="3427200" cy="141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ectangle 5"/>
          <p:cNvSpPr/>
          <p:nvPr/>
        </p:nvSpPr>
        <p:spPr>
          <a:xfrm>
            <a:off x="685800" y="1508760"/>
            <a:ext cx="71280" cy="14155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850320" y="163692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10/09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850320" y="201168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Cultura DevOps, IA no SDLC e diagnóstico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8"/>
          <p:cNvSpPr/>
          <p:nvPr/>
        </p:nvSpPr>
        <p:spPr>
          <a:xfrm>
            <a:off x="4434840" y="1508760"/>
            <a:ext cx="3427200" cy="141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9"/>
          <p:cNvSpPr/>
          <p:nvPr/>
        </p:nvSpPr>
        <p:spPr>
          <a:xfrm>
            <a:off x="4434840" y="1508760"/>
            <a:ext cx="71280" cy="14155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4599360" y="163692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11/09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1"/>
          <p:cNvSpPr/>
          <p:nvPr/>
        </p:nvSpPr>
        <p:spPr>
          <a:xfrm>
            <a:off x="4599360" y="201168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Git, colaboração, qualidade e IA assistida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12"/>
          <p:cNvSpPr/>
          <p:nvPr/>
        </p:nvSpPr>
        <p:spPr>
          <a:xfrm>
            <a:off x="8183880" y="1508760"/>
            <a:ext cx="3427200" cy="141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ectangle 13"/>
          <p:cNvSpPr/>
          <p:nvPr/>
        </p:nvSpPr>
        <p:spPr>
          <a:xfrm>
            <a:off x="8183880" y="1508760"/>
            <a:ext cx="71280" cy="14155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14"/>
          <p:cNvSpPr/>
          <p:nvPr/>
        </p:nvSpPr>
        <p:spPr>
          <a:xfrm>
            <a:off x="8348400" y="163692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12/09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8348400" y="201168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CI, testes automatizados e IA para automação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ounded Rectangle 16"/>
          <p:cNvSpPr/>
          <p:nvPr/>
        </p:nvSpPr>
        <p:spPr>
          <a:xfrm>
            <a:off x="685800" y="3474720"/>
            <a:ext cx="3427200" cy="141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Rectangle 17"/>
          <p:cNvSpPr/>
          <p:nvPr/>
        </p:nvSpPr>
        <p:spPr>
          <a:xfrm>
            <a:off x="685800" y="3474720"/>
            <a:ext cx="71280" cy="14155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18"/>
          <p:cNvSpPr/>
          <p:nvPr/>
        </p:nvSpPr>
        <p:spPr>
          <a:xfrm>
            <a:off x="850320" y="36028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24/09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9"/>
          <p:cNvSpPr/>
          <p:nvPr/>
        </p:nvSpPr>
        <p:spPr>
          <a:xfrm>
            <a:off x="850320" y="397764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Containers, integração e troubleshooting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ounded Rectangle 20"/>
          <p:cNvSpPr/>
          <p:nvPr/>
        </p:nvSpPr>
        <p:spPr>
          <a:xfrm>
            <a:off x="4434840" y="3474720"/>
            <a:ext cx="3427200" cy="141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21"/>
          <p:cNvSpPr/>
          <p:nvPr/>
        </p:nvSpPr>
        <p:spPr>
          <a:xfrm>
            <a:off x="4434840" y="3474720"/>
            <a:ext cx="71280" cy="14155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22"/>
          <p:cNvSpPr/>
          <p:nvPr/>
        </p:nvSpPr>
        <p:spPr>
          <a:xfrm>
            <a:off x="4599360" y="36028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25/09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23"/>
          <p:cNvSpPr/>
          <p:nvPr/>
        </p:nvSpPr>
        <p:spPr>
          <a:xfrm>
            <a:off x="4599360" y="397764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CD, configuração, segurança e governança de 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24"/>
          <p:cNvSpPr/>
          <p:nvPr/>
        </p:nvSpPr>
        <p:spPr>
          <a:xfrm>
            <a:off x="8183880" y="3474720"/>
            <a:ext cx="3427200" cy="141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ectangle 25"/>
          <p:cNvSpPr/>
          <p:nvPr/>
        </p:nvSpPr>
        <p:spPr>
          <a:xfrm>
            <a:off x="8183880" y="3474720"/>
            <a:ext cx="71280" cy="1415520"/>
          </a:xfrm>
          <a:prstGeom prst="rect">
            <a:avLst/>
          </a:prstGeom>
          <a:solidFill>
            <a:srgbClr val="b736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26"/>
          <p:cNvSpPr/>
          <p:nvPr/>
        </p:nvSpPr>
        <p:spPr>
          <a:xfrm>
            <a:off x="8348400" y="36028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26/09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27"/>
          <p:cNvSpPr/>
          <p:nvPr/>
        </p:nvSpPr>
        <p:spPr>
          <a:xfrm>
            <a:off x="8348400" y="397764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Observabilidade, IA aplicada e projeto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28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29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5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Picture 30" descr="e1_magnifier_dark.png"/>
          <p:cNvPicPr/>
          <p:nvPr/>
        </p:nvPicPr>
        <p:blipFill>
          <a:blip r:embed="rId1"/>
          <a:stretch/>
        </p:blipFill>
        <p:spPr>
          <a:xfrm>
            <a:off x="3593520" y="1618560"/>
            <a:ext cx="382320" cy="382320"/>
          </a:xfrm>
          <a:prstGeom prst="rect">
            <a:avLst/>
          </a:prstGeom>
          <a:ln w="0">
            <a:noFill/>
          </a:ln>
        </p:spPr>
      </p:pic>
      <p:pic>
        <p:nvPicPr>
          <p:cNvPr id="177" name="Picture 31" descr="e2_git_dark.png"/>
          <p:cNvPicPr/>
          <p:nvPr/>
        </p:nvPicPr>
        <p:blipFill>
          <a:blip r:embed="rId2"/>
          <a:stretch/>
        </p:blipFill>
        <p:spPr>
          <a:xfrm>
            <a:off x="7342560" y="1618560"/>
            <a:ext cx="382320" cy="38232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32" descr="e3_refresh_dark.png"/>
          <p:cNvPicPr/>
          <p:nvPr/>
        </p:nvPicPr>
        <p:blipFill>
          <a:blip r:embed="rId3"/>
          <a:stretch/>
        </p:blipFill>
        <p:spPr>
          <a:xfrm>
            <a:off x="11091600" y="1618560"/>
            <a:ext cx="382320" cy="38232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33" descr="e4_container_dark.png"/>
          <p:cNvPicPr/>
          <p:nvPr/>
        </p:nvPicPr>
        <p:blipFill>
          <a:blip r:embed="rId4"/>
          <a:stretch/>
        </p:blipFill>
        <p:spPr>
          <a:xfrm>
            <a:off x="3593520" y="3584520"/>
            <a:ext cx="382320" cy="38232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34" descr="e5_shield_dark.png"/>
          <p:cNvPicPr/>
          <p:nvPr/>
        </p:nvPicPr>
        <p:blipFill>
          <a:blip r:embed="rId5"/>
          <a:stretch/>
        </p:blipFill>
        <p:spPr>
          <a:xfrm>
            <a:off x="7342560" y="3584520"/>
            <a:ext cx="382320" cy="38232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35" descr="e6_pulse_dark.png"/>
          <p:cNvPicPr/>
          <p:nvPr/>
        </p:nvPicPr>
        <p:blipFill>
          <a:blip r:embed="rId6"/>
          <a:stretch/>
        </p:blipFill>
        <p:spPr>
          <a:xfrm>
            <a:off x="11091600" y="3584520"/>
            <a:ext cx="382320" cy="382320"/>
          </a:xfrm>
          <a:prstGeom prst="rect">
            <a:avLst/>
          </a:prstGeom>
          <a:ln w="0">
            <a:noFill/>
          </a:ln>
        </p:spPr>
      </p:pic>
      <p:pic>
        <p:nvPicPr>
          <p:cNvPr id="182" name="Picture 36" descr="Logo Unifor.png"/>
          <p:cNvPicPr/>
          <p:nvPr/>
        </p:nvPicPr>
        <p:blipFill>
          <a:blip r:embed="rId7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83" name="Picture 37" descr="Logo Unifor Pos.png"/>
          <p:cNvPicPr/>
          <p:nvPr/>
        </p:nvPicPr>
        <p:blipFill>
          <a:blip r:embed="rId8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Projeto Integrador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Um fluxo DevOps completo em pequena escala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ounded Rectangle 4"/>
          <p:cNvSpPr/>
          <p:nvPr/>
        </p:nvSpPr>
        <p:spPr>
          <a:xfrm>
            <a:off x="685800" y="1600200"/>
            <a:ext cx="1351440" cy="656640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685800" y="1810440"/>
            <a:ext cx="1351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Repositório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2084760" y="1783080"/>
            <a:ext cx="3639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e6c7a"/>
                </a:solidFill>
                <a:latin typeface="Aptos"/>
              </a:rPr>
              <a:t>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7"/>
          <p:cNvSpPr/>
          <p:nvPr/>
        </p:nvSpPr>
        <p:spPr>
          <a:xfrm>
            <a:off x="2560320" y="1600200"/>
            <a:ext cx="1351440" cy="656640"/>
          </a:xfrm>
          <a:prstGeom prst="roundRect">
            <a:avLst>
              <a:gd name="adj" fmla="val 16667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8"/>
          <p:cNvSpPr/>
          <p:nvPr/>
        </p:nvSpPr>
        <p:spPr>
          <a:xfrm>
            <a:off x="2560320" y="1810440"/>
            <a:ext cx="1351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Pipeline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9"/>
          <p:cNvSpPr/>
          <p:nvPr/>
        </p:nvSpPr>
        <p:spPr>
          <a:xfrm>
            <a:off x="3959280" y="1783080"/>
            <a:ext cx="3639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e6c7a"/>
                </a:solidFill>
                <a:latin typeface="Aptos"/>
              </a:rPr>
              <a:t>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10"/>
          <p:cNvSpPr/>
          <p:nvPr/>
        </p:nvSpPr>
        <p:spPr>
          <a:xfrm>
            <a:off x="4434840" y="1600200"/>
            <a:ext cx="1351440" cy="656640"/>
          </a:xfrm>
          <a:prstGeom prst="roundRect">
            <a:avLst>
              <a:gd name="adj" fmla="val 16667"/>
            </a:avLst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11"/>
          <p:cNvSpPr/>
          <p:nvPr/>
        </p:nvSpPr>
        <p:spPr>
          <a:xfrm>
            <a:off x="4434840" y="1810440"/>
            <a:ext cx="1351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Imagem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2"/>
          <p:cNvSpPr/>
          <p:nvPr/>
        </p:nvSpPr>
        <p:spPr>
          <a:xfrm>
            <a:off x="5833800" y="1783080"/>
            <a:ext cx="3639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e6c7a"/>
                </a:solidFill>
                <a:latin typeface="Aptos"/>
              </a:rPr>
              <a:t>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13"/>
          <p:cNvSpPr/>
          <p:nvPr/>
        </p:nvSpPr>
        <p:spPr>
          <a:xfrm>
            <a:off x="6309360" y="1600200"/>
            <a:ext cx="1351440" cy="656640"/>
          </a:xfrm>
          <a:prstGeom prst="roundRect">
            <a:avLst>
              <a:gd name="adj" fmla="val 16667"/>
            </a:avLst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14"/>
          <p:cNvSpPr/>
          <p:nvPr/>
        </p:nvSpPr>
        <p:spPr>
          <a:xfrm>
            <a:off x="6309360" y="1810440"/>
            <a:ext cx="1351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Ambiente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15"/>
          <p:cNvSpPr/>
          <p:nvPr/>
        </p:nvSpPr>
        <p:spPr>
          <a:xfrm>
            <a:off x="7708320" y="1783080"/>
            <a:ext cx="3639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e6c7a"/>
                </a:solidFill>
                <a:latin typeface="Aptos"/>
              </a:rPr>
              <a:t>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ounded Rectangle 16"/>
          <p:cNvSpPr/>
          <p:nvPr/>
        </p:nvSpPr>
        <p:spPr>
          <a:xfrm>
            <a:off x="8183880" y="1600200"/>
            <a:ext cx="1351440" cy="656640"/>
          </a:xfrm>
          <a:prstGeom prst="roundRect">
            <a:avLst>
              <a:gd name="adj" fmla="val 16667"/>
            </a:avLst>
          </a:prstGeom>
          <a:solidFill>
            <a:srgbClr val="b736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17"/>
          <p:cNvSpPr/>
          <p:nvPr/>
        </p:nvSpPr>
        <p:spPr>
          <a:xfrm>
            <a:off x="8183880" y="1810440"/>
            <a:ext cx="1351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Release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18"/>
          <p:cNvSpPr/>
          <p:nvPr/>
        </p:nvSpPr>
        <p:spPr>
          <a:xfrm>
            <a:off x="9582840" y="1783080"/>
            <a:ext cx="3639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5e6c7a"/>
                </a:solidFill>
                <a:latin typeface="Aptos"/>
              </a:rPr>
              <a:t>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ounded Rectangle 19"/>
          <p:cNvSpPr/>
          <p:nvPr/>
        </p:nvSpPr>
        <p:spPr>
          <a:xfrm>
            <a:off x="10058400" y="1600200"/>
            <a:ext cx="1351440" cy="65664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20"/>
          <p:cNvSpPr/>
          <p:nvPr/>
        </p:nvSpPr>
        <p:spPr>
          <a:xfrm>
            <a:off x="10058400" y="1810440"/>
            <a:ext cx="1351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Observabilidade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ounded Rectangle 21"/>
          <p:cNvSpPr/>
          <p:nvPr/>
        </p:nvSpPr>
        <p:spPr>
          <a:xfrm>
            <a:off x="685800" y="2788920"/>
            <a:ext cx="3427200" cy="178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Rectangle 22"/>
          <p:cNvSpPr/>
          <p:nvPr/>
        </p:nvSpPr>
        <p:spPr>
          <a:xfrm>
            <a:off x="685800" y="2788920"/>
            <a:ext cx="71280" cy="178128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23"/>
          <p:cNvSpPr/>
          <p:nvPr/>
        </p:nvSpPr>
        <p:spPr>
          <a:xfrm>
            <a:off x="850320" y="29170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Artefatos mínimos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24"/>
          <p:cNvSpPr/>
          <p:nvPr/>
        </p:nvSpPr>
        <p:spPr>
          <a:xfrm>
            <a:off x="850320" y="329184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README de execução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Pipeline versionado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Dockerfile e compose.yaml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Evidências de build/teste/release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Registro do uso de IA quando aplicado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ounded Rectangle 25"/>
          <p:cNvSpPr/>
          <p:nvPr/>
        </p:nvSpPr>
        <p:spPr>
          <a:xfrm>
            <a:off x="4389120" y="2788920"/>
            <a:ext cx="3427200" cy="178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Rectangle 26"/>
          <p:cNvSpPr/>
          <p:nvPr/>
        </p:nvSpPr>
        <p:spPr>
          <a:xfrm>
            <a:off x="4389120" y="2788920"/>
            <a:ext cx="71280" cy="178128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27"/>
          <p:cNvSpPr/>
          <p:nvPr/>
        </p:nvSpPr>
        <p:spPr>
          <a:xfrm>
            <a:off x="4553640" y="29170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Critérios técnicos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28"/>
          <p:cNvSpPr/>
          <p:nvPr/>
        </p:nvSpPr>
        <p:spPr>
          <a:xfrm>
            <a:off x="4553640" y="329184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Automação rastreável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Falha visível e tratável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Ambiente reproduzível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Rollback ou plano de rollback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Sugestões de IA validadas por teste e revisão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ounded Rectangle 29"/>
          <p:cNvSpPr/>
          <p:nvPr/>
        </p:nvSpPr>
        <p:spPr>
          <a:xfrm>
            <a:off x="8092440" y="2788920"/>
            <a:ext cx="3427200" cy="178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Rectangle 30"/>
          <p:cNvSpPr/>
          <p:nvPr/>
        </p:nvSpPr>
        <p:spPr>
          <a:xfrm>
            <a:off x="8092440" y="2788920"/>
            <a:ext cx="71280" cy="178128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31"/>
          <p:cNvSpPr/>
          <p:nvPr/>
        </p:nvSpPr>
        <p:spPr>
          <a:xfrm>
            <a:off x="8256960" y="29170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Defesa final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32"/>
          <p:cNvSpPr/>
          <p:nvPr/>
        </p:nvSpPr>
        <p:spPr>
          <a:xfrm>
            <a:off x="8256960" y="329184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Diagnóstico inicial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Decisões técnicas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Uso crítico de 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Tradeoffs e limitações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Evolução proposta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33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34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Picture 35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219" name="Picture 36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1"/>
          <p:cNvSpPr/>
          <p:nvPr/>
        </p:nvSpPr>
        <p:spPr>
          <a:xfrm>
            <a:off x="594360" y="320040"/>
            <a:ext cx="9873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32b42"/>
                </a:solidFill>
                <a:latin typeface="Aptos"/>
              </a:rPr>
              <a:t>Projeto Integrador - Incrementos por Encontro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Um único projeto evolui ao longo dos seis encontros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3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24" name="Rounded Rectangle 5"/>
          <p:cNvSpPr/>
          <p:nvPr/>
        </p:nvSpPr>
        <p:spPr>
          <a:xfrm>
            <a:off x="68580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6"/>
          <p:cNvSpPr/>
          <p:nvPr/>
        </p:nvSpPr>
        <p:spPr>
          <a:xfrm>
            <a:off x="685800" y="1508760"/>
            <a:ext cx="71280" cy="23115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Incrementos por encontro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8"/>
          <p:cNvSpPr/>
          <p:nvPr/>
        </p:nvSpPr>
        <p:spPr>
          <a:xfrm>
            <a:off x="850320" y="199332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E1: diagnóstico e proposta priorizada.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E2: organização, equipe e código-base na main.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E3: pipeline CI com testes.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E4: execução com Docker/Compose.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E5: release, rollback e segurança.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E6: observabilidade e defesa.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ounded Rectangle 9"/>
          <p:cNvSpPr/>
          <p:nvPr/>
        </p:nvSpPr>
        <p:spPr>
          <a:xfrm>
            <a:off x="438912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ectangle 10"/>
          <p:cNvSpPr/>
          <p:nvPr/>
        </p:nvSpPr>
        <p:spPr>
          <a:xfrm>
            <a:off x="4389120" y="1508760"/>
            <a:ext cx="71280" cy="23115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Critério de escolha da aplicação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Aplicação pequena, mas realista.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Deve ter build, teste e execução local.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Ideal ter API + dependência externa ou banco.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Evitar stack complexa que consuma o tempo disponível.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ounded Rectangle 13"/>
          <p:cNvSpPr/>
          <p:nvPr/>
        </p:nvSpPr>
        <p:spPr>
          <a:xfrm>
            <a:off x="809244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Rectangle 14"/>
          <p:cNvSpPr/>
          <p:nvPr/>
        </p:nvSpPr>
        <p:spPr>
          <a:xfrm>
            <a:off x="8092440" y="1508760"/>
            <a:ext cx="71280" cy="23115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Evidência mínima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README de execução.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Print/log de pipeline.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Dockerfile e compose.yaml.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Registro de release/rollback.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Registro de uso de IA, quando aplicado.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37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Ferramentas e Ambiente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que ter pronto antes do primeiro encontro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2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43" name="Rounded Rectangle 5"/>
          <p:cNvSpPr/>
          <p:nvPr/>
        </p:nvSpPr>
        <p:spPr>
          <a:xfrm>
            <a:off x="685800" y="1508760"/>
            <a:ext cx="3427200" cy="2604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ectangle 6"/>
          <p:cNvSpPr/>
          <p:nvPr/>
        </p:nvSpPr>
        <p:spPr>
          <a:xfrm>
            <a:off x="685800" y="1508760"/>
            <a:ext cx="71280" cy="260424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Essencial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Picture 8" descr="git.png"/>
          <p:cNvPicPr/>
          <p:nvPr/>
        </p:nvPicPr>
        <p:blipFill>
          <a:blip r:embed="rId2"/>
          <a:stretch/>
        </p:blipFill>
        <p:spPr>
          <a:xfrm>
            <a:off x="85032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47" name="Picture 9" descr="github.png"/>
          <p:cNvPicPr/>
          <p:nvPr/>
        </p:nvPicPr>
        <p:blipFill>
          <a:blip r:embed="rId3"/>
          <a:stretch/>
        </p:blipFill>
        <p:spPr>
          <a:xfrm>
            <a:off x="134424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48" name="Picture 10" descr="gitlab.png"/>
          <p:cNvPicPr/>
          <p:nvPr/>
        </p:nvPicPr>
        <p:blipFill>
          <a:blip r:embed="rId4"/>
          <a:stretch/>
        </p:blipFill>
        <p:spPr>
          <a:xfrm>
            <a:off x="183780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49" name="Picture 11" descr="docker.png"/>
          <p:cNvPicPr/>
          <p:nvPr/>
        </p:nvPicPr>
        <p:blipFill>
          <a:blip r:embed="rId5"/>
          <a:stretch/>
        </p:blipFill>
        <p:spPr>
          <a:xfrm>
            <a:off x="2331720" y="1984320"/>
            <a:ext cx="345600" cy="345600"/>
          </a:xfrm>
          <a:prstGeom prst="rect">
            <a:avLst/>
          </a:prstGeom>
          <a:ln w="0">
            <a:noFill/>
          </a:ln>
        </p:spPr>
      </p:pic>
      <p:sp>
        <p:nvSpPr>
          <p:cNvPr id="250" name="TextBox 12"/>
          <p:cNvSpPr/>
          <p:nvPr/>
        </p:nvSpPr>
        <p:spPr>
          <a:xfrm>
            <a:off x="850320" y="2441520"/>
            <a:ext cx="313452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Git instalado e configurado.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Conta em GitHub, GitLab ou Azure DevOps.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Editor com terminal integrado.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Docker Desktop ou Docker Engine + Compose.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13"/>
          <p:cNvSpPr/>
          <p:nvPr/>
        </p:nvSpPr>
        <p:spPr>
          <a:xfrm>
            <a:off x="4389120" y="1508760"/>
            <a:ext cx="3427200" cy="2604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Rectangle 14"/>
          <p:cNvSpPr/>
          <p:nvPr/>
        </p:nvSpPr>
        <p:spPr>
          <a:xfrm>
            <a:off x="4389120" y="1508760"/>
            <a:ext cx="71280" cy="260424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15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Pipeline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Picture 16" descr="githubactions.png"/>
          <p:cNvPicPr/>
          <p:nvPr/>
        </p:nvPicPr>
        <p:blipFill>
          <a:blip r:embed="rId6"/>
          <a:stretch/>
        </p:blipFill>
        <p:spPr>
          <a:xfrm>
            <a:off x="455364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55" name="Picture 17" descr="azuredevops.png"/>
          <p:cNvPicPr/>
          <p:nvPr/>
        </p:nvPicPr>
        <p:blipFill>
          <a:blip r:embed="rId7"/>
          <a:stretch/>
        </p:blipFill>
        <p:spPr>
          <a:xfrm>
            <a:off x="504756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56" name="Picture 18" descr="gitlab.png"/>
          <p:cNvPicPr/>
          <p:nvPr/>
        </p:nvPicPr>
        <p:blipFill>
          <a:blip r:embed="rId8"/>
          <a:stretch/>
        </p:blipFill>
        <p:spPr>
          <a:xfrm>
            <a:off x="5541120" y="1984320"/>
            <a:ext cx="345600" cy="345600"/>
          </a:xfrm>
          <a:prstGeom prst="rect">
            <a:avLst/>
          </a:prstGeom>
          <a:ln w="0">
            <a:noFill/>
          </a:ln>
        </p:spPr>
      </p:pic>
      <p:sp>
        <p:nvSpPr>
          <p:cNvPr id="257" name="TextBox 19"/>
          <p:cNvSpPr/>
          <p:nvPr/>
        </p:nvSpPr>
        <p:spPr>
          <a:xfrm>
            <a:off x="4553640" y="2441520"/>
            <a:ext cx="313452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GitHub Actions é a opção mais simples para laboratório.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GitLab CI ou Azure Pipelines seguem a mesma lógica.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Exemplos curtos e versionados no repositório da turma.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ounded Rectangle 20"/>
          <p:cNvSpPr/>
          <p:nvPr/>
        </p:nvSpPr>
        <p:spPr>
          <a:xfrm>
            <a:off x="8092440" y="1508760"/>
            <a:ext cx="3427200" cy="2604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Rectangle 21"/>
          <p:cNvSpPr/>
          <p:nvPr/>
        </p:nvSpPr>
        <p:spPr>
          <a:xfrm>
            <a:off x="8092440" y="1508760"/>
            <a:ext cx="71280" cy="260424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TextBox 22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IA assistida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1" name="Picture 23" descr="githubcopilot.png"/>
          <p:cNvPicPr/>
          <p:nvPr/>
        </p:nvPicPr>
        <p:blipFill>
          <a:blip r:embed="rId9"/>
          <a:stretch/>
        </p:blipFill>
        <p:spPr>
          <a:xfrm>
            <a:off x="825696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62" name="Picture 24" descr="openai.png"/>
          <p:cNvPicPr/>
          <p:nvPr/>
        </p:nvPicPr>
        <p:blipFill>
          <a:blip r:embed="rId10"/>
          <a:stretch/>
        </p:blipFill>
        <p:spPr>
          <a:xfrm>
            <a:off x="875088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63" name="Picture 25" descr="cursor.png"/>
          <p:cNvPicPr/>
          <p:nvPr/>
        </p:nvPicPr>
        <p:blipFill>
          <a:blip r:embed="rId11"/>
          <a:stretch/>
        </p:blipFill>
        <p:spPr>
          <a:xfrm>
            <a:off x="924444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64" name="Picture 26" descr="googlegemini.png"/>
          <p:cNvPicPr/>
          <p:nvPr/>
        </p:nvPicPr>
        <p:blipFill>
          <a:blip r:embed="rId12"/>
          <a:stretch/>
        </p:blipFill>
        <p:spPr>
          <a:xfrm>
            <a:off x="9738360" y="198432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265" name="Picture 27" descr="amazonaws.png"/>
          <p:cNvPicPr/>
          <p:nvPr/>
        </p:nvPicPr>
        <p:blipFill>
          <a:blip r:embed="rId13"/>
          <a:stretch/>
        </p:blipFill>
        <p:spPr>
          <a:xfrm>
            <a:off x="10232280" y="1984320"/>
            <a:ext cx="345600" cy="345600"/>
          </a:xfrm>
          <a:prstGeom prst="rect">
            <a:avLst/>
          </a:prstGeom>
          <a:ln w="0">
            <a:noFill/>
          </a:ln>
        </p:spPr>
      </p:pic>
      <p:sp>
        <p:nvSpPr>
          <p:cNvPr id="266" name="TextBox 28"/>
          <p:cNvSpPr/>
          <p:nvPr/>
        </p:nvSpPr>
        <p:spPr>
          <a:xfrm>
            <a:off x="8256960" y="2441520"/>
            <a:ext cx="313452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GitHub Copilot, ChatGPT/Codex, Cursor, Gemini Code Assist, Amazon Q ou equivalente.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Acesso opcional, com demonstrações em sala.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Picture 29" descr="Logo Unifor.png"/>
          <p:cNvPicPr/>
          <p:nvPr/>
        </p:nvPicPr>
        <p:blipFill>
          <a:blip r:embed="rId14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68" name="TextBox 3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3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25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26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27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Avaliação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28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Distribuição final alinhada ao plano de ensino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 29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ounded Rectangle 30"/>
          <p:cNvSpPr/>
          <p:nvPr/>
        </p:nvSpPr>
        <p:spPr>
          <a:xfrm>
            <a:off x="749880" y="1481400"/>
            <a:ext cx="3399840" cy="130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Rectangle 31"/>
          <p:cNvSpPr/>
          <p:nvPr/>
        </p:nvSpPr>
        <p:spPr>
          <a:xfrm>
            <a:off x="749880" y="1481400"/>
            <a:ext cx="71280" cy="13057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32"/>
          <p:cNvSpPr/>
          <p:nvPr/>
        </p:nvSpPr>
        <p:spPr>
          <a:xfrm>
            <a:off x="951120" y="1645920"/>
            <a:ext cx="7754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897b"/>
                </a:solidFill>
                <a:latin typeface="Aptos"/>
              </a:rPr>
              <a:t>25%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33"/>
          <p:cNvSpPr/>
          <p:nvPr/>
        </p:nvSpPr>
        <p:spPr>
          <a:xfrm>
            <a:off x="1710000" y="1645920"/>
            <a:ext cx="21470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1f2937"/>
                </a:solidFill>
                <a:latin typeface="Aptos"/>
              </a:rPr>
              <a:t>Projeto funcional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34"/>
          <p:cNvSpPr/>
          <p:nvPr/>
        </p:nvSpPr>
        <p:spPr>
          <a:xfrm>
            <a:off x="951120" y="2103120"/>
            <a:ext cx="29242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5e6c7a"/>
                </a:solidFill>
                <a:latin typeface="Aptos"/>
              </a:rPr>
              <a:t>Repositório organizado, aplicação executável, documentação e registro crítico de IA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ounded Rectangle 35"/>
          <p:cNvSpPr/>
          <p:nvPr/>
        </p:nvSpPr>
        <p:spPr>
          <a:xfrm>
            <a:off x="4480560" y="1481400"/>
            <a:ext cx="3399840" cy="130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Rectangle 36"/>
          <p:cNvSpPr/>
          <p:nvPr/>
        </p:nvSpPr>
        <p:spPr>
          <a:xfrm>
            <a:off x="4480560" y="1481400"/>
            <a:ext cx="71280" cy="13057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37"/>
          <p:cNvSpPr/>
          <p:nvPr/>
        </p:nvSpPr>
        <p:spPr>
          <a:xfrm>
            <a:off x="4681800" y="1645920"/>
            <a:ext cx="7754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666ab"/>
                </a:solidFill>
                <a:latin typeface="Aptos"/>
              </a:rPr>
              <a:t>25%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38"/>
          <p:cNvSpPr/>
          <p:nvPr/>
        </p:nvSpPr>
        <p:spPr>
          <a:xfrm>
            <a:off x="5440680" y="1645920"/>
            <a:ext cx="21470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1f2937"/>
                </a:solidFill>
                <a:latin typeface="Aptos"/>
              </a:rPr>
              <a:t>Pipeline CI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39"/>
          <p:cNvSpPr/>
          <p:nvPr/>
        </p:nvSpPr>
        <p:spPr>
          <a:xfrm>
            <a:off x="4681800" y="2103120"/>
            <a:ext cx="29242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5e6c7a"/>
                </a:solidFill>
                <a:latin typeface="Aptos"/>
              </a:rPr>
              <a:t>Build, testes, qualidade, análise de falhas e artefatos/imagens publicados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ounded Rectangle 40"/>
          <p:cNvSpPr/>
          <p:nvPr/>
        </p:nvSpPr>
        <p:spPr>
          <a:xfrm>
            <a:off x="8211240" y="1481400"/>
            <a:ext cx="3399840" cy="130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Rectangle 41"/>
          <p:cNvSpPr/>
          <p:nvPr/>
        </p:nvSpPr>
        <p:spPr>
          <a:xfrm>
            <a:off x="8211240" y="1481400"/>
            <a:ext cx="71280" cy="13057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42"/>
          <p:cNvSpPr/>
          <p:nvPr/>
        </p:nvSpPr>
        <p:spPr>
          <a:xfrm>
            <a:off x="8412480" y="1645920"/>
            <a:ext cx="7754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6750a4"/>
                </a:solidFill>
                <a:latin typeface="Aptos"/>
              </a:rPr>
              <a:t>20%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43"/>
          <p:cNvSpPr/>
          <p:nvPr/>
        </p:nvSpPr>
        <p:spPr>
          <a:xfrm>
            <a:off x="9171360" y="1645920"/>
            <a:ext cx="21470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1f2937"/>
                </a:solidFill>
                <a:latin typeface="Aptos"/>
              </a:rPr>
              <a:t>Containers/Compose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44"/>
          <p:cNvSpPr/>
          <p:nvPr/>
        </p:nvSpPr>
        <p:spPr>
          <a:xfrm>
            <a:off x="8412480" y="2103120"/>
            <a:ext cx="29242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5e6c7a"/>
                </a:solidFill>
                <a:latin typeface="Aptos"/>
              </a:rPr>
              <a:t>Dockerfile, compose.yaml, variáveis, volumes e health checks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ounded Rectangle 45"/>
          <p:cNvSpPr/>
          <p:nvPr/>
        </p:nvSpPr>
        <p:spPr>
          <a:xfrm>
            <a:off x="749880" y="3264480"/>
            <a:ext cx="3399840" cy="130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Rectangle 46"/>
          <p:cNvSpPr/>
          <p:nvPr/>
        </p:nvSpPr>
        <p:spPr>
          <a:xfrm>
            <a:off x="749880" y="3264480"/>
            <a:ext cx="71280" cy="13057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TextBox 47"/>
          <p:cNvSpPr/>
          <p:nvPr/>
        </p:nvSpPr>
        <p:spPr>
          <a:xfrm>
            <a:off x="951120" y="3429000"/>
            <a:ext cx="7754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88b26"/>
                </a:solidFill>
                <a:latin typeface="Aptos"/>
              </a:rPr>
              <a:t>15%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48"/>
          <p:cNvSpPr/>
          <p:nvPr/>
        </p:nvSpPr>
        <p:spPr>
          <a:xfrm>
            <a:off x="1710000" y="3429000"/>
            <a:ext cx="21470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1f2937"/>
                </a:solidFill>
                <a:latin typeface="Aptos"/>
              </a:rPr>
              <a:t>Entrega e operação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49"/>
          <p:cNvSpPr/>
          <p:nvPr/>
        </p:nvSpPr>
        <p:spPr>
          <a:xfrm>
            <a:off x="951120" y="3886200"/>
            <a:ext cx="29242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5e6c7a"/>
                </a:solidFill>
                <a:latin typeface="Aptos"/>
              </a:rPr>
              <a:t>Release, rollback/plano, segurança básica, logs, métricas e governança de IA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ounded Rectangle 50"/>
          <p:cNvSpPr/>
          <p:nvPr/>
        </p:nvSpPr>
        <p:spPr>
          <a:xfrm>
            <a:off x="4480560" y="3264480"/>
            <a:ext cx="3399840" cy="130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ectangle 51"/>
          <p:cNvSpPr/>
          <p:nvPr/>
        </p:nvSpPr>
        <p:spPr>
          <a:xfrm>
            <a:off x="4480560" y="3264480"/>
            <a:ext cx="71280" cy="13057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52"/>
          <p:cNvSpPr/>
          <p:nvPr/>
        </p:nvSpPr>
        <p:spPr>
          <a:xfrm>
            <a:off x="4681800" y="3429000"/>
            <a:ext cx="7754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e7d32"/>
                </a:solidFill>
                <a:latin typeface="Aptos"/>
              </a:rPr>
              <a:t>10%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53"/>
          <p:cNvSpPr/>
          <p:nvPr/>
        </p:nvSpPr>
        <p:spPr>
          <a:xfrm>
            <a:off x="5440680" y="3429000"/>
            <a:ext cx="21470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1f2937"/>
                </a:solidFill>
                <a:latin typeface="Aptos"/>
              </a:rPr>
              <a:t>Diagnóstico DevOps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54"/>
          <p:cNvSpPr/>
          <p:nvPr/>
        </p:nvSpPr>
        <p:spPr>
          <a:xfrm>
            <a:off x="4681800" y="3886200"/>
            <a:ext cx="29242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5e6c7a"/>
                </a:solidFill>
                <a:latin typeface="Aptos"/>
              </a:rPr>
              <a:t>Gargalos, riscos, oportunidades de IA e proposta de evolução da automação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ounded Rectangle 55"/>
          <p:cNvSpPr/>
          <p:nvPr/>
        </p:nvSpPr>
        <p:spPr>
          <a:xfrm>
            <a:off x="8211240" y="3264480"/>
            <a:ext cx="3399840" cy="1305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ectangle 56"/>
          <p:cNvSpPr/>
          <p:nvPr/>
        </p:nvSpPr>
        <p:spPr>
          <a:xfrm>
            <a:off x="8211240" y="3264480"/>
            <a:ext cx="71280" cy="1305720"/>
          </a:xfrm>
          <a:prstGeom prst="rect">
            <a:avLst/>
          </a:prstGeom>
          <a:solidFill>
            <a:srgbClr val="b736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57"/>
          <p:cNvSpPr/>
          <p:nvPr/>
        </p:nvSpPr>
        <p:spPr>
          <a:xfrm>
            <a:off x="8412480" y="3429000"/>
            <a:ext cx="7754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b73636"/>
                </a:solidFill>
                <a:latin typeface="Aptos"/>
              </a:rPr>
              <a:t>5%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58"/>
          <p:cNvSpPr/>
          <p:nvPr/>
        </p:nvSpPr>
        <p:spPr>
          <a:xfrm>
            <a:off x="9171360" y="3429000"/>
            <a:ext cx="21470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1f2937"/>
                </a:solidFill>
                <a:latin typeface="Aptos"/>
              </a:rPr>
              <a:t>Apresentação final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59"/>
          <p:cNvSpPr/>
          <p:nvPr/>
        </p:nvSpPr>
        <p:spPr>
          <a:xfrm>
            <a:off x="8412480" y="3886200"/>
            <a:ext cx="29242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20" spc="-1" strike="noStrike">
                <a:solidFill>
                  <a:srgbClr val="5e6c7a"/>
                </a:solidFill>
                <a:latin typeface="Aptos"/>
              </a:rPr>
              <a:t>Defesa técnica das decisões, uso de IA, tradeoffs e próximos passos</a:t>
            </a:r>
            <a:endParaRPr b="0" lang="pt-BR" sz="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60"/>
          <p:cNvSpPr/>
          <p:nvPr/>
        </p:nvSpPr>
        <p:spPr>
          <a:xfrm>
            <a:off x="749880" y="5230440"/>
            <a:ext cx="10605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Leitura da rubrica: a IA pode apoiar o trabalho, mas a nota depende de evidências executáveis, validação humana, testes e decisões técnicas defendidas.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Picture 61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307" name="Picture 62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2263f"/>
                </a:solidFill>
                <a:latin typeface="Aptos"/>
              </a:rPr>
              <a:t>IA Aplicada ao SDLC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2"/>
          <p:cNvSpPr/>
          <p:nvPr/>
        </p:nvSpPr>
        <p:spPr>
          <a:xfrm>
            <a:off x="621720" y="841320"/>
            <a:ext cx="9782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75569"/>
                </a:solidFill>
                <a:latin typeface="Aptos"/>
              </a:rPr>
              <a:t>Onde usar durante o fluxo DevOps sem perder rigor técnico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4"/>
          <p:cNvSpPr/>
          <p:nvPr/>
        </p:nvSpPr>
        <p:spPr>
          <a:xfrm>
            <a:off x="1298520" y="6446520"/>
            <a:ext cx="5877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475569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5"/>
          <p:cNvSpPr/>
          <p:nvPr/>
        </p:nvSpPr>
        <p:spPr>
          <a:xfrm>
            <a:off x="11201400" y="6446520"/>
            <a:ext cx="5011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475569"/>
                </a:solidFill>
                <a:latin typeface="Aptos"/>
              </a:rPr>
              <a:t>10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ounded Rectangle 6"/>
          <p:cNvSpPr/>
          <p:nvPr/>
        </p:nvSpPr>
        <p:spPr>
          <a:xfrm>
            <a:off x="685800" y="1508760"/>
            <a:ext cx="3244320" cy="150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tangle 7"/>
          <p:cNvSpPr/>
          <p:nvPr/>
        </p:nvSpPr>
        <p:spPr>
          <a:xfrm>
            <a:off x="685800" y="1508760"/>
            <a:ext cx="62280" cy="15069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8"/>
          <p:cNvSpPr/>
          <p:nvPr/>
        </p:nvSpPr>
        <p:spPr>
          <a:xfrm>
            <a:off x="850320" y="1618560"/>
            <a:ext cx="29700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Planejar e entender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9"/>
          <p:cNvSpPr/>
          <p:nvPr/>
        </p:nvSpPr>
        <p:spPr>
          <a:xfrm>
            <a:off x="850320" y="1984320"/>
            <a:ext cx="2924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Refinar histórias e critérios de aceite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Resumir contexto técnico do repositório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Mapear riscos, dependências e premissas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ounded Rectangle 10"/>
          <p:cNvSpPr/>
          <p:nvPr/>
        </p:nvSpPr>
        <p:spPr>
          <a:xfrm>
            <a:off x="4251960" y="1508760"/>
            <a:ext cx="3244320" cy="150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Rectangle 11"/>
          <p:cNvSpPr/>
          <p:nvPr/>
        </p:nvSpPr>
        <p:spPr>
          <a:xfrm>
            <a:off x="4251960" y="1508760"/>
            <a:ext cx="62280" cy="150696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12"/>
          <p:cNvSpPr/>
          <p:nvPr/>
        </p:nvSpPr>
        <p:spPr>
          <a:xfrm>
            <a:off x="4416480" y="1618560"/>
            <a:ext cx="29700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Codificar e refatorar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13"/>
          <p:cNvSpPr/>
          <p:nvPr/>
        </p:nvSpPr>
        <p:spPr>
          <a:xfrm>
            <a:off x="4416480" y="1984320"/>
            <a:ext cx="2924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Sugerir implementação incremental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Explicar código legado ou desconhecido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Propor refatoração pequena e revisável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Rounded Rectangle 14"/>
          <p:cNvSpPr/>
          <p:nvPr/>
        </p:nvSpPr>
        <p:spPr>
          <a:xfrm>
            <a:off x="7818120" y="1508760"/>
            <a:ext cx="3244320" cy="150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Rectangle 15"/>
          <p:cNvSpPr/>
          <p:nvPr/>
        </p:nvSpPr>
        <p:spPr>
          <a:xfrm>
            <a:off x="7818120" y="1508760"/>
            <a:ext cx="62280" cy="150696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16"/>
          <p:cNvSpPr/>
          <p:nvPr/>
        </p:nvSpPr>
        <p:spPr>
          <a:xfrm>
            <a:off x="7982640" y="1618560"/>
            <a:ext cx="29700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Testar e revisar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Box 17"/>
          <p:cNvSpPr/>
          <p:nvPr/>
        </p:nvSpPr>
        <p:spPr>
          <a:xfrm>
            <a:off x="7982640" y="1984320"/>
            <a:ext cx="2924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Gerar casos de teste e dados de borda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Revisar diff/PR com checklist explícito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Conferir cobertura, legibilidade e regressão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ounded Rectangle 18"/>
          <p:cNvSpPr/>
          <p:nvPr/>
        </p:nvSpPr>
        <p:spPr>
          <a:xfrm>
            <a:off x="685800" y="3337560"/>
            <a:ext cx="3244320" cy="150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Rectangle 19"/>
          <p:cNvSpPr/>
          <p:nvPr/>
        </p:nvSpPr>
        <p:spPr>
          <a:xfrm>
            <a:off x="685800" y="3337560"/>
            <a:ext cx="62280" cy="150696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20"/>
          <p:cNvSpPr/>
          <p:nvPr/>
        </p:nvSpPr>
        <p:spPr>
          <a:xfrm>
            <a:off x="850320" y="3447360"/>
            <a:ext cx="29700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Automatizar pipeline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21"/>
          <p:cNvSpPr/>
          <p:nvPr/>
        </p:nvSpPr>
        <p:spPr>
          <a:xfrm>
            <a:off x="850320" y="3813120"/>
            <a:ext cx="2924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Explicar YAML de CI/CD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Sugerir correção para falha de job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Documentar etapas e variáveis necessárias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ounded Rectangle 22"/>
          <p:cNvSpPr/>
          <p:nvPr/>
        </p:nvSpPr>
        <p:spPr>
          <a:xfrm>
            <a:off x="4251960" y="3337560"/>
            <a:ext cx="3244320" cy="150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Rectangle 23"/>
          <p:cNvSpPr/>
          <p:nvPr/>
        </p:nvSpPr>
        <p:spPr>
          <a:xfrm>
            <a:off x="4251960" y="3337560"/>
            <a:ext cx="62280" cy="15069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TextBox 24"/>
          <p:cNvSpPr/>
          <p:nvPr/>
        </p:nvSpPr>
        <p:spPr>
          <a:xfrm>
            <a:off x="4416480" y="3447360"/>
            <a:ext cx="29700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Operar e observar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25"/>
          <p:cNvSpPr/>
          <p:nvPr/>
        </p:nvSpPr>
        <p:spPr>
          <a:xfrm>
            <a:off x="4416480" y="3813120"/>
            <a:ext cx="2924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Sumarizar logs e levantar hipóteses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Relacionar métrica, erro e deploy recente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Gerar runbook inicial para incidentes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Rounded Rectangle 26"/>
          <p:cNvSpPr/>
          <p:nvPr/>
        </p:nvSpPr>
        <p:spPr>
          <a:xfrm>
            <a:off x="7818120" y="3337560"/>
            <a:ext cx="3244320" cy="150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Rectangle 27"/>
          <p:cNvSpPr/>
          <p:nvPr/>
        </p:nvSpPr>
        <p:spPr>
          <a:xfrm>
            <a:off x="7818120" y="3337560"/>
            <a:ext cx="62280" cy="15069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28"/>
          <p:cNvSpPr/>
          <p:nvPr/>
        </p:nvSpPr>
        <p:spPr>
          <a:xfrm>
            <a:off x="7982640" y="3447360"/>
            <a:ext cx="29700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Documentar decisão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29"/>
          <p:cNvSpPr/>
          <p:nvPr/>
        </p:nvSpPr>
        <p:spPr>
          <a:xfrm>
            <a:off x="7982640" y="3813120"/>
            <a:ext cx="2924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Produzir README e release notes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Registrar prompts, saídas e validações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475569"/>
                </a:solidFill>
                <a:latin typeface="Aptos"/>
              </a:rPr>
              <a:t>Explicar o que foi aceito, rejeitado e por quê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Picture 30" descr="ic_lightbulb.png"/>
          <p:cNvPicPr/>
          <p:nvPr/>
        </p:nvPicPr>
        <p:blipFill>
          <a:blip r:embed="rId1"/>
          <a:stretch/>
        </p:blipFill>
        <p:spPr>
          <a:xfrm>
            <a:off x="3429000" y="162756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338" name="Picture 31" descr="ic_code.png"/>
          <p:cNvPicPr/>
          <p:nvPr/>
        </p:nvPicPr>
        <p:blipFill>
          <a:blip r:embed="rId2"/>
          <a:stretch/>
        </p:blipFill>
        <p:spPr>
          <a:xfrm>
            <a:off x="6995160" y="162756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339" name="Picture 32" descr="ic_check.png"/>
          <p:cNvPicPr/>
          <p:nvPr/>
        </p:nvPicPr>
        <p:blipFill>
          <a:blip r:embed="rId3"/>
          <a:stretch/>
        </p:blipFill>
        <p:spPr>
          <a:xfrm>
            <a:off x="10561320" y="162756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340" name="Picture 33" descr="ic_gear.png"/>
          <p:cNvPicPr/>
          <p:nvPr/>
        </p:nvPicPr>
        <p:blipFill>
          <a:blip r:embed="rId4"/>
          <a:stretch/>
        </p:blipFill>
        <p:spPr>
          <a:xfrm>
            <a:off x="3429000" y="345636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341" name="Picture 34" descr="ic_eye.png"/>
          <p:cNvPicPr/>
          <p:nvPr/>
        </p:nvPicPr>
        <p:blipFill>
          <a:blip r:embed="rId5"/>
          <a:stretch/>
        </p:blipFill>
        <p:spPr>
          <a:xfrm>
            <a:off x="6995160" y="345636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342" name="Picture 35" descr="ic_document.png"/>
          <p:cNvPicPr/>
          <p:nvPr/>
        </p:nvPicPr>
        <p:blipFill>
          <a:blip r:embed="rId6"/>
          <a:stretch/>
        </p:blipFill>
        <p:spPr>
          <a:xfrm>
            <a:off x="10561320" y="3456360"/>
            <a:ext cx="345600" cy="345600"/>
          </a:xfrm>
          <a:prstGeom prst="rect">
            <a:avLst/>
          </a:prstGeom>
          <a:ln w="0">
            <a:noFill/>
          </a:ln>
        </p:spPr>
      </p:pic>
      <p:pic>
        <p:nvPicPr>
          <p:cNvPr id="343" name="Picture 36" descr="Logo Unifor.png"/>
          <p:cNvPicPr/>
          <p:nvPr/>
        </p:nvPicPr>
        <p:blipFill>
          <a:blip r:embed="rId7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344" name="Picture 37" descr="Logo Unifor Pos.png"/>
          <p:cNvPicPr/>
          <p:nvPr/>
        </p:nvPicPr>
        <p:blipFill>
          <a:blip r:embed="rId8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2263f"/>
                </a:solidFill>
                <a:latin typeface="Aptos"/>
              </a:rPr>
              <a:t>Uso Seguro de IA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2"/>
          <p:cNvSpPr/>
          <p:nvPr/>
        </p:nvSpPr>
        <p:spPr>
          <a:xfrm>
            <a:off x="621720" y="841320"/>
            <a:ext cx="9782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75569"/>
                </a:solidFill>
                <a:latin typeface="Aptos"/>
              </a:rPr>
              <a:t>Regras práticas para laboratório, projeto e avaliação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TextBox 4"/>
          <p:cNvSpPr/>
          <p:nvPr/>
        </p:nvSpPr>
        <p:spPr>
          <a:xfrm>
            <a:off x="1298520" y="6446520"/>
            <a:ext cx="5877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475569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5"/>
          <p:cNvSpPr/>
          <p:nvPr/>
        </p:nvSpPr>
        <p:spPr>
          <a:xfrm>
            <a:off x="11201400" y="6446520"/>
            <a:ext cx="5011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475569"/>
                </a:solidFill>
                <a:latin typeface="Aptos"/>
              </a:rPr>
              <a:t>11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ounded Rectangle 6"/>
          <p:cNvSpPr/>
          <p:nvPr/>
        </p:nvSpPr>
        <p:spPr>
          <a:xfrm>
            <a:off x="685800" y="1508760"/>
            <a:ext cx="4890240" cy="1598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ectangle 7"/>
          <p:cNvSpPr/>
          <p:nvPr/>
        </p:nvSpPr>
        <p:spPr>
          <a:xfrm>
            <a:off x="685800" y="1508760"/>
            <a:ext cx="62280" cy="15984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TextBox 8"/>
          <p:cNvSpPr/>
          <p:nvPr/>
        </p:nvSpPr>
        <p:spPr>
          <a:xfrm>
            <a:off x="850320" y="1618560"/>
            <a:ext cx="4615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Antes de perguntar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9"/>
          <p:cNvSpPr/>
          <p:nvPr/>
        </p:nvSpPr>
        <p:spPr>
          <a:xfrm>
            <a:off x="850320" y="1984320"/>
            <a:ext cx="4570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Não enviar segredos, tokens, chaves, dados pessoais ou código sensível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Fornecer contexto mínimo: objetivo, stack, erro, restrições e trecho relevante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Pedir plano curto ou hipóteses antes de aceitar código pronto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Rounded Rectangle 10"/>
          <p:cNvSpPr/>
          <p:nvPr/>
        </p:nvSpPr>
        <p:spPr>
          <a:xfrm>
            <a:off x="5989320" y="1508760"/>
            <a:ext cx="4890240" cy="1598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Rectangle 11"/>
          <p:cNvSpPr/>
          <p:nvPr/>
        </p:nvSpPr>
        <p:spPr>
          <a:xfrm>
            <a:off x="5989320" y="1508760"/>
            <a:ext cx="62280" cy="15984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6" name="TextBox 12"/>
          <p:cNvSpPr/>
          <p:nvPr/>
        </p:nvSpPr>
        <p:spPr>
          <a:xfrm>
            <a:off x="6153840" y="1618560"/>
            <a:ext cx="4615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Durante 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13"/>
          <p:cNvSpPr/>
          <p:nvPr/>
        </p:nvSpPr>
        <p:spPr>
          <a:xfrm>
            <a:off x="6153840" y="1984320"/>
            <a:ext cx="4570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Checar se a solução respeita arquitetura, dependências e padrões do projeto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Tratar saída da IA como sugestão, não como fonte de verdade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Investigar alucinações, comandos perigosos e permissões excessivas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Rounded Rectangle 14"/>
          <p:cNvSpPr/>
          <p:nvPr/>
        </p:nvSpPr>
        <p:spPr>
          <a:xfrm>
            <a:off x="685800" y="3493080"/>
            <a:ext cx="4890240" cy="1598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Rectangle 15"/>
          <p:cNvSpPr/>
          <p:nvPr/>
        </p:nvSpPr>
        <p:spPr>
          <a:xfrm>
            <a:off x="685800" y="3493080"/>
            <a:ext cx="62280" cy="15984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TextBox 16"/>
          <p:cNvSpPr/>
          <p:nvPr/>
        </p:nvSpPr>
        <p:spPr>
          <a:xfrm>
            <a:off x="850320" y="3602880"/>
            <a:ext cx="4615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Depois de aplicar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17"/>
          <p:cNvSpPr/>
          <p:nvPr/>
        </p:nvSpPr>
        <p:spPr>
          <a:xfrm>
            <a:off x="850320" y="3968640"/>
            <a:ext cx="4570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Rodar testes, lint, build e validação manual relevante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Revisar segurança: segredos, entrada de usuário, dependências e logs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Manter diff pequeno para facilitar revisão humana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ounded Rectangle 18"/>
          <p:cNvSpPr/>
          <p:nvPr/>
        </p:nvSpPr>
        <p:spPr>
          <a:xfrm>
            <a:off x="5989320" y="3493080"/>
            <a:ext cx="4890240" cy="1598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Rectangle 19"/>
          <p:cNvSpPr/>
          <p:nvPr/>
        </p:nvSpPr>
        <p:spPr>
          <a:xfrm>
            <a:off x="5989320" y="3493080"/>
            <a:ext cx="62280" cy="15984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TextBox 20"/>
          <p:cNvSpPr/>
          <p:nvPr/>
        </p:nvSpPr>
        <p:spPr>
          <a:xfrm>
            <a:off x="6153840" y="3602880"/>
            <a:ext cx="4615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Evidência para avaliação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21"/>
          <p:cNvSpPr/>
          <p:nvPr/>
        </p:nvSpPr>
        <p:spPr>
          <a:xfrm>
            <a:off x="6153840" y="3968640"/>
            <a:ext cx="4570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12600" bIns="12600" anchor="t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Registrar prompt/contexto, saída útil, alterações aceitas e descartadas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Explicar validações feitas e correções humanas realizadas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• </a:t>
            </a:r>
            <a:r>
              <a:rPr b="0" lang="en-US" sz="1030" spc="-1" strike="noStrike">
                <a:solidFill>
                  <a:srgbClr val="475569"/>
                </a:solidFill>
                <a:latin typeface="Aptos"/>
              </a:rPr>
              <a:t>Citar limites, riscos e próximos passos quando a IA foi usada</a:t>
            </a:r>
            <a:endParaRPr b="0" lang="pt-BR" sz="10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Picture 22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367" name="Picture 23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Aprofundamento em Segurança de IA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Leitura complementar disponível nos materiais do EAD desta disciplina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71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pic>
        <p:nvPicPr>
          <p:cNvPr id="372" name="Picture 5" descr="nist_cover.png"/>
          <p:cNvPicPr/>
          <p:nvPr/>
        </p:nvPicPr>
        <p:blipFill>
          <a:blip r:embed="rId2"/>
          <a:stretch/>
        </p:blipFill>
        <p:spPr>
          <a:xfrm>
            <a:off x="2345400" y="1691640"/>
            <a:ext cx="1800000" cy="232992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373" name="TextBox 6"/>
          <p:cNvSpPr/>
          <p:nvPr/>
        </p:nvSpPr>
        <p:spPr>
          <a:xfrm>
            <a:off x="1828800" y="4114800"/>
            <a:ext cx="283284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NIST AI RMF 1.0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c7a"/>
                </a:solidFill>
                <a:latin typeface="Aptos"/>
              </a:rPr>
              <a:t>Artificial Intelligence Risk Management Framework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7"/>
          <p:cNvSpPr/>
          <p:nvPr/>
        </p:nvSpPr>
        <p:spPr>
          <a:xfrm>
            <a:off x="914400" y="4645080"/>
            <a:ext cx="466164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Framework de referência para gerenciar riscos de sistemas de IA.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Base para pensar governança, confiabilidade e uso responsável no projeto integrador.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5" name="Picture 8" descr="owasp_cover.png"/>
          <p:cNvPicPr/>
          <p:nvPr/>
        </p:nvPicPr>
        <p:blipFill>
          <a:blip r:embed="rId3"/>
          <a:stretch/>
        </p:blipFill>
        <p:spPr>
          <a:xfrm>
            <a:off x="7420320" y="1691640"/>
            <a:ext cx="1800000" cy="232992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376" name="TextBox 9"/>
          <p:cNvSpPr/>
          <p:nvPr/>
        </p:nvSpPr>
        <p:spPr>
          <a:xfrm>
            <a:off x="6903720" y="4114800"/>
            <a:ext cx="2832840" cy="6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OWASP Top 10 for LLM Applications 2026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5e6c7a"/>
                </a:solidFill>
                <a:latin typeface="Aptos"/>
              </a:rPr>
              <a:t>OWASP GenAI Security Project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10"/>
          <p:cNvSpPr/>
          <p:nvPr/>
        </p:nvSpPr>
        <p:spPr>
          <a:xfrm>
            <a:off x="5989320" y="4645080"/>
            <a:ext cx="466164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Os 10 riscos mais críticos em aplicações que usam LLM.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Referência direta para prompt injection, vazamento de dados e alucinação.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11"/>
          <p:cNvSpPr/>
          <p:nvPr/>
        </p:nvSpPr>
        <p:spPr>
          <a:xfrm>
            <a:off x="685800" y="5989320"/>
            <a:ext cx="106052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e6c7a"/>
                </a:solidFill>
                <a:latin typeface="Aptos"/>
              </a:rPr>
              <a:t>Disponível na área de materiais de apoio do EAD — leitura recomendada antes do Encontro 5.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9" name="Picture 12" descr="Logo Unifor.png"/>
          <p:cNvPicPr/>
          <p:nvPr/>
        </p:nvPicPr>
        <p:blipFill>
          <a:blip r:embed="rId4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380" name="TextBox 13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14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Box 1"/>
          <p:cNvSpPr/>
          <p:nvPr/>
        </p:nvSpPr>
        <p:spPr>
          <a:xfrm>
            <a:off x="565200" y="36000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DORA 2026: O Que os Dados Dizem Sobre IA em DevOps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2"/>
          <p:cNvSpPr/>
          <p:nvPr/>
        </p:nvSpPr>
        <p:spPr>
          <a:xfrm>
            <a:off x="591840" y="261504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Antes de usar IA em DevOps, veja o que a pesquisa mais citada da área já mediu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Rectangle 3"/>
          <p:cNvSpPr/>
          <p:nvPr/>
        </p:nvSpPr>
        <p:spPr>
          <a:xfrm>
            <a:off x="618120" y="3015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85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386" name="Rounded Rectangle 5"/>
          <p:cNvSpPr/>
          <p:nvPr/>
        </p:nvSpPr>
        <p:spPr>
          <a:xfrm>
            <a:off x="591840" y="3404880"/>
            <a:ext cx="5279040" cy="136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Rectangle 6"/>
          <p:cNvSpPr/>
          <p:nvPr/>
        </p:nvSpPr>
        <p:spPr>
          <a:xfrm>
            <a:off x="591840" y="3404880"/>
            <a:ext cx="71280" cy="13608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7"/>
          <p:cNvSpPr/>
          <p:nvPr/>
        </p:nvSpPr>
        <p:spPr>
          <a:xfrm>
            <a:off x="756360" y="353304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Adoção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8"/>
          <p:cNvSpPr/>
          <p:nvPr/>
        </p:nvSpPr>
        <p:spPr>
          <a:xfrm>
            <a:off x="756360" y="3889440"/>
            <a:ext cx="4986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90% dos profissionais de tecnologia já usam IA no trabalho.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Mais de 80% relatam ganho de produtividade individual.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Rounded Rectangle 9"/>
          <p:cNvSpPr/>
          <p:nvPr/>
        </p:nvSpPr>
        <p:spPr>
          <a:xfrm>
            <a:off x="6147000" y="3404880"/>
            <a:ext cx="5279040" cy="136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Rectangle 10"/>
          <p:cNvSpPr/>
          <p:nvPr/>
        </p:nvSpPr>
        <p:spPr>
          <a:xfrm>
            <a:off x="6147000" y="3404880"/>
            <a:ext cx="71280" cy="13608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11"/>
          <p:cNvSpPr/>
          <p:nvPr/>
        </p:nvSpPr>
        <p:spPr>
          <a:xfrm>
            <a:off x="6311520" y="353304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Efeito colateral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12"/>
          <p:cNvSpPr/>
          <p:nvPr/>
        </p:nvSpPr>
        <p:spPr>
          <a:xfrm>
            <a:off x="6311520" y="3889440"/>
            <a:ext cx="4986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 cada 25% de aumento na adoção de IA, throughput de entrega cai 1,5%.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Estabilidade de entrega cai 7,2% no mesmo cenário.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Rounded Rectangle 13"/>
          <p:cNvSpPr/>
          <p:nvPr/>
        </p:nvSpPr>
        <p:spPr>
          <a:xfrm>
            <a:off x="591840" y="4932000"/>
            <a:ext cx="52790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Rectangle 14"/>
          <p:cNvSpPr/>
          <p:nvPr/>
        </p:nvSpPr>
        <p:spPr>
          <a:xfrm>
            <a:off x="591840" y="4932000"/>
            <a:ext cx="71280" cy="1186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TextBox 15"/>
          <p:cNvSpPr/>
          <p:nvPr/>
        </p:nvSpPr>
        <p:spPr>
          <a:xfrm>
            <a:off x="756360" y="505980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Paradoxo da produtividade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16"/>
          <p:cNvSpPr/>
          <p:nvPr/>
        </p:nvSpPr>
        <p:spPr>
          <a:xfrm>
            <a:off x="756360" y="5416560"/>
            <a:ext cx="4986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Incidentes por Pull Request subiram 242,7%.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tempo economizado na criação de código é realocado para auditoria e verificação.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Rounded Rectangle 17"/>
          <p:cNvSpPr/>
          <p:nvPr/>
        </p:nvSpPr>
        <p:spPr>
          <a:xfrm>
            <a:off x="6147000" y="4932000"/>
            <a:ext cx="52790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9" name="Rectangle 18"/>
          <p:cNvSpPr/>
          <p:nvPr/>
        </p:nvSpPr>
        <p:spPr>
          <a:xfrm>
            <a:off x="6147000" y="4932000"/>
            <a:ext cx="71280" cy="118692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TextBox 19"/>
          <p:cNvSpPr/>
          <p:nvPr/>
        </p:nvSpPr>
        <p:spPr>
          <a:xfrm>
            <a:off x="6311520" y="505980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Conclusão do DORA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20"/>
          <p:cNvSpPr/>
          <p:nvPr/>
        </p:nvSpPr>
        <p:spPr>
          <a:xfrm>
            <a:off x="6311520" y="5416560"/>
            <a:ext cx="4986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IA é um amplificador, não substituto de boa engenharia.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Só expande capacidade em times com testes sólidos, PRs pequenos e fluxo saudável.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2" name="Picture 21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403" name="TextBox 22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23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ounded Rectangle 1"/>
          <p:cNvSpPr/>
          <p:nvPr/>
        </p:nvSpPr>
        <p:spPr>
          <a:xfrm>
            <a:off x="659880" y="1080000"/>
            <a:ext cx="10679040" cy="125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ea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Rectangle 1"/>
          <p:cNvSpPr/>
          <p:nvPr/>
        </p:nvSpPr>
        <p:spPr>
          <a:xfrm>
            <a:off x="659880" y="1080000"/>
            <a:ext cx="71280" cy="1360800"/>
          </a:xfrm>
          <a:prstGeom prst="rect">
            <a:avLst/>
          </a:prstGeom>
          <a:solidFill>
            <a:srgbClr val="81d4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TextBox 36"/>
          <p:cNvSpPr/>
          <p:nvPr/>
        </p:nvSpPr>
        <p:spPr>
          <a:xfrm>
            <a:off x="824400" y="120816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DORA (DevOps Research and Assessment)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40"/>
          <p:cNvSpPr/>
          <p:nvPr/>
        </p:nvSpPr>
        <p:spPr>
          <a:xfrm>
            <a:off x="824400" y="1564560"/>
            <a:ext cx="1015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Programa de pesquisa do Google Cloud que estuda o desempenho de equipes de engenharia de software e identifica as práticas capazes de impulsionar a entrega e as operações de tecnologia.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Box 1"/>
          <p:cNvSpPr/>
          <p:nvPr/>
        </p:nvSpPr>
        <p:spPr>
          <a:xfrm>
            <a:off x="777240" y="2286000"/>
            <a:ext cx="10605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Encontro 1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Box 2"/>
          <p:cNvSpPr/>
          <p:nvPr/>
        </p:nvSpPr>
        <p:spPr>
          <a:xfrm>
            <a:off x="1920240" y="3090600"/>
            <a:ext cx="83192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de7f0"/>
                </a:solidFill>
                <a:latin typeface="Aptos"/>
              </a:rPr>
              <a:t>10/09/2026 | Cultura DevOps, IA no SDLC e diagnóstico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Box 3"/>
          <p:cNvSpPr/>
          <p:nvPr/>
        </p:nvSpPr>
        <p:spPr>
          <a:xfrm>
            <a:off x="5532120" y="6263640"/>
            <a:ext cx="1186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de7f0"/>
                </a:solidFill>
                <a:latin typeface="Aptos"/>
              </a:rPr>
              <a:t>14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2" name="Picture 4" descr="e1_magnifier.png"/>
          <p:cNvPicPr/>
          <p:nvPr/>
        </p:nvPicPr>
        <p:blipFill>
          <a:blip r:embed="rId1"/>
          <a:stretch/>
        </p:blipFill>
        <p:spPr>
          <a:xfrm>
            <a:off x="5615640" y="914400"/>
            <a:ext cx="958320" cy="958320"/>
          </a:xfrm>
          <a:prstGeom prst="rect">
            <a:avLst/>
          </a:prstGeom>
          <a:ln w="0">
            <a:noFill/>
          </a:ln>
        </p:spPr>
      </p:pic>
      <p:pic>
        <p:nvPicPr>
          <p:cNvPr id="413" name="Picture 5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Encontro 1 - Cultura e Diagnóstico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Base: cultura DevOps + diagnóstico de maturidade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Rounded Rectangle 4"/>
          <p:cNvSpPr/>
          <p:nvPr/>
        </p:nvSpPr>
        <p:spPr>
          <a:xfrm>
            <a:off x="685800" y="1417320"/>
            <a:ext cx="3427200" cy="200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Rectangle 5"/>
          <p:cNvSpPr/>
          <p:nvPr/>
        </p:nvSpPr>
        <p:spPr>
          <a:xfrm>
            <a:off x="685800" y="1417320"/>
            <a:ext cx="71280" cy="200988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TextBox 6"/>
          <p:cNvSpPr/>
          <p:nvPr/>
        </p:nvSpPr>
        <p:spPr>
          <a:xfrm>
            <a:off x="85032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1. Abertura e contexto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7"/>
          <p:cNvSpPr/>
          <p:nvPr/>
        </p:nvSpPr>
        <p:spPr>
          <a:xfrm>
            <a:off x="850320" y="192024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Objetivo da disciplina, conhecimentos prévios e projeto integrador.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Papel da IA como apoio, não substituição da engenharia.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ounded Rectangle 8"/>
          <p:cNvSpPr/>
          <p:nvPr/>
        </p:nvSpPr>
        <p:spPr>
          <a:xfrm>
            <a:off x="4389120" y="1417320"/>
            <a:ext cx="3427200" cy="200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Rectangle 9"/>
          <p:cNvSpPr/>
          <p:nvPr/>
        </p:nvSpPr>
        <p:spPr>
          <a:xfrm>
            <a:off x="4389120" y="1417320"/>
            <a:ext cx="71280" cy="200988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TextBox 10"/>
          <p:cNvSpPr/>
          <p:nvPr/>
        </p:nvSpPr>
        <p:spPr>
          <a:xfrm>
            <a:off x="45536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2. Cultura e ciclo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11"/>
          <p:cNvSpPr/>
          <p:nvPr/>
        </p:nvSpPr>
        <p:spPr>
          <a:xfrm>
            <a:off x="4553640" y="192024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Dev x Ops e responsabilidade compartilhada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Plan, Code, Build, Test, Release, Deploy, Operate, Monitor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Onde IA apoia análise, código, testes, operação e feedback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Rounded Rectangle 12"/>
          <p:cNvSpPr/>
          <p:nvPr/>
        </p:nvSpPr>
        <p:spPr>
          <a:xfrm>
            <a:off x="8092440" y="1417320"/>
            <a:ext cx="3427200" cy="200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Rectangle 13"/>
          <p:cNvSpPr/>
          <p:nvPr/>
        </p:nvSpPr>
        <p:spPr>
          <a:xfrm>
            <a:off x="8092440" y="1417320"/>
            <a:ext cx="71280" cy="200988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TextBox 14"/>
          <p:cNvSpPr/>
          <p:nvPr/>
        </p:nvSpPr>
        <p:spPr>
          <a:xfrm>
            <a:off x="825696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3. Diagnóstico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15"/>
          <p:cNvSpPr/>
          <p:nvPr/>
        </p:nvSpPr>
        <p:spPr>
          <a:xfrm>
            <a:off x="8256960" y="192024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Quick check em grupos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Mapear gargalos e tarefas manuais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Identificar oportunidades e riscos de 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Registrar hipóteses de melhoria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Rounded Rectangle 16"/>
          <p:cNvSpPr/>
          <p:nvPr/>
        </p:nvSpPr>
        <p:spPr>
          <a:xfrm>
            <a:off x="685800" y="3886200"/>
            <a:ext cx="10833840" cy="123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Rectangle 17"/>
          <p:cNvSpPr/>
          <p:nvPr/>
        </p:nvSpPr>
        <p:spPr>
          <a:xfrm>
            <a:off x="685800" y="3886200"/>
            <a:ext cx="71280" cy="123264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TextBox 18"/>
          <p:cNvSpPr/>
          <p:nvPr/>
        </p:nvSpPr>
        <p:spPr>
          <a:xfrm>
            <a:off x="850320" y="4014360"/>
            <a:ext cx="10541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Saída do encontro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19"/>
          <p:cNvSpPr/>
          <p:nvPr/>
        </p:nvSpPr>
        <p:spPr>
          <a:xfrm>
            <a:off x="850320" y="4389120"/>
            <a:ext cx="1054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Documento curto: diagnóstico DevOps + uma proposta priorizada, incluindo oportunidade de IA e validação necessária quando fizer sentido.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20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21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15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5" name="Picture 22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436" name="Picture 23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Conceitos Essenciais - DevOps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que sustenta a prática do encontro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40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441" name="Rounded Rectangle 5"/>
          <p:cNvSpPr/>
          <p:nvPr/>
        </p:nvSpPr>
        <p:spPr>
          <a:xfrm>
            <a:off x="731520" y="1417320"/>
            <a:ext cx="2073960" cy="4561560"/>
          </a:xfrm>
          <a:prstGeom prst="roundRect">
            <a:avLst>
              <a:gd name="adj" fmla="val 12000"/>
            </a:avLst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TextBox 6"/>
          <p:cNvSpPr/>
          <p:nvPr/>
        </p:nvSpPr>
        <p:spPr>
          <a:xfrm>
            <a:off x="685800" y="1490400"/>
            <a:ext cx="2165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Aptos"/>
              </a:rPr>
              <a:t>C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Box 7"/>
          <p:cNvSpPr/>
          <p:nvPr/>
        </p:nvSpPr>
        <p:spPr>
          <a:xfrm>
            <a:off x="731520" y="1929240"/>
            <a:ext cx="207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ptos"/>
              </a:rPr>
              <a:t>Cultura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Rounded Rectangle 8"/>
          <p:cNvSpPr/>
          <p:nvPr/>
        </p:nvSpPr>
        <p:spPr>
          <a:xfrm>
            <a:off x="2898720" y="1417320"/>
            <a:ext cx="2073960" cy="4561560"/>
          </a:xfrm>
          <a:prstGeom prst="roundRect">
            <a:avLst>
              <a:gd name="adj" fmla="val 12000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5" name="TextBox 9"/>
          <p:cNvSpPr/>
          <p:nvPr/>
        </p:nvSpPr>
        <p:spPr>
          <a:xfrm>
            <a:off x="2853000" y="1490400"/>
            <a:ext cx="2165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Aptos"/>
              </a:rPr>
              <a:t>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10"/>
          <p:cNvSpPr/>
          <p:nvPr/>
        </p:nvSpPr>
        <p:spPr>
          <a:xfrm>
            <a:off x="2898720" y="1929240"/>
            <a:ext cx="207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ptos"/>
              </a:rPr>
              <a:t>Automação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ounded Rectangle 11"/>
          <p:cNvSpPr/>
          <p:nvPr/>
        </p:nvSpPr>
        <p:spPr>
          <a:xfrm>
            <a:off x="5065920" y="1417320"/>
            <a:ext cx="2073960" cy="4561560"/>
          </a:xfrm>
          <a:prstGeom prst="roundRect">
            <a:avLst>
              <a:gd name="adj" fmla="val 12000"/>
            </a:avLst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12"/>
          <p:cNvSpPr/>
          <p:nvPr/>
        </p:nvSpPr>
        <p:spPr>
          <a:xfrm>
            <a:off x="5020200" y="1490400"/>
            <a:ext cx="2165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Aptos"/>
              </a:rPr>
              <a:t>L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13"/>
          <p:cNvSpPr/>
          <p:nvPr/>
        </p:nvSpPr>
        <p:spPr>
          <a:xfrm>
            <a:off x="5065920" y="1929240"/>
            <a:ext cx="207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ptos"/>
              </a:rPr>
              <a:t>Lean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ounded Rectangle 14"/>
          <p:cNvSpPr/>
          <p:nvPr/>
        </p:nvSpPr>
        <p:spPr>
          <a:xfrm>
            <a:off x="7232760" y="1417320"/>
            <a:ext cx="2073960" cy="4561560"/>
          </a:xfrm>
          <a:prstGeom prst="roundRect">
            <a:avLst>
              <a:gd name="adj" fmla="val 12000"/>
            </a:avLst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TextBox 15"/>
          <p:cNvSpPr/>
          <p:nvPr/>
        </p:nvSpPr>
        <p:spPr>
          <a:xfrm>
            <a:off x="7187040" y="1490400"/>
            <a:ext cx="2165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Aptos"/>
              </a:rPr>
              <a:t>M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16"/>
          <p:cNvSpPr/>
          <p:nvPr/>
        </p:nvSpPr>
        <p:spPr>
          <a:xfrm>
            <a:off x="7232760" y="1929240"/>
            <a:ext cx="207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ptos"/>
              </a:rPr>
              <a:t>Medição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Rounded Rectangle 17"/>
          <p:cNvSpPr/>
          <p:nvPr/>
        </p:nvSpPr>
        <p:spPr>
          <a:xfrm>
            <a:off x="9399960" y="1417320"/>
            <a:ext cx="2073960" cy="456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4" name="TextBox 18"/>
          <p:cNvSpPr/>
          <p:nvPr/>
        </p:nvSpPr>
        <p:spPr>
          <a:xfrm>
            <a:off x="9354240" y="1490400"/>
            <a:ext cx="21654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Aptos"/>
              </a:rPr>
              <a:t>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19"/>
          <p:cNvSpPr/>
          <p:nvPr/>
        </p:nvSpPr>
        <p:spPr>
          <a:xfrm>
            <a:off x="9399960" y="1929240"/>
            <a:ext cx="207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ptos"/>
              </a:rPr>
              <a:t>Compartilhamento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6" name="Picture 32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457" name="TextBox 33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34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463"/>
          <p:cNvSpPr/>
          <p:nvPr/>
        </p:nvSpPr>
        <p:spPr>
          <a:xfrm>
            <a:off x="777240" y="2232360"/>
            <a:ext cx="1982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Foco nas pessoas, na colaboração e na responsabilidade compartilhada entre os times.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464"/>
          <p:cNvSpPr/>
          <p:nvPr/>
        </p:nvSpPr>
        <p:spPr>
          <a:xfrm>
            <a:off x="2944440" y="2232360"/>
            <a:ext cx="1982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Eliminar tarefas manuais repetitivas para evitar erros e acelerar processos.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Box 465"/>
          <p:cNvSpPr/>
          <p:nvPr/>
        </p:nvSpPr>
        <p:spPr>
          <a:xfrm>
            <a:off x="5111640" y="2232360"/>
            <a:ext cx="1982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Usar princípios enxutos para eliminar desperdícios e focar no que gera valor real para o cliente.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Box 466"/>
          <p:cNvSpPr/>
          <p:nvPr/>
        </p:nvSpPr>
        <p:spPr>
          <a:xfrm>
            <a:off x="7278480" y="2232360"/>
            <a:ext cx="1982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Coletar dados e métricas (como as métricas DORA) para entender se os processos estão melhorando.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Box 467"/>
          <p:cNvSpPr/>
          <p:nvPr/>
        </p:nvSpPr>
        <p:spPr>
          <a:xfrm>
            <a:off x="9445680" y="2232360"/>
            <a:ext cx="1982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Dividir conhecimento, sucessos e erros entre toda a organização.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DevOps em Uma Frase: Mensagem, Modelos e Métricas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Como amarrar CALMS ao vocabulário de decisão do dia a dia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67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468" name="Rounded Rectangle 20"/>
          <p:cNvSpPr/>
          <p:nvPr/>
        </p:nvSpPr>
        <p:spPr>
          <a:xfrm>
            <a:off x="685800" y="17499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Rectangle 21"/>
          <p:cNvSpPr/>
          <p:nvPr/>
        </p:nvSpPr>
        <p:spPr>
          <a:xfrm>
            <a:off x="685800" y="17499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0" name="TextBox 22"/>
          <p:cNvSpPr/>
          <p:nvPr/>
        </p:nvSpPr>
        <p:spPr>
          <a:xfrm>
            <a:off x="850320" y="187776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Mensagem central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Box 23"/>
          <p:cNvSpPr/>
          <p:nvPr/>
        </p:nvSpPr>
        <p:spPr>
          <a:xfrm>
            <a:off x="850320" y="22345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DevOps não é uma ferramenta.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É integração entre cultura, processo, automação e medição.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objetivo é reduzir tempo de ciclo sem perder qualidade e segurança.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Rounded Rectangle 24"/>
          <p:cNvSpPr/>
          <p:nvPr/>
        </p:nvSpPr>
        <p:spPr>
          <a:xfrm>
            <a:off x="4389120" y="17499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3" name="Rectangle 25"/>
          <p:cNvSpPr/>
          <p:nvPr/>
        </p:nvSpPr>
        <p:spPr>
          <a:xfrm>
            <a:off x="4389120" y="17499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4" name="TextBox 26"/>
          <p:cNvSpPr/>
          <p:nvPr/>
        </p:nvSpPr>
        <p:spPr>
          <a:xfrm>
            <a:off x="4553640" y="187776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Modelos úteis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27"/>
          <p:cNvSpPr/>
          <p:nvPr/>
        </p:nvSpPr>
        <p:spPr>
          <a:xfrm>
            <a:off x="4553640" y="22345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CALMS: cultura, automação, lean, medição e compartilhamento.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Fluxo de valor: do pedido ao software em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Feedback rápido: erro descoberto cedo é mais barato.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ounded Rectangle 28"/>
          <p:cNvSpPr/>
          <p:nvPr/>
        </p:nvSpPr>
        <p:spPr>
          <a:xfrm>
            <a:off x="8092440" y="17499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Rectangle 29"/>
          <p:cNvSpPr/>
          <p:nvPr/>
        </p:nvSpPr>
        <p:spPr>
          <a:xfrm>
            <a:off x="8092440" y="1749960"/>
            <a:ext cx="71280" cy="20739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TextBox 30"/>
          <p:cNvSpPr/>
          <p:nvPr/>
        </p:nvSpPr>
        <p:spPr>
          <a:xfrm>
            <a:off x="8256960" y="187776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Métricas para citar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31"/>
          <p:cNvSpPr/>
          <p:nvPr/>
        </p:nvSpPr>
        <p:spPr>
          <a:xfrm>
            <a:off x="8256960" y="22345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Lead time for changes.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Deployment frequency.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Change failure rate.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Mean time to restore.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Use como linguagem de decisão, não como decoração.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0" name="Picture 32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481" name="TextBox 33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Box 34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As 4 Métricas DORA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Como medir a saúde da entrega de software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86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487" name="Rounded Rectangle 5"/>
          <p:cNvSpPr/>
          <p:nvPr/>
        </p:nvSpPr>
        <p:spPr>
          <a:xfrm>
            <a:off x="685800" y="1508760"/>
            <a:ext cx="5279040" cy="136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Rectangle 6"/>
          <p:cNvSpPr/>
          <p:nvPr/>
        </p:nvSpPr>
        <p:spPr>
          <a:xfrm>
            <a:off x="685800" y="1508760"/>
            <a:ext cx="71280" cy="13608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9" name="TextBox 7"/>
          <p:cNvSpPr/>
          <p:nvPr/>
        </p:nvSpPr>
        <p:spPr>
          <a:xfrm>
            <a:off x="850320" y="163692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Deployment Frequency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8"/>
          <p:cNvSpPr/>
          <p:nvPr/>
        </p:nvSpPr>
        <p:spPr>
          <a:xfrm>
            <a:off x="850320" y="1993320"/>
            <a:ext cx="4986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 que frequência o time entrega em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Referência de elite: sob demanda, múltiplas vezes ao dia.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ounded Rectangle 9"/>
          <p:cNvSpPr/>
          <p:nvPr/>
        </p:nvSpPr>
        <p:spPr>
          <a:xfrm>
            <a:off x="6240960" y="1508760"/>
            <a:ext cx="5279040" cy="136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Rectangle 10"/>
          <p:cNvSpPr/>
          <p:nvPr/>
        </p:nvSpPr>
        <p:spPr>
          <a:xfrm>
            <a:off x="6240960" y="1508760"/>
            <a:ext cx="71280" cy="13608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TextBox 11"/>
          <p:cNvSpPr/>
          <p:nvPr/>
        </p:nvSpPr>
        <p:spPr>
          <a:xfrm>
            <a:off x="6405480" y="163692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Lead Time for Changes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12"/>
          <p:cNvSpPr/>
          <p:nvPr/>
        </p:nvSpPr>
        <p:spPr>
          <a:xfrm>
            <a:off x="6405480" y="1993320"/>
            <a:ext cx="4986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Tempo do commit até rodar em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Referência de elite: menos de uma hora.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13"/>
          <p:cNvSpPr/>
          <p:nvPr/>
        </p:nvSpPr>
        <p:spPr>
          <a:xfrm>
            <a:off x="685800" y="3035880"/>
            <a:ext cx="52790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Rectangle 14"/>
          <p:cNvSpPr/>
          <p:nvPr/>
        </p:nvSpPr>
        <p:spPr>
          <a:xfrm>
            <a:off x="685800" y="3035880"/>
            <a:ext cx="71280" cy="1186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TextBox 15"/>
          <p:cNvSpPr/>
          <p:nvPr/>
        </p:nvSpPr>
        <p:spPr>
          <a:xfrm>
            <a:off x="850320" y="316368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Change Failure Rate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16"/>
          <p:cNvSpPr/>
          <p:nvPr/>
        </p:nvSpPr>
        <p:spPr>
          <a:xfrm>
            <a:off x="850320" y="3520440"/>
            <a:ext cx="4986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Percentual de mudanças que causam falha em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Referência de elite: entre 0% e 15%.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Rounded Rectangle 17"/>
          <p:cNvSpPr/>
          <p:nvPr/>
        </p:nvSpPr>
        <p:spPr>
          <a:xfrm>
            <a:off x="6240960" y="3035880"/>
            <a:ext cx="52790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Rectangle 18"/>
          <p:cNvSpPr/>
          <p:nvPr/>
        </p:nvSpPr>
        <p:spPr>
          <a:xfrm>
            <a:off x="6240960" y="3035880"/>
            <a:ext cx="71280" cy="118692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1" name="TextBox 19"/>
          <p:cNvSpPr/>
          <p:nvPr/>
        </p:nvSpPr>
        <p:spPr>
          <a:xfrm>
            <a:off x="6405480" y="316368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Time to Restore (MTTR)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Box 20"/>
          <p:cNvSpPr/>
          <p:nvPr/>
        </p:nvSpPr>
        <p:spPr>
          <a:xfrm>
            <a:off x="6405480" y="3520440"/>
            <a:ext cx="4986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Tempo para recuperar de uma falha em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Referência de elite: menos de uma hora.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3" name="Picture 21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504" name="TextBox 22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23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DORA na Prática: Benchmarks Reais de Mercado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Números públicos e verificáveis, não estimativa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0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510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2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Amazon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Deploy a cada 11,7 segundos em média (~50 milhões de deploys/ano).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Dado popularizado por Gene Kim, autor de "The DevOps Handbook" — bibliografia oficial da disciplina.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5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6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Etsy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Saiu de 2 deploys por semana para mais de 50 deploys por dia após automatizar o pipeline.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Um dos casos mais citados de transformação DevOps na literatura.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9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0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iFood e Netflix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iFood: 1.500+ engenheiros, ~10 mil repositórios, deploy canário automatizado (Canary 2.0).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Netflix: milhares de deploys por dia.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2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523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19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Por Que o DevOps Surgiu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Origem e contexto do movimento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28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529" name="Rounded Rectangle 5"/>
          <p:cNvSpPr/>
          <p:nvPr/>
        </p:nvSpPr>
        <p:spPr>
          <a:xfrm>
            <a:off x="68580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0" name="Rectangle 6"/>
          <p:cNvSpPr/>
          <p:nvPr/>
        </p:nvSpPr>
        <p:spPr>
          <a:xfrm>
            <a:off x="685800" y="1508760"/>
            <a:ext cx="71280" cy="23115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1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muro da confusão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8"/>
          <p:cNvSpPr/>
          <p:nvPr/>
        </p:nvSpPr>
        <p:spPr>
          <a:xfrm>
            <a:off x="850320" y="199332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Dev quer lançar rápido; Ops quer estabilidade — metas em conflito.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Cada lado media sucesso de um jeito diferente e se culpava pelos problemas.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Passagem de bastão sem responsabilidade compartilhada gerava atrito.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Rounded Rectangle 9"/>
          <p:cNvSpPr/>
          <p:nvPr/>
        </p:nvSpPr>
        <p:spPr>
          <a:xfrm>
            <a:off x="438912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4" name="Rectangle 10"/>
          <p:cNvSpPr/>
          <p:nvPr/>
        </p:nvSpPr>
        <p:spPr>
          <a:xfrm>
            <a:off x="4389120" y="1508760"/>
            <a:ext cx="71280" cy="23115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5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Raízes do movimento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Agile (2001): entrega iterativa e feedback frequente.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Lean: eliminar desperdício, otimizar o fluxo de valor.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Gestão de operações: disciplina de mudança e confiabilidade.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Rounded Rectangle 13"/>
          <p:cNvSpPr/>
          <p:nvPr/>
        </p:nvSpPr>
        <p:spPr>
          <a:xfrm>
            <a:off x="809244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8" name="Rectangle 14"/>
          <p:cNvSpPr/>
          <p:nvPr/>
        </p:nvSpPr>
        <p:spPr>
          <a:xfrm>
            <a:off x="8092440" y="1508760"/>
            <a:ext cx="71280" cy="23115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9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Mudança de mentalidade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 “jogar por cima do muro” para “you build it, you run it”.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Responsabilidade compartilhada do código até a operação em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1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542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20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O Ciclo DevOps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Um loop contínuo de feedback, não uma linha reta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47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548" name="Donut 5"/>
          <p:cNvSpPr/>
          <p:nvPr/>
        </p:nvSpPr>
        <p:spPr>
          <a:xfrm>
            <a:off x="4276080" y="1883520"/>
            <a:ext cx="3637440" cy="3637440"/>
          </a:xfrm>
          <a:prstGeom prst="donut">
            <a:avLst>
              <a:gd name="adj" fmla="val 2500"/>
            </a:avLst>
          </a:prstGeom>
          <a:solidFill>
            <a:srgbClr val="dae0e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9" name="TextBox 6"/>
          <p:cNvSpPr/>
          <p:nvPr/>
        </p:nvSpPr>
        <p:spPr>
          <a:xfrm>
            <a:off x="4907160" y="3566160"/>
            <a:ext cx="2375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e6c7a"/>
                </a:solidFill>
                <a:latin typeface="Aptos"/>
              </a:rPr>
              <a:t>ciclo contínuo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ounded Rectangle 7"/>
          <p:cNvSpPr/>
          <p:nvPr/>
        </p:nvSpPr>
        <p:spPr>
          <a:xfrm>
            <a:off x="5387040" y="1664280"/>
            <a:ext cx="1415520" cy="510120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Plan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Rounded Rectangle 8"/>
          <p:cNvSpPr/>
          <p:nvPr/>
        </p:nvSpPr>
        <p:spPr>
          <a:xfrm>
            <a:off x="6648120" y="2186640"/>
            <a:ext cx="1415520" cy="510120"/>
          </a:xfrm>
          <a:prstGeom prst="roundRect">
            <a:avLst>
              <a:gd name="adj" fmla="val 16667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Code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Rounded Rectangle 9"/>
          <p:cNvSpPr/>
          <p:nvPr/>
        </p:nvSpPr>
        <p:spPr>
          <a:xfrm>
            <a:off x="7170120" y="3447360"/>
            <a:ext cx="1415520" cy="510120"/>
          </a:xfrm>
          <a:prstGeom prst="roundRect">
            <a:avLst>
              <a:gd name="adj" fmla="val 16667"/>
            </a:avLst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Build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Rounded Rectangle 10"/>
          <p:cNvSpPr/>
          <p:nvPr/>
        </p:nvSpPr>
        <p:spPr>
          <a:xfrm>
            <a:off x="6648120" y="4708080"/>
            <a:ext cx="1415520" cy="510120"/>
          </a:xfrm>
          <a:prstGeom prst="roundRect">
            <a:avLst>
              <a:gd name="adj" fmla="val 16667"/>
            </a:avLst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Test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Rounded Rectangle 11"/>
          <p:cNvSpPr/>
          <p:nvPr/>
        </p:nvSpPr>
        <p:spPr>
          <a:xfrm>
            <a:off x="5387040" y="5230440"/>
            <a:ext cx="1415520" cy="5101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Release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Rounded Rectangle 12"/>
          <p:cNvSpPr/>
          <p:nvPr/>
        </p:nvSpPr>
        <p:spPr>
          <a:xfrm>
            <a:off x="4126320" y="4708080"/>
            <a:ext cx="1415520" cy="510120"/>
          </a:xfrm>
          <a:prstGeom prst="roundRect">
            <a:avLst>
              <a:gd name="adj" fmla="val 16667"/>
            </a:avLst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Deploy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Rounded Rectangle 13"/>
          <p:cNvSpPr/>
          <p:nvPr/>
        </p:nvSpPr>
        <p:spPr>
          <a:xfrm>
            <a:off x="3603960" y="3447360"/>
            <a:ext cx="1415520" cy="510120"/>
          </a:xfrm>
          <a:prstGeom prst="roundRect">
            <a:avLst>
              <a:gd name="adj" fmla="val 16667"/>
            </a:avLst>
          </a:prstGeom>
          <a:solidFill>
            <a:srgbClr val="55647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Operate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Rounded Rectangle 14"/>
          <p:cNvSpPr/>
          <p:nvPr/>
        </p:nvSpPr>
        <p:spPr>
          <a:xfrm>
            <a:off x="4126320" y="2186640"/>
            <a:ext cx="1415520" cy="510120"/>
          </a:xfrm>
          <a:prstGeom prst="roundRect">
            <a:avLst>
              <a:gd name="adj" fmla="val 16667"/>
            </a:avLst>
          </a:prstGeom>
          <a:solidFill>
            <a:srgbClr val="248c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Monitor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Box 15"/>
          <p:cNvSpPr/>
          <p:nvPr/>
        </p:nvSpPr>
        <p:spPr>
          <a:xfrm>
            <a:off x="1463040" y="5806440"/>
            <a:ext cx="92336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50" spc="-1" strike="noStrike">
                <a:solidFill>
                  <a:srgbClr val="0f172a"/>
                </a:solidFill>
                <a:latin typeface="Aptos"/>
              </a:rPr>
              <a:t>Monitor alimenta o próximo Plan: feedback rápido é o que fecha o loop e sustenta a melhoria contínua.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9" name="Picture 16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560" name="TextBox 17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Box 18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O Ciclo DevOps: Cada Etapa em Detalhe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Um loop contínuo, não uma linha reta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65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566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7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8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Loop de desenvolvimento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Box 8"/>
          <p:cNvSpPr/>
          <p:nvPr/>
        </p:nvSpPr>
        <p:spPr>
          <a:xfrm>
            <a:off x="85032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Plan: entender o problema e definir critérios de aceite.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Code: implementar em mudanças pequenas e revisáveis.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Build: compilar, empacotar e testar automaticamente.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1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2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Loop de operação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Release: preparar e aprovar uma versão para entrega.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Deploy: colocar a versão no ambiente de destino.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Operate/Monitor: manter saudável e observar o comportamento real.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5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6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ponto de conexão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Monitor alimenta o próximo Plan — é um ciclo, não uma linha.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Feedback rápido é o que fecha o loop e sustenta a melhoria contínua.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8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579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Sinais de que um Time Precisa de DevOps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Para provocar debate: quais desses sintomas vocês já viveram?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84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585" name="Rounded Rectangle 5"/>
          <p:cNvSpPr/>
          <p:nvPr/>
        </p:nvSpPr>
        <p:spPr>
          <a:xfrm>
            <a:off x="68580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6" name="Rectangle 6"/>
          <p:cNvSpPr/>
          <p:nvPr/>
        </p:nvSpPr>
        <p:spPr>
          <a:xfrm>
            <a:off x="685800" y="1508760"/>
            <a:ext cx="71280" cy="231156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7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Sintomas comuns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Box 8"/>
          <p:cNvSpPr/>
          <p:nvPr/>
        </p:nvSpPr>
        <p:spPr>
          <a:xfrm>
            <a:off x="850320" y="199332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Deploys manuais, longos e concentrados em uma pessoa.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Medo de lançar em sexta-feira.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“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Funciona na minha máquina”, mas não em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Falta de rastreabilidade: ninguém sabe o que mudou entre versões.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Rounded Rectangle 9"/>
          <p:cNvSpPr/>
          <p:nvPr/>
        </p:nvSpPr>
        <p:spPr>
          <a:xfrm>
            <a:off x="438912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0" name="Rectangle 10"/>
          <p:cNvSpPr/>
          <p:nvPr/>
        </p:nvSpPr>
        <p:spPr>
          <a:xfrm>
            <a:off x="4389120" y="1508760"/>
            <a:ext cx="71280" cy="23115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1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Custos escondidos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Tempo perdido coordenando quem pode mudar o quê e quando.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Bugs descobertos tarde custam muito mais para corrigir.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Burnout de quem sempre “segura” a produção sozinho.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Rounded Rectangle 13"/>
          <p:cNvSpPr/>
          <p:nvPr/>
        </p:nvSpPr>
        <p:spPr>
          <a:xfrm>
            <a:off x="809244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4" name="Rectangle 14"/>
          <p:cNvSpPr/>
          <p:nvPr/>
        </p:nvSpPr>
        <p:spPr>
          <a:xfrm>
            <a:off x="8092440" y="1508760"/>
            <a:ext cx="71280" cy="23115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5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 para discussão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Quais desses sintomas vocês já viveram — como dev, como usuário ou como cliente?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mudaria se a responsabilidade fosse compartilhada desde o início?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7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598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23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IA no SDLC: Onde Ajuda e Onde Exige Cautela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Ganhos reais e riscos reais, lado a lado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03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604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5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6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Ganhos reais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Box 8"/>
          <p:cNvSpPr/>
          <p:nvPr/>
        </p:nvSpPr>
        <p:spPr>
          <a:xfrm>
            <a:off x="85032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Reduz tempo em tarefas repetitivas: boilerplate, testes, documentação.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Acelera entendimento de código legado e análise de logs.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Ajuda a levantar hipóteses e alternativas técnicas rapidamente.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9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0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Riscos reais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Alucinação de comandos, APIs ou flags que não existem.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Dependência intelectual: aceitar sem entender o que foi gerado.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Vazamento de dado sensível quando colado sem cuidado no prompt.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3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4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Regra prática da disciplina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Toda saída de IA é hipótese até ser validada por teste, execução ou revisão humana.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Quem usa precisa conseguir explicar e defender o resultado.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6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617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24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Atividade 1 - Diagnóstico DevOps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Como fazer, em 3 passos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2" name="Rounded Rectangle 4"/>
          <p:cNvSpPr/>
          <p:nvPr/>
        </p:nvSpPr>
        <p:spPr>
          <a:xfrm>
            <a:off x="731520" y="141732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3" name="Rectangle 5"/>
          <p:cNvSpPr/>
          <p:nvPr/>
        </p:nvSpPr>
        <p:spPr>
          <a:xfrm>
            <a:off x="731520" y="1417320"/>
            <a:ext cx="71280" cy="19641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4" name="TextBox 6"/>
          <p:cNvSpPr/>
          <p:nvPr/>
        </p:nvSpPr>
        <p:spPr>
          <a:xfrm>
            <a:off x="8960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Passo 1 — Mapear o fluxo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Box 7"/>
          <p:cNvSpPr/>
          <p:nvPr/>
        </p:nvSpPr>
        <p:spPr>
          <a:xfrm>
            <a:off x="896040" y="192024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Escolha uma demanda simples e real (do dia a dia do grupo ou de um sistema que vocês conhecem).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Liste as etapas até a entrega, marcando esperas, retrabalho e aprovações manuais.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Rounded Rectangle 8"/>
          <p:cNvSpPr/>
          <p:nvPr/>
        </p:nvSpPr>
        <p:spPr>
          <a:xfrm>
            <a:off x="4389120" y="141732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7" name="Rectangle 9"/>
          <p:cNvSpPr/>
          <p:nvPr/>
        </p:nvSpPr>
        <p:spPr>
          <a:xfrm>
            <a:off x="4389120" y="1417320"/>
            <a:ext cx="71280" cy="19641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8" name="TextBox 10"/>
          <p:cNvSpPr/>
          <p:nvPr/>
        </p:nvSpPr>
        <p:spPr>
          <a:xfrm>
            <a:off x="45536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Passo 2 — Classificar gargalos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Box 11"/>
          <p:cNvSpPr/>
          <p:nvPr/>
        </p:nvSpPr>
        <p:spPr>
          <a:xfrm>
            <a:off x="4553640" y="192024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Para cada gargalo encontrado, classifique em cultura, processo ou ferramenta/dado.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Seja específico: "sistema lento" não é gargalo; "deploy manual sem revisão" é.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Rounded Rectangle 12"/>
          <p:cNvSpPr/>
          <p:nvPr/>
        </p:nvSpPr>
        <p:spPr>
          <a:xfrm>
            <a:off x="8046720" y="141732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1" name="Rectangle 13"/>
          <p:cNvSpPr/>
          <p:nvPr/>
        </p:nvSpPr>
        <p:spPr>
          <a:xfrm>
            <a:off x="8046720" y="1417320"/>
            <a:ext cx="71280" cy="19641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2" name="TextBox 14"/>
          <p:cNvSpPr/>
          <p:nvPr/>
        </p:nvSpPr>
        <p:spPr>
          <a:xfrm>
            <a:off x="82112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Passo 3 — Priorizar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Box 15"/>
          <p:cNvSpPr/>
          <p:nvPr/>
        </p:nvSpPr>
        <p:spPr>
          <a:xfrm>
            <a:off x="8211240" y="192024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Escolha 3 gargalos e registre impacto, esforço, risco e evidência para cada um.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Escolha 1 melhoria final, indicando onde a IA ajuda e onde pode aumentar o risco.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Rounded Rectangle 16"/>
          <p:cNvSpPr/>
          <p:nvPr/>
        </p:nvSpPr>
        <p:spPr>
          <a:xfrm>
            <a:off x="731520" y="3886200"/>
            <a:ext cx="10742400" cy="123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5" name="Rectangle 17"/>
          <p:cNvSpPr/>
          <p:nvPr/>
        </p:nvSpPr>
        <p:spPr>
          <a:xfrm>
            <a:off x="731520" y="3886200"/>
            <a:ext cx="71280" cy="123264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6" name="TextBox 18"/>
          <p:cNvSpPr/>
          <p:nvPr/>
        </p:nvSpPr>
        <p:spPr>
          <a:xfrm>
            <a:off x="896040" y="4014360"/>
            <a:ext cx="104497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Antes de começar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Box 19"/>
          <p:cNvSpPr/>
          <p:nvPr/>
        </p:nvSpPr>
        <p:spPr>
          <a:xfrm>
            <a:off x="896040" y="4389120"/>
            <a:ext cx="10449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Grupos de 4 a 5 integrantes, já formados no início do encontro.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Box 20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Box 21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25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0" name="Picture 22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641" name="Picture 23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Atividade 1 - Diagnóstico DevOps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Perguntas guia, evidências e entrega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5" name="Rounded Rectangle 4"/>
          <p:cNvSpPr/>
          <p:nvPr/>
        </p:nvSpPr>
        <p:spPr>
          <a:xfrm>
            <a:off x="731520" y="141732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6" name="Rectangle 5"/>
          <p:cNvSpPr/>
          <p:nvPr/>
        </p:nvSpPr>
        <p:spPr>
          <a:xfrm>
            <a:off x="731520" y="1417320"/>
            <a:ext cx="71280" cy="19641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7" name="TextBox 6"/>
          <p:cNvSpPr/>
          <p:nvPr/>
        </p:nvSpPr>
        <p:spPr>
          <a:xfrm>
            <a:off x="8960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Perguntas guia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Box 7"/>
          <p:cNvSpPr/>
          <p:nvPr/>
        </p:nvSpPr>
        <p:spPr>
          <a:xfrm>
            <a:off x="896040" y="192024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Onde há espera manual?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Onde falta feedback?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 falha só aparece tarde?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Quem é dono da operação?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Onde IA reduz esforço sem ocultar risco?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Rounded Rectangle 8"/>
          <p:cNvSpPr/>
          <p:nvPr/>
        </p:nvSpPr>
        <p:spPr>
          <a:xfrm>
            <a:off x="4389120" y="141732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0" name="Rectangle 9"/>
          <p:cNvSpPr/>
          <p:nvPr/>
        </p:nvSpPr>
        <p:spPr>
          <a:xfrm>
            <a:off x="4389120" y="1417320"/>
            <a:ext cx="71280" cy="19641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1" name="TextBox 10"/>
          <p:cNvSpPr/>
          <p:nvPr/>
        </p:nvSpPr>
        <p:spPr>
          <a:xfrm>
            <a:off x="45536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Evidências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Box 11"/>
          <p:cNvSpPr/>
          <p:nvPr/>
        </p:nvSpPr>
        <p:spPr>
          <a:xfrm>
            <a:off x="4553640" y="192024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Mapa simples do fluxo atual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Lista de gargalos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Risco por gargalo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Oportunidade de IA e validação necessária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Métrica que mostraria melhoria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Rounded Rectangle 12"/>
          <p:cNvSpPr/>
          <p:nvPr/>
        </p:nvSpPr>
        <p:spPr>
          <a:xfrm>
            <a:off x="8046720" y="1417320"/>
            <a:ext cx="3427200" cy="196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4" name="Rectangle 13"/>
          <p:cNvSpPr/>
          <p:nvPr/>
        </p:nvSpPr>
        <p:spPr>
          <a:xfrm>
            <a:off x="8046720" y="1417320"/>
            <a:ext cx="71280" cy="19641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5" name="TextBox 14"/>
          <p:cNvSpPr/>
          <p:nvPr/>
        </p:nvSpPr>
        <p:spPr>
          <a:xfrm>
            <a:off x="82112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Box 15"/>
          <p:cNvSpPr/>
          <p:nvPr/>
        </p:nvSpPr>
        <p:spPr>
          <a:xfrm>
            <a:off x="8211240" y="192024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1 página por grupo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Priorizar 3 melhorias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Classificar em cultura, processo, ferramenta, dado ou 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Rounded Rectangle 16"/>
          <p:cNvSpPr/>
          <p:nvPr/>
        </p:nvSpPr>
        <p:spPr>
          <a:xfrm>
            <a:off x="731520" y="3886200"/>
            <a:ext cx="10742400" cy="123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8" name="Rectangle 17"/>
          <p:cNvSpPr/>
          <p:nvPr/>
        </p:nvSpPr>
        <p:spPr>
          <a:xfrm>
            <a:off x="731520" y="3886200"/>
            <a:ext cx="71280" cy="123264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9" name="TextBox 18"/>
          <p:cNvSpPr/>
          <p:nvPr/>
        </p:nvSpPr>
        <p:spPr>
          <a:xfrm>
            <a:off x="896040" y="4014360"/>
            <a:ext cx="104497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Conexão com avaliação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Box 19"/>
          <p:cNvSpPr/>
          <p:nvPr/>
        </p:nvSpPr>
        <p:spPr>
          <a:xfrm>
            <a:off x="896040" y="4389120"/>
            <a:ext cx="10449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Esse diagnóstico vira insumo para a proposta de implantação/evolução DevOps do projeto final.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Box 20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Box 21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3" name="Picture 22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664" name="Picture 23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Prompts Úteis - Diagnóstico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Sem dados sensíveis no conteúdo do prompt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68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pic>
        <p:nvPicPr>
          <p:cNvPr id="669" name="Picture 5" descr="ic_prompt.png"/>
          <p:cNvPicPr/>
          <p:nvPr/>
        </p:nvPicPr>
        <p:blipFill>
          <a:blip r:embed="rId2"/>
          <a:stretch/>
        </p:blipFill>
        <p:spPr>
          <a:xfrm>
            <a:off x="10817280" y="694800"/>
            <a:ext cx="400680" cy="400680"/>
          </a:xfrm>
          <a:prstGeom prst="rect">
            <a:avLst/>
          </a:prstGeom>
          <a:ln w="0">
            <a:noFill/>
          </a:ln>
        </p:spPr>
      </p:pic>
      <p:sp>
        <p:nvSpPr>
          <p:cNvPr id="670" name="Rounded Rectangle 6"/>
          <p:cNvSpPr/>
          <p:nvPr/>
        </p:nvSpPr>
        <p:spPr>
          <a:xfrm>
            <a:off x="685800" y="1508760"/>
            <a:ext cx="3427200" cy="1955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1" name="Rectangle 7"/>
          <p:cNvSpPr/>
          <p:nvPr/>
        </p:nvSpPr>
        <p:spPr>
          <a:xfrm>
            <a:off x="685800" y="1508760"/>
            <a:ext cx="71280" cy="19551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2" name="TextBox 8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Mapear fluxo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Box 9"/>
          <p:cNvSpPr/>
          <p:nvPr/>
        </p:nvSpPr>
        <p:spPr>
          <a:xfrm>
            <a:off x="850320" y="1993320"/>
            <a:ext cx="31345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Atue como consultor DevOps. Com base no fluxo abaixo, identifique gargalos, riscos e pontos de automação.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Fluxo: &lt;descrever sem dados sensíveis&gt;.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Responda em tabela: etapa, gargalo, impacto, evidência, melhoria.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Rounded Rectangle 10"/>
          <p:cNvSpPr/>
          <p:nvPr/>
        </p:nvSpPr>
        <p:spPr>
          <a:xfrm>
            <a:off x="4389120" y="1508760"/>
            <a:ext cx="3427200" cy="1955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5" name="Rectangle 11"/>
          <p:cNvSpPr/>
          <p:nvPr/>
        </p:nvSpPr>
        <p:spPr>
          <a:xfrm>
            <a:off x="4389120" y="1508760"/>
            <a:ext cx="71280" cy="19551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6" name="TextBox 12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Criticar melhoria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Box 13"/>
          <p:cNvSpPr/>
          <p:nvPr/>
        </p:nvSpPr>
        <p:spPr>
          <a:xfrm>
            <a:off x="4553640" y="1993320"/>
            <a:ext cx="31345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Avalie esta proposta de melhoria DevOps. Aponte premissas frágeis, riscos operacionais e como medir se funcionou.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Proposta: &lt;texto&gt;.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Rounded Rectangle 14"/>
          <p:cNvSpPr/>
          <p:nvPr/>
        </p:nvSpPr>
        <p:spPr>
          <a:xfrm>
            <a:off x="8092440" y="1508760"/>
            <a:ext cx="3427200" cy="1955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9" name="Rectangle 15"/>
          <p:cNvSpPr/>
          <p:nvPr/>
        </p:nvSpPr>
        <p:spPr>
          <a:xfrm>
            <a:off x="8092440" y="1508760"/>
            <a:ext cx="71280" cy="19551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0" name="TextBox 16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Definir métrica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Box 17"/>
          <p:cNvSpPr/>
          <p:nvPr/>
        </p:nvSpPr>
        <p:spPr>
          <a:xfrm>
            <a:off x="8256960" y="1993320"/>
            <a:ext cx="31345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Para o gargalo abaixo, sugira uma métrica simples, como coletar a evidência e qual decisão essa métrica apoiaria.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Gargalo: &lt;texto&gt;.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2" name="Picture 18" descr="Logo Unifor.png"/>
          <p:cNvPicPr/>
          <p:nvPr/>
        </p:nvPicPr>
        <p:blipFill>
          <a:blip r:embed="rId3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683" name="TextBox 19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Box 20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Depois do Encontro 1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que levar pronto para o Encontro 2: Git e colaboração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88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689" name="Rounded Rectangle 5"/>
          <p:cNvSpPr/>
          <p:nvPr/>
        </p:nvSpPr>
        <p:spPr>
          <a:xfrm>
            <a:off x="685800" y="1508760"/>
            <a:ext cx="10833840" cy="136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0" name="Rectangle 6"/>
          <p:cNvSpPr/>
          <p:nvPr/>
        </p:nvSpPr>
        <p:spPr>
          <a:xfrm>
            <a:off x="685800" y="1508760"/>
            <a:ext cx="71280" cy="13608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1" name="TextBox 7"/>
          <p:cNvSpPr/>
          <p:nvPr/>
        </p:nvSpPr>
        <p:spPr>
          <a:xfrm>
            <a:off x="850320" y="163692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Tarefa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Box 8"/>
          <p:cNvSpPr/>
          <p:nvPr/>
        </p:nvSpPr>
        <p:spPr>
          <a:xfrm>
            <a:off x="850320" y="1993320"/>
            <a:ext cx="1054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Refinar a proposta de melhoria escolhida.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Escolher a aplicação e a stack do grupo.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Levar ao próximo encontro: nome, stack e escopo mínimo para criar o código-base.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3" name="Picture 9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694" name="TextBox 1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Box 1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28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TextBox 1"/>
          <p:cNvSpPr/>
          <p:nvPr/>
        </p:nvSpPr>
        <p:spPr>
          <a:xfrm>
            <a:off x="777240" y="2286000"/>
            <a:ext cx="10605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Encontro 2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Box 2"/>
          <p:cNvSpPr/>
          <p:nvPr/>
        </p:nvSpPr>
        <p:spPr>
          <a:xfrm>
            <a:off x="1920240" y="3090600"/>
            <a:ext cx="83192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de7f0"/>
                </a:solidFill>
                <a:latin typeface="Aptos"/>
              </a:rPr>
              <a:t>11/09/2026 | Git, colaboração, qualidade e IA assistida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Box 3"/>
          <p:cNvSpPr/>
          <p:nvPr/>
        </p:nvSpPr>
        <p:spPr>
          <a:xfrm>
            <a:off x="5532120" y="6263640"/>
            <a:ext cx="1186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de7f0"/>
                </a:solidFill>
                <a:latin typeface="Aptos"/>
              </a:rPr>
              <a:t>29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9" name="Picture 4" descr="e2_git.png"/>
          <p:cNvPicPr/>
          <p:nvPr/>
        </p:nvPicPr>
        <p:blipFill>
          <a:blip r:embed="rId1"/>
          <a:stretch/>
        </p:blipFill>
        <p:spPr>
          <a:xfrm>
            <a:off x="5615640" y="914400"/>
            <a:ext cx="958320" cy="958320"/>
          </a:xfrm>
          <a:prstGeom prst="rect">
            <a:avLst/>
          </a:prstGeom>
          <a:ln w="0">
            <a:noFill/>
          </a:ln>
        </p:spPr>
      </p:pic>
      <p:pic>
        <p:nvPicPr>
          <p:cNvPr id="700" name="Picture 5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Encontro 2 — Git, Colaboração, Qualidade e IA Assistida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11/09/2026 • Do trabalho individual à mudança revisada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04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705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706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30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9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Entender → comparar exemplos → discutir → iniciar o projeto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Rounded Rectangle 12"/>
          <p:cNvSpPr/>
          <p:nvPr/>
        </p:nvSpPr>
        <p:spPr>
          <a:xfrm>
            <a:off x="77724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1" name="TextBox 13"/>
          <p:cNvSpPr/>
          <p:nvPr/>
        </p:nvSpPr>
        <p:spPr>
          <a:xfrm>
            <a:off x="85032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Modelo Git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Box 14"/>
          <p:cNvSpPr/>
          <p:nvPr/>
        </p:nvSpPr>
        <p:spPr>
          <a:xfrm>
            <a:off x="321876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Rounded Rectangle 15"/>
          <p:cNvSpPr/>
          <p:nvPr/>
        </p:nvSpPr>
        <p:spPr>
          <a:xfrm>
            <a:off x="351144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4" name="TextBox 16"/>
          <p:cNvSpPr/>
          <p:nvPr/>
        </p:nvSpPr>
        <p:spPr>
          <a:xfrm>
            <a:off x="358452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Histórico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Box 17"/>
          <p:cNvSpPr/>
          <p:nvPr/>
        </p:nvSpPr>
        <p:spPr>
          <a:xfrm>
            <a:off x="595260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Rounded Rectangle 18"/>
          <p:cNvSpPr/>
          <p:nvPr/>
        </p:nvSpPr>
        <p:spPr>
          <a:xfrm>
            <a:off x="624528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7" name="TextBox 19"/>
          <p:cNvSpPr/>
          <p:nvPr/>
        </p:nvSpPr>
        <p:spPr>
          <a:xfrm>
            <a:off x="631836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Colaboração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Box 20"/>
          <p:cNvSpPr/>
          <p:nvPr/>
        </p:nvSpPr>
        <p:spPr>
          <a:xfrm>
            <a:off x="868680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Rounded Rectangle 21"/>
          <p:cNvSpPr/>
          <p:nvPr/>
        </p:nvSpPr>
        <p:spPr>
          <a:xfrm>
            <a:off x="897948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0" name="TextBox 22"/>
          <p:cNvSpPr/>
          <p:nvPr/>
        </p:nvSpPr>
        <p:spPr>
          <a:xfrm>
            <a:off x="905256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Qualidade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Box 23"/>
          <p:cNvSpPr/>
          <p:nvPr/>
        </p:nvSpPr>
        <p:spPr>
          <a:xfrm>
            <a:off x="914400" y="3337560"/>
            <a:ext cx="10149480" cy="7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500" spc="-1" strike="noStrike">
                <a:solidFill>
                  <a:srgbClr val="132b42"/>
                </a:solidFill>
                <a:latin typeface="Aptos"/>
              </a:rPr>
              <a:t>Objetivo: transformar código individual em um fluxo colaborativo, rastreável e revisável, com Pull Requests e assistência crítica de IA.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Git x GitHub: Não São a Mesma Coisa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Ferramenta de versionamento e plataforma de colaboração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25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726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727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31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0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Git controla versões. GitHub organiza a colaboração em torno do repositório.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Rounded Rectangle 12"/>
          <p:cNvSpPr/>
          <p:nvPr/>
        </p:nvSpPr>
        <p:spPr>
          <a:xfrm>
            <a:off x="68580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2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3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Git • no computador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Box 15"/>
          <p:cNvSpPr/>
          <p:nvPr/>
        </p:nvSpPr>
        <p:spPr>
          <a:xfrm>
            <a:off x="84132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Histórico distribuído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Commits, branches e merges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Funciona sem GitHub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Rounded Rectangle 16"/>
          <p:cNvSpPr/>
          <p:nvPr/>
        </p:nvSpPr>
        <p:spPr>
          <a:xfrm>
            <a:off x="621792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6" name="Rectangle 17"/>
          <p:cNvSpPr/>
          <p:nvPr/>
        </p:nvSpPr>
        <p:spPr>
          <a:xfrm>
            <a:off x="621792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7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GitHub • remoto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Box 19"/>
          <p:cNvSpPr/>
          <p:nvPr/>
        </p:nvSpPr>
        <p:spPr>
          <a:xfrm>
            <a:off x="637344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Hospeda repositórios Git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PRs, Issues, Actions e Releases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Acesso e colaboração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O Fluxo Local do Git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Três áreas locais; a publicação é uma etapa separada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42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743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744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7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git add e git commit não enviam alterações ao GitHub.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Rounded Rectangle 12"/>
          <p:cNvSpPr/>
          <p:nvPr/>
        </p:nvSpPr>
        <p:spPr>
          <a:xfrm>
            <a:off x="77724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9" name="TextBox 13"/>
          <p:cNvSpPr/>
          <p:nvPr/>
        </p:nvSpPr>
        <p:spPr>
          <a:xfrm>
            <a:off x="850320" y="2139840"/>
            <a:ext cx="225828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Arquivos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Working directory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Box 14"/>
          <p:cNvSpPr/>
          <p:nvPr/>
        </p:nvSpPr>
        <p:spPr>
          <a:xfrm>
            <a:off x="321876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Rounded Rectangle 15"/>
          <p:cNvSpPr/>
          <p:nvPr/>
        </p:nvSpPr>
        <p:spPr>
          <a:xfrm>
            <a:off x="351144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2" name="TextBox 16"/>
          <p:cNvSpPr/>
          <p:nvPr/>
        </p:nvSpPr>
        <p:spPr>
          <a:xfrm>
            <a:off x="3584520" y="2139840"/>
            <a:ext cx="225828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Seleção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Staging area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Box 17"/>
          <p:cNvSpPr/>
          <p:nvPr/>
        </p:nvSpPr>
        <p:spPr>
          <a:xfrm>
            <a:off x="595260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Rounded Rectangle 18"/>
          <p:cNvSpPr/>
          <p:nvPr/>
        </p:nvSpPr>
        <p:spPr>
          <a:xfrm>
            <a:off x="624528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5" name="TextBox 19"/>
          <p:cNvSpPr/>
          <p:nvPr/>
        </p:nvSpPr>
        <p:spPr>
          <a:xfrm>
            <a:off x="6318360" y="2139840"/>
            <a:ext cx="225828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Commits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Repositório local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Box 20"/>
          <p:cNvSpPr/>
          <p:nvPr/>
        </p:nvSpPr>
        <p:spPr>
          <a:xfrm>
            <a:off x="868680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Rounded Rectangle 21"/>
          <p:cNvSpPr/>
          <p:nvPr/>
        </p:nvSpPr>
        <p:spPr>
          <a:xfrm>
            <a:off x="897948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8" name="TextBox 22"/>
          <p:cNvSpPr/>
          <p:nvPr/>
        </p:nvSpPr>
        <p:spPr>
          <a:xfrm>
            <a:off x="9052560" y="2139840"/>
            <a:ext cx="225828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Compartilhado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Remoto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Box 23"/>
          <p:cNvSpPr/>
          <p:nvPr/>
        </p:nvSpPr>
        <p:spPr>
          <a:xfrm>
            <a:off x="2737440" y="2929320"/>
            <a:ext cx="734256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800" spc="-1" strike="noStrike">
                <a:solidFill>
                  <a:srgbClr val="2a67a8"/>
                </a:solidFill>
                <a:latin typeface="Aptos"/>
              </a:rPr>
              <a:t>  </a:t>
            </a:r>
            <a:r>
              <a:rPr b="1" lang="pt-BR" sz="1800" spc="-1" strike="noStrike">
                <a:solidFill>
                  <a:srgbClr val="2a67a8"/>
                </a:solidFill>
                <a:latin typeface="Aptos"/>
              </a:rPr>
              <a:t>git add                              git commit                          git push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Box 24"/>
          <p:cNvSpPr/>
          <p:nvPr/>
        </p:nvSpPr>
        <p:spPr>
          <a:xfrm>
            <a:off x="914400" y="3840480"/>
            <a:ext cx="1005804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400" spc="-1" strike="noStrike">
                <a:solidFill>
                  <a:srgbClr val="132b42"/>
                </a:solidFill>
                <a:latin typeface="Aptos"/>
              </a:rPr>
              <a:t>Edite arquivos → selecione o que entra na próxima versão → registre o commit → publique os commits.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Do Arquivo Alterado ao Commit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Inspecione antes de registrar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64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765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766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33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9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Um commit deve expressar uma mudança coerente.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Rounded Rectangle 12"/>
          <p:cNvSpPr/>
          <p:nvPr/>
        </p:nvSpPr>
        <p:spPr>
          <a:xfrm>
            <a:off x="685800" y="1600200"/>
            <a:ext cx="5303160" cy="219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1" name="Rectangle 13"/>
          <p:cNvSpPr/>
          <p:nvPr/>
        </p:nvSpPr>
        <p:spPr>
          <a:xfrm>
            <a:off x="685800" y="1600200"/>
            <a:ext cx="54360" cy="2194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2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Antes do staging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Box 15"/>
          <p:cNvSpPr/>
          <p:nvPr/>
        </p:nvSpPr>
        <p:spPr>
          <a:xfrm>
            <a:off x="841320" y="2359080"/>
            <a:ext cx="4992120" cy="67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status: estado dos arquivos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diff: alterações fora do staging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Rounded Rectangle 16"/>
          <p:cNvSpPr/>
          <p:nvPr/>
        </p:nvSpPr>
        <p:spPr>
          <a:xfrm>
            <a:off x="6217920" y="1600200"/>
            <a:ext cx="5303160" cy="219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5" name="Rectangle 17"/>
          <p:cNvSpPr/>
          <p:nvPr/>
        </p:nvSpPr>
        <p:spPr>
          <a:xfrm>
            <a:off x="6217920" y="1600200"/>
            <a:ext cx="54360" cy="219420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6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Antes do commit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Box 19"/>
          <p:cNvSpPr/>
          <p:nvPr/>
        </p:nvSpPr>
        <p:spPr>
          <a:xfrm>
            <a:off x="6373440" y="2359080"/>
            <a:ext cx="4992120" cy="9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diff --staged: revisão do staging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add: seleciona conteúdo, não move o arquivo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Rounded Rectangle 20"/>
          <p:cNvSpPr/>
          <p:nvPr/>
        </p:nvSpPr>
        <p:spPr>
          <a:xfrm>
            <a:off x="822960" y="3977640"/>
            <a:ext cx="10515240" cy="155412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9" name="TextBox 21"/>
          <p:cNvSpPr/>
          <p:nvPr/>
        </p:nvSpPr>
        <p:spPr>
          <a:xfrm>
            <a:off x="987480" y="4087440"/>
            <a:ext cx="1018620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status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diff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add README.md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commit -m "docs: adiciona instruções"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Git Local x Git Remoto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Branches locais e referências de acompanhamento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83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784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785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34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8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origin é um apelido configurável para um remoto.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Rounded Rectangle 12"/>
          <p:cNvSpPr/>
          <p:nvPr/>
        </p:nvSpPr>
        <p:spPr>
          <a:xfrm>
            <a:off x="777240" y="1965960"/>
            <a:ext cx="331596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0" name="TextBox 13"/>
          <p:cNvSpPr/>
          <p:nvPr/>
        </p:nvSpPr>
        <p:spPr>
          <a:xfrm>
            <a:off x="850320" y="2139840"/>
            <a:ext cx="316944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Computador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main / feature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Box 14"/>
          <p:cNvSpPr/>
          <p:nvPr/>
        </p:nvSpPr>
        <p:spPr>
          <a:xfrm>
            <a:off x="412992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Rounded Rectangle 15"/>
          <p:cNvSpPr/>
          <p:nvPr/>
        </p:nvSpPr>
        <p:spPr>
          <a:xfrm>
            <a:off x="4422600" y="1965960"/>
            <a:ext cx="331596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3" name="TextBox 16"/>
          <p:cNvSpPr/>
          <p:nvPr/>
        </p:nvSpPr>
        <p:spPr>
          <a:xfrm>
            <a:off x="4495680" y="2139840"/>
            <a:ext cx="316944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push →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← </a:t>
            </a: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fetch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TextBox 17"/>
          <p:cNvSpPr/>
          <p:nvPr/>
        </p:nvSpPr>
        <p:spPr>
          <a:xfrm>
            <a:off x="7775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Rounded Rectangle 18"/>
          <p:cNvSpPr/>
          <p:nvPr/>
        </p:nvSpPr>
        <p:spPr>
          <a:xfrm>
            <a:off x="8067960" y="1965960"/>
            <a:ext cx="331596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6" name="TextBox 19"/>
          <p:cNvSpPr/>
          <p:nvPr/>
        </p:nvSpPr>
        <p:spPr>
          <a:xfrm>
            <a:off x="8141040" y="2139840"/>
            <a:ext cx="316944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GitHub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main / feature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Rounded Rectangle 20"/>
          <p:cNvSpPr/>
          <p:nvPr/>
        </p:nvSpPr>
        <p:spPr>
          <a:xfrm>
            <a:off x="822960" y="3520440"/>
            <a:ext cx="10515240" cy="191988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8" name="TextBox 21"/>
          <p:cNvSpPr/>
          <p:nvPr/>
        </p:nvSpPr>
        <p:spPr>
          <a:xfrm>
            <a:off x="987480" y="3630240"/>
            <a:ext cx="1018620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remote -v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branch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branch -r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branch -a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O Que é origin/main?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O último estado conhecido do remoto está guardado localmente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02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803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804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35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7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origin/main é uma referência local; não é uma consulta ao GitHub em tempo real.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Rounded Rectangle 12"/>
          <p:cNvSpPr/>
          <p:nvPr/>
        </p:nvSpPr>
        <p:spPr>
          <a:xfrm>
            <a:off x="685800" y="1600200"/>
            <a:ext cx="5303160" cy="338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9" name="Rectangle 13"/>
          <p:cNvSpPr/>
          <p:nvPr/>
        </p:nvSpPr>
        <p:spPr>
          <a:xfrm>
            <a:off x="685800" y="1600200"/>
            <a:ext cx="54360" cy="338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0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No computador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extBox 15"/>
          <p:cNvSpPr/>
          <p:nvPr/>
        </p:nvSpPr>
        <p:spPr>
          <a:xfrm>
            <a:off x="841320" y="2359080"/>
            <a:ext cx="499212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main → seu trabalho local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origin/main → estado conhecido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Ambas podem apontar para commits diferentes.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Rounded Rectangle 16"/>
          <p:cNvSpPr/>
          <p:nvPr/>
        </p:nvSpPr>
        <p:spPr>
          <a:xfrm>
            <a:off x="6217920" y="1600200"/>
            <a:ext cx="5303160" cy="338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3" name="Rectangle 17"/>
          <p:cNvSpPr/>
          <p:nvPr/>
        </p:nvSpPr>
        <p:spPr>
          <a:xfrm>
            <a:off x="6217920" y="1600200"/>
            <a:ext cx="54360" cy="338292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4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No GitHub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Box 19"/>
          <p:cNvSpPr/>
          <p:nvPr/>
        </p:nvSpPr>
        <p:spPr>
          <a:xfrm>
            <a:off x="637344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main → branch do servidor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Pode avançar enquanto você está offline.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fetch atualiza a referência local.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Fetch, Pull e Push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Três ações, três efeitos diferentes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19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820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821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4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Antes de integrar, saiba qual branch está selecionada.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6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7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fetch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extBox 15"/>
          <p:cNvSpPr/>
          <p:nvPr/>
        </p:nvSpPr>
        <p:spPr>
          <a:xfrm>
            <a:off x="841320" y="2359080"/>
            <a:ext cx="3148200" cy="9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Busca commits e atualiza referências remotas locais.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“</a:t>
            </a: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Veja o que mudou.”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0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1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pull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TextBox 19"/>
          <p:cNvSpPr/>
          <p:nvPr/>
        </p:nvSpPr>
        <p:spPr>
          <a:xfrm>
            <a:off x="4529160" y="2359080"/>
            <a:ext cx="3148200" cy="9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Busca e integra na branch atual.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“</a:t>
            </a: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Traga e integre comigo.”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4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5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push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Box 23"/>
          <p:cNvSpPr/>
          <p:nvPr/>
        </p:nvSpPr>
        <p:spPr>
          <a:xfrm>
            <a:off x="8217360" y="2359080"/>
            <a:ext cx="3148200" cy="12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Envia commits e tenta atualizar referências no remoto.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“</a:t>
            </a: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Publique o que fiz.”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O Que o git fetch Faz?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Remoto avançou até C; sua main continua em B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40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841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842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37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5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fetch atualiza origin/main sem mover automaticamente a main.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6" name="Connector 12"/>
          <p:cNvCxnSpPr/>
          <p:nvPr/>
        </p:nvCxnSpPr>
        <p:spPr>
          <a:xfrm>
            <a:off x="1371600" y="2286000"/>
            <a:ext cx="146340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847" name="Connector 13"/>
          <p:cNvCxnSpPr/>
          <p:nvPr/>
        </p:nvCxnSpPr>
        <p:spPr>
          <a:xfrm>
            <a:off x="2834640" y="2286000"/>
            <a:ext cx="146340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848" name="Oval 14"/>
          <p:cNvSpPr/>
          <p:nvPr/>
        </p:nvSpPr>
        <p:spPr>
          <a:xfrm>
            <a:off x="122544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9" name="TextBox 15"/>
          <p:cNvSpPr/>
          <p:nvPr/>
        </p:nvSpPr>
        <p:spPr>
          <a:xfrm>
            <a:off x="105156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Oval 16"/>
          <p:cNvSpPr/>
          <p:nvPr/>
        </p:nvSpPr>
        <p:spPr>
          <a:xfrm>
            <a:off x="268848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1" name="TextBox 17"/>
          <p:cNvSpPr/>
          <p:nvPr/>
        </p:nvSpPr>
        <p:spPr>
          <a:xfrm>
            <a:off x="251460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Oval 18"/>
          <p:cNvSpPr/>
          <p:nvPr/>
        </p:nvSpPr>
        <p:spPr>
          <a:xfrm>
            <a:off x="415152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3" name="TextBox 19"/>
          <p:cNvSpPr/>
          <p:nvPr/>
        </p:nvSpPr>
        <p:spPr>
          <a:xfrm>
            <a:off x="397764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TextBox 20"/>
          <p:cNvSpPr/>
          <p:nvPr/>
        </p:nvSpPr>
        <p:spPr>
          <a:xfrm>
            <a:off x="2468880" y="164592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TextBox 21"/>
          <p:cNvSpPr/>
          <p:nvPr/>
        </p:nvSpPr>
        <p:spPr>
          <a:xfrm>
            <a:off x="4023360" y="278892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origin/main após fetch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Box 22"/>
          <p:cNvSpPr/>
          <p:nvPr/>
        </p:nvSpPr>
        <p:spPr>
          <a:xfrm>
            <a:off x="6400800" y="1828800"/>
            <a:ext cx="457164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100" spc="-1" strike="noStrike">
                <a:solidFill>
                  <a:srgbClr val="0f172a"/>
                </a:solidFill>
                <a:latin typeface="Aptos"/>
              </a:rPr>
              <a:t>Antes: main e origin/main em B.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100" spc="-1" strike="noStrike">
                <a:solidFill>
                  <a:srgbClr val="0f172a"/>
                </a:solidFill>
                <a:latin typeface="Aptos"/>
              </a:rPr>
              <a:t>No servidor: main já está em C.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Rounded Rectangle 23"/>
          <p:cNvSpPr/>
          <p:nvPr/>
        </p:nvSpPr>
        <p:spPr>
          <a:xfrm>
            <a:off x="822960" y="4160520"/>
            <a:ext cx="10515240" cy="132552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8" name="TextBox 24"/>
          <p:cNvSpPr/>
          <p:nvPr/>
        </p:nvSpPr>
        <p:spPr>
          <a:xfrm>
            <a:off x="987480" y="4270320"/>
            <a:ext cx="1018620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fetch origin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log main..origin/main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diff main origin/main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O Que o git pull Faz?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Busca + integração; neste exemplo, avanço fast-forward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62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863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864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38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7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--ff-only recusa a atualização se os históricos divergiram.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8" name="Connector 12"/>
          <p:cNvCxnSpPr/>
          <p:nvPr/>
        </p:nvCxnSpPr>
        <p:spPr>
          <a:xfrm>
            <a:off x="1463040" y="2377440"/>
            <a:ext cx="219492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869" name="Connector 13"/>
          <p:cNvCxnSpPr/>
          <p:nvPr/>
        </p:nvCxnSpPr>
        <p:spPr>
          <a:xfrm>
            <a:off x="3657600" y="2377440"/>
            <a:ext cx="219492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870" name="Oval 14"/>
          <p:cNvSpPr/>
          <p:nvPr/>
        </p:nvSpPr>
        <p:spPr>
          <a:xfrm>
            <a:off x="1316880" y="223128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1" name="TextBox 15"/>
          <p:cNvSpPr/>
          <p:nvPr/>
        </p:nvSpPr>
        <p:spPr>
          <a:xfrm>
            <a:off x="1143000" y="257868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Oval 16"/>
          <p:cNvSpPr/>
          <p:nvPr/>
        </p:nvSpPr>
        <p:spPr>
          <a:xfrm>
            <a:off x="3511440" y="223128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3" name="TextBox 17"/>
          <p:cNvSpPr/>
          <p:nvPr/>
        </p:nvSpPr>
        <p:spPr>
          <a:xfrm>
            <a:off x="3337560" y="257868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Oval 18"/>
          <p:cNvSpPr/>
          <p:nvPr/>
        </p:nvSpPr>
        <p:spPr>
          <a:xfrm>
            <a:off x="5706000" y="223128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5" name="TextBox 19"/>
          <p:cNvSpPr/>
          <p:nvPr/>
        </p:nvSpPr>
        <p:spPr>
          <a:xfrm>
            <a:off x="5532120" y="257868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Box 20"/>
          <p:cNvSpPr/>
          <p:nvPr/>
        </p:nvSpPr>
        <p:spPr>
          <a:xfrm>
            <a:off x="3200400" y="169164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 antes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TextBox 21"/>
          <p:cNvSpPr/>
          <p:nvPr/>
        </p:nvSpPr>
        <p:spPr>
          <a:xfrm>
            <a:off x="4114800" y="3337560"/>
            <a:ext cx="37486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 e origin/main depois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Rounded Rectangle 22"/>
          <p:cNvSpPr/>
          <p:nvPr/>
        </p:nvSpPr>
        <p:spPr>
          <a:xfrm>
            <a:off x="822960" y="4206240"/>
            <a:ext cx="10515240" cy="109692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9" name="TextBox 23"/>
          <p:cNvSpPr/>
          <p:nvPr/>
        </p:nvSpPr>
        <p:spPr>
          <a:xfrm>
            <a:off x="987480" y="4316040"/>
            <a:ext cx="101862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switch 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pull --ff-only origin 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TextBox 24"/>
          <p:cNvSpPr/>
          <p:nvPr/>
        </p:nvSpPr>
        <p:spPr>
          <a:xfrm>
            <a:off x="7680960" y="1828800"/>
            <a:ext cx="329148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100" spc="-1" strike="noStrike">
                <a:solidFill>
                  <a:srgbClr val="0f172a"/>
                </a:solidFill>
                <a:latin typeface="Aptos"/>
              </a:rPr>
              <a:t>pull pode integrar por merge ou rebase, conforme opções e configuração.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O Que é uma Branch?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Uma referência móvel para um commit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84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885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886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39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9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Criar uma branch não duplica todos os arquivos do projeto.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0" name="Connector 12"/>
          <p:cNvCxnSpPr/>
          <p:nvPr/>
        </p:nvCxnSpPr>
        <p:spPr>
          <a:xfrm>
            <a:off x="1463040" y="2286000"/>
            <a:ext cx="164628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891" name="Connector 13"/>
          <p:cNvCxnSpPr/>
          <p:nvPr/>
        </p:nvCxnSpPr>
        <p:spPr>
          <a:xfrm>
            <a:off x="3108960" y="2286000"/>
            <a:ext cx="164628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892" name="Connector 14"/>
          <p:cNvCxnSpPr/>
          <p:nvPr/>
        </p:nvCxnSpPr>
        <p:spPr>
          <a:xfrm>
            <a:off x="4754880" y="2286000"/>
            <a:ext cx="2012040" cy="100620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893" name="Oval 15"/>
          <p:cNvSpPr/>
          <p:nvPr/>
        </p:nvSpPr>
        <p:spPr>
          <a:xfrm>
            <a:off x="131688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4" name="TextBox 16"/>
          <p:cNvSpPr/>
          <p:nvPr/>
        </p:nvSpPr>
        <p:spPr>
          <a:xfrm>
            <a:off x="114300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Oval 17"/>
          <p:cNvSpPr/>
          <p:nvPr/>
        </p:nvSpPr>
        <p:spPr>
          <a:xfrm>
            <a:off x="296280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6" name="TextBox 18"/>
          <p:cNvSpPr/>
          <p:nvPr/>
        </p:nvSpPr>
        <p:spPr>
          <a:xfrm>
            <a:off x="278892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Oval 19"/>
          <p:cNvSpPr/>
          <p:nvPr/>
        </p:nvSpPr>
        <p:spPr>
          <a:xfrm>
            <a:off x="460872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8" name="TextBox 20"/>
          <p:cNvSpPr/>
          <p:nvPr/>
        </p:nvSpPr>
        <p:spPr>
          <a:xfrm>
            <a:off x="443484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Oval 21"/>
          <p:cNvSpPr/>
          <p:nvPr/>
        </p:nvSpPr>
        <p:spPr>
          <a:xfrm>
            <a:off x="6620400" y="314568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0" name="TextBox 22"/>
          <p:cNvSpPr/>
          <p:nvPr/>
        </p:nvSpPr>
        <p:spPr>
          <a:xfrm>
            <a:off x="6446520" y="349308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TextBox 23"/>
          <p:cNvSpPr/>
          <p:nvPr/>
        </p:nvSpPr>
        <p:spPr>
          <a:xfrm>
            <a:off x="4389120" y="164592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TextBox 24"/>
          <p:cNvSpPr/>
          <p:nvPr/>
        </p:nvSpPr>
        <p:spPr>
          <a:xfrm>
            <a:off x="6400800" y="370332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feature/login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TextBox 25"/>
          <p:cNvSpPr/>
          <p:nvPr/>
        </p:nvSpPr>
        <p:spPr>
          <a:xfrm>
            <a:off x="8503920" y="1828800"/>
            <a:ext cx="2651400" cy="9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0f172a"/>
                </a:solidFill>
                <a:latin typeface="Aptos"/>
              </a:rPr>
              <a:t>Ao criar: ambas em C.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0f172a"/>
                </a:solidFill>
                <a:latin typeface="Aptos"/>
              </a:rPr>
              <a:t>Após commitar: só a feature avança.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Rounded Rectangle 26"/>
          <p:cNvSpPr/>
          <p:nvPr/>
        </p:nvSpPr>
        <p:spPr>
          <a:xfrm>
            <a:off x="822960" y="4663440"/>
            <a:ext cx="10515240" cy="68544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5" name="TextBox 27"/>
          <p:cNvSpPr/>
          <p:nvPr/>
        </p:nvSpPr>
        <p:spPr>
          <a:xfrm>
            <a:off x="987480" y="4773240"/>
            <a:ext cx="101862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switch -c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O Que é HEAD?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Em uma branch, HEAD é o ponteiro que mostra onde estamos no Git neste momento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09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910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911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40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4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O asterisco em git branch identifica a branch selecionada.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Rounded Rectangle 12"/>
          <p:cNvSpPr/>
          <p:nvPr/>
        </p:nvSpPr>
        <p:spPr>
          <a:xfrm>
            <a:off x="777240" y="1965960"/>
            <a:ext cx="331596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6" name="TextBox 13"/>
          <p:cNvSpPr/>
          <p:nvPr/>
        </p:nvSpPr>
        <p:spPr>
          <a:xfrm>
            <a:off x="850320" y="2139840"/>
            <a:ext cx="3169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HEAD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Box 14"/>
          <p:cNvSpPr/>
          <p:nvPr/>
        </p:nvSpPr>
        <p:spPr>
          <a:xfrm>
            <a:off x="412992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Rounded Rectangle 15"/>
          <p:cNvSpPr/>
          <p:nvPr/>
        </p:nvSpPr>
        <p:spPr>
          <a:xfrm>
            <a:off x="4422600" y="1965960"/>
            <a:ext cx="331596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9" name="TextBox 16"/>
          <p:cNvSpPr/>
          <p:nvPr/>
        </p:nvSpPr>
        <p:spPr>
          <a:xfrm>
            <a:off x="4495680" y="2139840"/>
            <a:ext cx="3169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feature/login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TextBox 17"/>
          <p:cNvSpPr/>
          <p:nvPr/>
        </p:nvSpPr>
        <p:spPr>
          <a:xfrm>
            <a:off x="7775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Rounded Rectangle 18"/>
          <p:cNvSpPr/>
          <p:nvPr/>
        </p:nvSpPr>
        <p:spPr>
          <a:xfrm>
            <a:off x="8067960" y="1965960"/>
            <a:ext cx="331596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2" name="TextBox 19"/>
          <p:cNvSpPr/>
          <p:nvPr/>
        </p:nvSpPr>
        <p:spPr>
          <a:xfrm>
            <a:off x="8141040" y="2139840"/>
            <a:ext cx="3169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Commit 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Rounded Rectangle 20"/>
          <p:cNvSpPr/>
          <p:nvPr/>
        </p:nvSpPr>
        <p:spPr>
          <a:xfrm>
            <a:off x="822960" y="3383280"/>
            <a:ext cx="10515240" cy="132552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4" name="TextBox 21"/>
          <p:cNvSpPr/>
          <p:nvPr/>
        </p:nvSpPr>
        <p:spPr>
          <a:xfrm>
            <a:off x="987480" y="3493080"/>
            <a:ext cx="1018620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branch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*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  </a:t>
            </a: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Box 22"/>
          <p:cNvSpPr/>
          <p:nvPr/>
        </p:nvSpPr>
        <p:spPr>
          <a:xfrm>
            <a:off x="914400" y="4983480"/>
            <a:ext cx="100580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700" spc="-1" strike="noStrike">
                <a:solidFill>
                  <a:srgbClr val="5e6c7a"/>
                </a:solidFill>
                <a:latin typeface="Aptos"/>
              </a:rPr>
              <a:t>Exceção: em detached HEAD, HEAD aponta diretamente para um commit.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Como Enxergar o Histórico do Git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Leia o hash, a intenção e as referências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29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930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931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41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4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O grafo mostra relações entre commits; os rótulos indicam referências.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Rounded Rectangle 12"/>
          <p:cNvSpPr/>
          <p:nvPr/>
        </p:nvSpPr>
        <p:spPr>
          <a:xfrm>
            <a:off x="822960" y="1645920"/>
            <a:ext cx="10515240" cy="146268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6" name="TextBox 13"/>
          <p:cNvSpPr/>
          <p:nvPr/>
        </p:nvSpPr>
        <p:spPr>
          <a:xfrm>
            <a:off x="987480" y="1755720"/>
            <a:ext cx="1018620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log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log --oneline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log --oneline --graph --decorate --all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Rounded Rectangle 14"/>
          <p:cNvSpPr/>
          <p:nvPr/>
        </p:nvSpPr>
        <p:spPr>
          <a:xfrm>
            <a:off x="822960" y="3383280"/>
            <a:ext cx="10515240" cy="146268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8" name="TextBox 15"/>
          <p:cNvSpPr/>
          <p:nvPr/>
        </p:nvSpPr>
        <p:spPr>
          <a:xfrm>
            <a:off x="987480" y="3493080"/>
            <a:ext cx="1018620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* 92ab341 (HEAD -&gt; feature/login) feat: adiciona 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* 73eab21 docs: atualiza README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* c82d110 (origin/main, main) chore: projeto inicial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Merge: Duas Situações Diferentes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O formato do histórico define como as linhas podem ser integradas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42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943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944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7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Pergunta-chave: a main está no mesmo caminho de commits da feature, sem ter avançado separadamente ?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Rounded Rectangle 12"/>
          <p:cNvSpPr/>
          <p:nvPr/>
        </p:nvSpPr>
        <p:spPr>
          <a:xfrm>
            <a:off x="68580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9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0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Fast-forward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TextBox 15"/>
          <p:cNvSpPr/>
          <p:nvPr/>
        </p:nvSpPr>
        <p:spPr>
          <a:xfrm>
            <a:off x="84132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main não avançou por outro caminho.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Basta mover sua referência até a feature.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Nenhum commit de junção é necessário.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Rounded Rectangle 16"/>
          <p:cNvSpPr/>
          <p:nvPr/>
        </p:nvSpPr>
        <p:spPr>
          <a:xfrm>
            <a:off x="621792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3" name="Rectangle 17"/>
          <p:cNvSpPr/>
          <p:nvPr/>
        </p:nvSpPr>
        <p:spPr>
          <a:xfrm>
            <a:off x="621792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4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Merge de três vias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TextBox 19"/>
          <p:cNvSpPr/>
          <p:nvPr/>
        </p:nvSpPr>
        <p:spPr>
          <a:xfrm>
            <a:off x="6373440" y="2359080"/>
            <a:ext cx="499212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As branches divergiram.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considera a base comum e as duas pontas.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 integração cria um commit com dois pais.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Fast-forward — Antes da Integração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A feature avançou; a main continua em B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59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960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961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43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4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Todos os commits da main já fazem parte do histórico da feature.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5" name="Connector 12"/>
          <p:cNvCxnSpPr/>
          <p:nvPr/>
        </p:nvCxnSpPr>
        <p:spPr>
          <a:xfrm>
            <a:off x="1554480" y="2743200"/>
            <a:ext cx="21945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966" name="Connector 13"/>
          <p:cNvCxnSpPr/>
          <p:nvPr/>
        </p:nvCxnSpPr>
        <p:spPr>
          <a:xfrm>
            <a:off x="3748680" y="2743200"/>
            <a:ext cx="219528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967" name="Connector 14"/>
          <p:cNvCxnSpPr/>
          <p:nvPr/>
        </p:nvCxnSpPr>
        <p:spPr>
          <a:xfrm>
            <a:off x="5943600" y="2743200"/>
            <a:ext cx="219492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968" name="Oval 15"/>
          <p:cNvSpPr/>
          <p:nvPr/>
        </p:nvSpPr>
        <p:spPr>
          <a:xfrm>
            <a:off x="1408320" y="25970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9" name="TextBox 16"/>
          <p:cNvSpPr/>
          <p:nvPr/>
        </p:nvSpPr>
        <p:spPr>
          <a:xfrm>
            <a:off x="1234440" y="29444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Oval 17"/>
          <p:cNvSpPr/>
          <p:nvPr/>
        </p:nvSpPr>
        <p:spPr>
          <a:xfrm>
            <a:off x="3602880" y="25970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1" name="TextBox 18"/>
          <p:cNvSpPr/>
          <p:nvPr/>
        </p:nvSpPr>
        <p:spPr>
          <a:xfrm>
            <a:off x="3429000" y="29444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Oval 19"/>
          <p:cNvSpPr/>
          <p:nvPr/>
        </p:nvSpPr>
        <p:spPr>
          <a:xfrm>
            <a:off x="5797440" y="25970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3" name="TextBox 20"/>
          <p:cNvSpPr/>
          <p:nvPr/>
        </p:nvSpPr>
        <p:spPr>
          <a:xfrm>
            <a:off x="5623560" y="29444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Oval 21"/>
          <p:cNvSpPr/>
          <p:nvPr/>
        </p:nvSpPr>
        <p:spPr>
          <a:xfrm>
            <a:off x="7992000" y="25970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5" name="TextBox 22"/>
          <p:cNvSpPr/>
          <p:nvPr/>
        </p:nvSpPr>
        <p:spPr>
          <a:xfrm>
            <a:off x="7818120" y="29444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TextBox 23"/>
          <p:cNvSpPr/>
          <p:nvPr/>
        </p:nvSpPr>
        <p:spPr>
          <a:xfrm>
            <a:off x="3383280" y="201168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TextBox 24"/>
          <p:cNvSpPr/>
          <p:nvPr/>
        </p:nvSpPr>
        <p:spPr>
          <a:xfrm>
            <a:off x="7498080" y="333756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feature/login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TextBox 25"/>
          <p:cNvSpPr/>
          <p:nvPr/>
        </p:nvSpPr>
        <p:spPr>
          <a:xfrm>
            <a:off x="914400" y="4343400"/>
            <a:ext cx="10058040" cy="7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132b42"/>
                </a:solidFill>
                <a:latin typeface="Aptos"/>
              </a:rPr>
              <a:t>C e D implementam login. Nenhum commit exclusivo foi adicionado à main.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Fast-forward — Depois da Integração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O conteúdo passa a incluir a feature; os commits existentes permanecem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82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983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984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44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7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Fast-forward move a referência da branch. Não cria um commit M.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8" name="Connector 12"/>
          <p:cNvCxnSpPr/>
          <p:nvPr/>
        </p:nvCxnSpPr>
        <p:spPr>
          <a:xfrm>
            <a:off x="1554480" y="2560320"/>
            <a:ext cx="21945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989" name="Connector 13"/>
          <p:cNvCxnSpPr/>
          <p:nvPr/>
        </p:nvCxnSpPr>
        <p:spPr>
          <a:xfrm>
            <a:off x="3748680" y="2560320"/>
            <a:ext cx="219528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990" name="Connector 14"/>
          <p:cNvCxnSpPr/>
          <p:nvPr/>
        </p:nvCxnSpPr>
        <p:spPr>
          <a:xfrm>
            <a:off x="5943600" y="2560320"/>
            <a:ext cx="219492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991" name="Oval 15"/>
          <p:cNvSpPr/>
          <p:nvPr/>
        </p:nvSpPr>
        <p:spPr>
          <a:xfrm>
            <a:off x="1408320" y="24141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2" name="TextBox 16"/>
          <p:cNvSpPr/>
          <p:nvPr/>
        </p:nvSpPr>
        <p:spPr>
          <a:xfrm>
            <a:off x="1234440" y="27615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Oval 17"/>
          <p:cNvSpPr/>
          <p:nvPr/>
        </p:nvSpPr>
        <p:spPr>
          <a:xfrm>
            <a:off x="3602880" y="24141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4" name="TextBox 18"/>
          <p:cNvSpPr/>
          <p:nvPr/>
        </p:nvSpPr>
        <p:spPr>
          <a:xfrm>
            <a:off x="3429000" y="27615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Oval 19"/>
          <p:cNvSpPr/>
          <p:nvPr/>
        </p:nvSpPr>
        <p:spPr>
          <a:xfrm>
            <a:off x="5797440" y="24141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6" name="TextBox 20"/>
          <p:cNvSpPr/>
          <p:nvPr/>
        </p:nvSpPr>
        <p:spPr>
          <a:xfrm>
            <a:off x="5623560" y="27615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Oval 21"/>
          <p:cNvSpPr/>
          <p:nvPr/>
        </p:nvSpPr>
        <p:spPr>
          <a:xfrm>
            <a:off x="7992000" y="24141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8" name="TextBox 22"/>
          <p:cNvSpPr/>
          <p:nvPr/>
        </p:nvSpPr>
        <p:spPr>
          <a:xfrm>
            <a:off x="7818120" y="27615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TextBox 23"/>
          <p:cNvSpPr/>
          <p:nvPr/>
        </p:nvSpPr>
        <p:spPr>
          <a:xfrm>
            <a:off x="6766560" y="320040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 e feature/login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Rounded Rectangle 24"/>
          <p:cNvSpPr/>
          <p:nvPr/>
        </p:nvSpPr>
        <p:spPr>
          <a:xfrm>
            <a:off x="822960" y="4251960"/>
            <a:ext cx="10515240" cy="109692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1" name="TextBox 25"/>
          <p:cNvSpPr/>
          <p:nvPr/>
        </p:nvSpPr>
        <p:spPr>
          <a:xfrm>
            <a:off x="987480" y="4361760"/>
            <a:ext cx="101862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switch 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merge --ff-only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Merge de Três Vias — Histórias Divergentes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A main avançou até C; a feature avançou até 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05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006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007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45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0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As três versões são: base comum B, ponta C e ponta 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1" name="Connector 12"/>
          <p:cNvCxnSpPr/>
          <p:nvPr/>
        </p:nvCxnSpPr>
        <p:spPr>
          <a:xfrm>
            <a:off x="1463040" y="2286000"/>
            <a:ext cx="173772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012" name="Connector 13"/>
          <p:cNvCxnSpPr/>
          <p:nvPr/>
        </p:nvCxnSpPr>
        <p:spPr>
          <a:xfrm>
            <a:off x="3200400" y="2286000"/>
            <a:ext cx="22863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013" name="Connector 14"/>
          <p:cNvCxnSpPr/>
          <p:nvPr/>
        </p:nvCxnSpPr>
        <p:spPr>
          <a:xfrm>
            <a:off x="3200400" y="2286000"/>
            <a:ext cx="1829160" cy="118908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014" name="Connector 15"/>
          <p:cNvCxnSpPr/>
          <p:nvPr/>
        </p:nvCxnSpPr>
        <p:spPr>
          <a:xfrm>
            <a:off x="5029200" y="3474720"/>
            <a:ext cx="22863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1015" name="Oval 16"/>
          <p:cNvSpPr/>
          <p:nvPr/>
        </p:nvSpPr>
        <p:spPr>
          <a:xfrm>
            <a:off x="131688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6" name="TextBox 17"/>
          <p:cNvSpPr/>
          <p:nvPr/>
        </p:nvSpPr>
        <p:spPr>
          <a:xfrm>
            <a:off x="114300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Oval 18"/>
          <p:cNvSpPr/>
          <p:nvPr/>
        </p:nvSpPr>
        <p:spPr>
          <a:xfrm>
            <a:off x="305424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8" name="TextBox 19"/>
          <p:cNvSpPr/>
          <p:nvPr/>
        </p:nvSpPr>
        <p:spPr>
          <a:xfrm>
            <a:off x="288036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Oval 20"/>
          <p:cNvSpPr/>
          <p:nvPr/>
        </p:nvSpPr>
        <p:spPr>
          <a:xfrm>
            <a:off x="534024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0" name="TextBox 21"/>
          <p:cNvSpPr/>
          <p:nvPr/>
        </p:nvSpPr>
        <p:spPr>
          <a:xfrm>
            <a:off x="516636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Oval 22"/>
          <p:cNvSpPr/>
          <p:nvPr/>
        </p:nvSpPr>
        <p:spPr>
          <a:xfrm>
            <a:off x="4883040" y="33285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2" name="TextBox 23"/>
          <p:cNvSpPr/>
          <p:nvPr/>
        </p:nvSpPr>
        <p:spPr>
          <a:xfrm>
            <a:off x="4709160" y="36759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Oval 24"/>
          <p:cNvSpPr/>
          <p:nvPr/>
        </p:nvSpPr>
        <p:spPr>
          <a:xfrm>
            <a:off x="7169040" y="33285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4" name="TextBox 25"/>
          <p:cNvSpPr/>
          <p:nvPr/>
        </p:nvSpPr>
        <p:spPr>
          <a:xfrm>
            <a:off x="6995160" y="36759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TextBox 26"/>
          <p:cNvSpPr/>
          <p:nvPr/>
        </p:nvSpPr>
        <p:spPr>
          <a:xfrm>
            <a:off x="5120640" y="164592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TextBox 27"/>
          <p:cNvSpPr/>
          <p:nvPr/>
        </p:nvSpPr>
        <p:spPr>
          <a:xfrm>
            <a:off x="7040880" y="397764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feature/login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TextBox 28"/>
          <p:cNvSpPr/>
          <p:nvPr/>
        </p:nvSpPr>
        <p:spPr>
          <a:xfrm>
            <a:off x="8595360" y="1920240"/>
            <a:ext cx="2559960" cy="12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0f172a"/>
                </a:solidFill>
                <a:latin typeface="Aptos"/>
              </a:rPr>
              <a:t>B → C: mudança na main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0f172a"/>
                </a:solidFill>
                <a:latin typeface="Aptos"/>
              </a:rPr>
              <a:t>B → E: mudança na feature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Merge de Três Vias — Commit de Junção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Git combina as mudanças relativas à base comum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31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032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033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6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M tem dois pais: C e E. As duas linhas continuam visíveis no histórico.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37" name="Connector 12"/>
          <p:cNvCxnSpPr/>
          <p:nvPr/>
        </p:nvCxnSpPr>
        <p:spPr>
          <a:xfrm>
            <a:off x="1280160" y="2194560"/>
            <a:ext cx="146340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038" name="Connector 13"/>
          <p:cNvCxnSpPr/>
          <p:nvPr/>
        </p:nvCxnSpPr>
        <p:spPr>
          <a:xfrm>
            <a:off x="2743200" y="2194560"/>
            <a:ext cx="18291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039" name="Connector 14"/>
          <p:cNvCxnSpPr/>
          <p:nvPr/>
        </p:nvCxnSpPr>
        <p:spPr>
          <a:xfrm>
            <a:off x="2743200" y="2194560"/>
            <a:ext cx="1463400" cy="109764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040" name="Connector 15"/>
          <p:cNvCxnSpPr/>
          <p:nvPr/>
        </p:nvCxnSpPr>
        <p:spPr>
          <a:xfrm>
            <a:off x="4206240" y="3291840"/>
            <a:ext cx="18291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041" name="Connector 16"/>
          <p:cNvCxnSpPr/>
          <p:nvPr/>
        </p:nvCxnSpPr>
        <p:spPr>
          <a:xfrm>
            <a:off x="4572000" y="2194560"/>
            <a:ext cx="338328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042" name="Connector 17"/>
          <p:cNvCxnSpPr/>
          <p:nvPr/>
        </p:nvCxnSpPr>
        <p:spPr>
          <a:xfrm flipV="1">
            <a:off x="6035040" y="2194560"/>
            <a:ext cx="1920240" cy="109764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1043" name="Oval 18"/>
          <p:cNvSpPr/>
          <p:nvPr/>
        </p:nvSpPr>
        <p:spPr>
          <a:xfrm>
            <a:off x="1134000" y="20484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4" name="TextBox 19"/>
          <p:cNvSpPr/>
          <p:nvPr/>
        </p:nvSpPr>
        <p:spPr>
          <a:xfrm>
            <a:off x="960120" y="23958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Oval 20"/>
          <p:cNvSpPr/>
          <p:nvPr/>
        </p:nvSpPr>
        <p:spPr>
          <a:xfrm>
            <a:off x="2597040" y="20484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6" name="TextBox 21"/>
          <p:cNvSpPr/>
          <p:nvPr/>
        </p:nvSpPr>
        <p:spPr>
          <a:xfrm>
            <a:off x="2423160" y="23958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Oval 22"/>
          <p:cNvSpPr/>
          <p:nvPr/>
        </p:nvSpPr>
        <p:spPr>
          <a:xfrm>
            <a:off x="4425840" y="20484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8" name="TextBox 23"/>
          <p:cNvSpPr/>
          <p:nvPr/>
        </p:nvSpPr>
        <p:spPr>
          <a:xfrm>
            <a:off x="4251960" y="23958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Oval 24"/>
          <p:cNvSpPr/>
          <p:nvPr/>
        </p:nvSpPr>
        <p:spPr>
          <a:xfrm>
            <a:off x="4060080" y="314568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0" name="TextBox 25"/>
          <p:cNvSpPr/>
          <p:nvPr/>
        </p:nvSpPr>
        <p:spPr>
          <a:xfrm>
            <a:off x="3886200" y="349308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Oval 26"/>
          <p:cNvSpPr/>
          <p:nvPr/>
        </p:nvSpPr>
        <p:spPr>
          <a:xfrm>
            <a:off x="5888880" y="314568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2" name="TextBox 27"/>
          <p:cNvSpPr/>
          <p:nvPr/>
        </p:nvSpPr>
        <p:spPr>
          <a:xfrm>
            <a:off x="5715000" y="349308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Oval 28"/>
          <p:cNvSpPr/>
          <p:nvPr/>
        </p:nvSpPr>
        <p:spPr>
          <a:xfrm>
            <a:off x="7809120" y="20484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4" name="TextBox 29"/>
          <p:cNvSpPr/>
          <p:nvPr/>
        </p:nvSpPr>
        <p:spPr>
          <a:xfrm>
            <a:off x="7635240" y="23958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M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TextBox 30"/>
          <p:cNvSpPr/>
          <p:nvPr/>
        </p:nvSpPr>
        <p:spPr>
          <a:xfrm>
            <a:off x="7315200" y="155448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 após merge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Rounded Rectangle 31"/>
          <p:cNvSpPr/>
          <p:nvPr/>
        </p:nvSpPr>
        <p:spPr>
          <a:xfrm>
            <a:off x="822960" y="4389120"/>
            <a:ext cx="10515240" cy="95976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7" name="TextBox 32"/>
          <p:cNvSpPr/>
          <p:nvPr/>
        </p:nvSpPr>
        <p:spPr>
          <a:xfrm>
            <a:off x="987480" y="4498920"/>
            <a:ext cx="101862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switch 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merge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Três Vias Não Significa Conflito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A divergência do histórico e a incompatibilidade de conteúdo são coisas distintas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61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062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063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47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6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Um merge pode ser automático e ainda introduzir um erro de comportamento.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Rounded Rectangle 12"/>
          <p:cNvSpPr/>
          <p:nvPr/>
        </p:nvSpPr>
        <p:spPr>
          <a:xfrm>
            <a:off x="68580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8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9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Integração automática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TextBox 15"/>
          <p:cNvSpPr/>
          <p:nvPr/>
        </p:nvSpPr>
        <p:spPr>
          <a:xfrm>
            <a:off x="84132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 altera uma instrução no README.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 adiciona testes em outro arquivo.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pode combinar sem intervenção.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Rounded Rectangle 16"/>
          <p:cNvSpPr/>
          <p:nvPr/>
        </p:nvSpPr>
        <p:spPr>
          <a:xfrm>
            <a:off x="621792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2" name="Rectangle 17"/>
          <p:cNvSpPr/>
          <p:nvPr/>
        </p:nvSpPr>
        <p:spPr>
          <a:xfrm>
            <a:off x="621792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3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Conflito textual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TextBox 19"/>
          <p:cNvSpPr/>
          <p:nvPr/>
        </p:nvSpPr>
        <p:spPr>
          <a:xfrm>
            <a:off x="637344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 define porta 8080.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 define porta 9090 na mesma linha.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 equipe decide o valor correto.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Fast-forward x Commit de Merge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Compare o efeito no grafo, não apenas o comando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78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079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080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48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3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A escolha também expressa a política de histórico da equipe.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Rounded Rectangle 12"/>
          <p:cNvSpPr/>
          <p:nvPr/>
        </p:nvSpPr>
        <p:spPr>
          <a:xfrm>
            <a:off x="68580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5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6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Fast-forward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TextBox 15"/>
          <p:cNvSpPr/>
          <p:nvPr/>
        </p:nvSpPr>
        <p:spPr>
          <a:xfrm>
            <a:off x="84132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Exige relação de ancestralidade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Não cria commit de junção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Histórico segue a mesma linha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Rounded Rectangle 16"/>
          <p:cNvSpPr/>
          <p:nvPr/>
        </p:nvSpPr>
        <p:spPr>
          <a:xfrm>
            <a:off x="621792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9" name="Rectangle 17"/>
          <p:cNvSpPr/>
          <p:nvPr/>
        </p:nvSpPr>
        <p:spPr>
          <a:xfrm>
            <a:off x="621792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0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Commit de merge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TextBox 19"/>
          <p:cNvSpPr/>
          <p:nvPr/>
        </p:nvSpPr>
        <p:spPr>
          <a:xfrm>
            <a:off x="637344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Registra uma integração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Tem dois pais no caso comum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Mantém as linhas das branches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O Que Mudam --ff-only e --no-ff?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Mesmo cenário: main em B e feature em D, sem divergência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95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096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097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49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0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--no-ff força uma junção quando há algo a integrar; --ff-only recusa divergência.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Rounded Rectangle 12"/>
          <p:cNvSpPr/>
          <p:nvPr/>
        </p:nvSpPr>
        <p:spPr>
          <a:xfrm>
            <a:off x="685800" y="1600200"/>
            <a:ext cx="5303160" cy="2468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2" name="Rectangle 13"/>
          <p:cNvSpPr/>
          <p:nvPr/>
        </p:nvSpPr>
        <p:spPr>
          <a:xfrm>
            <a:off x="685800" y="1600200"/>
            <a:ext cx="54360" cy="2468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3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--ff-only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TextBox 15"/>
          <p:cNvSpPr/>
          <p:nvPr/>
        </p:nvSpPr>
        <p:spPr>
          <a:xfrm>
            <a:off x="841320" y="2359080"/>
            <a:ext cx="499212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 — B — C — 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main avança até D.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Se main tivesse outro caminho, o comando falharia.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Rounded Rectangle 16"/>
          <p:cNvSpPr/>
          <p:nvPr/>
        </p:nvSpPr>
        <p:spPr>
          <a:xfrm>
            <a:off x="6217920" y="1600200"/>
            <a:ext cx="5303160" cy="2468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6" name="Rectangle 17"/>
          <p:cNvSpPr/>
          <p:nvPr/>
        </p:nvSpPr>
        <p:spPr>
          <a:xfrm>
            <a:off x="6217920" y="1600200"/>
            <a:ext cx="54360" cy="246852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7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--no-ff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TextBox 19"/>
          <p:cNvSpPr/>
          <p:nvPr/>
        </p:nvSpPr>
        <p:spPr>
          <a:xfrm>
            <a:off x="6373440" y="2359080"/>
            <a:ext cx="499212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Preserva C e D e cria M.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 registra explicitamente a integração da feature.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Útil para destacar a fronteira da mudança.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Rounded Rectangle 20"/>
          <p:cNvSpPr/>
          <p:nvPr/>
        </p:nvSpPr>
        <p:spPr>
          <a:xfrm>
            <a:off x="822960" y="4434840"/>
            <a:ext cx="10515240" cy="100548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0" name="TextBox 21"/>
          <p:cNvSpPr/>
          <p:nvPr/>
        </p:nvSpPr>
        <p:spPr>
          <a:xfrm>
            <a:off x="987480" y="4544640"/>
            <a:ext cx="101862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merge --ff-only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merge --no-ff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Squash: Uma Mudança, Um Novo Commit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Não confunda condensar mudanças com preservar a junção das branches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14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115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116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50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Rectangle 10"/>
          <p:cNvSpPr/>
          <p:nvPr/>
        </p:nvSpPr>
        <p:spPr>
          <a:xfrm>
            <a:off x="720000" y="5580000"/>
            <a:ext cx="10801080" cy="610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9" name="TextBox 11"/>
          <p:cNvSpPr/>
          <p:nvPr/>
        </p:nvSpPr>
        <p:spPr>
          <a:xfrm>
            <a:off x="822960" y="5656680"/>
            <a:ext cx="1051524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O commit S não tem a ponta da feature como segundo pai. Merge normal: junta as histórias da branch – Squash merge: Junta mudanças mas não conecta as histórias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0" name="Connector 12"/>
          <p:cNvCxnSpPr/>
          <p:nvPr/>
        </p:nvCxnSpPr>
        <p:spPr>
          <a:xfrm>
            <a:off x="1463040" y="2286000"/>
            <a:ext cx="18291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121" name="Connector 13"/>
          <p:cNvCxnSpPr/>
          <p:nvPr/>
        </p:nvCxnSpPr>
        <p:spPr>
          <a:xfrm>
            <a:off x="3291840" y="2286000"/>
            <a:ext cx="384084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122" name="Connector 14"/>
          <p:cNvCxnSpPr/>
          <p:nvPr/>
        </p:nvCxnSpPr>
        <p:spPr>
          <a:xfrm>
            <a:off x="3291840" y="2286000"/>
            <a:ext cx="1463400" cy="118908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123" name="Connector 15"/>
          <p:cNvCxnSpPr/>
          <p:nvPr/>
        </p:nvCxnSpPr>
        <p:spPr>
          <a:xfrm>
            <a:off x="4754880" y="3474720"/>
            <a:ext cx="18291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1124" name="Oval 16"/>
          <p:cNvSpPr/>
          <p:nvPr/>
        </p:nvSpPr>
        <p:spPr>
          <a:xfrm>
            <a:off x="131688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5" name="TextBox 17"/>
          <p:cNvSpPr/>
          <p:nvPr/>
        </p:nvSpPr>
        <p:spPr>
          <a:xfrm>
            <a:off x="114300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Oval 18"/>
          <p:cNvSpPr/>
          <p:nvPr/>
        </p:nvSpPr>
        <p:spPr>
          <a:xfrm>
            <a:off x="314568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7" name="TextBox 19"/>
          <p:cNvSpPr/>
          <p:nvPr/>
        </p:nvSpPr>
        <p:spPr>
          <a:xfrm>
            <a:off x="297180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Oval 20"/>
          <p:cNvSpPr/>
          <p:nvPr/>
        </p:nvSpPr>
        <p:spPr>
          <a:xfrm>
            <a:off x="6986160" y="213984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9" name="TextBox 21"/>
          <p:cNvSpPr/>
          <p:nvPr/>
        </p:nvSpPr>
        <p:spPr>
          <a:xfrm>
            <a:off x="6812280" y="248724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Oval 22"/>
          <p:cNvSpPr/>
          <p:nvPr/>
        </p:nvSpPr>
        <p:spPr>
          <a:xfrm>
            <a:off x="4608720" y="33285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1" name="TextBox 23"/>
          <p:cNvSpPr/>
          <p:nvPr/>
        </p:nvSpPr>
        <p:spPr>
          <a:xfrm>
            <a:off x="4434840" y="36759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Oval 24"/>
          <p:cNvSpPr/>
          <p:nvPr/>
        </p:nvSpPr>
        <p:spPr>
          <a:xfrm>
            <a:off x="6437520" y="33285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3" name="TextBox 25"/>
          <p:cNvSpPr/>
          <p:nvPr/>
        </p:nvSpPr>
        <p:spPr>
          <a:xfrm>
            <a:off x="6263640" y="36759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TextBox 26"/>
          <p:cNvSpPr/>
          <p:nvPr/>
        </p:nvSpPr>
        <p:spPr>
          <a:xfrm>
            <a:off x="6675120" y="164592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main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TextBox 27"/>
          <p:cNvSpPr/>
          <p:nvPr/>
        </p:nvSpPr>
        <p:spPr>
          <a:xfrm>
            <a:off x="6217920" y="3931920"/>
            <a:ext cx="36572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009688"/>
                </a:solidFill>
                <a:latin typeface="Aptos"/>
              </a:rPr>
              <a:t>feature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Rounded Rectangle 28"/>
          <p:cNvSpPr/>
          <p:nvPr/>
        </p:nvSpPr>
        <p:spPr>
          <a:xfrm>
            <a:off x="822960" y="4526280"/>
            <a:ext cx="10515240" cy="95976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7" name="TextBox 29"/>
          <p:cNvSpPr/>
          <p:nvPr/>
        </p:nvSpPr>
        <p:spPr>
          <a:xfrm>
            <a:off x="987480" y="4636080"/>
            <a:ext cx="101862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merge --squash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commit -m "feat: adiciona login"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Qual Histórico Você Espera Ver?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Exemplos para discutir em sala, sem executar comandos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41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142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143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51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6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Identifique ancestralidade, forma do histórico e evidência necessária.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8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9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Cenário 1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TextBox 15"/>
          <p:cNvSpPr/>
          <p:nvPr/>
        </p:nvSpPr>
        <p:spPr>
          <a:xfrm>
            <a:off x="841320" y="2359080"/>
            <a:ext cx="3148200" cy="12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main está em B; feature em D na mesma linha.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Esperado: fast-forward é possível.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2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3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Cenário 2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TextBox 19"/>
          <p:cNvSpPr/>
          <p:nvPr/>
        </p:nvSpPr>
        <p:spPr>
          <a:xfrm>
            <a:off x="4529160" y="2359080"/>
            <a:ext cx="3148200" cy="12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main tem C; feature tem D e E a partir de B.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Esperado: merge de três vias.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6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7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Cenário 3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TextBox 23"/>
          <p:cNvSpPr/>
          <p:nvPr/>
        </p:nvSpPr>
        <p:spPr>
          <a:xfrm>
            <a:off x="8217360" y="2359080"/>
            <a:ext cx="3148200" cy="14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 equipe quer uma única mudança final para vários commits.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Esperado: avaliar squash e rastreabilidade.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Rebase: Mudando a Base da Minha História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Reaplicar commits locais sobre uma base mais recente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62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163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164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7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D e E viram D′ e E′: o conteúdo pode ser equivalente, mas os hashes mudam.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68" name="Connector 12"/>
          <p:cNvCxnSpPr/>
          <p:nvPr/>
        </p:nvCxnSpPr>
        <p:spPr>
          <a:xfrm>
            <a:off x="1280160" y="2103120"/>
            <a:ext cx="146340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169" name="Connector 13"/>
          <p:cNvCxnSpPr/>
          <p:nvPr/>
        </p:nvCxnSpPr>
        <p:spPr>
          <a:xfrm>
            <a:off x="2743200" y="2103120"/>
            <a:ext cx="18291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170" name="Connector 14"/>
          <p:cNvCxnSpPr/>
          <p:nvPr/>
        </p:nvCxnSpPr>
        <p:spPr>
          <a:xfrm>
            <a:off x="2743200" y="2103120"/>
            <a:ext cx="1280520" cy="100620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171" name="Connector 15"/>
          <p:cNvCxnSpPr/>
          <p:nvPr/>
        </p:nvCxnSpPr>
        <p:spPr>
          <a:xfrm>
            <a:off x="4023360" y="3108960"/>
            <a:ext cx="146340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1172" name="Oval 16"/>
          <p:cNvSpPr/>
          <p:nvPr/>
        </p:nvSpPr>
        <p:spPr>
          <a:xfrm>
            <a:off x="1134000" y="19569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3" name="TextBox 17"/>
          <p:cNvSpPr/>
          <p:nvPr/>
        </p:nvSpPr>
        <p:spPr>
          <a:xfrm>
            <a:off x="960120" y="23043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Oval 18"/>
          <p:cNvSpPr/>
          <p:nvPr/>
        </p:nvSpPr>
        <p:spPr>
          <a:xfrm>
            <a:off x="2597040" y="19569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5" name="TextBox 19"/>
          <p:cNvSpPr/>
          <p:nvPr/>
        </p:nvSpPr>
        <p:spPr>
          <a:xfrm>
            <a:off x="2423160" y="23043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B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Oval 20"/>
          <p:cNvSpPr/>
          <p:nvPr/>
        </p:nvSpPr>
        <p:spPr>
          <a:xfrm>
            <a:off x="4425840" y="195696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7" name="TextBox 21"/>
          <p:cNvSpPr/>
          <p:nvPr/>
        </p:nvSpPr>
        <p:spPr>
          <a:xfrm>
            <a:off x="4251960" y="230436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Oval 22"/>
          <p:cNvSpPr/>
          <p:nvPr/>
        </p:nvSpPr>
        <p:spPr>
          <a:xfrm>
            <a:off x="3877200" y="29628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9" name="TextBox 23"/>
          <p:cNvSpPr/>
          <p:nvPr/>
        </p:nvSpPr>
        <p:spPr>
          <a:xfrm>
            <a:off x="3703320" y="33102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Oval 24"/>
          <p:cNvSpPr/>
          <p:nvPr/>
        </p:nvSpPr>
        <p:spPr>
          <a:xfrm>
            <a:off x="5340240" y="29628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1" name="TextBox 25"/>
          <p:cNvSpPr/>
          <p:nvPr/>
        </p:nvSpPr>
        <p:spPr>
          <a:xfrm>
            <a:off x="5166360" y="33102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2" name="Connector 26"/>
          <p:cNvCxnSpPr/>
          <p:nvPr/>
        </p:nvCxnSpPr>
        <p:spPr>
          <a:xfrm>
            <a:off x="7315200" y="2194560"/>
            <a:ext cx="13719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cxnSp>
        <p:nvCxnSpPr>
          <p:cNvPr id="1183" name="Connector 27"/>
          <p:cNvCxnSpPr/>
          <p:nvPr/>
        </p:nvCxnSpPr>
        <p:spPr>
          <a:xfrm>
            <a:off x="8686800" y="2194560"/>
            <a:ext cx="1371960" cy="360"/>
          </a:xfrm>
          <a:prstGeom prst="straightConnector1">
            <a:avLst/>
          </a:prstGeom>
          <a:ln w="31750">
            <a:solidFill>
              <a:srgbClr val="2a67a8"/>
            </a:solidFill>
            <a:round/>
          </a:ln>
        </p:spPr>
      </p:cxnSp>
      <p:sp>
        <p:nvSpPr>
          <p:cNvPr id="1184" name="Oval 28"/>
          <p:cNvSpPr/>
          <p:nvPr/>
        </p:nvSpPr>
        <p:spPr>
          <a:xfrm>
            <a:off x="7169040" y="20484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5" name="TextBox 29"/>
          <p:cNvSpPr/>
          <p:nvPr/>
        </p:nvSpPr>
        <p:spPr>
          <a:xfrm>
            <a:off x="6995160" y="23958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C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Oval 30"/>
          <p:cNvSpPr/>
          <p:nvPr/>
        </p:nvSpPr>
        <p:spPr>
          <a:xfrm>
            <a:off x="8540640" y="20484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7" name="TextBox 31"/>
          <p:cNvSpPr/>
          <p:nvPr/>
        </p:nvSpPr>
        <p:spPr>
          <a:xfrm>
            <a:off x="8366760" y="23958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D′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Oval 32"/>
          <p:cNvSpPr/>
          <p:nvPr/>
        </p:nvSpPr>
        <p:spPr>
          <a:xfrm>
            <a:off x="9912240" y="2048400"/>
            <a:ext cx="292320" cy="292320"/>
          </a:xfrm>
          <a:prstGeom prst="ellipse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9" name="TextBox 33"/>
          <p:cNvSpPr/>
          <p:nvPr/>
        </p:nvSpPr>
        <p:spPr>
          <a:xfrm>
            <a:off x="9738360" y="2395800"/>
            <a:ext cx="685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132b42"/>
                </a:solidFill>
                <a:latin typeface="Aptos"/>
              </a:rPr>
              <a:t>E′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Rounded Rectangle 34"/>
          <p:cNvSpPr/>
          <p:nvPr/>
        </p:nvSpPr>
        <p:spPr>
          <a:xfrm>
            <a:off x="822960" y="4206240"/>
            <a:ext cx="10515240" cy="127980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1" name="TextBox 35"/>
          <p:cNvSpPr/>
          <p:nvPr/>
        </p:nvSpPr>
        <p:spPr>
          <a:xfrm>
            <a:off x="987480" y="4316040"/>
            <a:ext cx="1018620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switch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fetch origin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rebase origin/main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Merge x Rebase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Escolha consciente de como integrar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95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196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197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53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0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Rebase reescreve commits: evite aplicá-lo a histórico compartilhado.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Rounded Rectangle 12"/>
          <p:cNvSpPr/>
          <p:nvPr/>
        </p:nvSpPr>
        <p:spPr>
          <a:xfrm>
            <a:off x="68580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2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3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Merge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TextBox 15"/>
          <p:cNvSpPr/>
          <p:nvPr/>
        </p:nvSpPr>
        <p:spPr>
          <a:xfrm>
            <a:off x="84132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Preserva commits existentes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Pode criar commit de junção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Adequado a branches compartilhadas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Rounded Rectangle 16"/>
          <p:cNvSpPr/>
          <p:nvPr/>
        </p:nvSpPr>
        <p:spPr>
          <a:xfrm>
            <a:off x="621792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6" name="Rectangle 17"/>
          <p:cNvSpPr/>
          <p:nvPr/>
        </p:nvSpPr>
        <p:spPr>
          <a:xfrm>
            <a:off x="621792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7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Rebase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TextBox 19"/>
          <p:cNvSpPr/>
          <p:nvPr/>
        </p:nvSpPr>
        <p:spPr>
          <a:xfrm>
            <a:off x="637344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Reaplica commits em outra base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Produz novos hashes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Exige cuidado com histórico publicado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Quando Duas Pessoas Alteram a Mesma Região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Conflito é uma decisão de integração que precisa de contexto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12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213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214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54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7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Git aponta a incompatibilidade; a equipe decide o comportamento correto.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Rounded Rectangle 12"/>
          <p:cNvSpPr/>
          <p:nvPr/>
        </p:nvSpPr>
        <p:spPr>
          <a:xfrm>
            <a:off x="822960" y="1645920"/>
            <a:ext cx="10515240" cy="191988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9" name="TextBox 13"/>
          <p:cNvSpPr/>
          <p:nvPr/>
        </p:nvSpPr>
        <p:spPr>
          <a:xfrm>
            <a:off x="987480" y="1755720"/>
            <a:ext cx="1018620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&lt;&lt;&lt;&lt;&lt;&lt;&lt; HEAD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Porta da aplicação: 3000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=======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Porta da aplicação: 8080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&gt;&gt;&gt;&gt;&gt;&gt;&gt; feature/config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TextBox 14"/>
          <p:cNvSpPr/>
          <p:nvPr/>
        </p:nvSpPr>
        <p:spPr>
          <a:xfrm>
            <a:off x="914400" y="3886200"/>
            <a:ext cx="10058040" cy="12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200" spc="-1" strike="noStrike">
                <a:solidFill>
                  <a:srgbClr val="0f172a"/>
                </a:solidFill>
                <a:latin typeface="Aptos"/>
              </a:rPr>
              <a:t>1. Leia os dois lados e confirme o requisito.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200" spc="-1" strike="noStrike">
                <a:solidFill>
                  <a:srgbClr val="0f172a"/>
                </a:solidFill>
                <a:latin typeface="Aptos"/>
              </a:rPr>
              <a:t>2. Edite o resultado final e remova os marcadores.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200" spc="-1" strike="noStrike">
                <a:solidFill>
                  <a:srgbClr val="0f172a"/>
                </a:solidFill>
                <a:latin typeface="Aptos"/>
              </a:rPr>
              <a:t>3. Teste o comportamento antes de continuar.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Resolver ou Cancelar um Conflito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Depois de editar e testar, registre a decisão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24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225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226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55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9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Não remova marcadores sem entender qual resultado a aplicação precisa.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Rounded Rectangle 12"/>
          <p:cNvSpPr/>
          <p:nvPr/>
        </p:nvSpPr>
        <p:spPr>
          <a:xfrm>
            <a:off x="68580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1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2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Merge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TextBox 15"/>
          <p:cNvSpPr/>
          <p:nvPr/>
        </p:nvSpPr>
        <p:spPr>
          <a:xfrm>
            <a:off x="841320" y="2359080"/>
            <a:ext cx="499212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status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add README.md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commit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Cancelar: git merge --abort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Rounded Rectangle 16"/>
          <p:cNvSpPr/>
          <p:nvPr/>
        </p:nvSpPr>
        <p:spPr>
          <a:xfrm>
            <a:off x="621792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5" name="Rectangle 17"/>
          <p:cNvSpPr/>
          <p:nvPr/>
        </p:nvSpPr>
        <p:spPr>
          <a:xfrm>
            <a:off x="621792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6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Rebase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TextBox 19"/>
          <p:cNvSpPr/>
          <p:nvPr/>
        </p:nvSpPr>
        <p:spPr>
          <a:xfrm>
            <a:off x="6373440" y="2359080"/>
            <a:ext cx="499212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status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add README.md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rebase --continue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Cancelar: git rebase --abort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Nem Tudo Deve Ir Para o Git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.gitignore evita incluir arquivos não rastreados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41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242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243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6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Se um segredo foi publicado, revogue-o: apagar o arquivo não apaga o histórico.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Rounded Rectangle 12"/>
          <p:cNvSpPr/>
          <p:nvPr/>
        </p:nvSpPr>
        <p:spPr>
          <a:xfrm>
            <a:off x="822960" y="1645920"/>
            <a:ext cx="4114440" cy="210276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8" name="TextBox 13"/>
          <p:cNvSpPr/>
          <p:nvPr/>
        </p:nvSpPr>
        <p:spPr>
          <a:xfrm>
            <a:off x="987480" y="1755720"/>
            <a:ext cx="378540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node_modules/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.env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dist/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coverage/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*.log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TextBox 14"/>
          <p:cNvSpPr/>
          <p:nvPr/>
        </p:nvSpPr>
        <p:spPr>
          <a:xfrm>
            <a:off x="5486400" y="1783080"/>
            <a:ext cx="5486040" cy="29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100" spc="-1" strike="noStrike">
                <a:solidFill>
                  <a:srgbClr val="0f172a"/>
                </a:solidFill>
                <a:latin typeface="Aptos"/>
              </a:rPr>
              <a:t>Não versionar dependências instaladas, builds locais e logs.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100" spc="-1" strike="noStrike">
                <a:solidFill>
                  <a:srgbClr val="0f172a"/>
                </a:solidFill>
                <a:latin typeface="Aptos"/>
              </a:rPr>
              <a:t>Nunca publicar tokens, senhas, chaves privadas ou credenciais.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100" spc="-1" strike="noStrike">
                <a:solidFill>
                  <a:srgbClr val="0f172a"/>
                </a:solidFill>
                <a:latin typeface="Aptos"/>
              </a:rPr>
              <a:t>.gitignore não deixa de rastrear arquivos já versionados.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Mapa Mental dos Comandos Git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Referência de consulta: agrupe por intenção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53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254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255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57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8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Primeiro identifique a intenção; depois escolha o comando.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Rounded Rectangle 12"/>
          <p:cNvSpPr/>
          <p:nvPr/>
        </p:nvSpPr>
        <p:spPr>
          <a:xfrm>
            <a:off x="685800" y="1554480"/>
            <a:ext cx="3459240" cy="164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0" name="Rectangle 13"/>
          <p:cNvSpPr/>
          <p:nvPr/>
        </p:nvSpPr>
        <p:spPr>
          <a:xfrm>
            <a:off x="685800" y="1554480"/>
            <a:ext cx="54360" cy="1645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1" name="TextBox 14"/>
          <p:cNvSpPr/>
          <p:nvPr/>
        </p:nvSpPr>
        <p:spPr>
          <a:xfrm>
            <a:off x="841320" y="171900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Criar / obter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TextBox 15"/>
          <p:cNvSpPr/>
          <p:nvPr/>
        </p:nvSpPr>
        <p:spPr>
          <a:xfrm>
            <a:off x="841320" y="2313360"/>
            <a:ext cx="3148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init • git clone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Rounded Rectangle 16"/>
          <p:cNvSpPr/>
          <p:nvPr/>
        </p:nvSpPr>
        <p:spPr>
          <a:xfrm>
            <a:off x="4374000" y="1554480"/>
            <a:ext cx="3459240" cy="164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4" name="Rectangle 17"/>
          <p:cNvSpPr/>
          <p:nvPr/>
        </p:nvSpPr>
        <p:spPr>
          <a:xfrm>
            <a:off x="4374000" y="1554480"/>
            <a:ext cx="54360" cy="16455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5" name="TextBox 18"/>
          <p:cNvSpPr/>
          <p:nvPr/>
        </p:nvSpPr>
        <p:spPr>
          <a:xfrm>
            <a:off x="4529160" y="171900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Inspecionar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TextBox 19"/>
          <p:cNvSpPr/>
          <p:nvPr/>
        </p:nvSpPr>
        <p:spPr>
          <a:xfrm>
            <a:off x="4529160" y="2313360"/>
            <a:ext cx="3148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status • git diff • git log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Rounded Rectangle 20"/>
          <p:cNvSpPr/>
          <p:nvPr/>
        </p:nvSpPr>
        <p:spPr>
          <a:xfrm>
            <a:off x="8061840" y="1554480"/>
            <a:ext cx="3459240" cy="164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8" name="Rectangle 21"/>
          <p:cNvSpPr/>
          <p:nvPr/>
        </p:nvSpPr>
        <p:spPr>
          <a:xfrm>
            <a:off x="8061840" y="1554480"/>
            <a:ext cx="54360" cy="16455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9" name="TextBox 22"/>
          <p:cNvSpPr/>
          <p:nvPr/>
        </p:nvSpPr>
        <p:spPr>
          <a:xfrm>
            <a:off x="8217360" y="171900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Branches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TextBox 23"/>
          <p:cNvSpPr/>
          <p:nvPr/>
        </p:nvSpPr>
        <p:spPr>
          <a:xfrm>
            <a:off x="8217360" y="2313360"/>
            <a:ext cx="3148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branch • git switch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Rounded Rectangle 24"/>
          <p:cNvSpPr/>
          <p:nvPr/>
        </p:nvSpPr>
        <p:spPr>
          <a:xfrm>
            <a:off x="685800" y="3474720"/>
            <a:ext cx="3459240" cy="164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2" name="Rectangle 25"/>
          <p:cNvSpPr/>
          <p:nvPr/>
        </p:nvSpPr>
        <p:spPr>
          <a:xfrm>
            <a:off x="685800" y="3474720"/>
            <a:ext cx="54360" cy="1645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3" name="TextBox 26"/>
          <p:cNvSpPr/>
          <p:nvPr/>
        </p:nvSpPr>
        <p:spPr>
          <a:xfrm>
            <a:off x="841320" y="363924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Registrar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TextBox 27"/>
          <p:cNvSpPr/>
          <p:nvPr/>
        </p:nvSpPr>
        <p:spPr>
          <a:xfrm>
            <a:off x="841320" y="4233600"/>
            <a:ext cx="3148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add • git commit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Rounded Rectangle 28"/>
          <p:cNvSpPr/>
          <p:nvPr/>
        </p:nvSpPr>
        <p:spPr>
          <a:xfrm>
            <a:off x="4374000" y="3474720"/>
            <a:ext cx="3459240" cy="164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6" name="Rectangle 29"/>
          <p:cNvSpPr/>
          <p:nvPr/>
        </p:nvSpPr>
        <p:spPr>
          <a:xfrm>
            <a:off x="4374000" y="3474720"/>
            <a:ext cx="54360" cy="16455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7" name="TextBox 30"/>
          <p:cNvSpPr/>
          <p:nvPr/>
        </p:nvSpPr>
        <p:spPr>
          <a:xfrm>
            <a:off x="4529160" y="363924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Remoto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TextBox 31"/>
          <p:cNvSpPr/>
          <p:nvPr/>
        </p:nvSpPr>
        <p:spPr>
          <a:xfrm>
            <a:off x="4529160" y="4233600"/>
            <a:ext cx="3148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remote • fetch • pull • push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Rounded Rectangle 32"/>
          <p:cNvSpPr/>
          <p:nvPr/>
        </p:nvSpPr>
        <p:spPr>
          <a:xfrm>
            <a:off x="8061840" y="3474720"/>
            <a:ext cx="3459240" cy="1645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0" name="Rectangle 33"/>
          <p:cNvSpPr/>
          <p:nvPr/>
        </p:nvSpPr>
        <p:spPr>
          <a:xfrm>
            <a:off x="8061840" y="3474720"/>
            <a:ext cx="54360" cy="16455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1" name="TextBox 34"/>
          <p:cNvSpPr/>
          <p:nvPr/>
        </p:nvSpPr>
        <p:spPr>
          <a:xfrm>
            <a:off x="8217360" y="363924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Integrar / marcar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TextBox 35"/>
          <p:cNvSpPr/>
          <p:nvPr/>
        </p:nvSpPr>
        <p:spPr>
          <a:xfrm>
            <a:off x="8217360" y="4233600"/>
            <a:ext cx="3148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 merge • git rebase • git tag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Modelos de Branching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A disciplina adota GitHub Flow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86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287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288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58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1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GitHub Flow oferece um fluxo simples e rastreável para o tamanho das equipes.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3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4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Trunk-based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TextBox 15"/>
          <p:cNvSpPr/>
          <p:nvPr/>
        </p:nvSpPr>
        <p:spPr>
          <a:xfrm>
            <a:off x="841320" y="2359080"/>
            <a:ext cx="314820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Integração muito frequente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Branches muito curtas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Automação forte; flags quando necessárias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7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8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GitHub Flow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TextBox 19"/>
          <p:cNvSpPr/>
          <p:nvPr/>
        </p:nvSpPr>
        <p:spPr>
          <a:xfrm>
            <a:off x="452916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Branch por mudança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PR, revisão e checks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Merge na main estável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1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2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GitFlow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TextBox 23"/>
          <p:cNvSpPr/>
          <p:nvPr/>
        </p:nvSpPr>
        <p:spPr>
          <a:xfrm>
            <a:off x="821736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main e develop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feature, release e hotfix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Maior coordenação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Fluxo Git Recomendado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Após a inicialização: main estável e mudanças em branches de trabalho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07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308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309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59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2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Mudança relevante → PR com contexto, testes e risco → aprovação → merge.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Rounded Rectangle 12"/>
          <p:cNvSpPr/>
          <p:nvPr/>
        </p:nvSpPr>
        <p:spPr>
          <a:xfrm>
            <a:off x="77724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4" name="TextBox 13"/>
          <p:cNvSpPr/>
          <p:nvPr/>
        </p:nvSpPr>
        <p:spPr>
          <a:xfrm>
            <a:off x="85032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main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TextBox 14"/>
          <p:cNvSpPr/>
          <p:nvPr/>
        </p:nvSpPr>
        <p:spPr>
          <a:xfrm>
            <a:off x="321876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Rounded Rectangle 15"/>
          <p:cNvSpPr/>
          <p:nvPr/>
        </p:nvSpPr>
        <p:spPr>
          <a:xfrm>
            <a:off x="351144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7" name="TextBox 16"/>
          <p:cNvSpPr/>
          <p:nvPr/>
        </p:nvSpPr>
        <p:spPr>
          <a:xfrm>
            <a:off x="358452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feature/*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TextBox 17"/>
          <p:cNvSpPr/>
          <p:nvPr/>
        </p:nvSpPr>
        <p:spPr>
          <a:xfrm>
            <a:off x="595260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Rounded Rectangle 18"/>
          <p:cNvSpPr/>
          <p:nvPr/>
        </p:nvSpPr>
        <p:spPr>
          <a:xfrm>
            <a:off x="624528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0" name="TextBox 19"/>
          <p:cNvSpPr/>
          <p:nvPr/>
        </p:nvSpPr>
        <p:spPr>
          <a:xfrm>
            <a:off x="631836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Pull Request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TextBox 20"/>
          <p:cNvSpPr/>
          <p:nvPr/>
        </p:nvSpPr>
        <p:spPr>
          <a:xfrm>
            <a:off x="868680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Rounded Rectangle 21"/>
          <p:cNvSpPr/>
          <p:nvPr/>
        </p:nvSpPr>
        <p:spPr>
          <a:xfrm>
            <a:off x="897948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3" name="TextBox 22"/>
          <p:cNvSpPr/>
          <p:nvPr/>
        </p:nvSpPr>
        <p:spPr>
          <a:xfrm>
            <a:off x="905256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main revisada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Rounded Rectangle 23"/>
          <p:cNvSpPr/>
          <p:nvPr/>
        </p:nvSpPr>
        <p:spPr>
          <a:xfrm>
            <a:off x="685800" y="3246120"/>
            <a:ext cx="5303160" cy="2057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5" name="Rectangle 24"/>
          <p:cNvSpPr/>
          <p:nvPr/>
        </p:nvSpPr>
        <p:spPr>
          <a:xfrm>
            <a:off x="685800" y="3246120"/>
            <a:ext cx="54360" cy="2057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6" name="TextBox 25"/>
          <p:cNvSpPr/>
          <p:nvPr/>
        </p:nvSpPr>
        <p:spPr>
          <a:xfrm>
            <a:off x="841320" y="341064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Trabalho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TextBox 26"/>
          <p:cNvSpPr/>
          <p:nvPr/>
        </p:nvSpPr>
        <p:spPr>
          <a:xfrm>
            <a:off x="841320" y="400500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feature/login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feature/readme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feature/testes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Rounded Rectangle 27"/>
          <p:cNvSpPr/>
          <p:nvPr/>
        </p:nvSpPr>
        <p:spPr>
          <a:xfrm>
            <a:off x="6217920" y="3246120"/>
            <a:ext cx="5303160" cy="2057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9" name="Rectangle 28"/>
          <p:cNvSpPr/>
          <p:nvPr/>
        </p:nvSpPr>
        <p:spPr>
          <a:xfrm>
            <a:off x="6217920" y="3246120"/>
            <a:ext cx="54360" cy="205704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0" name="TextBox 29"/>
          <p:cNvSpPr/>
          <p:nvPr/>
        </p:nvSpPr>
        <p:spPr>
          <a:xfrm>
            <a:off x="6373440" y="341064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Integração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TextBox 30"/>
          <p:cNvSpPr/>
          <p:nvPr/>
        </p:nvSpPr>
        <p:spPr>
          <a:xfrm>
            <a:off x="6373440" y="400500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Após o commit inicial: usar branch e PR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Revisar antes de integrar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Atualizar a cópia local depois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Da Tarefa ao Merge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O ciclo completo de uma mudança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35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336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337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60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0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O push publica a branch; o PR organiza sua revisão e integração.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Rounded Rectangle 12"/>
          <p:cNvSpPr/>
          <p:nvPr/>
        </p:nvSpPr>
        <p:spPr>
          <a:xfrm>
            <a:off x="777240" y="164592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2" name="TextBox 13"/>
          <p:cNvSpPr/>
          <p:nvPr/>
        </p:nvSpPr>
        <p:spPr>
          <a:xfrm>
            <a:off x="850320" y="181980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1 Atualizar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TextBox 14"/>
          <p:cNvSpPr/>
          <p:nvPr/>
        </p:nvSpPr>
        <p:spPr>
          <a:xfrm>
            <a:off x="2671920" y="186552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Rounded Rectangle 15"/>
          <p:cNvSpPr/>
          <p:nvPr/>
        </p:nvSpPr>
        <p:spPr>
          <a:xfrm>
            <a:off x="2964600" y="164592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5" name="TextBox 16"/>
          <p:cNvSpPr/>
          <p:nvPr/>
        </p:nvSpPr>
        <p:spPr>
          <a:xfrm>
            <a:off x="3037680" y="181980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2 Branch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TextBox 17"/>
          <p:cNvSpPr/>
          <p:nvPr/>
        </p:nvSpPr>
        <p:spPr>
          <a:xfrm>
            <a:off x="4859280" y="186552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Rounded Rectangle 18"/>
          <p:cNvSpPr/>
          <p:nvPr/>
        </p:nvSpPr>
        <p:spPr>
          <a:xfrm>
            <a:off x="5151600" y="164592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8" name="TextBox 19"/>
          <p:cNvSpPr/>
          <p:nvPr/>
        </p:nvSpPr>
        <p:spPr>
          <a:xfrm>
            <a:off x="5225040" y="181980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3 Editar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TextBox 20"/>
          <p:cNvSpPr/>
          <p:nvPr/>
        </p:nvSpPr>
        <p:spPr>
          <a:xfrm>
            <a:off x="7046280" y="186552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Rounded Rectangle 21"/>
          <p:cNvSpPr/>
          <p:nvPr/>
        </p:nvSpPr>
        <p:spPr>
          <a:xfrm>
            <a:off x="7338960" y="164592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1" name="TextBox 22"/>
          <p:cNvSpPr/>
          <p:nvPr/>
        </p:nvSpPr>
        <p:spPr>
          <a:xfrm>
            <a:off x="7412040" y="181980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4 add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TextBox 23"/>
          <p:cNvSpPr/>
          <p:nvPr/>
        </p:nvSpPr>
        <p:spPr>
          <a:xfrm>
            <a:off x="9233640" y="186552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Rounded Rectangle 24"/>
          <p:cNvSpPr/>
          <p:nvPr/>
        </p:nvSpPr>
        <p:spPr>
          <a:xfrm>
            <a:off x="9526320" y="164592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4" name="TextBox 25"/>
          <p:cNvSpPr/>
          <p:nvPr/>
        </p:nvSpPr>
        <p:spPr>
          <a:xfrm>
            <a:off x="9599400" y="181980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5 commit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Rounded Rectangle 26"/>
          <p:cNvSpPr/>
          <p:nvPr/>
        </p:nvSpPr>
        <p:spPr>
          <a:xfrm>
            <a:off x="777240" y="292608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6" name="TextBox 27"/>
          <p:cNvSpPr/>
          <p:nvPr/>
        </p:nvSpPr>
        <p:spPr>
          <a:xfrm>
            <a:off x="850320" y="309996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6 push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TextBox 28"/>
          <p:cNvSpPr/>
          <p:nvPr/>
        </p:nvSpPr>
        <p:spPr>
          <a:xfrm>
            <a:off x="2671920" y="314568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Rounded Rectangle 29"/>
          <p:cNvSpPr/>
          <p:nvPr/>
        </p:nvSpPr>
        <p:spPr>
          <a:xfrm>
            <a:off x="2964600" y="292608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9" name="TextBox 30"/>
          <p:cNvSpPr/>
          <p:nvPr/>
        </p:nvSpPr>
        <p:spPr>
          <a:xfrm>
            <a:off x="3037680" y="309996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7 PR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TextBox 31"/>
          <p:cNvSpPr/>
          <p:nvPr/>
        </p:nvSpPr>
        <p:spPr>
          <a:xfrm>
            <a:off x="4859280" y="314568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Rounded Rectangle 32"/>
          <p:cNvSpPr/>
          <p:nvPr/>
        </p:nvSpPr>
        <p:spPr>
          <a:xfrm>
            <a:off x="5151600" y="292608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2" name="TextBox 33"/>
          <p:cNvSpPr/>
          <p:nvPr/>
        </p:nvSpPr>
        <p:spPr>
          <a:xfrm>
            <a:off x="5225040" y="309996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8 Review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TextBox 34"/>
          <p:cNvSpPr/>
          <p:nvPr/>
        </p:nvSpPr>
        <p:spPr>
          <a:xfrm>
            <a:off x="7046280" y="314568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Rounded Rectangle 35"/>
          <p:cNvSpPr/>
          <p:nvPr/>
        </p:nvSpPr>
        <p:spPr>
          <a:xfrm>
            <a:off x="7338960" y="292608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5" name="TextBox 36"/>
          <p:cNvSpPr/>
          <p:nvPr/>
        </p:nvSpPr>
        <p:spPr>
          <a:xfrm>
            <a:off x="7412040" y="309996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9 Merge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TextBox 37"/>
          <p:cNvSpPr/>
          <p:nvPr/>
        </p:nvSpPr>
        <p:spPr>
          <a:xfrm>
            <a:off x="9233640" y="314568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Rounded Rectangle 38"/>
          <p:cNvSpPr/>
          <p:nvPr/>
        </p:nvSpPr>
        <p:spPr>
          <a:xfrm>
            <a:off x="9526320" y="292608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8" name="TextBox 39"/>
          <p:cNvSpPr/>
          <p:nvPr/>
        </p:nvSpPr>
        <p:spPr>
          <a:xfrm>
            <a:off x="9599400" y="309996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10 Atualizar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Rounded Rectangle 40"/>
          <p:cNvSpPr/>
          <p:nvPr/>
        </p:nvSpPr>
        <p:spPr>
          <a:xfrm>
            <a:off x="822960" y="4206240"/>
            <a:ext cx="10515240" cy="127980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0" name="TextBox 41"/>
          <p:cNvSpPr/>
          <p:nvPr/>
        </p:nvSpPr>
        <p:spPr>
          <a:xfrm>
            <a:off x="987480" y="4316040"/>
            <a:ext cx="1018620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switch 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pull --ff-only origin 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switch -c feature/login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Commits Que Contam a História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Tipo + descrição da intenção da mudança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74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375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376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61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9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Evite mensagens como “ajustes”, “fix”, “teste” e “agora vai”.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Rounded Rectangle 12"/>
          <p:cNvSpPr/>
          <p:nvPr/>
        </p:nvSpPr>
        <p:spPr>
          <a:xfrm>
            <a:off x="68580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1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2" name="TextBox 14"/>
          <p:cNvSpPr/>
          <p:nvPr/>
        </p:nvSpPr>
        <p:spPr>
          <a:xfrm>
            <a:off x="84132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Exemplos claros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TextBox 15"/>
          <p:cNvSpPr/>
          <p:nvPr/>
        </p:nvSpPr>
        <p:spPr>
          <a:xfrm>
            <a:off x="84132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feat: adiciona autenticação JWT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fix: corrige validação do CPF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docs: explica execução local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Rounded Rectangle 16"/>
          <p:cNvSpPr/>
          <p:nvPr/>
        </p:nvSpPr>
        <p:spPr>
          <a:xfrm>
            <a:off x="6217920" y="1600200"/>
            <a:ext cx="530316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5" name="Rectangle 17"/>
          <p:cNvSpPr/>
          <p:nvPr/>
        </p:nvSpPr>
        <p:spPr>
          <a:xfrm>
            <a:off x="621792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6" name="TextBox 18"/>
          <p:cNvSpPr/>
          <p:nvPr/>
        </p:nvSpPr>
        <p:spPr>
          <a:xfrm>
            <a:off x="6373440" y="17647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Outras intenções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TextBox 19"/>
          <p:cNvSpPr/>
          <p:nvPr/>
        </p:nvSpPr>
        <p:spPr>
          <a:xfrm>
            <a:off x="6373440" y="23590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test: cobre entrada inválida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refactor: extrai validação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Um propósito por commit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Anatomia de um Bom Pull Request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Dê ao revisor contexto e evidência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91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392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393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6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PR pequeno é mais fácil de revisar, compreender e reverter.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8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9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Contexto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TextBox 15"/>
          <p:cNvSpPr/>
          <p:nvPr/>
        </p:nvSpPr>
        <p:spPr>
          <a:xfrm>
            <a:off x="84132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Problema e objetivo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Solução proposta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Arquivos e áreas afetadas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2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3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Validação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TextBox 19"/>
          <p:cNvSpPr/>
          <p:nvPr/>
        </p:nvSpPr>
        <p:spPr>
          <a:xfrm>
            <a:off x="452916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Comandos executados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Resultados dos testes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Como reproduzir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6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7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Risco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TextBox 23"/>
          <p:cNvSpPr/>
          <p:nvPr/>
        </p:nvSpPr>
        <p:spPr>
          <a:xfrm>
            <a:off x="821736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Regressões possíveis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Limitações conhecidas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Pontos de atenção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Protegendo a Branch Principal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Após publicar a base inicial: branch protection e quality gates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12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413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414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63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7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Proteções transformam o acordo da equipe em regras verificáveis.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Rounded Rectangle 12"/>
          <p:cNvSpPr/>
          <p:nvPr/>
        </p:nvSpPr>
        <p:spPr>
          <a:xfrm>
            <a:off x="77724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9" name="TextBox 13"/>
          <p:cNvSpPr/>
          <p:nvPr/>
        </p:nvSpPr>
        <p:spPr>
          <a:xfrm>
            <a:off x="85032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feature/*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TextBox 14"/>
          <p:cNvSpPr/>
          <p:nvPr/>
        </p:nvSpPr>
        <p:spPr>
          <a:xfrm>
            <a:off x="267192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Rounded Rectangle 15"/>
          <p:cNvSpPr/>
          <p:nvPr/>
        </p:nvSpPr>
        <p:spPr>
          <a:xfrm>
            <a:off x="2964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2" name="TextBox 16"/>
          <p:cNvSpPr/>
          <p:nvPr/>
        </p:nvSpPr>
        <p:spPr>
          <a:xfrm>
            <a:off x="303768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PR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TextBox 17"/>
          <p:cNvSpPr/>
          <p:nvPr/>
        </p:nvSpPr>
        <p:spPr>
          <a:xfrm>
            <a:off x="4859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Rounded Rectangle 18"/>
          <p:cNvSpPr/>
          <p:nvPr/>
        </p:nvSpPr>
        <p:spPr>
          <a:xfrm>
            <a:off x="5151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5" name="TextBox 19"/>
          <p:cNvSpPr/>
          <p:nvPr/>
        </p:nvSpPr>
        <p:spPr>
          <a:xfrm>
            <a:off x="5225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Testes / lint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TextBox 20"/>
          <p:cNvSpPr/>
          <p:nvPr/>
        </p:nvSpPr>
        <p:spPr>
          <a:xfrm>
            <a:off x="7046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Rounded Rectangle 21"/>
          <p:cNvSpPr/>
          <p:nvPr/>
        </p:nvSpPr>
        <p:spPr>
          <a:xfrm>
            <a:off x="733896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8" name="TextBox 22"/>
          <p:cNvSpPr/>
          <p:nvPr/>
        </p:nvSpPr>
        <p:spPr>
          <a:xfrm>
            <a:off x="7412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Review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TextBox 23"/>
          <p:cNvSpPr/>
          <p:nvPr/>
        </p:nvSpPr>
        <p:spPr>
          <a:xfrm>
            <a:off x="923364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Rounded Rectangle 24"/>
          <p:cNvSpPr/>
          <p:nvPr/>
        </p:nvSpPr>
        <p:spPr>
          <a:xfrm>
            <a:off x="952632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1" name="TextBox 25"/>
          <p:cNvSpPr/>
          <p:nvPr/>
        </p:nvSpPr>
        <p:spPr>
          <a:xfrm>
            <a:off x="959940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main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Rounded Rectangle 26"/>
          <p:cNvSpPr/>
          <p:nvPr/>
        </p:nvSpPr>
        <p:spPr>
          <a:xfrm>
            <a:off x="685800" y="3246120"/>
            <a:ext cx="5303160" cy="2011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3" name="Rectangle 27"/>
          <p:cNvSpPr/>
          <p:nvPr/>
        </p:nvSpPr>
        <p:spPr>
          <a:xfrm>
            <a:off x="685800" y="3246120"/>
            <a:ext cx="54360" cy="2011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4" name="TextBox 28"/>
          <p:cNvSpPr/>
          <p:nvPr/>
        </p:nvSpPr>
        <p:spPr>
          <a:xfrm>
            <a:off x="841320" y="341064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Regras possíveis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TextBox 29"/>
          <p:cNvSpPr/>
          <p:nvPr/>
        </p:nvSpPr>
        <p:spPr>
          <a:xfrm>
            <a:off x="841320" y="400500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Exigir PR e aprovação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Exigir status checks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Impedir merge com checks falhando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Rounded Rectangle 30"/>
          <p:cNvSpPr/>
          <p:nvPr/>
        </p:nvSpPr>
        <p:spPr>
          <a:xfrm>
            <a:off x="6217920" y="3246120"/>
            <a:ext cx="5303160" cy="2011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7" name="Rectangle 31"/>
          <p:cNvSpPr/>
          <p:nvPr/>
        </p:nvSpPr>
        <p:spPr>
          <a:xfrm>
            <a:off x="6217920" y="3246120"/>
            <a:ext cx="54360" cy="201132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8" name="TextBox 32"/>
          <p:cNvSpPr/>
          <p:nvPr/>
        </p:nvSpPr>
        <p:spPr>
          <a:xfrm>
            <a:off x="6373440" y="341064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Integridade do histórico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TextBox 33"/>
          <p:cNvSpPr/>
          <p:nvPr/>
        </p:nvSpPr>
        <p:spPr>
          <a:xfrm>
            <a:off x="6373440" y="400500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Restringir force push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Impedir exclusão da main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Definir quem pode contornar regras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Definition of Done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Concluído significa verificável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43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444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445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64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8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O checklist deve ser adequado à aplicação e explícito para todos.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0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1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Código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TextBox 15"/>
          <p:cNvSpPr/>
          <p:nvPr/>
        </p:nvSpPr>
        <p:spPr>
          <a:xfrm>
            <a:off x="84132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Revisado por outra pessoa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Testes relevantes passando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Lint e build funcionando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4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5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Entrega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TextBox 19"/>
          <p:cNvSpPr/>
          <p:nvPr/>
        </p:nvSpPr>
        <p:spPr>
          <a:xfrm>
            <a:off x="452916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Sem segredo exposto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README atualizado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Executa após clone limpo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8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9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Evidência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TextBox 23"/>
          <p:cNvSpPr/>
          <p:nvPr/>
        </p:nvSpPr>
        <p:spPr>
          <a:xfrm>
            <a:off x="821736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 com contexto e risco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Validação reproduzível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Sugestões de IA verificadas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Revisão de PR com IA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Preparar contexto → pedir análise → validar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64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465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466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65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9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Toda saída de IA é hipótese até ser validada por teste, execução ou revisão humana.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1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2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Contexto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TextBox 15"/>
          <p:cNvSpPr/>
          <p:nvPr/>
        </p:nvSpPr>
        <p:spPr>
          <a:xfrm>
            <a:off x="841320" y="2359080"/>
            <a:ext cx="314820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Objetivo e diff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Stack e critérios de aceite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Testes existentes; sem segredos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5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6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Análise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TextBox 19"/>
          <p:cNvSpPr/>
          <p:nvPr/>
        </p:nvSpPr>
        <p:spPr>
          <a:xfrm>
            <a:off x="452916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Bugs e regressões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Segurança e tratamento de erros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Testes faltantes e legibilidade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9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0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Validação humana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TextBox 23"/>
          <p:cNvSpPr/>
          <p:nvPr/>
        </p:nvSpPr>
        <p:spPr>
          <a:xfrm>
            <a:off x="8217360" y="2359080"/>
            <a:ext cx="314820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Conferir a sugestão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Executar teste, lint e build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Rejeitar mudanças incorretas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Ferramentas de IA para Revisão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Exemplos para explorar; recursos e acesso variam por produto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85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486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487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0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A IA pode ser o primeiro leitor do PR; a decisão continua humana.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2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3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Ferramentas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TextBox 15"/>
          <p:cNvSpPr/>
          <p:nvPr/>
        </p:nvSpPr>
        <p:spPr>
          <a:xfrm>
            <a:off x="841320" y="2359080"/>
            <a:ext cx="314820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GitHub Copilot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CodeRabbit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Qodo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6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7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Outras opções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TextBox 19"/>
          <p:cNvSpPr/>
          <p:nvPr/>
        </p:nvSpPr>
        <p:spPr>
          <a:xfrm>
            <a:off x="4529160" y="2359080"/>
            <a:ext cx="314820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Greptile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Graphite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Avaliar integração e contexto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0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1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Na prática da turma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TextBox 23"/>
          <p:cNvSpPr/>
          <p:nvPr/>
        </p:nvSpPr>
        <p:spPr>
          <a:xfrm>
            <a:off x="8217360" y="2359080"/>
            <a:ext cx="314820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CodeRabbit no PR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Comparar diagnóstico com teste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Registrar decisão da equipe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Qualidade Além do Olho Humano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Cada camada encontra classes diferentes de problemas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06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507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508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9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67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1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Nenhuma camada substitui todas as outras.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Rounded Rectangle 12"/>
          <p:cNvSpPr/>
          <p:nvPr/>
        </p:nvSpPr>
        <p:spPr>
          <a:xfrm>
            <a:off x="77724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3" name="TextBox 13"/>
          <p:cNvSpPr/>
          <p:nvPr/>
        </p:nvSpPr>
        <p:spPr>
          <a:xfrm>
            <a:off x="85032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Lint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TextBox 14"/>
          <p:cNvSpPr/>
          <p:nvPr/>
        </p:nvSpPr>
        <p:spPr>
          <a:xfrm>
            <a:off x="267192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Rounded Rectangle 15"/>
          <p:cNvSpPr/>
          <p:nvPr/>
        </p:nvSpPr>
        <p:spPr>
          <a:xfrm>
            <a:off x="2964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6" name="TextBox 16"/>
          <p:cNvSpPr/>
          <p:nvPr/>
        </p:nvSpPr>
        <p:spPr>
          <a:xfrm>
            <a:off x="3037680" y="2139840"/>
            <a:ext cx="171144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Análise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estática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TextBox 17"/>
          <p:cNvSpPr/>
          <p:nvPr/>
        </p:nvSpPr>
        <p:spPr>
          <a:xfrm>
            <a:off x="4859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" name="Rounded Rectangle 18"/>
          <p:cNvSpPr/>
          <p:nvPr/>
        </p:nvSpPr>
        <p:spPr>
          <a:xfrm>
            <a:off x="5151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9" name="TextBox 19"/>
          <p:cNvSpPr/>
          <p:nvPr/>
        </p:nvSpPr>
        <p:spPr>
          <a:xfrm>
            <a:off x="5225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Testes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TextBox 20"/>
          <p:cNvSpPr/>
          <p:nvPr/>
        </p:nvSpPr>
        <p:spPr>
          <a:xfrm>
            <a:off x="7046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1" name="Rounded Rectangle 21"/>
          <p:cNvSpPr/>
          <p:nvPr/>
        </p:nvSpPr>
        <p:spPr>
          <a:xfrm>
            <a:off x="733896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2" name="TextBox 22"/>
          <p:cNvSpPr/>
          <p:nvPr/>
        </p:nvSpPr>
        <p:spPr>
          <a:xfrm>
            <a:off x="7412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IA no diff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TextBox 23"/>
          <p:cNvSpPr/>
          <p:nvPr/>
        </p:nvSpPr>
        <p:spPr>
          <a:xfrm>
            <a:off x="923364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" name="Rounded Rectangle 24"/>
          <p:cNvSpPr/>
          <p:nvPr/>
        </p:nvSpPr>
        <p:spPr>
          <a:xfrm>
            <a:off x="952632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5" name="TextBox 25"/>
          <p:cNvSpPr/>
          <p:nvPr/>
        </p:nvSpPr>
        <p:spPr>
          <a:xfrm>
            <a:off x="9599400" y="2139840"/>
            <a:ext cx="1711440" cy="64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Review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humano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TextBox 26"/>
          <p:cNvSpPr/>
          <p:nvPr/>
        </p:nvSpPr>
        <p:spPr>
          <a:xfrm>
            <a:off x="914400" y="3429000"/>
            <a:ext cx="10058040" cy="7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132b42"/>
                </a:solidFill>
                <a:latin typeface="Aptos"/>
              </a:rPr>
              <a:t>Estilo e convenções → padrões de risco → comportamento executável → hipóteses sobre a mudança → contexto e decisão de negócio.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Exemplo Comentado — Da Mudança à Revisão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Apresenta uma mudança posterior à inicialização do projeto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30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531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532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3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68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5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Exemplo de evolução: compreender a revisão antes de aplicá-la às próximas mudanças.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6" name="Rounded Rectangle 12"/>
          <p:cNvSpPr/>
          <p:nvPr/>
        </p:nvSpPr>
        <p:spPr>
          <a:xfrm>
            <a:off x="77724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7" name="TextBox 13"/>
          <p:cNvSpPr/>
          <p:nvPr/>
        </p:nvSpPr>
        <p:spPr>
          <a:xfrm>
            <a:off x="85032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Tarefa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" name="TextBox 14"/>
          <p:cNvSpPr/>
          <p:nvPr/>
        </p:nvSpPr>
        <p:spPr>
          <a:xfrm>
            <a:off x="267192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9" name="Rounded Rectangle 15"/>
          <p:cNvSpPr/>
          <p:nvPr/>
        </p:nvSpPr>
        <p:spPr>
          <a:xfrm>
            <a:off x="2964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0" name="TextBox 16"/>
          <p:cNvSpPr/>
          <p:nvPr/>
        </p:nvSpPr>
        <p:spPr>
          <a:xfrm>
            <a:off x="303768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Branch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1" name="TextBox 17"/>
          <p:cNvSpPr/>
          <p:nvPr/>
        </p:nvSpPr>
        <p:spPr>
          <a:xfrm>
            <a:off x="4859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2" name="Rounded Rectangle 18"/>
          <p:cNvSpPr/>
          <p:nvPr/>
        </p:nvSpPr>
        <p:spPr>
          <a:xfrm>
            <a:off x="5151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3" name="TextBox 19"/>
          <p:cNvSpPr/>
          <p:nvPr/>
        </p:nvSpPr>
        <p:spPr>
          <a:xfrm>
            <a:off x="5225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Commit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4" name="TextBox 20"/>
          <p:cNvSpPr/>
          <p:nvPr/>
        </p:nvSpPr>
        <p:spPr>
          <a:xfrm>
            <a:off x="7046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Rounded Rectangle 21"/>
          <p:cNvSpPr/>
          <p:nvPr/>
        </p:nvSpPr>
        <p:spPr>
          <a:xfrm>
            <a:off x="733896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6" name="TextBox 22"/>
          <p:cNvSpPr/>
          <p:nvPr/>
        </p:nvSpPr>
        <p:spPr>
          <a:xfrm>
            <a:off x="7412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PR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" name="TextBox 23"/>
          <p:cNvSpPr/>
          <p:nvPr/>
        </p:nvSpPr>
        <p:spPr>
          <a:xfrm>
            <a:off x="923364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8" name="Rounded Rectangle 24"/>
          <p:cNvSpPr/>
          <p:nvPr/>
        </p:nvSpPr>
        <p:spPr>
          <a:xfrm>
            <a:off x="952632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9" name="TextBox 25"/>
          <p:cNvSpPr/>
          <p:nvPr/>
        </p:nvSpPr>
        <p:spPr>
          <a:xfrm>
            <a:off x="959940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Revisão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Rounded Rectangle 26"/>
          <p:cNvSpPr/>
          <p:nvPr/>
        </p:nvSpPr>
        <p:spPr>
          <a:xfrm>
            <a:off x="685800" y="3200400"/>
            <a:ext cx="5303160" cy="2102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1" name="Rectangle 27"/>
          <p:cNvSpPr/>
          <p:nvPr/>
        </p:nvSpPr>
        <p:spPr>
          <a:xfrm>
            <a:off x="685800" y="3200400"/>
            <a:ext cx="54360" cy="2102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2" name="TextBox 28"/>
          <p:cNvSpPr/>
          <p:nvPr/>
        </p:nvSpPr>
        <p:spPr>
          <a:xfrm>
            <a:off x="841320" y="33649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O que observar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TextBox 29"/>
          <p:cNvSpPr/>
          <p:nvPr/>
        </p:nvSpPr>
        <p:spPr>
          <a:xfrm>
            <a:off x="841320" y="39592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Qual problema a mudança resolve?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Por que o trabalho está isolado?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O diff é pequeno e compreensível?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4" name="Rounded Rectangle 30"/>
          <p:cNvSpPr/>
          <p:nvPr/>
        </p:nvSpPr>
        <p:spPr>
          <a:xfrm>
            <a:off x="6217920" y="3200400"/>
            <a:ext cx="5303160" cy="2102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5" name="Rectangle 31"/>
          <p:cNvSpPr/>
          <p:nvPr/>
        </p:nvSpPr>
        <p:spPr>
          <a:xfrm>
            <a:off x="6217920" y="3200400"/>
            <a:ext cx="54360" cy="21027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6" name="TextBox 32"/>
          <p:cNvSpPr/>
          <p:nvPr/>
        </p:nvSpPr>
        <p:spPr>
          <a:xfrm>
            <a:off x="6373440" y="33649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O que pedir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7" name="TextBox 33"/>
          <p:cNvSpPr/>
          <p:nvPr/>
        </p:nvSpPr>
        <p:spPr>
          <a:xfrm>
            <a:off x="6373440" y="39592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Teste que reproduza o comportamento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Risco conhecido e contexto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Decisão explícita de um revisor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Demonstração — CodeRabbit no PR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Use o PR preparado pelo professor para observar a revisão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0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61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562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563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69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6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A IA propõe hipóteses; testes e revisão humana sustentam a decisão.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" name="Rounded Rectangle 12"/>
          <p:cNvSpPr/>
          <p:nvPr/>
        </p:nvSpPr>
        <p:spPr>
          <a:xfrm>
            <a:off x="77724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8" name="TextBox 13"/>
          <p:cNvSpPr/>
          <p:nvPr/>
        </p:nvSpPr>
        <p:spPr>
          <a:xfrm>
            <a:off x="85032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Diff com erro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9" name="TextBox 14"/>
          <p:cNvSpPr/>
          <p:nvPr/>
        </p:nvSpPr>
        <p:spPr>
          <a:xfrm>
            <a:off x="267192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Rounded Rectangle 15"/>
          <p:cNvSpPr/>
          <p:nvPr/>
        </p:nvSpPr>
        <p:spPr>
          <a:xfrm>
            <a:off x="2964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1" name="TextBox 16"/>
          <p:cNvSpPr/>
          <p:nvPr/>
        </p:nvSpPr>
        <p:spPr>
          <a:xfrm>
            <a:off x="303768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Revisão IA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" name="TextBox 17"/>
          <p:cNvSpPr/>
          <p:nvPr/>
        </p:nvSpPr>
        <p:spPr>
          <a:xfrm>
            <a:off x="4859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Rounded Rectangle 18"/>
          <p:cNvSpPr/>
          <p:nvPr/>
        </p:nvSpPr>
        <p:spPr>
          <a:xfrm>
            <a:off x="5151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4" name="TextBox 19"/>
          <p:cNvSpPr/>
          <p:nvPr/>
        </p:nvSpPr>
        <p:spPr>
          <a:xfrm>
            <a:off x="5225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Reprodução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" name="TextBox 20"/>
          <p:cNvSpPr/>
          <p:nvPr/>
        </p:nvSpPr>
        <p:spPr>
          <a:xfrm>
            <a:off x="7046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Rounded Rectangle 21"/>
          <p:cNvSpPr/>
          <p:nvPr/>
        </p:nvSpPr>
        <p:spPr>
          <a:xfrm>
            <a:off x="733896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7" name="TextBox 22"/>
          <p:cNvSpPr/>
          <p:nvPr/>
        </p:nvSpPr>
        <p:spPr>
          <a:xfrm>
            <a:off x="7412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Correção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8" name="TextBox 23"/>
          <p:cNvSpPr/>
          <p:nvPr/>
        </p:nvSpPr>
        <p:spPr>
          <a:xfrm>
            <a:off x="923364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Rounded Rectangle 24"/>
          <p:cNvSpPr/>
          <p:nvPr/>
        </p:nvSpPr>
        <p:spPr>
          <a:xfrm>
            <a:off x="952632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0" name="TextBox 25"/>
          <p:cNvSpPr/>
          <p:nvPr/>
        </p:nvSpPr>
        <p:spPr>
          <a:xfrm>
            <a:off x="959940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Nova revisão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TextBox 26"/>
          <p:cNvSpPr/>
          <p:nvPr/>
        </p:nvSpPr>
        <p:spPr>
          <a:xfrm>
            <a:off x="914400" y="3337560"/>
            <a:ext cx="10058040" cy="12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Exemplo: 10% de desconto em 2000 centavos deve resultar em 1800.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O código retorna 1990, embora os testes iniciais passem.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Discuta o que a revisão encontrou e qual teste faltava.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Discussão Orientada — Aceitar ou Rejeitar?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Analise a revisão apresentada, sem criar branches ou commits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85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586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587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70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9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0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Entregável da discussão: diagnóstico, evidência e justificativa da decisão.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1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2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3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Analisar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TextBox 15"/>
          <p:cNvSpPr/>
          <p:nvPr/>
        </p:nvSpPr>
        <p:spPr>
          <a:xfrm>
            <a:off x="84132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Leia o contrato e o trecho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Identifique a entrada problemática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Compare esperado e observado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6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7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Decidir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TextBox 19"/>
          <p:cNvSpPr/>
          <p:nvPr/>
        </p:nvSpPr>
        <p:spPr>
          <a:xfrm>
            <a:off x="4529160" y="2359080"/>
            <a:ext cx="3148200" cy="18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 sugestão resolve o problema?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Que regressão ela pode introduzir?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Qual teste comprova a correção?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9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0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1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Registrar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" name="TextBox 23"/>
          <p:cNvSpPr/>
          <p:nvPr/>
        </p:nvSpPr>
        <p:spPr>
          <a:xfrm>
            <a:off x="8217360" y="2359080"/>
            <a:ext cx="314820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Prompt e resposta apresentados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Sugestão aceita ou rejeitada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Justificativa e validação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Atividade 2 — Iniciar o Projeto da Equipe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Incremento do projeto integrador: do diagnóstico à primeira base executável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06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607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608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71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1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Um único projeto evolui: E1 diagnóstico → E2 base publicada → E3 integração contínua.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" name="Rounded Rectangle 12"/>
          <p:cNvSpPr/>
          <p:nvPr/>
        </p:nvSpPr>
        <p:spPr>
          <a:xfrm>
            <a:off x="77724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3" name="TextBox 13"/>
          <p:cNvSpPr/>
          <p:nvPr/>
        </p:nvSpPr>
        <p:spPr>
          <a:xfrm>
            <a:off x="85032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Organização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4" name="TextBox 14"/>
          <p:cNvSpPr/>
          <p:nvPr/>
        </p:nvSpPr>
        <p:spPr>
          <a:xfrm>
            <a:off x="267192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5" name="Rounded Rectangle 15"/>
          <p:cNvSpPr/>
          <p:nvPr/>
        </p:nvSpPr>
        <p:spPr>
          <a:xfrm>
            <a:off x="2964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6" name="TextBox 16"/>
          <p:cNvSpPr/>
          <p:nvPr/>
        </p:nvSpPr>
        <p:spPr>
          <a:xfrm>
            <a:off x="303768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Repositório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7" name="TextBox 17"/>
          <p:cNvSpPr/>
          <p:nvPr/>
        </p:nvSpPr>
        <p:spPr>
          <a:xfrm>
            <a:off x="4859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Rounded Rectangle 18"/>
          <p:cNvSpPr/>
          <p:nvPr/>
        </p:nvSpPr>
        <p:spPr>
          <a:xfrm>
            <a:off x="5151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9" name="TextBox 19"/>
          <p:cNvSpPr/>
          <p:nvPr/>
        </p:nvSpPr>
        <p:spPr>
          <a:xfrm>
            <a:off x="5225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Integrantes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0" name="TextBox 20"/>
          <p:cNvSpPr/>
          <p:nvPr/>
        </p:nvSpPr>
        <p:spPr>
          <a:xfrm>
            <a:off x="7046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1" name="Rounded Rectangle 21"/>
          <p:cNvSpPr/>
          <p:nvPr/>
        </p:nvSpPr>
        <p:spPr>
          <a:xfrm>
            <a:off x="733896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2" name="TextBox 22"/>
          <p:cNvSpPr/>
          <p:nvPr/>
        </p:nvSpPr>
        <p:spPr>
          <a:xfrm>
            <a:off x="7412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Código-base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3" name="TextBox 23"/>
          <p:cNvSpPr/>
          <p:nvPr/>
        </p:nvSpPr>
        <p:spPr>
          <a:xfrm>
            <a:off x="923364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" name="Rounded Rectangle 24"/>
          <p:cNvSpPr/>
          <p:nvPr/>
        </p:nvSpPr>
        <p:spPr>
          <a:xfrm>
            <a:off x="952632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5" name="TextBox 25"/>
          <p:cNvSpPr/>
          <p:nvPr/>
        </p:nvSpPr>
        <p:spPr>
          <a:xfrm>
            <a:off x="959940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main inicial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6" name="TextBox 26"/>
          <p:cNvSpPr/>
          <p:nvPr/>
        </p:nvSpPr>
        <p:spPr>
          <a:xfrm>
            <a:off x="914400" y="3291840"/>
            <a:ext cx="10058040" cy="12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Um integrante cria a organização e o repositório do grupo.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Todos aceitam o convite e confirmam acesso.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A equipe constrói a base da aplicação e publica o primeiro commit.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Atividade 2 — Organização e Repositório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8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Etapa 1 • Um responsável prepara o espaço compartilhado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30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631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632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3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5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O repositório pertence à organização da equipe, não à conta pessoal do criador.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7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8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Organização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TextBox 15"/>
          <p:cNvSpPr/>
          <p:nvPr/>
        </p:nvSpPr>
        <p:spPr>
          <a:xfrm>
            <a:off x="84132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Definir nome da equipe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Um integrante cria a organização no GitHub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Usar contas pessoais individuais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0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1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2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Repositório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" name="TextBox 19"/>
          <p:cNvSpPr/>
          <p:nvPr/>
        </p:nvSpPr>
        <p:spPr>
          <a:xfrm>
            <a:off x="452916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Criar o repo do projeto na organização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Definir nome e descrição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Criar vazio, sem README automático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4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5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6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Responsabilidade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7" name="TextBox 23"/>
          <p:cNvSpPr/>
          <p:nvPr/>
        </p:nvSpPr>
        <p:spPr>
          <a:xfrm>
            <a:off x="821736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Criador assume administração inicial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Registrar quem administra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Garantir acesso do professor à entrega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Atividade 2 — Convidar e Confirmar Acessos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Etapa 2 • Convite enviado ainda não significa participação ativa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51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652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653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73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6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Pertencer à organização não garante, sozinho, permissão de escrita no repositório.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7" name="Rounded Rectangle 12"/>
          <p:cNvSpPr/>
          <p:nvPr/>
        </p:nvSpPr>
        <p:spPr>
          <a:xfrm>
            <a:off x="77724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8" name="TextBox 13"/>
          <p:cNvSpPr/>
          <p:nvPr/>
        </p:nvSpPr>
        <p:spPr>
          <a:xfrm>
            <a:off x="85032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Convidar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TextBox 14"/>
          <p:cNvSpPr/>
          <p:nvPr/>
        </p:nvSpPr>
        <p:spPr>
          <a:xfrm>
            <a:off x="321876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Rounded Rectangle 15"/>
          <p:cNvSpPr/>
          <p:nvPr/>
        </p:nvSpPr>
        <p:spPr>
          <a:xfrm>
            <a:off x="351144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1" name="TextBox 16"/>
          <p:cNvSpPr/>
          <p:nvPr/>
        </p:nvSpPr>
        <p:spPr>
          <a:xfrm>
            <a:off x="358452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Aceitar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TextBox 17"/>
          <p:cNvSpPr/>
          <p:nvPr/>
        </p:nvSpPr>
        <p:spPr>
          <a:xfrm>
            <a:off x="595260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Rounded Rectangle 18"/>
          <p:cNvSpPr/>
          <p:nvPr/>
        </p:nvSpPr>
        <p:spPr>
          <a:xfrm>
            <a:off x="624528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4" name="TextBox 19"/>
          <p:cNvSpPr/>
          <p:nvPr/>
        </p:nvSpPr>
        <p:spPr>
          <a:xfrm>
            <a:off x="631836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Dar acesso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TextBox 20"/>
          <p:cNvSpPr/>
          <p:nvPr/>
        </p:nvSpPr>
        <p:spPr>
          <a:xfrm>
            <a:off x="868680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Rounded Rectangle 21"/>
          <p:cNvSpPr/>
          <p:nvPr/>
        </p:nvSpPr>
        <p:spPr>
          <a:xfrm>
            <a:off x="8979480" y="1965960"/>
            <a:ext cx="240444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7" name="TextBox 22"/>
          <p:cNvSpPr/>
          <p:nvPr/>
        </p:nvSpPr>
        <p:spPr>
          <a:xfrm>
            <a:off x="9052560" y="2139840"/>
            <a:ext cx="22582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Confirmar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Rounded Rectangle 23"/>
          <p:cNvSpPr/>
          <p:nvPr/>
        </p:nvSpPr>
        <p:spPr>
          <a:xfrm>
            <a:off x="685800" y="3200400"/>
            <a:ext cx="5303160" cy="2148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9" name="Rectangle 24"/>
          <p:cNvSpPr/>
          <p:nvPr/>
        </p:nvSpPr>
        <p:spPr>
          <a:xfrm>
            <a:off x="685800" y="3200400"/>
            <a:ext cx="54360" cy="2148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0" name="TextBox 25"/>
          <p:cNvSpPr/>
          <p:nvPr/>
        </p:nvSpPr>
        <p:spPr>
          <a:xfrm>
            <a:off x="841320" y="33649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Responsável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" name="TextBox 26"/>
          <p:cNvSpPr/>
          <p:nvPr/>
        </p:nvSpPr>
        <p:spPr>
          <a:xfrm>
            <a:off x="841320" y="39592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Convidar todos os integrantes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Conceder acesso de escrita ao repo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Usar equipe do GitHub ou acesso individual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" name="Rounded Rectangle 27"/>
          <p:cNvSpPr/>
          <p:nvPr/>
        </p:nvSpPr>
        <p:spPr>
          <a:xfrm>
            <a:off x="6217920" y="3200400"/>
            <a:ext cx="5303160" cy="2148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3" name="Rectangle 28"/>
          <p:cNvSpPr/>
          <p:nvPr/>
        </p:nvSpPr>
        <p:spPr>
          <a:xfrm>
            <a:off x="6217920" y="3200400"/>
            <a:ext cx="54360" cy="214848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4" name="TextBox 29"/>
          <p:cNvSpPr/>
          <p:nvPr/>
        </p:nvSpPr>
        <p:spPr>
          <a:xfrm>
            <a:off x="6373440" y="3364920"/>
            <a:ext cx="49921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Cada integrante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" name="TextBox 30"/>
          <p:cNvSpPr/>
          <p:nvPr/>
        </p:nvSpPr>
        <p:spPr>
          <a:xfrm>
            <a:off x="6373440" y="3959280"/>
            <a:ext cx="499212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Aceitar com a própria conta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Confirmar que enxerga o repositório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Verificar que poderá contribuir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Atividade 2 — Construir o Código-base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Etapa 3 • Implementar o menor comportamento executável do projeto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79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680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681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74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4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Escolha livre da aplicação; o exemplo CodeRabbit não substitui o projeto do grupo.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6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7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Aplicação mínima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8" name="TextBox 15"/>
          <p:cNvSpPr/>
          <p:nvPr/>
        </p:nvSpPr>
        <p:spPr>
          <a:xfrm>
            <a:off x="84132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Stack já escolhida pela equipe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Uma funcionalidade ou endpoint simples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Execução local comprovada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0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1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Arquivos da base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2" name="TextBox 19"/>
          <p:cNvSpPr/>
          <p:nvPr/>
        </p:nvSpPr>
        <p:spPr>
          <a:xfrm>
            <a:off x="452916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Código-fonte e dependências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README com execução e teste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.gitignore adequado à stack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4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5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Validação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" name="TextBox 23"/>
          <p:cNvSpPr/>
          <p:nvPr/>
        </p:nvSpPr>
        <p:spPr>
          <a:xfrm>
            <a:off x="8217360" y="2359080"/>
            <a:ext cx="314820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Executar antes de publicar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Incluir um teste simples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Registrar resultado esperado e obtido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Atividade 2 — Primeiro Commit na main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Etapa 4 • Exceção de inicialização: publicar a primeira base do projeto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00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701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702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75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4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5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Somente esta inicialização vai direto à main. As próximas mudanças seguem por branch e PR.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6" name="Rounded Rectangle 12"/>
          <p:cNvSpPr/>
          <p:nvPr/>
        </p:nvSpPr>
        <p:spPr>
          <a:xfrm>
            <a:off x="822960" y="1645920"/>
            <a:ext cx="10515240" cy="164556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7" name="TextBox 13"/>
          <p:cNvSpPr/>
          <p:nvPr/>
        </p:nvSpPr>
        <p:spPr>
          <a:xfrm>
            <a:off x="987480" y="1755720"/>
            <a:ext cx="1018620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init -b 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status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add 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diff --staged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" name="Rounded Rectangle 14"/>
          <p:cNvSpPr/>
          <p:nvPr/>
        </p:nvSpPr>
        <p:spPr>
          <a:xfrm>
            <a:off x="822960" y="3520440"/>
            <a:ext cx="10515240" cy="1416960"/>
          </a:xfrm>
          <a:prstGeom prst="roundRect">
            <a:avLst>
              <a:gd name="adj" fmla="val 8000"/>
            </a:avLst>
          </a:prstGeom>
          <a:solidFill>
            <a:srgbClr val="13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9" name="TextBox 15"/>
          <p:cNvSpPr/>
          <p:nvPr/>
        </p:nvSpPr>
        <p:spPr>
          <a:xfrm>
            <a:off x="987480" y="3630240"/>
            <a:ext cx="10186200" cy="9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commit -m "chore: inicia base do projeto"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remote add origin &lt;url-do-repositorio-vazio&gt;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ffffff"/>
                </a:solidFill>
                <a:latin typeface="DejaVu Sans Mono"/>
              </a:rPr>
              <a:t>git push -u origin main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0" name="TextBox 16"/>
          <p:cNvSpPr/>
          <p:nvPr/>
        </p:nvSpPr>
        <p:spPr>
          <a:xfrm>
            <a:off x="914400" y="5139000"/>
            <a:ext cx="100580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600" spc="-1" strike="noStrike">
                <a:solidFill>
                  <a:srgbClr val="0f172a"/>
                </a:solidFill>
                <a:latin typeface="Aptos"/>
              </a:rPr>
              <a:t>Antes do commit: revisar arquivos selecionados e excluir segredos e artefatos locais.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Atividade 2 — Validar a Base Compartilhada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2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Etapa 5 • Outro integrante confirma a execução em um clone limpo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3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14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715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716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76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8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9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Publicar código não basta: a base precisa ser reproduzível por outra pessoa.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0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1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2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Segundo integrante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" name="TextBox 15"/>
          <p:cNvSpPr/>
          <p:nvPr/>
        </p:nvSpPr>
        <p:spPr>
          <a:xfrm>
            <a:off x="84132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Obter o projeto em pasta nova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Seguir apenas o README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Executar a aplicação e o teste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5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6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Equipe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7" name="TextBox 19"/>
          <p:cNvSpPr/>
          <p:nvPr/>
        </p:nvSpPr>
        <p:spPr>
          <a:xfrm>
            <a:off x="4529160" y="2359080"/>
            <a:ext cx="3148200" cy="18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Corrigir instruções insuficientes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Registrar evidência de execução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Relacionar código ao diagnóstico do E1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8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9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0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Próximas mudanças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1" name="TextBox 23"/>
          <p:cNvSpPr/>
          <p:nvPr/>
        </p:nvSpPr>
        <p:spPr>
          <a:xfrm>
            <a:off x="8217360" y="2359080"/>
            <a:ext cx="3148200" cy="13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Branch de trabalho → PR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Revisão e validação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Proteções da main após inicialização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Atividade 2 — Critérios de Aceite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3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Entrega ao final do encontro: link do repositório do projeto integrador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4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35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736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737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77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0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Não é necessário PR ou tag nesta inicialização; eles serão usados na evolução do projeto.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2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3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Equipe organizada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" name="TextBox 15"/>
          <p:cNvSpPr/>
          <p:nvPr/>
        </p:nvSpPr>
        <p:spPr>
          <a:xfrm>
            <a:off x="84132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Organização criada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Repositório do projeto criado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Convites aceitos e escrita confirmada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6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7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Base publicada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8" name="TextBox 19"/>
          <p:cNvSpPr/>
          <p:nvPr/>
        </p:nvSpPr>
        <p:spPr>
          <a:xfrm>
            <a:off x="452916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Código-base na main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Primeiro commit identificável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README e .gitignore incluídos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0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1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Execução comprovada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2" name="TextBox 23"/>
          <p:cNvSpPr/>
          <p:nvPr/>
        </p:nvSpPr>
        <p:spPr>
          <a:xfrm>
            <a:off x="8217360" y="2359080"/>
            <a:ext cx="3148200" cy="15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Aplicação e teste executam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Outro integrante valida o clone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Evidência e uso de IA registrados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Prompts Úteis — Revisão e Qualidade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4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Forneça contexto suficiente e peça resultados verificáveis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56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757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758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78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1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Registre prompt, resposta, decisão e evidência de validação.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3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4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Revisar diff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5" name="TextBox 15"/>
          <p:cNvSpPr/>
          <p:nvPr/>
        </p:nvSpPr>
        <p:spPr>
          <a:xfrm>
            <a:off x="841320" y="2359080"/>
            <a:ext cx="3148200" cy="14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“</a:t>
            </a: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Com estes critérios de aceite, encontre bugs e regressões. Cite a linha e uma entrada de reprodução.”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6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7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8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Sugerir testes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9" name="TextBox 19"/>
          <p:cNvSpPr/>
          <p:nvPr/>
        </p:nvSpPr>
        <p:spPr>
          <a:xfrm>
            <a:off x="4529160" y="2359080"/>
            <a:ext cx="31482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“</a:t>
            </a: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Quais casos faltam para os limites e erros desta função? Explique o que cada teste comprova.”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0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1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2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Avaliar risco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" name="TextBox 23"/>
          <p:cNvSpPr/>
          <p:nvPr/>
        </p:nvSpPr>
        <p:spPr>
          <a:xfrm>
            <a:off x="8217360" y="2359080"/>
            <a:ext cx="31482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“</a:t>
            </a: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Que hipótese sua depende de contexto ausente? Como validá-la antes de alterar o código?”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Depois do Encontro 2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5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O mesmo repositório recebe o pipeline no Encontro 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6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77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778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779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79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2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E2: execução local reproduzível → E3: execução automatizada e status check.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3" name="Rounded Rectangle 12"/>
          <p:cNvSpPr/>
          <p:nvPr/>
        </p:nvSpPr>
        <p:spPr>
          <a:xfrm>
            <a:off x="77724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4" name="TextBox 13"/>
          <p:cNvSpPr/>
          <p:nvPr/>
        </p:nvSpPr>
        <p:spPr>
          <a:xfrm>
            <a:off x="850320" y="2139840"/>
            <a:ext cx="1711440" cy="5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Equipe com acesso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" name="TextBox 14"/>
          <p:cNvSpPr/>
          <p:nvPr/>
        </p:nvSpPr>
        <p:spPr>
          <a:xfrm>
            <a:off x="267192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6" name="Rounded Rectangle 15"/>
          <p:cNvSpPr/>
          <p:nvPr/>
        </p:nvSpPr>
        <p:spPr>
          <a:xfrm>
            <a:off x="2964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7" name="TextBox 16"/>
          <p:cNvSpPr/>
          <p:nvPr/>
        </p:nvSpPr>
        <p:spPr>
          <a:xfrm>
            <a:off x="3037680" y="2139840"/>
            <a:ext cx="1711440" cy="5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Código na main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8" name="TextBox 17"/>
          <p:cNvSpPr/>
          <p:nvPr/>
        </p:nvSpPr>
        <p:spPr>
          <a:xfrm>
            <a:off x="4859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" name="Rounded Rectangle 18"/>
          <p:cNvSpPr/>
          <p:nvPr/>
        </p:nvSpPr>
        <p:spPr>
          <a:xfrm>
            <a:off x="515160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0" name="TextBox 19"/>
          <p:cNvSpPr/>
          <p:nvPr/>
        </p:nvSpPr>
        <p:spPr>
          <a:xfrm>
            <a:off x="5225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README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1" name="TextBox 20"/>
          <p:cNvSpPr/>
          <p:nvPr/>
        </p:nvSpPr>
        <p:spPr>
          <a:xfrm>
            <a:off x="704628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" name="Rounded Rectangle 21"/>
          <p:cNvSpPr/>
          <p:nvPr/>
        </p:nvSpPr>
        <p:spPr>
          <a:xfrm>
            <a:off x="733896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3" name="TextBox 22"/>
          <p:cNvSpPr/>
          <p:nvPr/>
        </p:nvSpPr>
        <p:spPr>
          <a:xfrm>
            <a:off x="741204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Teste local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4" name="TextBox 23"/>
          <p:cNvSpPr/>
          <p:nvPr/>
        </p:nvSpPr>
        <p:spPr>
          <a:xfrm>
            <a:off x="9233640" y="2185560"/>
            <a:ext cx="2739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900" spc="-1" strike="noStrike">
                <a:solidFill>
                  <a:srgbClr val="5e6c7a"/>
                </a:solidFill>
                <a:latin typeface="Aptos"/>
              </a:rPr>
              <a:t>→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5" name="Rounded Rectangle 24"/>
          <p:cNvSpPr/>
          <p:nvPr/>
        </p:nvSpPr>
        <p:spPr>
          <a:xfrm>
            <a:off x="9526320" y="1965960"/>
            <a:ext cx="1857600" cy="822600"/>
          </a:xfrm>
          <a:prstGeom prst="roundRect">
            <a:avLst>
              <a:gd name="adj" fmla="val 8000"/>
            </a:avLst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6" name="TextBox 25"/>
          <p:cNvSpPr/>
          <p:nvPr/>
        </p:nvSpPr>
        <p:spPr>
          <a:xfrm>
            <a:off x="9599400" y="2139840"/>
            <a:ext cx="1711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700" spc="-1" strike="noStrike">
                <a:solidFill>
                  <a:srgbClr val="ffffff"/>
                </a:solidFill>
                <a:latin typeface="Aptos"/>
              </a:rPr>
              <a:t>CI no E3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7" name="TextBox 26"/>
          <p:cNvSpPr/>
          <p:nvPr/>
        </p:nvSpPr>
        <p:spPr>
          <a:xfrm>
            <a:off x="914400" y="3246120"/>
            <a:ext cx="10058040" cy="12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Levar pronto: link do repo, código-base, comandos de execução e teste.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Próxima mudança: adicionar o pipeline em branch e abrir PR.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2300" spc="-1" strike="noStrike">
                <a:solidFill>
                  <a:srgbClr val="0f172a"/>
                </a:solidFill>
                <a:latin typeface="Aptos"/>
              </a:rPr>
              <a:t>A CI automatiza a validação que a equipe já executou localmente.</a:t>
            </a:r>
            <a:endParaRPr b="0" lang="pt-BR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TextBox 1"/>
          <p:cNvSpPr/>
          <p:nvPr/>
        </p:nvSpPr>
        <p:spPr>
          <a:xfrm>
            <a:off x="777240" y="2286000"/>
            <a:ext cx="10605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Encontro 3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9" name="TextBox 2"/>
          <p:cNvSpPr/>
          <p:nvPr/>
        </p:nvSpPr>
        <p:spPr>
          <a:xfrm>
            <a:off x="1920240" y="3090600"/>
            <a:ext cx="83192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de7f0"/>
                </a:solidFill>
                <a:latin typeface="Aptos"/>
              </a:rPr>
              <a:t>12/09/2026 | Integração contínua, testes e IA para automação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0" name="TextBox 3"/>
          <p:cNvSpPr/>
          <p:nvPr/>
        </p:nvSpPr>
        <p:spPr>
          <a:xfrm>
            <a:off x="5532120" y="6263640"/>
            <a:ext cx="1186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de7f0"/>
                </a:solidFill>
                <a:latin typeface="Aptos"/>
              </a:rPr>
              <a:t>80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01" name="Picture 4" descr="e3_refresh.png"/>
          <p:cNvPicPr/>
          <p:nvPr/>
        </p:nvPicPr>
        <p:blipFill>
          <a:blip r:embed="rId1"/>
          <a:stretch/>
        </p:blipFill>
        <p:spPr>
          <a:xfrm>
            <a:off x="5615640" y="914400"/>
            <a:ext cx="958320" cy="958320"/>
          </a:xfrm>
          <a:prstGeom prst="rect">
            <a:avLst/>
          </a:prstGeom>
          <a:ln w="0">
            <a:noFill/>
          </a:ln>
        </p:spPr>
      </p:pic>
      <p:pic>
        <p:nvPicPr>
          <p:cNvPr id="1802" name="Picture 5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Encontro 3 - Pipeline de CI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4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Feedback rápido para reduzir risco de integração e validar sugestões de 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5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6" name="Chevron 4"/>
          <p:cNvSpPr/>
          <p:nvPr/>
        </p:nvSpPr>
        <p:spPr>
          <a:xfrm>
            <a:off x="914400" y="1600200"/>
            <a:ext cx="1689840" cy="784440"/>
          </a:xfrm>
          <a:prstGeom prst="chevron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7" name="TextBox 5"/>
          <p:cNvSpPr/>
          <p:nvPr/>
        </p:nvSpPr>
        <p:spPr>
          <a:xfrm>
            <a:off x="1005840" y="1865520"/>
            <a:ext cx="13240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Trigger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8" name="Chevron 6"/>
          <p:cNvSpPr/>
          <p:nvPr/>
        </p:nvSpPr>
        <p:spPr>
          <a:xfrm>
            <a:off x="3063240" y="1600200"/>
            <a:ext cx="1689840" cy="784440"/>
          </a:xfrm>
          <a:prstGeom prst="chevron">
            <a:avLst>
              <a:gd name="adj" fmla="val 50000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9" name="TextBox 7"/>
          <p:cNvSpPr/>
          <p:nvPr/>
        </p:nvSpPr>
        <p:spPr>
          <a:xfrm>
            <a:off x="3154680" y="1865520"/>
            <a:ext cx="13240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Build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0" name="Chevron 8"/>
          <p:cNvSpPr/>
          <p:nvPr/>
        </p:nvSpPr>
        <p:spPr>
          <a:xfrm>
            <a:off x="5212080" y="1600200"/>
            <a:ext cx="1689840" cy="784440"/>
          </a:xfrm>
          <a:prstGeom prst="chevron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1" name="TextBox 9"/>
          <p:cNvSpPr/>
          <p:nvPr/>
        </p:nvSpPr>
        <p:spPr>
          <a:xfrm>
            <a:off x="5303520" y="1865520"/>
            <a:ext cx="13240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Testes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2" name="Chevron 10"/>
          <p:cNvSpPr/>
          <p:nvPr/>
        </p:nvSpPr>
        <p:spPr>
          <a:xfrm>
            <a:off x="7360920" y="1600200"/>
            <a:ext cx="1689840" cy="784440"/>
          </a:xfrm>
          <a:prstGeom prst="chevron">
            <a:avLst>
              <a:gd name="adj" fmla="val 50000"/>
            </a:avLst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3" name="TextBox 11"/>
          <p:cNvSpPr/>
          <p:nvPr/>
        </p:nvSpPr>
        <p:spPr>
          <a:xfrm>
            <a:off x="7452360" y="1865520"/>
            <a:ext cx="13240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Qualidade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4" name="Chevron 12"/>
          <p:cNvSpPr/>
          <p:nvPr/>
        </p:nvSpPr>
        <p:spPr>
          <a:xfrm>
            <a:off x="9509760" y="1600200"/>
            <a:ext cx="1689840" cy="784440"/>
          </a:xfrm>
          <a:prstGeom prst="chevron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5" name="TextBox 13"/>
          <p:cNvSpPr/>
          <p:nvPr/>
        </p:nvSpPr>
        <p:spPr>
          <a:xfrm>
            <a:off x="9601200" y="1865520"/>
            <a:ext cx="132408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Artefato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6" name="Rounded Rectangle 14"/>
          <p:cNvSpPr/>
          <p:nvPr/>
        </p:nvSpPr>
        <p:spPr>
          <a:xfrm>
            <a:off x="731520" y="2926080"/>
            <a:ext cx="3427200" cy="178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7" name="Rectangle 15"/>
          <p:cNvSpPr/>
          <p:nvPr/>
        </p:nvSpPr>
        <p:spPr>
          <a:xfrm>
            <a:off x="731520" y="2926080"/>
            <a:ext cx="71280" cy="178128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8" name="TextBox 16"/>
          <p:cNvSpPr/>
          <p:nvPr/>
        </p:nvSpPr>
        <p:spPr>
          <a:xfrm>
            <a:off x="896040" y="305424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Conceitos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9" name="TextBox 17"/>
          <p:cNvSpPr/>
          <p:nvPr/>
        </p:nvSpPr>
        <p:spPr>
          <a:xfrm>
            <a:off x="896040" y="342900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Runners, jobs e etapas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Variáveis, cache e artefatos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Falha como feedback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IA para interpretar logs e sugerir testes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0" name="Rounded Rectangle 18"/>
          <p:cNvSpPr/>
          <p:nvPr/>
        </p:nvSpPr>
        <p:spPr>
          <a:xfrm>
            <a:off x="4389120" y="2926080"/>
            <a:ext cx="3427200" cy="178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1" name="Rectangle 19"/>
          <p:cNvSpPr/>
          <p:nvPr/>
        </p:nvSpPr>
        <p:spPr>
          <a:xfrm>
            <a:off x="4389120" y="2926080"/>
            <a:ext cx="71280" cy="178128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2" name="TextBox 20"/>
          <p:cNvSpPr/>
          <p:nvPr/>
        </p:nvSpPr>
        <p:spPr>
          <a:xfrm>
            <a:off x="4553640" y="305424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Laboratório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3" name="TextBox 21"/>
          <p:cNvSpPr/>
          <p:nvPr/>
        </p:nvSpPr>
        <p:spPr>
          <a:xfrm>
            <a:off x="4553640" y="342900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Criar pipeline inicial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Executar testes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Gerar ou melhorar testes com 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Gerar artefato/imagem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Analisar logs de falha com validação humana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4" name="Rounded Rectangle 22"/>
          <p:cNvSpPr/>
          <p:nvPr/>
        </p:nvSpPr>
        <p:spPr>
          <a:xfrm>
            <a:off x="8046720" y="2926080"/>
            <a:ext cx="3427200" cy="178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5" name="Rectangle 23"/>
          <p:cNvSpPr/>
          <p:nvPr/>
        </p:nvSpPr>
        <p:spPr>
          <a:xfrm>
            <a:off x="8046720" y="2926080"/>
            <a:ext cx="71280" cy="178128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6" name="TextBox 24"/>
          <p:cNvSpPr/>
          <p:nvPr/>
        </p:nvSpPr>
        <p:spPr>
          <a:xfrm>
            <a:off x="8211240" y="305424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Saída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7" name="TextBox 25"/>
          <p:cNvSpPr/>
          <p:nvPr/>
        </p:nvSpPr>
        <p:spPr>
          <a:xfrm>
            <a:off x="8211240" y="342900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Pipeline executando a cada PR/push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Evidências de teste e qualidade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Sugestões de IA validadas por execução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Ação corretiva registrada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8" name="TextBox 26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" name="TextBox 27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0" name="Picture 28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1831" name="Picture 29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CI Explicado de Forma Prática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Sempre com o log como evidência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4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35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836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7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8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Por que existe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9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Detectar quebra de integração cedo.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Padronizar build e testes fora da máquina do aluno.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Criar evidência objetiva para PR e release.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1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2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Componentes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3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Trigger: quando executar.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Runner: onde executar.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Job/step: o que executar.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Artifact/cache: o que guardar ou reaproveitar.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4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5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6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Erros comuns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7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Pipeline verde sem teste real.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Comando que só funciona localmente.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Segredo exposto em variável/log.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Falha ignorada para “passar” a entrega.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8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849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0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Anatomia de um Job de CI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2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que acontece por trás do YAML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3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54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855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6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7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Trigger e contexto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8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push, pull_request, schedule ou disparo manual.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Escolher o gatilho certo evita pipeline rodando à toa.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9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0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1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Execução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2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Runner: máquina efêmera que nasce só para o job.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Steps sequenciais; cache acelera reinstalação de dependências.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Matrix roda o mesmo job em várias versões/SOs em paralelo.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4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5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Saída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6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Artefato: binário, imagem ou relatório gerado.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Logs detalhados e status final: verde ou vermelho.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Notificação para quem precisa agir.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7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868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9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83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Pipeline Mínimo - Exemplo GitHub Actions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1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Troque os comandos conforme a stack do projeto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2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73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874" name="Rounded Rectangle 5"/>
          <p:cNvSpPr/>
          <p:nvPr/>
        </p:nvSpPr>
        <p:spPr>
          <a:xfrm>
            <a:off x="731520" y="1481400"/>
            <a:ext cx="534744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5" name="TextBox 6"/>
          <p:cNvSpPr/>
          <p:nvPr/>
        </p:nvSpPr>
        <p:spPr>
          <a:xfrm>
            <a:off x="896040" y="1609200"/>
            <a:ext cx="5018400" cy="26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name: ci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on: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pull_request: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push: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branches: [main]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jobs: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build-test: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runs-on: ubuntu-latest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steps: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uses: actions/checkout@v4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uses: actions/setup-node@v4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with: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node-version: 22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cache: npm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run: npm ci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run: npm test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run: npm run build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6" name="Rounded Rectangle 7"/>
          <p:cNvSpPr/>
          <p:nvPr/>
        </p:nvSpPr>
        <p:spPr>
          <a:xfrm>
            <a:off x="6355080" y="148140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7" name="Rectangle 8"/>
          <p:cNvSpPr/>
          <p:nvPr/>
        </p:nvSpPr>
        <p:spPr>
          <a:xfrm>
            <a:off x="6355080" y="1481400"/>
            <a:ext cx="71280" cy="1326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8" name="TextBox 9"/>
          <p:cNvSpPr/>
          <p:nvPr/>
        </p:nvSpPr>
        <p:spPr>
          <a:xfrm>
            <a:off x="6519600" y="160920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Como explicar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9" name="TextBox 10"/>
          <p:cNvSpPr/>
          <p:nvPr/>
        </p:nvSpPr>
        <p:spPr>
          <a:xfrm>
            <a:off x="6519600" y="1965960"/>
            <a:ext cx="46890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O YAML declara quando executar e a sequência de validação.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O pipeline deve falhar quando build ou testes falharem.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0" name="Rounded Rectangle 11"/>
          <p:cNvSpPr/>
          <p:nvPr/>
        </p:nvSpPr>
        <p:spPr>
          <a:xfrm>
            <a:off x="6355080" y="291996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1" name="Rectangle 12"/>
          <p:cNvSpPr/>
          <p:nvPr/>
        </p:nvSpPr>
        <p:spPr>
          <a:xfrm>
            <a:off x="6355080" y="2919960"/>
            <a:ext cx="71280" cy="1326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2" name="TextBox 13"/>
          <p:cNvSpPr/>
          <p:nvPr/>
        </p:nvSpPr>
        <p:spPr>
          <a:xfrm>
            <a:off x="6519600" y="304812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Como adaptar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3" name="TextBox 14"/>
          <p:cNvSpPr/>
          <p:nvPr/>
        </p:nvSpPr>
        <p:spPr>
          <a:xfrm>
            <a:off x="6519600" y="3404520"/>
            <a:ext cx="46890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Node pode virar Python, Java, Go ou .NET.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A lógica se mantém: checkout, setup, dependências, testes, build e artefato.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4" name="Rounded Rectangle 15"/>
          <p:cNvSpPr/>
          <p:nvPr/>
        </p:nvSpPr>
        <p:spPr>
          <a:xfrm>
            <a:off x="6355080" y="435852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5" name="Rectangle 16"/>
          <p:cNvSpPr/>
          <p:nvPr/>
        </p:nvSpPr>
        <p:spPr>
          <a:xfrm>
            <a:off x="6355080" y="4358520"/>
            <a:ext cx="71280" cy="1326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6" name="TextBox 17"/>
          <p:cNvSpPr/>
          <p:nvPr/>
        </p:nvSpPr>
        <p:spPr>
          <a:xfrm>
            <a:off x="6519600" y="448668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Como validar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7" name="TextBox 18"/>
          <p:cNvSpPr/>
          <p:nvPr/>
        </p:nvSpPr>
        <p:spPr>
          <a:xfrm>
            <a:off x="6519600" y="4843440"/>
            <a:ext cx="46890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Abrir a aba Actions/Pipelines.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Conferir logs, tempo de execução e commit associado.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8" name="Picture 19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889" name="TextBox 2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0" name="TextBox 2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84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 Pirâmide de Testes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2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Testes lentos no topo custam feedback; equilíbrio é decisão estratégica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3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94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895" name="Freeform 5"/>
          <p:cNvSpPr/>
          <p:nvPr/>
        </p:nvSpPr>
        <p:spPr>
          <a:xfrm>
            <a:off x="2270880" y="1691640"/>
            <a:ext cx="1126080" cy="1278360"/>
          </a:xfrm>
          <a:custGeom>
            <a:avLst/>
            <a:gdLst>
              <a:gd name="textAreaLeft" fmla="*/ 0 w 1126080"/>
              <a:gd name="textAreaRight" fmla="*/ 1127880 w 1126080"/>
              <a:gd name="textAreaTop" fmla="*/ 0 h 1278360"/>
              <a:gd name="textAreaBottom" fmla="*/ 1280160 h 1278360"/>
            </a:gdLst>
            <a:ahLst/>
            <a:rect l="textAreaLeft" t="textAreaTop" r="textAreaRight" b="textAreaBottom"/>
            <a:pathLst>
              <a:path w="1127760" h="1280160">
                <a:moveTo>
                  <a:pt x="563880" y="0"/>
                </a:moveTo>
                <a:lnTo>
                  <a:pt x="563880" y="0"/>
                </a:lnTo>
                <a:lnTo>
                  <a:pt x="1127760" y="1280160"/>
                </a:lnTo>
                <a:lnTo>
                  <a:pt x="0" y="1280160"/>
                </a:lnTo>
                <a:lnTo>
                  <a:pt x="563880" y="0"/>
                </a:lnTo>
                <a:close/>
              </a:path>
            </a:pathLst>
          </a:custGeom>
          <a:solidFill>
            <a:srgbClr val="6750a4"/>
          </a:solidFill>
          <a:ln w="25400"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6" name="Freeform 6"/>
          <p:cNvSpPr/>
          <p:nvPr/>
        </p:nvSpPr>
        <p:spPr>
          <a:xfrm>
            <a:off x="1706760" y="2971800"/>
            <a:ext cx="2253600" cy="1278360"/>
          </a:xfrm>
          <a:custGeom>
            <a:avLst/>
            <a:gdLst>
              <a:gd name="textAreaLeft" fmla="*/ 0 w 2253600"/>
              <a:gd name="textAreaRight" fmla="*/ 2255400 w 2253600"/>
              <a:gd name="textAreaTop" fmla="*/ 0 h 1278360"/>
              <a:gd name="textAreaBottom" fmla="*/ 1280160 h 1278360"/>
            </a:gdLst>
            <a:ahLst/>
            <a:rect l="textAreaLeft" t="textAreaTop" r="textAreaRight" b="textAreaBottom"/>
            <a:pathLst>
              <a:path w="2255520" h="1280160">
                <a:moveTo>
                  <a:pt x="563880" y="0"/>
                </a:moveTo>
                <a:lnTo>
                  <a:pt x="1691640" y="0"/>
                </a:lnTo>
                <a:lnTo>
                  <a:pt x="2255520" y="1280160"/>
                </a:lnTo>
                <a:lnTo>
                  <a:pt x="0" y="1280160"/>
                </a:lnTo>
                <a:lnTo>
                  <a:pt x="563880" y="0"/>
                </a:lnTo>
                <a:close/>
              </a:path>
            </a:pathLst>
          </a:custGeom>
          <a:solidFill>
            <a:srgbClr val="2666ab"/>
          </a:solidFill>
          <a:ln w="25400"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7" name="Freeform 7"/>
          <p:cNvSpPr/>
          <p:nvPr/>
        </p:nvSpPr>
        <p:spPr>
          <a:xfrm>
            <a:off x="1143000" y="4251960"/>
            <a:ext cx="3381480" cy="1278360"/>
          </a:xfrm>
          <a:custGeom>
            <a:avLst/>
            <a:gdLst>
              <a:gd name="textAreaLeft" fmla="*/ 0 w 3381480"/>
              <a:gd name="textAreaRight" fmla="*/ 3383280 w 3381480"/>
              <a:gd name="textAreaTop" fmla="*/ 0 h 1278360"/>
              <a:gd name="textAreaBottom" fmla="*/ 1280160 h 1278360"/>
            </a:gdLst>
            <a:ahLst/>
            <a:rect l="textAreaLeft" t="textAreaTop" r="textAreaRight" b="textAreaBottom"/>
            <a:pathLst>
              <a:path w="3383280" h="1280160">
                <a:moveTo>
                  <a:pt x="563880" y="0"/>
                </a:moveTo>
                <a:lnTo>
                  <a:pt x="2819400" y="0"/>
                </a:lnTo>
                <a:lnTo>
                  <a:pt x="3383280" y="1280160"/>
                </a:lnTo>
                <a:lnTo>
                  <a:pt x="0" y="1280160"/>
                </a:lnTo>
                <a:lnTo>
                  <a:pt x="563880" y="0"/>
                </a:lnTo>
                <a:close/>
              </a:path>
            </a:pathLst>
          </a:custGeom>
          <a:solidFill>
            <a:srgbClr val="00897b"/>
          </a:solidFill>
          <a:ln w="25400"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8" name="TextBox 8"/>
          <p:cNvSpPr/>
          <p:nvPr/>
        </p:nvSpPr>
        <p:spPr>
          <a:xfrm>
            <a:off x="4892040" y="1691640"/>
            <a:ext cx="6399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Ponta a ponta / smoke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9" name="TextBox 9"/>
          <p:cNvSpPr/>
          <p:nvPr/>
        </p:nvSpPr>
        <p:spPr>
          <a:xfrm>
            <a:off x="4892040" y="2039040"/>
            <a:ext cx="6399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Poucos e lentos.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Testam o fluxo completo do usuário.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0" name="Rectangle 10"/>
          <p:cNvSpPr/>
          <p:nvPr/>
        </p:nvSpPr>
        <p:spPr>
          <a:xfrm>
            <a:off x="4745880" y="1710000"/>
            <a:ext cx="52920" cy="9583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1" name="TextBox 11"/>
          <p:cNvSpPr/>
          <p:nvPr/>
        </p:nvSpPr>
        <p:spPr>
          <a:xfrm>
            <a:off x="4892040" y="3017520"/>
            <a:ext cx="6399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Integração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2" name="TextBox 12"/>
          <p:cNvSpPr/>
          <p:nvPr/>
        </p:nvSpPr>
        <p:spPr>
          <a:xfrm>
            <a:off x="4892040" y="3364920"/>
            <a:ext cx="6399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Menos numerosos, mais lentos.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Testam a colaboração entre partes (API + banco).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3" name="Rectangle 13"/>
          <p:cNvSpPr/>
          <p:nvPr/>
        </p:nvSpPr>
        <p:spPr>
          <a:xfrm>
            <a:off x="4745880" y="3035880"/>
            <a:ext cx="52920" cy="9583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4" name="TextBox 14"/>
          <p:cNvSpPr/>
          <p:nvPr/>
        </p:nvSpPr>
        <p:spPr>
          <a:xfrm>
            <a:off x="4892040" y="4343400"/>
            <a:ext cx="6399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Unitários (base larga)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5" name="TextBox 15"/>
          <p:cNvSpPr/>
          <p:nvPr/>
        </p:nvSpPr>
        <p:spPr>
          <a:xfrm>
            <a:off x="4892040" y="4690800"/>
            <a:ext cx="6399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Muitos, rápidos e baratos.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Testam uma função ou regra isolada.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6" name="Rectangle 16"/>
          <p:cNvSpPr/>
          <p:nvPr/>
        </p:nvSpPr>
        <p:spPr>
          <a:xfrm>
            <a:off x="4745880" y="4361760"/>
            <a:ext cx="52920" cy="9583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07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908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9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85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Testes para Caber em 24h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1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Escolha testes que provem o fluxo, não tente cobrir tudo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2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13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914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5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6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Unitário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7" name="TextBox 8"/>
          <p:cNvSpPr/>
          <p:nvPr/>
        </p:nvSpPr>
        <p:spPr>
          <a:xfrm>
            <a:off x="85032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Funções puras, regras de negócio e validações.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Rápido, barato e ideal para CI inicial.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8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9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0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Integração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1" name="TextBox 12"/>
          <p:cNvSpPr/>
          <p:nvPr/>
        </p:nvSpPr>
        <p:spPr>
          <a:xfrm>
            <a:off x="455364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API + banco ou API + dependência.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Útil para Compose e projeto final.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Pode ser simplificado com serviço fake ou banco local.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2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3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4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Smoke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5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Verifica se a aplicação sobe e responde.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Bom para container e release.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Exemplo: curl /health ou chamada simples no endpoint principal.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6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927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8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Métricas de CI que Contam a Verdade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0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Ligando de volta às métricas DORA do Encontro 1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1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32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933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4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5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Tempo de build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6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Quanto mais rápido, mais vezes o time integra.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Builds de 20+ minutos matam a prática de CI na rotina.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7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8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9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Taxa de flakiness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0" name="TextBox 12"/>
          <p:cNvSpPr/>
          <p:nvPr/>
        </p:nvSpPr>
        <p:spPr>
          <a:xfrm>
            <a:off x="455364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Testes que falham aleatoriamente destroem a confiança no pipeline.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Precisa ser tratado como bug, não ignorado ou re-executado sem investigar.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1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2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3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Cobertura de teste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4" name="TextBox 16"/>
          <p:cNvSpPr/>
          <p:nvPr/>
        </p:nvSpPr>
        <p:spPr>
          <a:xfrm>
            <a:off x="825696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Útil como sinal de risco.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Perigosa como meta: 100% de cobertura não garante ausência de bugs.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5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946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7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Testes Frágeis (Flaky Tests)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9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Um dos maiores destruidores de confiança em CI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0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51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952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3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4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Causas comuns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5" name="TextBox 8"/>
          <p:cNvSpPr/>
          <p:nvPr/>
        </p:nvSpPr>
        <p:spPr>
          <a:xfrm>
            <a:off x="85032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Dependência de tempo ou de ordem de execução.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Chamadas de rede reais em vez de simuladas.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Dados compartilhados entre testes; condições de corrida.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7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8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Como resolver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9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Isolar estado entre testes.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Usar mocks/fakes para dependências externas.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Tornar o teste determinístico, sem depender de sorte.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0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1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2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 para discussão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3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Um teste que falha 1 vez a cada 20 execuções — vocês confiam nele?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fazer com ele: consertar, isolar ou remover do pipeline?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4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965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6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IA em Pipelines: Self-Healing e Geração de Testes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8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Como o mercado já automatiza a resposta a falhas de CI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70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971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2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3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Pipeline self-healing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4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Detecta falha, analisa causa, propõe/aplica correção e roda de novo para validar.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Já é tratado como padrão de arquitetura de CI/CD em 2026.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5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6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7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Geração de testes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8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Diffblue Cover (Java/JUnit), CodiumAI, Copilot/Amazon Q para scaffolding de teste.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 IA gera o teste; cobertura de caminho crítico ainda é revisão humana.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9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0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1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Retry e flakiness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2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Retry inteligente reduz falhas causadas por flakiness.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Seleção preditiva de testes prioriza os mais propensos a pegar o bug.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3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1984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5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89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Atividade 3 - Pipeline de CI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Provar, com log, que o pipeline protege a entrega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8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1990" name="Rounded Rectangle 5"/>
          <p:cNvSpPr/>
          <p:nvPr/>
        </p:nvSpPr>
        <p:spPr>
          <a:xfrm>
            <a:off x="68580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1" name="Rectangle 6"/>
          <p:cNvSpPr/>
          <p:nvPr/>
        </p:nvSpPr>
        <p:spPr>
          <a:xfrm>
            <a:off x="685800" y="1508760"/>
            <a:ext cx="71280" cy="25495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2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Perguntas guia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3" name="TextBox 8"/>
          <p:cNvSpPr/>
          <p:nvPr/>
        </p:nvSpPr>
        <p:spPr>
          <a:xfrm>
            <a:off x="850320" y="199332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pipeline falha quando deveria falhar?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Qual teste realmente prova que o código funciona?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log do erro é suficiente para outra pessoa entender a causa?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Onde a IA ajudou a interpretar uma falha?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4" name="Rounded Rectangle 9"/>
          <p:cNvSpPr/>
          <p:nvPr/>
        </p:nvSpPr>
        <p:spPr>
          <a:xfrm>
            <a:off x="438912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5" name="Rectangle 10"/>
          <p:cNvSpPr/>
          <p:nvPr/>
        </p:nvSpPr>
        <p:spPr>
          <a:xfrm>
            <a:off x="4389120" y="1508760"/>
            <a:ext cx="71280" cy="25495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6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Evidências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7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Pipeline executando a cada push/PR.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Ao menos um teste real, não trivial.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Um log de falha analisado e corrigido.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Badge ou print do pipeline em execução.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8" name="Rounded Rectangle 13"/>
          <p:cNvSpPr/>
          <p:nvPr/>
        </p:nvSpPr>
        <p:spPr>
          <a:xfrm>
            <a:off x="809244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9" name="Rectangle 14"/>
          <p:cNvSpPr/>
          <p:nvPr/>
        </p:nvSpPr>
        <p:spPr>
          <a:xfrm>
            <a:off x="8092440" y="1508760"/>
            <a:ext cx="71280" cy="25495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0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1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Arquivo de pipeline versionado no repositório.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Print ou link do pipeline executando com sucesso.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" name="Rounded Rectangle 17"/>
          <p:cNvSpPr/>
          <p:nvPr/>
        </p:nvSpPr>
        <p:spPr>
          <a:xfrm>
            <a:off x="685800" y="4224600"/>
            <a:ext cx="108338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3" name="Rectangle 18"/>
          <p:cNvSpPr/>
          <p:nvPr/>
        </p:nvSpPr>
        <p:spPr>
          <a:xfrm>
            <a:off x="685800" y="4224600"/>
            <a:ext cx="71280" cy="1186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4" name="TextBox 19"/>
          <p:cNvSpPr/>
          <p:nvPr/>
        </p:nvSpPr>
        <p:spPr>
          <a:xfrm>
            <a:off x="850320" y="435240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Conexão com avaliação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5" name="TextBox 20"/>
          <p:cNvSpPr/>
          <p:nvPr/>
        </p:nvSpPr>
        <p:spPr>
          <a:xfrm>
            <a:off x="850320" y="4709160"/>
            <a:ext cx="10541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Entra diretamente nos 25% de Pipeline CI da rubrica final.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6" name="Picture 21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007" name="TextBox 22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8" name="TextBox 23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90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Prompts Úteis - Testes e Logs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0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IA como acelerador de investigação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1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12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pic>
        <p:nvPicPr>
          <p:cNvPr id="2013" name="Picture 5" descr="ic_prompt.png"/>
          <p:cNvPicPr/>
          <p:nvPr/>
        </p:nvPicPr>
        <p:blipFill>
          <a:blip r:embed="rId2"/>
          <a:stretch/>
        </p:blipFill>
        <p:spPr>
          <a:xfrm>
            <a:off x="10817280" y="694800"/>
            <a:ext cx="400680" cy="400680"/>
          </a:xfrm>
          <a:prstGeom prst="rect">
            <a:avLst/>
          </a:prstGeom>
          <a:ln w="0">
            <a:noFill/>
          </a:ln>
        </p:spPr>
      </p:pic>
      <p:sp>
        <p:nvSpPr>
          <p:cNvPr id="2014" name="Rounded Rectangle 6"/>
          <p:cNvSpPr/>
          <p:nvPr/>
        </p:nvSpPr>
        <p:spPr>
          <a:xfrm>
            <a:off x="68580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5" name="Rectangle 7"/>
          <p:cNvSpPr/>
          <p:nvPr/>
        </p:nvSpPr>
        <p:spPr>
          <a:xfrm>
            <a:off x="685800" y="1508760"/>
            <a:ext cx="71280" cy="17355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6" name="TextBox 8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Teste de borda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7" name="TextBox 9"/>
          <p:cNvSpPr/>
          <p:nvPr/>
        </p:nvSpPr>
        <p:spPr>
          <a:xfrm>
            <a:off x="850320" y="1993320"/>
            <a:ext cx="31345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Analise a função abaixo e sugira casos de teste relevantes, incluindo entradas inválidas, limites e regressões prováveis.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Código: &lt;trecho&gt;.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8" name="Rounded Rectangle 10"/>
          <p:cNvSpPr/>
          <p:nvPr/>
        </p:nvSpPr>
        <p:spPr>
          <a:xfrm>
            <a:off x="438912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9" name="Rectangle 11"/>
          <p:cNvSpPr/>
          <p:nvPr/>
        </p:nvSpPr>
        <p:spPr>
          <a:xfrm>
            <a:off x="4389120" y="1508760"/>
            <a:ext cx="71280" cy="17355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0" name="TextBox 12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Log de pipeline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1" name="TextBox 13"/>
          <p:cNvSpPr/>
          <p:nvPr/>
        </p:nvSpPr>
        <p:spPr>
          <a:xfrm>
            <a:off x="4553640" y="1993320"/>
            <a:ext cx="31345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Este job de CI falhou. Explique a provável causa, liste hipóteses em ordem de probabilidade e sugira validações antes de alterar código.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Log: &lt;colar trecho sem segredos&gt;.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2" name="Rounded Rectangle 14"/>
          <p:cNvSpPr/>
          <p:nvPr/>
        </p:nvSpPr>
        <p:spPr>
          <a:xfrm>
            <a:off x="809244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3" name="Rectangle 15"/>
          <p:cNvSpPr/>
          <p:nvPr/>
        </p:nvSpPr>
        <p:spPr>
          <a:xfrm>
            <a:off x="8092440" y="1508760"/>
            <a:ext cx="71280" cy="17355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4" name="TextBox 16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YAML de CI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5" name="TextBox 17"/>
          <p:cNvSpPr/>
          <p:nvPr/>
        </p:nvSpPr>
        <p:spPr>
          <a:xfrm>
            <a:off x="8256960" y="1993320"/>
            <a:ext cx="31345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Revise este pipeline e aponte riscos: cache incorreto, comandos frágeis, segredos em log, falta de testes e etapas sem valor.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YAML: &lt;trecho&gt;.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6" name="Picture 18" descr="Logo Unifor.png"/>
          <p:cNvPicPr/>
          <p:nvPr/>
        </p:nvPicPr>
        <p:blipFill>
          <a:blip r:embed="rId3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027" name="TextBox 19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8" name="TextBox 20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Depois do Encontro 3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0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que levar pronto para o Encontro 4: containers e Compose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1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32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033" name="Rounded Rectangle 5"/>
          <p:cNvSpPr/>
          <p:nvPr/>
        </p:nvSpPr>
        <p:spPr>
          <a:xfrm>
            <a:off x="685800" y="1508760"/>
            <a:ext cx="10833840" cy="136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4" name="Rectangle 6"/>
          <p:cNvSpPr/>
          <p:nvPr/>
        </p:nvSpPr>
        <p:spPr>
          <a:xfrm>
            <a:off x="685800" y="1508760"/>
            <a:ext cx="71280" cy="13608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5" name="TextBox 7"/>
          <p:cNvSpPr/>
          <p:nvPr/>
        </p:nvSpPr>
        <p:spPr>
          <a:xfrm>
            <a:off x="850320" y="163692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Tarefa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6" name="TextBox 8"/>
          <p:cNvSpPr/>
          <p:nvPr/>
        </p:nvSpPr>
        <p:spPr>
          <a:xfrm>
            <a:off x="850320" y="1993320"/>
            <a:ext cx="1054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Corrigir pendências do CI.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Documentar comandos de build/teste no README.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Levar para o Encontro 4: porta da aplicação, variáveis e dependências externas.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7" name="Picture 9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038" name="TextBox 1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9" name="TextBox 1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TextBox 1"/>
          <p:cNvSpPr/>
          <p:nvPr/>
        </p:nvSpPr>
        <p:spPr>
          <a:xfrm>
            <a:off x="777240" y="2286000"/>
            <a:ext cx="10605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Encontro 4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1" name="TextBox 2"/>
          <p:cNvSpPr/>
          <p:nvPr/>
        </p:nvSpPr>
        <p:spPr>
          <a:xfrm>
            <a:off x="1920240" y="3090600"/>
            <a:ext cx="83192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de7f0"/>
                </a:solidFill>
                <a:latin typeface="Aptos"/>
              </a:rPr>
              <a:t>24/09/2026 | Containers, integração e troubleshooting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2" name="TextBox 3"/>
          <p:cNvSpPr/>
          <p:nvPr/>
        </p:nvSpPr>
        <p:spPr>
          <a:xfrm>
            <a:off x="5532120" y="6263640"/>
            <a:ext cx="1186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de7f0"/>
                </a:solidFill>
                <a:latin typeface="Aptos"/>
              </a:rPr>
              <a:t>93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3" name="Picture 4" descr="e4_container.png"/>
          <p:cNvPicPr/>
          <p:nvPr/>
        </p:nvPicPr>
        <p:blipFill>
          <a:blip r:embed="rId1"/>
          <a:stretch/>
        </p:blipFill>
        <p:spPr>
          <a:xfrm>
            <a:off x="5615640" y="914400"/>
            <a:ext cx="958320" cy="958320"/>
          </a:xfrm>
          <a:prstGeom prst="rect">
            <a:avLst/>
          </a:prstGeom>
          <a:ln w="0">
            <a:noFill/>
          </a:ln>
        </p:spPr>
      </p:pic>
      <p:pic>
        <p:nvPicPr>
          <p:cNvPr id="2044" name="Picture 5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Encontro 4 - Containers e Compose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6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Ambiente reproduzível para desenvolvimento, validação e diagnóstico assistido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8" name="Rounded Rectangle 4"/>
          <p:cNvSpPr/>
          <p:nvPr/>
        </p:nvSpPr>
        <p:spPr>
          <a:xfrm>
            <a:off x="685800" y="1417320"/>
            <a:ext cx="3427200" cy="20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9" name="Rectangle 5"/>
          <p:cNvSpPr/>
          <p:nvPr/>
        </p:nvSpPr>
        <p:spPr>
          <a:xfrm>
            <a:off x="685800" y="1417320"/>
            <a:ext cx="71280" cy="205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0" name="TextBox 6"/>
          <p:cNvSpPr/>
          <p:nvPr/>
        </p:nvSpPr>
        <p:spPr>
          <a:xfrm>
            <a:off x="85032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Dockerfile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1" name="TextBox 7"/>
          <p:cNvSpPr/>
          <p:nvPr/>
        </p:nvSpPr>
        <p:spPr>
          <a:xfrm>
            <a:off x="850320" y="1920240"/>
            <a:ext cx="31345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Imagem mínima e reproduzível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Camadas e cache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Variáveis de ambiente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Execução local previsível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IA para explicar erros de build sem expor segredos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2" name="Rounded Rectangle 8"/>
          <p:cNvSpPr/>
          <p:nvPr/>
        </p:nvSpPr>
        <p:spPr>
          <a:xfrm>
            <a:off x="4389120" y="1417320"/>
            <a:ext cx="3427200" cy="20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3" name="Rectangle 9"/>
          <p:cNvSpPr/>
          <p:nvPr/>
        </p:nvSpPr>
        <p:spPr>
          <a:xfrm>
            <a:off x="4389120" y="1417320"/>
            <a:ext cx="71280" cy="20556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4" name="TextBox 10"/>
          <p:cNvSpPr/>
          <p:nvPr/>
        </p:nvSpPr>
        <p:spPr>
          <a:xfrm>
            <a:off x="45536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Compose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5" name="TextBox 11"/>
          <p:cNvSpPr/>
          <p:nvPr/>
        </p:nvSpPr>
        <p:spPr>
          <a:xfrm>
            <a:off x="4553640" y="1920240"/>
            <a:ext cx="31345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Serviços, redes e volumes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Banco e dependências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Health checks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Logs de serviços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6" name="Rounded Rectangle 12"/>
          <p:cNvSpPr/>
          <p:nvPr/>
        </p:nvSpPr>
        <p:spPr>
          <a:xfrm>
            <a:off x="8092440" y="1417320"/>
            <a:ext cx="3427200" cy="20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7" name="Rectangle 13"/>
          <p:cNvSpPr/>
          <p:nvPr/>
        </p:nvSpPr>
        <p:spPr>
          <a:xfrm>
            <a:off x="8092440" y="1417320"/>
            <a:ext cx="71280" cy="205560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8" name="TextBox 14"/>
          <p:cNvSpPr/>
          <p:nvPr/>
        </p:nvSpPr>
        <p:spPr>
          <a:xfrm>
            <a:off x="825696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Laboratório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9" name="TextBox 15"/>
          <p:cNvSpPr/>
          <p:nvPr/>
        </p:nvSpPr>
        <p:spPr>
          <a:xfrm>
            <a:off x="8256960" y="1920240"/>
            <a:ext cx="31345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Containerizar aplicação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Subir stack local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Validar integração API + banco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Usar IA para diagnosticar falha de container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Documentar comandos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0" name="Rounded Rectangle 16"/>
          <p:cNvSpPr/>
          <p:nvPr/>
        </p:nvSpPr>
        <p:spPr>
          <a:xfrm>
            <a:off x="685800" y="3977640"/>
            <a:ext cx="10833840" cy="104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1" name="Rectangle 17"/>
          <p:cNvSpPr/>
          <p:nvPr/>
        </p:nvSpPr>
        <p:spPr>
          <a:xfrm>
            <a:off x="685800" y="3977640"/>
            <a:ext cx="71280" cy="10497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2" name="TextBox 18"/>
          <p:cNvSpPr/>
          <p:nvPr/>
        </p:nvSpPr>
        <p:spPr>
          <a:xfrm>
            <a:off x="850320" y="4105800"/>
            <a:ext cx="10541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Saída do encontro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3" name="TextBox 19"/>
          <p:cNvSpPr/>
          <p:nvPr/>
        </p:nvSpPr>
        <p:spPr>
          <a:xfrm>
            <a:off x="850320" y="4480560"/>
            <a:ext cx="10541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Aplicação executável por comando padronizado, com instruções, evidências de execução e correções explicadas.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4" name="TextBox 20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5" name="TextBox 21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94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6" name="Picture 22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2067" name="Picture 23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Containers Explicados Sem Excesso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9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essencial para operar e diagnosticar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0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71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072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3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4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Imagem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5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Pacote versionável da aplicação.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Criada por Dockerfile.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Deve ser reproduzível, pequena e sem segredos.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6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7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8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Container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9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Processo isolado criado a partir da imagem.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Tem logs, portas, variáveis e ciclo de vida.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Pode morrer: por isso health check e logs importam.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0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1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2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Compose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3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Orquestra múltiplos serviços localmente.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Padroniza API, banco, rede e volumes.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Ótimo para laboratório e validação integrada.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4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085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6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95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Por Que Containers?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8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problema que containers resolvem de verdade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90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091" name="Rounded Rectangle 5"/>
          <p:cNvSpPr/>
          <p:nvPr/>
        </p:nvSpPr>
        <p:spPr>
          <a:xfrm>
            <a:off x="685800" y="1508760"/>
            <a:ext cx="3427200" cy="159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2" name="Rectangle 6"/>
          <p:cNvSpPr/>
          <p:nvPr/>
        </p:nvSpPr>
        <p:spPr>
          <a:xfrm>
            <a:off x="685800" y="1508760"/>
            <a:ext cx="71280" cy="159840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3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problema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4" name="TextBox 8"/>
          <p:cNvSpPr/>
          <p:nvPr/>
        </p:nvSpPr>
        <p:spPr>
          <a:xfrm>
            <a:off x="85032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Diferenças de SO, versão de linguagem e dependências geram bugs que só aparecem em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5" name="Rounded Rectangle 9"/>
          <p:cNvSpPr/>
          <p:nvPr/>
        </p:nvSpPr>
        <p:spPr>
          <a:xfrm>
            <a:off x="4389120" y="1508760"/>
            <a:ext cx="3427200" cy="159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6" name="Rectangle 10"/>
          <p:cNvSpPr/>
          <p:nvPr/>
        </p:nvSpPr>
        <p:spPr>
          <a:xfrm>
            <a:off x="4389120" y="1508760"/>
            <a:ext cx="71280" cy="15984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7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VM vs container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8" name="TextBox 12"/>
          <p:cNvSpPr/>
          <p:nvPr/>
        </p:nvSpPr>
        <p:spPr>
          <a:xfrm>
            <a:off x="455364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VM virtualiza o hardware inteiro: pesada, minutos para subir.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Container compartilha o kernel do host: leve, segundos para subir.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9" name="Rounded Rectangle 13"/>
          <p:cNvSpPr/>
          <p:nvPr/>
        </p:nvSpPr>
        <p:spPr>
          <a:xfrm>
            <a:off x="8092440" y="1508760"/>
            <a:ext cx="3427200" cy="159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0" name="Rectangle 14"/>
          <p:cNvSpPr/>
          <p:nvPr/>
        </p:nvSpPr>
        <p:spPr>
          <a:xfrm>
            <a:off x="8092440" y="1508760"/>
            <a:ext cx="71280" cy="15984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1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que o container garante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2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mesmo ambiente do laptop do dev até a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Elimina uma classe inteira de bugs “ambiente-dependentes”.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3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104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5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Dockerfile - Roteiro de Explicação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Use como base e adapte para a stack escolhida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0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110" name="Rounded Rectangle 5"/>
          <p:cNvSpPr/>
          <p:nvPr/>
        </p:nvSpPr>
        <p:spPr>
          <a:xfrm>
            <a:off x="731520" y="1481400"/>
            <a:ext cx="534744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1" name="TextBox 6"/>
          <p:cNvSpPr/>
          <p:nvPr/>
        </p:nvSpPr>
        <p:spPr>
          <a:xfrm>
            <a:off x="896040" y="1609200"/>
            <a:ext cx="5018400" cy="18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FROM node:22-alpine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WORKDIR /app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COPY package*.json ./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RUN npm ci --omit=dev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COPY . .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ENV NODE_ENV=production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EXPOSE 3000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CMD ["npm", "start"]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2" name="Rounded Rectangle 7"/>
          <p:cNvSpPr/>
          <p:nvPr/>
        </p:nvSpPr>
        <p:spPr>
          <a:xfrm>
            <a:off x="6355080" y="148140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3" name="Rectangle 8"/>
          <p:cNvSpPr/>
          <p:nvPr/>
        </p:nvSpPr>
        <p:spPr>
          <a:xfrm>
            <a:off x="6355080" y="1481400"/>
            <a:ext cx="71280" cy="1326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4" name="TextBox 9"/>
          <p:cNvSpPr/>
          <p:nvPr/>
        </p:nvSpPr>
        <p:spPr>
          <a:xfrm>
            <a:off x="6519600" y="160920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O que comentar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5" name="TextBox 10"/>
          <p:cNvSpPr/>
          <p:nvPr/>
        </p:nvSpPr>
        <p:spPr>
          <a:xfrm>
            <a:off x="6519600" y="1965960"/>
            <a:ext cx="46890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Base image, diretório de trabalho, cópia de dependências, cache, variáveis, porta e comando final.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6" name="Rounded Rectangle 11"/>
          <p:cNvSpPr/>
          <p:nvPr/>
        </p:nvSpPr>
        <p:spPr>
          <a:xfrm>
            <a:off x="6355080" y="291996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7" name="Rectangle 12"/>
          <p:cNvSpPr/>
          <p:nvPr/>
        </p:nvSpPr>
        <p:spPr>
          <a:xfrm>
            <a:off x="6355080" y="2919960"/>
            <a:ext cx="71280" cy="1326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8" name="TextBox 13"/>
          <p:cNvSpPr/>
          <p:nvPr/>
        </p:nvSpPr>
        <p:spPr>
          <a:xfrm>
            <a:off x="6519600" y="304812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Cuidados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9" name="TextBox 14"/>
          <p:cNvSpPr/>
          <p:nvPr/>
        </p:nvSpPr>
        <p:spPr>
          <a:xfrm>
            <a:off x="6519600" y="3404520"/>
            <a:ext cx="46890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Não copiar .env, node_modules, chaves ou arquivos desnecessários.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Usar .dockerignore e imagem base adequada.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0" name="Rounded Rectangle 15"/>
          <p:cNvSpPr/>
          <p:nvPr/>
        </p:nvSpPr>
        <p:spPr>
          <a:xfrm>
            <a:off x="6355080" y="435852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1" name="Rectangle 16"/>
          <p:cNvSpPr/>
          <p:nvPr/>
        </p:nvSpPr>
        <p:spPr>
          <a:xfrm>
            <a:off x="6355080" y="4358520"/>
            <a:ext cx="71280" cy="1326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2" name="TextBox 17"/>
          <p:cNvSpPr/>
          <p:nvPr/>
        </p:nvSpPr>
        <p:spPr>
          <a:xfrm>
            <a:off x="6519600" y="448668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Validação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3" name="TextBox 18"/>
          <p:cNvSpPr/>
          <p:nvPr/>
        </p:nvSpPr>
        <p:spPr>
          <a:xfrm>
            <a:off x="6519600" y="4843440"/>
            <a:ext cx="468900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docker build deve funcionar do zero.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docker run deve expor porta e responder endpoint simples.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4" name="Picture 19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125" name="TextBox 2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6" name="TextBox 2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Boas Práticas de Dockerfile: Camadas e Cache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8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Imagens mais rápidas de construir e mais leves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30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131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2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3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Como o cache funciona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4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Cada instrução vira uma camada.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 reaproveita camadas que não mudaram.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Por isso: copiar package.json antes de copiar todo o código.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5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6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7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Multi-stage build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8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Uma etapa compila o projeto.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Outra etapa final só carrega o artefato pronto.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Imagem final menor, sem ferramentas de build sobrando.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9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0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1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Escolha de imagem base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2" name="TextBox 16"/>
          <p:cNvSpPr/>
          <p:nvPr/>
        </p:nvSpPr>
        <p:spPr>
          <a:xfrm>
            <a:off x="825696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alpine: mínima, pode faltar biblioteca do sistema.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slim: equilíbrio entre tamanho e compatibilidade.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full: mais compatível, porém mais pesada.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3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144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5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Compose - Roteiro de Laboratório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Padronizar execução local com serviços integrados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4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150" name="Rounded Rectangle 5"/>
          <p:cNvSpPr/>
          <p:nvPr/>
        </p:nvSpPr>
        <p:spPr>
          <a:xfrm>
            <a:off x="731520" y="1481400"/>
            <a:ext cx="534744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1" name="TextBox 6"/>
          <p:cNvSpPr/>
          <p:nvPr/>
        </p:nvSpPr>
        <p:spPr>
          <a:xfrm>
            <a:off x="896040" y="1609200"/>
            <a:ext cx="5018400" cy="29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services: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app: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build: .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ports: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"3000:3000"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environment: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DATABASE_URL: postgres://app:app@db:5432/app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depends_on: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db: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condition: service_healthy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db: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image: postgres:16-alpine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environment: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POSTGRES_USER: app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POSTGRES_PASSWORD: app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POSTGRES_DB: app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healthcheck: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test: ["CMD-SHELL", "pg_isready -U app"]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interval: 5s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     </a:t>
            </a: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retries: 5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2" name="Rounded Rectangle 7"/>
          <p:cNvSpPr/>
          <p:nvPr/>
        </p:nvSpPr>
        <p:spPr>
          <a:xfrm>
            <a:off x="6355080" y="148140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3" name="Rectangle 8"/>
          <p:cNvSpPr/>
          <p:nvPr/>
        </p:nvSpPr>
        <p:spPr>
          <a:xfrm>
            <a:off x="6355080" y="1481400"/>
            <a:ext cx="71280" cy="1326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4" name="TextBox 9"/>
          <p:cNvSpPr/>
          <p:nvPr/>
        </p:nvSpPr>
        <p:spPr>
          <a:xfrm>
            <a:off x="6519600" y="160920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Como explicar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5" name="TextBox 10"/>
          <p:cNvSpPr/>
          <p:nvPr/>
        </p:nvSpPr>
        <p:spPr>
          <a:xfrm>
            <a:off x="6519600" y="1965960"/>
            <a:ext cx="46890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Cada serviço tem imagem/build, portas, variáveis e dependências.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O nome do serviço vira hostname na rede do Compose.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6" name="Rounded Rectangle 11"/>
          <p:cNvSpPr/>
          <p:nvPr/>
        </p:nvSpPr>
        <p:spPr>
          <a:xfrm>
            <a:off x="6355080" y="291996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7" name="Rectangle 12"/>
          <p:cNvSpPr/>
          <p:nvPr/>
        </p:nvSpPr>
        <p:spPr>
          <a:xfrm>
            <a:off x="6355080" y="2919960"/>
            <a:ext cx="71280" cy="1326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8" name="TextBox 13"/>
          <p:cNvSpPr/>
          <p:nvPr/>
        </p:nvSpPr>
        <p:spPr>
          <a:xfrm>
            <a:off x="6519600" y="304812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Comandos em sala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9" name="TextBox 14"/>
          <p:cNvSpPr/>
          <p:nvPr/>
        </p:nvSpPr>
        <p:spPr>
          <a:xfrm>
            <a:off x="6519600" y="3404520"/>
            <a:ext cx="46890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docker compose up --build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docker compose logs -f app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docker compose down -v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0" name="Rounded Rectangle 15"/>
          <p:cNvSpPr/>
          <p:nvPr/>
        </p:nvSpPr>
        <p:spPr>
          <a:xfrm>
            <a:off x="6355080" y="4358520"/>
            <a:ext cx="4981680" cy="132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1" name="Rectangle 16"/>
          <p:cNvSpPr/>
          <p:nvPr/>
        </p:nvSpPr>
        <p:spPr>
          <a:xfrm>
            <a:off x="6355080" y="4358520"/>
            <a:ext cx="71280" cy="1326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2" name="TextBox 17"/>
          <p:cNvSpPr/>
          <p:nvPr/>
        </p:nvSpPr>
        <p:spPr>
          <a:xfrm>
            <a:off x="6519600" y="4486680"/>
            <a:ext cx="4689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132b42"/>
                </a:solidFill>
                <a:latin typeface="Aptos"/>
              </a:rPr>
              <a:t>Evidência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3" name="TextBox 18"/>
          <p:cNvSpPr/>
          <p:nvPr/>
        </p:nvSpPr>
        <p:spPr>
          <a:xfrm>
            <a:off x="6519600" y="4843440"/>
            <a:ext cx="46890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Print/log da aplicação subindo.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Endpoint funcionando.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50" spc="-1" strike="noStrike">
                <a:solidFill>
                  <a:srgbClr val="0f172a"/>
                </a:solidFill>
                <a:latin typeface="Aptos"/>
              </a:rPr>
              <a:t>README com comando único de execução.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4" name="Picture 19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165" name="TextBox 2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6" name="TextBox 2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99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Redes e Volumes no Docker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8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Dois conceitos que resolvem a maioria das dúvidas de Compose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70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171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2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3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4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Containers no mesmo Compose se enxergam pelo nome do serviço, como hostname.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Portas expostas ligam o container ao host.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5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6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7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Volumes nomeados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8" name="TextBox 12"/>
          <p:cNvSpPr/>
          <p:nvPr/>
        </p:nvSpPr>
        <p:spPr>
          <a:xfrm>
            <a:off x="455364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Dados sobrevivem à recriação do container.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Essencial para banco de dados e qualquer estado persistente.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9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0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1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Bind mounts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2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Mapeiam uma pasta do host para dentro do container.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Úteis em desenvolvimento para hot-reload de código.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3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184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5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100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Troubleshooting de Containers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Uma ordem para não perder tempo reescrevendo código à toa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8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190" name="Rounded Rectangle 5"/>
          <p:cNvSpPr/>
          <p:nvPr/>
        </p:nvSpPr>
        <p:spPr>
          <a:xfrm>
            <a:off x="68580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1" name="Rectangle 6"/>
          <p:cNvSpPr/>
          <p:nvPr/>
        </p:nvSpPr>
        <p:spPr>
          <a:xfrm>
            <a:off x="685800" y="1508760"/>
            <a:ext cx="71280" cy="23115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2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Comandos de investigação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3" name="TextBox 8"/>
          <p:cNvSpPr/>
          <p:nvPr/>
        </p:nvSpPr>
        <p:spPr>
          <a:xfrm>
            <a:off x="850320" y="1993320"/>
            <a:ext cx="3134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 ps — o que está rodando?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 logs &lt;id&gt; — o que o processo disse?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 exec -it &lt;id&gt; sh — inspecionar por dentro.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 inspect &lt;id&gt; — configuração completa.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4" name="Rounded Rectangle 9"/>
          <p:cNvSpPr/>
          <p:nvPr/>
        </p:nvSpPr>
        <p:spPr>
          <a:xfrm>
            <a:off x="438912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5" name="Rectangle 10"/>
          <p:cNvSpPr/>
          <p:nvPr/>
        </p:nvSpPr>
        <p:spPr>
          <a:xfrm>
            <a:off x="4389120" y="1508760"/>
            <a:ext cx="71280" cy="231156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6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Falhas comuns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7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Porta não exposta ou não mapeada.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Variável de ambiente faltando.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Dependência (banco) ainda não está pronta.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Permissão de arquivo incorreta.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8" name="Rounded Rectangle 13"/>
          <p:cNvSpPr/>
          <p:nvPr/>
        </p:nvSpPr>
        <p:spPr>
          <a:xfrm>
            <a:off x="8092440" y="1508760"/>
            <a:ext cx="342720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9" name="Rectangle 14"/>
          <p:cNvSpPr/>
          <p:nvPr/>
        </p:nvSpPr>
        <p:spPr>
          <a:xfrm>
            <a:off x="8092440" y="1508760"/>
            <a:ext cx="71280" cy="23115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0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Ordem de diagnóstico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1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container subiu? Os logs mostram erro? A variável está correta? A dependência está saudável?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Siga essa ordem antes de reescrever código.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2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203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4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Atividade 4 - Containerização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6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Sair do “funciona na minha máquina” com evidência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08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209" name="Rounded Rectangle 5"/>
          <p:cNvSpPr/>
          <p:nvPr/>
        </p:nvSpPr>
        <p:spPr>
          <a:xfrm>
            <a:off x="68580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0" name="Rectangle 6"/>
          <p:cNvSpPr/>
          <p:nvPr/>
        </p:nvSpPr>
        <p:spPr>
          <a:xfrm>
            <a:off x="685800" y="1508760"/>
            <a:ext cx="71280" cy="25495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1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Perguntas guia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2" name="TextBox 8"/>
          <p:cNvSpPr/>
          <p:nvPr/>
        </p:nvSpPr>
        <p:spPr>
          <a:xfrm>
            <a:off x="850320" y="199332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 aplicação sobe com um único comando, a partir de um clone limpo?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 variável de ambiente é obrigatória?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Como o grupo diagnosticou a primeira falha de container?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a IA sugeriu que precisou ser corrigido?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3" name="Rounded Rectangle 9"/>
          <p:cNvSpPr/>
          <p:nvPr/>
        </p:nvSpPr>
        <p:spPr>
          <a:xfrm>
            <a:off x="438912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4" name="Rectangle 10"/>
          <p:cNvSpPr/>
          <p:nvPr/>
        </p:nvSpPr>
        <p:spPr>
          <a:xfrm>
            <a:off x="4389120" y="1508760"/>
            <a:ext cx="71280" cy="25495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5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Evidências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6" name="TextBox 12"/>
          <p:cNvSpPr/>
          <p:nvPr/>
        </p:nvSpPr>
        <p:spPr>
          <a:xfrm>
            <a:off x="4553640" y="199332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Dockerfile e compose.yaml versionados.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Aplicação respondendo após docker compose up.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Print ou log da stack subindo com sucesso.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Uma falha de container diagnosticada e resolvida.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7" name="Rounded Rectangle 13"/>
          <p:cNvSpPr/>
          <p:nvPr/>
        </p:nvSpPr>
        <p:spPr>
          <a:xfrm>
            <a:off x="809244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8" name="Rectangle 14"/>
          <p:cNvSpPr/>
          <p:nvPr/>
        </p:nvSpPr>
        <p:spPr>
          <a:xfrm>
            <a:off x="8092440" y="1508760"/>
            <a:ext cx="71280" cy="25495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9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0" name="TextBox 16"/>
          <p:cNvSpPr/>
          <p:nvPr/>
        </p:nvSpPr>
        <p:spPr>
          <a:xfrm>
            <a:off x="825696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Dockerfile, compose.yaml e README atualizados no repositório.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Evidência de execução anexada.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1" name="Rounded Rectangle 17"/>
          <p:cNvSpPr/>
          <p:nvPr/>
        </p:nvSpPr>
        <p:spPr>
          <a:xfrm>
            <a:off x="685800" y="4224600"/>
            <a:ext cx="108338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2" name="Rectangle 18"/>
          <p:cNvSpPr/>
          <p:nvPr/>
        </p:nvSpPr>
        <p:spPr>
          <a:xfrm>
            <a:off x="685800" y="4224600"/>
            <a:ext cx="71280" cy="1186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3" name="TextBox 19"/>
          <p:cNvSpPr/>
          <p:nvPr/>
        </p:nvSpPr>
        <p:spPr>
          <a:xfrm>
            <a:off x="850320" y="435240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Conexão com avaliação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4" name="TextBox 20"/>
          <p:cNvSpPr/>
          <p:nvPr/>
        </p:nvSpPr>
        <p:spPr>
          <a:xfrm>
            <a:off x="850320" y="4709160"/>
            <a:ext cx="10541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Compõe os 20% de Containers/Compose da rubrica final.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5" name="Picture 21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226" name="TextBox 22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7" name="TextBox 23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Prompts Úteis - Containers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9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Use IA para diagnosticar, não para colar segredos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0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31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pic>
        <p:nvPicPr>
          <p:cNvPr id="2232" name="Picture 5" descr="ic_prompt.png"/>
          <p:cNvPicPr/>
          <p:nvPr/>
        </p:nvPicPr>
        <p:blipFill>
          <a:blip r:embed="rId2"/>
          <a:stretch/>
        </p:blipFill>
        <p:spPr>
          <a:xfrm>
            <a:off x="10817280" y="694800"/>
            <a:ext cx="400680" cy="400680"/>
          </a:xfrm>
          <a:prstGeom prst="rect">
            <a:avLst/>
          </a:prstGeom>
          <a:ln w="0">
            <a:noFill/>
          </a:ln>
        </p:spPr>
      </p:pic>
      <p:sp>
        <p:nvSpPr>
          <p:cNvPr id="2233" name="Rounded Rectangle 6"/>
          <p:cNvSpPr/>
          <p:nvPr/>
        </p:nvSpPr>
        <p:spPr>
          <a:xfrm>
            <a:off x="68580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4" name="Rectangle 7"/>
          <p:cNvSpPr/>
          <p:nvPr/>
        </p:nvSpPr>
        <p:spPr>
          <a:xfrm>
            <a:off x="685800" y="1508760"/>
            <a:ext cx="71280" cy="17355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5" name="TextBox 8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Erro de build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6" name="TextBox 9"/>
          <p:cNvSpPr/>
          <p:nvPr/>
        </p:nvSpPr>
        <p:spPr>
          <a:xfrm>
            <a:off x="850320" y="1993320"/>
            <a:ext cx="31345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Este build Docker falhou. Liste causas prováveis e comandos para validar antes de alterar o Dockerfile.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Dockerfile: &lt;trecho&gt;. Log: &lt;trecho sem segredos&gt;.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7" name="Rounded Rectangle 10"/>
          <p:cNvSpPr/>
          <p:nvPr/>
        </p:nvSpPr>
        <p:spPr>
          <a:xfrm>
            <a:off x="438912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8" name="Rectangle 11"/>
          <p:cNvSpPr/>
          <p:nvPr/>
        </p:nvSpPr>
        <p:spPr>
          <a:xfrm>
            <a:off x="4389120" y="1508760"/>
            <a:ext cx="71280" cy="17355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9" name="TextBox 12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Compose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0" name="TextBox 13"/>
          <p:cNvSpPr/>
          <p:nvPr/>
        </p:nvSpPr>
        <p:spPr>
          <a:xfrm>
            <a:off x="4553640" y="1993320"/>
            <a:ext cx="31345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Analise este compose.yaml e aponte problemas de rede, portas, variáveis, depends_on, volumes e health checks.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Arquivo: &lt;trecho&gt;.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1" name="Rounded Rectangle 14"/>
          <p:cNvSpPr/>
          <p:nvPr/>
        </p:nvSpPr>
        <p:spPr>
          <a:xfrm>
            <a:off x="809244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2" name="Rectangle 15"/>
          <p:cNvSpPr/>
          <p:nvPr/>
        </p:nvSpPr>
        <p:spPr>
          <a:xfrm>
            <a:off x="8092440" y="1508760"/>
            <a:ext cx="71280" cy="17355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3" name="TextBox 16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README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4" name="TextBox 17"/>
          <p:cNvSpPr/>
          <p:nvPr/>
        </p:nvSpPr>
        <p:spPr>
          <a:xfrm>
            <a:off x="8256960" y="1993320"/>
            <a:ext cx="31345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Gere instruções curtas para executar este projeto com Docker Compose: pré-requisitos, comando de subida, teste de saúde e limpeza.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Contexto: &lt;stack&gt;.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5" name="Picture 18" descr="Logo Unifor.png"/>
          <p:cNvPicPr/>
          <p:nvPr/>
        </p:nvPicPr>
        <p:blipFill>
          <a:blip r:embed="rId3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246" name="TextBox 19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7" name="TextBox 20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103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Depois do Encontro 4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9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que levar pronto para o Encontro 5: CD e governança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0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51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252" name="Rounded Rectangle 5"/>
          <p:cNvSpPr/>
          <p:nvPr/>
        </p:nvSpPr>
        <p:spPr>
          <a:xfrm>
            <a:off x="685800" y="1508760"/>
            <a:ext cx="10833840" cy="136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3" name="Rectangle 6"/>
          <p:cNvSpPr/>
          <p:nvPr/>
        </p:nvSpPr>
        <p:spPr>
          <a:xfrm>
            <a:off x="685800" y="1508760"/>
            <a:ext cx="71280" cy="13608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4" name="TextBox 7"/>
          <p:cNvSpPr/>
          <p:nvPr/>
        </p:nvSpPr>
        <p:spPr>
          <a:xfrm>
            <a:off x="850320" y="163692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Tarefa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5" name="TextBox 8"/>
          <p:cNvSpPr/>
          <p:nvPr/>
        </p:nvSpPr>
        <p:spPr>
          <a:xfrm>
            <a:off x="850320" y="1993320"/>
            <a:ext cx="1054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Integrar build de imagem ao pipeline, se possível.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Preparar uma versão candidata para release.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Levar para o Encontro 5: critérios de promoção e rollback.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6" name="Picture 9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257" name="TextBox 1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8" name="TextBox 1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104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TextBox 1"/>
          <p:cNvSpPr/>
          <p:nvPr/>
        </p:nvSpPr>
        <p:spPr>
          <a:xfrm>
            <a:off x="777240" y="2286000"/>
            <a:ext cx="10605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Encontro 5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0" name="TextBox 2"/>
          <p:cNvSpPr/>
          <p:nvPr/>
        </p:nvSpPr>
        <p:spPr>
          <a:xfrm>
            <a:off x="1936080" y="3090600"/>
            <a:ext cx="68835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dde7f0"/>
                </a:solidFill>
                <a:latin typeface="Aptos"/>
              </a:rPr>
              <a:t>25/09/2026 | CD, configuração, segurança e governança de IA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1" name="TextBox 3"/>
          <p:cNvSpPr/>
          <p:nvPr/>
        </p:nvSpPr>
        <p:spPr>
          <a:xfrm>
            <a:off x="5532120" y="6263640"/>
            <a:ext cx="1186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de7f0"/>
                </a:solidFill>
                <a:latin typeface="Aptos"/>
              </a:rPr>
              <a:t>105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62" name="Picture 4" descr="e5_shield.png"/>
          <p:cNvPicPr/>
          <p:nvPr/>
        </p:nvPicPr>
        <p:blipFill>
          <a:blip r:embed="rId1"/>
          <a:stretch/>
        </p:blipFill>
        <p:spPr>
          <a:xfrm>
            <a:off x="5615640" y="914400"/>
            <a:ext cx="958320" cy="958320"/>
          </a:xfrm>
          <a:prstGeom prst="rect">
            <a:avLst/>
          </a:prstGeom>
          <a:ln w="0">
            <a:noFill/>
          </a:ln>
        </p:spPr>
      </p:pic>
      <p:pic>
        <p:nvPicPr>
          <p:cNvPr id="2263" name="Picture 5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Encontro 5 - Entrega e Governança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5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Automação com controle, segurança, rollback e governança de 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7" name="Rounded Rectangle 4"/>
          <p:cNvSpPr/>
          <p:nvPr/>
        </p:nvSpPr>
        <p:spPr>
          <a:xfrm>
            <a:off x="685800" y="1417320"/>
            <a:ext cx="342720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8" name="Rectangle 5"/>
          <p:cNvSpPr/>
          <p:nvPr/>
        </p:nvSpPr>
        <p:spPr>
          <a:xfrm>
            <a:off x="685800" y="1417320"/>
            <a:ext cx="71280" cy="214704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9" name="TextBox 6"/>
          <p:cNvSpPr/>
          <p:nvPr/>
        </p:nvSpPr>
        <p:spPr>
          <a:xfrm>
            <a:off x="85032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 contínua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0" name="TextBox 7"/>
          <p:cNvSpPr/>
          <p:nvPr/>
        </p:nvSpPr>
        <p:spPr>
          <a:xfrm>
            <a:off x="850320" y="192024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Promoção de artefatos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Ambientes e aprovações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Release notes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Rollback e feature flags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1" name="Rounded Rectangle 8"/>
          <p:cNvSpPr/>
          <p:nvPr/>
        </p:nvSpPr>
        <p:spPr>
          <a:xfrm>
            <a:off x="4389120" y="1417320"/>
            <a:ext cx="342720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2" name="Rectangle 9"/>
          <p:cNvSpPr/>
          <p:nvPr/>
        </p:nvSpPr>
        <p:spPr>
          <a:xfrm>
            <a:off x="4389120" y="1417320"/>
            <a:ext cx="71280" cy="214704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3" name="TextBox 10"/>
          <p:cNvSpPr/>
          <p:nvPr/>
        </p:nvSpPr>
        <p:spPr>
          <a:xfrm>
            <a:off x="45536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Configuração e IaC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4" name="TextBox 11"/>
          <p:cNvSpPr/>
          <p:nvPr/>
        </p:nvSpPr>
        <p:spPr>
          <a:xfrm>
            <a:off x="4553640" y="192024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Configuração declarativa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Noções de IaC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GitOps como evolução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Padronização e rastreabilidade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5" name="Rounded Rectangle 12"/>
          <p:cNvSpPr/>
          <p:nvPr/>
        </p:nvSpPr>
        <p:spPr>
          <a:xfrm>
            <a:off x="8092440" y="1417320"/>
            <a:ext cx="342720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6" name="Rectangle 13"/>
          <p:cNvSpPr/>
          <p:nvPr/>
        </p:nvSpPr>
        <p:spPr>
          <a:xfrm>
            <a:off x="8092440" y="1417320"/>
            <a:ext cx="71280" cy="2147040"/>
          </a:xfrm>
          <a:prstGeom prst="rect">
            <a:avLst/>
          </a:prstGeom>
          <a:solidFill>
            <a:srgbClr val="b736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7" name="TextBox 14"/>
          <p:cNvSpPr/>
          <p:nvPr/>
        </p:nvSpPr>
        <p:spPr>
          <a:xfrm>
            <a:off x="825696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Segurança e IA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8" name="TextBox 15"/>
          <p:cNvSpPr/>
          <p:nvPr/>
        </p:nvSpPr>
        <p:spPr>
          <a:xfrm>
            <a:off x="8256960" y="192024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Segredos fora do código e dos prompts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Permissões mínimas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Scan de dependências/imagens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Gates de segurança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Validar alucinação, vazamento e prompt injection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9" name="Rounded Rectangle 16"/>
          <p:cNvSpPr/>
          <p:nvPr/>
        </p:nvSpPr>
        <p:spPr>
          <a:xfrm>
            <a:off x="685800" y="4069080"/>
            <a:ext cx="10833840" cy="91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0" name="Rectangle 17"/>
          <p:cNvSpPr/>
          <p:nvPr/>
        </p:nvSpPr>
        <p:spPr>
          <a:xfrm>
            <a:off x="685800" y="4069080"/>
            <a:ext cx="71280" cy="9126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1" name="TextBox 18"/>
          <p:cNvSpPr/>
          <p:nvPr/>
        </p:nvSpPr>
        <p:spPr>
          <a:xfrm>
            <a:off x="850320" y="4197240"/>
            <a:ext cx="10541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Saída do encontro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2" name="TextBox 19"/>
          <p:cNvSpPr/>
          <p:nvPr/>
        </p:nvSpPr>
        <p:spPr>
          <a:xfrm>
            <a:off x="850320" y="4572000"/>
            <a:ext cx="10541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Plano de release com critérios de promoção, rollback, segurança mínima, rastreabilidade e regras de uso responsável de 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3" name="TextBox 20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4" name="TextBox 21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5" name="Picture 22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2286" name="Picture 23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CD na Prática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8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foco é controlar a mudança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90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291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2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3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 contínua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4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Artefato gerado no CI é promovido.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Ambiente recebe versão rastreável.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Release notes explicam mudança e risco.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5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6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7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Controle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8" name="TextBox 12"/>
          <p:cNvSpPr/>
          <p:nvPr/>
        </p:nvSpPr>
        <p:spPr>
          <a:xfrm>
            <a:off x="455364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Aprovação quando houver risco.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Variáveis e segredos fora do repositório.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Permissões mínimas no pipeline.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9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0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1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Rollback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2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Voltar para versão anterior.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Reverter feature flag.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Restaurar configuração conhecida.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Ter plano documentado antes do problema.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3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304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5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Estratégias de Deploy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Comparar abordagens antes de escolher uma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0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310" name="Rounded Rectangle 5"/>
          <p:cNvSpPr/>
          <p:nvPr/>
        </p:nvSpPr>
        <p:spPr>
          <a:xfrm>
            <a:off x="685800" y="1600200"/>
            <a:ext cx="3427200" cy="2329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1" name="Rectangle 6"/>
          <p:cNvSpPr/>
          <p:nvPr/>
        </p:nvSpPr>
        <p:spPr>
          <a:xfrm>
            <a:off x="685800" y="1600200"/>
            <a:ext cx="71280" cy="23299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2" name="TextBox 7"/>
          <p:cNvSpPr/>
          <p:nvPr/>
        </p:nvSpPr>
        <p:spPr>
          <a:xfrm>
            <a:off x="850320" y="172836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Rolling deploy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3" name="Rounded Rectangle 8"/>
          <p:cNvSpPr/>
          <p:nvPr/>
        </p:nvSpPr>
        <p:spPr>
          <a:xfrm>
            <a:off x="85032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4" name="Rounded Rectangle 9"/>
          <p:cNvSpPr/>
          <p:nvPr/>
        </p:nvSpPr>
        <p:spPr>
          <a:xfrm>
            <a:off x="121608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5" name="Rounded Rectangle 10"/>
          <p:cNvSpPr/>
          <p:nvPr/>
        </p:nvSpPr>
        <p:spPr>
          <a:xfrm>
            <a:off x="158184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aeb4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6" name="Rounded Rectangle 11"/>
          <p:cNvSpPr/>
          <p:nvPr/>
        </p:nvSpPr>
        <p:spPr>
          <a:xfrm>
            <a:off x="194760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aeb4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7" name="TextBox 12"/>
          <p:cNvSpPr/>
          <p:nvPr/>
        </p:nvSpPr>
        <p:spPr>
          <a:xfrm>
            <a:off x="850320" y="2560320"/>
            <a:ext cx="313452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Substitui instâncias antigas pelas novas aos poucos.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Simples, mas o rollback não é instantâneo.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8" name="Rounded Rectangle 13"/>
          <p:cNvSpPr/>
          <p:nvPr/>
        </p:nvSpPr>
        <p:spPr>
          <a:xfrm>
            <a:off x="4389120" y="1600200"/>
            <a:ext cx="3427200" cy="2329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9" name="Rectangle 14"/>
          <p:cNvSpPr/>
          <p:nvPr/>
        </p:nvSpPr>
        <p:spPr>
          <a:xfrm>
            <a:off x="4389120" y="1600200"/>
            <a:ext cx="71280" cy="23299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0" name="TextBox 15"/>
          <p:cNvSpPr/>
          <p:nvPr/>
        </p:nvSpPr>
        <p:spPr>
          <a:xfrm>
            <a:off x="4553640" y="172836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Blue-green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1" name="Rounded Rectangle 16"/>
          <p:cNvSpPr/>
          <p:nvPr/>
        </p:nvSpPr>
        <p:spPr>
          <a:xfrm>
            <a:off x="455364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aeb4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2" name="Rounded Rectangle 17"/>
          <p:cNvSpPr/>
          <p:nvPr/>
        </p:nvSpPr>
        <p:spPr>
          <a:xfrm>
            <a:off x="491940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aeb4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3" name="Rounded Rectangle 18"/>
          <p:cNvSpPr/>
          <p:nvPr/>
        </p:nvSpPr>
        <p:spPr>
          <a:xfrm>
            <a:off x="528516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4" name="Rounded Rectangle 19"/>
          <p:cNvSpPr/>
          <p:nvPr/>
        </p:nvSpPr>
        <p:spPr>
          <a:xfrm>
            <a:off x="565092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5" name="TextBox 20"/>
          <p:cNvSpPr/>
          <p:nvPr/>
        </p:nvSpPr>
        <p:spPr>
          <a:xfrm>
            <a:off x="4553640" y="2560320"/>
            <a:ext cx="313452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Duas versões completas rodando; a troca de tráfego é instantânea.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Rollback rápido, porém custa recursos em dobro.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6" name="Rounded Rectangle 21"/>
          <p:cNvSpPr/>
          <p:nvPr/>
        </p:nvSpPr>
        <p:spPr>
          <a:xfrm>
            <a:off x="8092440" y="1600200"/>
            <a:ext cx="3427200" cy="2329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7" name="Rectangle 22"/>
          <p:cNvSpPr/>
          <p:nvPr/>
        </p:nvSpPr>
        <p:spPr>
          <a:xfrm>
            <a:off x="8092440" y="1600200"/>
            <a:ext cx="71280" cy="2329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8" name="TextBox 23"/>
          <p:cNvSpPr/>
          <p:nvPr/>
        </p:nvSpPr>
        <p:spPr>
          <a:xfrm>
            <a:off x="8256960" y="172836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Canary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9" name="Rounded Rectangle 24"/>
          <p:cNvSpPr/>
          <p:nvPr/>
        </p:nvSpPr>
        <p:spPr>
          <a:xfrm>
            <a:off x="825696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0" name="Rounded Rectangle 25"/>
          <p:cNvSpPr/>
          <p:nvPr/>
        </p:nvSpPr>
        <p:spPr>
          <a:xfrm>
            <a:off x="862272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aeb4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1" name="Rounded Rectangle 26"/>
          <p:cNvSpPr/>
          <p:nvPr/>
        </p:nvSpPr>
        <p:spPr>
          <a:xfrm>
            <a:off x="898848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aeb4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2" name="Rounded Rectangle 27"/>
          <p:cNvSpPr/>
          <p:nvPr/>
        </p:nvSpPr>
        <p:spPr>
          <a:xfrm>
            <a:off x="9354240" y="2103120"/>
            <a:ext cx="290880" cy="290880"/>
          </a:xfrm>
          <a:prstGeom prst="roundRect">
            <a:avLst>
              <a:gd name="adj" fmla="val 25000"/>
            </a:avLst>
          </a:prstGeom>
          <a:solidFill>
            <a:srgbClr val="aeb4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3" name="TextBox 28"/>
          <p:cNvSpPr/>
          <p:nvPr/>
        </p:nvSpPr>
        <p:spPr>
          <a:xfrm>
            <a:off x="8256960" y="2560320"/>
            <a:ext cx="313452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Libera para uma fatia pequena de usuários primeiro.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30" spc="-1" strike="noStrike">
                <a:solidFill>
                  <a:srgbClr val="0f172a"/>
                </a:solidFill>
                <a:latin typeface="Aptos"/>
              </a:rPr>
              <a:t>Expande se as métricas estiverem saudáveis — risco pequeno em caso de erro.</a:t>
            </a:r>
            <a:endParaRPr b="0" lang="pt-BR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4" name="Rounded Rectangle 29"/>
          <p:cNvSpPr/>
          <p:nvPr/>
        </p:nvSpPr>
        <p:spPr>
          <a:xfrm>
            <a:off x="685800" y="4160520"/>
            <a:ext cx="254160" cy="254160"/>
          </a:xfrm>
          <a:prstGeom prst="roundRect">
            <a:avLst>
              <a:gd name="adj" fmla="val 16667"/>
            </a:avLst>
          </a:prstGeom>
          <a:solidFill>
            <a:srgbClr val="aeb4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5" name="TextBox 30"/>
          <p:cNvSpPr/>
          <p:nvPr/>
        </p:nvSpPr>
        <p:spPr>
          <a:xfrm>
            <a:off x="1005840" y="4142160"/>
            <a:ext cx="2009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e6c7a"/>
                </a:solidFill>
                <a:latin typeface="Aptos"/>
              </a:rPr>
              <a:t>versão antiga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6" name="Rounded Rectangle 31"/>
          <p:cNvSpPr/>
          <p:nvPr/>
        </p:nvSpPr>
        <p:spPr>
          <a:xfrm>
            <a:off x="2743200" y="4160520"/>
            <a:ext cx="254160" cy="254160"/>
          </a:xfrm>
          <a:prstGeom prst="roundRect">
            <a:avLst>
              <a:gd name="adj" fmla="val 16667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7" name="TextBox 32"/>
          <p:cNvSpPr/>
          <p:nvPr/>
        </p:nvSpPr>
        <p:spPr>
          <a:xfrm>
            <a:off x="3063240" y="4142160"/>
            <a:ext cx="2009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e6c7a"/>
                </a:solidFill>
                <a:latin typeface="Aptos"/>
              </a:rPr>
              <a:t>versão nova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8" name="Picture 33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339" name="TextBox 34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0" name="TextBox 35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Feature Flags: Separando Deploy de Release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2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Colocar código em produção não é o mesmo que ativá-lo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3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44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345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6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7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conceito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8" name="TextBox 8"/>
          <p:cNvSpPr/>
          <p:nvPr/>
        </p:nvSpPr>
        <p:spPr>
          <a:xfrm>
            <a:off x="85032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Deployar o código não significa ativar a funcionalidade para todo mundo.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 flag decide quem vê o quê e quando.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9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0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1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Usos práticos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2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Lançamento gradual para grupos de usuários.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Teste A/B entre variações.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Desligar rapidamente uma funcionalidade com bug, sem reverter o deploy inteiro.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3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4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5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Cuidado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6" name="TextBox 16"/>
          <p:cNvSpPr/>
          <p:nvPr/>
        </p:nvSpPr>
        <p:spPr>
          <a:xfrm>
            <a:off x="825696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Flags esquecidas viram dívida técnica.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Toda flag precisa ter dono e prazo previsto de remoção.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7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358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9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109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Configuração, Segredos e IaC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1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Conceitos que sustentam a prática de entrega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2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63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364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5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6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Configuração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7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Valores que mudam por ambiente.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Exemplos: URL, porta, modo debug, timeout.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Não deve exigir alteração de código para trocar ambiente.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8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9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0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Segredos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1" name="TextBox 12"/>
          <p:cNvSpPr/>
          <p:nvPr/>
        </p:nvSpPr>
        <p:spPr>
          <a:xfrm>
            <a:off x="455364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Senha, token, chave privada, connection string sensível.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Nunca versionar ou colar em prompt.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Usar secrets do provedor de CI/CD.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2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3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4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IaC/GitOps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5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Infra declarada em arquivo e revisada por PR.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GitOps: estado desejado versionado.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Entra como noção e evolução, não como laboratório obrigatório.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6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377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8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110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DevSecOps Mínimo para a Disciplina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0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Gates simples que cabem no projeto integrador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1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82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383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4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5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Código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6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Lint/análise estática.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Testes mínimos em PR.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Revisão de entrada de usuário e tratamento de erro.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7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8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9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Dependências/imagem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0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Checar pacotes vulneráveis.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Evitar imagem desatualizada ou grande demais.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Não rodar container com privilégio desnecessário.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1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2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3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Pipeline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4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Segredos mascarados.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Permissão mínima do token.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Logs sem dados sensíveis.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Falha de segurança deve bloquear ou justificar exceção.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5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396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7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Correção de Vulnerabilidades com IA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9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De "encontrado" para "corrigido" — automaticamente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0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01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402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3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4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GitHub Copilot Autofix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5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Usa CodeQL + LLM; cobre 90%+ dos tipos de alerta em JS/TS/Java/Python.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Resolve 2/3 das vulnerabilidades com pouca edição — 3x mais rápido que manual.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6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7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8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Snyk Agent Fix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9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Arquitetura agêntica (2026), usa base de 35 mil correções de especialistas como contexto.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Se a correção falhar no re-scan, o erro volta pro modelo tentar de novo.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0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1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2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que não muda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3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 IA prioriza por risco e exploitabilidade, não só severidade.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Aceitar o fix ainda exige revisão humana e re-execução de testes.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4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415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6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Governança de IA em DevOps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8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Regras que entram na avaliação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9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20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421" name="Rounded Rectangle 5"/>
          <p:cNvSpPr/>
          <p:nvPr/>
        </p:nvSpPr>
        <p:spPr>
          <a:xfrm>
            <a:off x="685800" y="1508760"/>
            <a:ext cx="527904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2" name="Rectangle 6"/>
          <p:cNvSpPr/>
          <p:nvPr/>
        </p:nvSpPr>
        <p:spPr>
          <a:xfrm>
            <a:off x="685800" y="1508760"/>
            <a:ext cx="71280" cy="23115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3" name="TextBox 7"/>
          <p:cNvSpPr/>
          <p:nvPr/>
        </p:nvSpPr>
        <p:spPr>
          <a:xfrm>
            <a:off x="850320" y="163692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Riscos a tratar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4" name="TextBox 8"/>
          <p:cNvSpPr/>
          <p:nvPr/>
        </p:nvSpPr>
        <p:spPr>
          <a:xfrm>
            <a:off x="850320" y="1993320"/>
            <a:ext cx="4986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Vazamento de segredos em prompts.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Alucinação de comandos, APIs ou flags.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Código inseguro gerado com confiança excessiva.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Prompt injection em contexto de logs, issues ou documentação.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Dependência intelectual: não saber defender o que foi entregue.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5" name="Rounded Rectangle 9"/>
          <p:cNvSpPr/>
          <p:nvPr/>
        </p:nvSpPr>
        <p:spPr>
          <a:xfrm>
            <a:off x="6240960" y="1508760"/>
            <a:ext cx="5279040" cy="231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6" name="Rectangle 10"/>
          <p:cNvSpPr/>
          <p:nvPr/>
        </p:nvSpPr>
        <p:spPr>
          <a:xfrm>
            <a:off x="6240960" y="1508760"/>
            <a:ext cx="71280" cy="23115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7" name="TextBox 11"/>
          <p:cNvSpPr/>
          <p:nvPr/>
        </p:nvSpPr>
        <p:spPr>
          <a:xfrm>
            <a:off x="6405480" y="1636920"/>
            <a:ext cx="498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Controles esperados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8" name="TextBox 12"/>
          <p:cNvSpPr/>
          <p:nvPr/>
        </p:nvSpPr>
        <p:spPr>
          <a:xfrm>
            <a:off x="6405480" y="1993320"/>
            <a:ext cx="4986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Mascarar dados sensíveis antes de usar 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Pedir hipóteses e validações, não só resposta final.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Rodar testes, build e revisão humana.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Manter diff pequeno e rastreável.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Registrar prompt, saída útil, decisão e validação.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9" name="Picture 13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430" name="TextBox 14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1" name="TextBox 15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113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Agentes Autônomos de DevOps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3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A fronteira mais recente do uso de IA — e por que a validação humana continua obrigatória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4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35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436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7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8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que já existe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9" name="TextBox 8"/>
          <p:cNvSpPr/>
          <p:nvPr/>
        </p:nvSpPr>
        <p:spPr>
          <a:xfrm>
            <a:off x="85032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Recebem uma issue, analisam o repositório, escrevem código, rodam teste e scan de segurança.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Trabalham em background, de forma assíncrona, sem intervenção durante a execução.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0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1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2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Onde já é realidade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3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GitHub Copilot coding agent (GA) e agentes equivalentes de outros provedores.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Integrados a VS Code, JetBrains, Visual Studio e outros editores.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4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5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6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limite que não muda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7" name="TextBox 16"/>
          <p:cNvSpPr/>
          <p:nvPr/>
        </p:nvSpPr>
        <p:spPr>
          <a:xfrm>
            <a:off x="825696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Mesmo o agente mais autônomo para no Pull Request — não faz merge sozinho.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Quanto mais autônoma a IA, mais crítica fica a revisão humana antes da produção.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8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449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0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114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Atividade 5 - Release e Rollback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2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Controlar a mudança, não só publicá-la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3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54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455" name="Rounded Rectangle 5"/>
          <p:cNvSpPr/>
          <p:nvPr/>
        </p:nvSpPr>
        <p:spPr>
          <a:xfrm>
            <a:off x="68580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6" name="Rectangle 6"/>
          <p:cNvSpPr/>
          <p:nvPr/>
        </p:nvSpPr>
        <p:spPr>
          <a:xfrm>
            <a:off x="685800" y="1508760"/>
            <a:ext cx="71280" cy="25495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7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Perguntas guia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8" name="TextBox 8"/>
          <p:cNvSpPr/>
          <p:nvPr/>
        </p:nvSpPr>
        <p:spPr>
          <a:xfrm>
            <a:off x="850320" y="199332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precisa ser verdade para promover esta versão?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Qual seria o primeiro sinal de que algo deu errado?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Como o grupo voltaria para a versão anterior em produção?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 segredo não pode aparecer em log ou prompt?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9" name="Rounded Rectangle 9"/>
          <p:cNvSpPr/>
          <p:nvPr/>
        </p:nvSpPr>
        <p:spPr>
          <a:xfrm>
            <a:off x="438912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0" name="Rectangle 10"/>
          <p:cNvSpPr/>
          <p:nvPr/>
        </p:nvSpPr>
        <p:spPr>
          <a:xfrm>
            <a:off x="4389120" y="1508760"/>
            <a:ext cx="71280" cy="25495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1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Evidências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2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Release notes preenchidas com o modelo fornecido.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Plano de rollback documentado.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Checklist de segurança básica revisado.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Registro de uso de IA em decisão de entrega, quando houver.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3" name="Rounded Rectangle 13"/>
          <p:cNvSpPr/>
          <p:nvPr/>
        </p:nvSpPr>
        <p:spPr>
          <a:xfrm>
            <a:off x="809244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4" name="Rectangle 14"/>
          <p:cNvSpPr/>
          <p:nvPr/>
        </p:nvSpPr>
        <p:spPr>
          <a:xfrm>
            <a:off x="8092440" y="1508760"/>
            <a:ext cx="71280" cy="25495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5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6" name="TextBox 16"/>
          <p:cNvSpPr/>
          <p:nvPr/>
        </p:nvSpPr>
        <p:spPr>
          <a:xfrm>
            <a:off x="825696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Release notes e plano de rollback no repositório.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Checklist de segurança preenchido.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7" name="Rounded Rectangle 17"/>
          <p:cNvSpPr/>
          <p:nvPr/>
        </p:nvSpPr>
        <p:spPr>
          <a:xfrm>
            <a:off x="685800" y="4224600"/>
            <a:ext cx="108338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8" name="Rectangle 18"/>
          <p:cNvSpPr/>
          <p:nvPr/>
        </p:nvSpPr>
        <p:spPr>
          <a:xfrm>
            <a:off x="685800" y="4224600"/>
            <a:ext cx="71280" cy="1186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9" name="TextBox 19"/>
          <p:cNvSpPr/>
          <p:nvPr/>
        </p:nvSpPr>
        <p:spPr>
          <a:xfrm>
            <a:off x="850320" y="435240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Conexão com avaliação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0" name="TextBox 20"/>
          <p:cNvSpPr/>
          <p:nvPr/>
        </p:nvSpPr>
        <p:spPr>
          <a:xfrm>
            <a:off x="850320" y="4709160"/>
            <a:ext cx="10541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Alimenta os 15% de Entrega e Operação da rubrica final.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1" name="Picture 21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472" name="TextBox 22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3" name="TextBox 23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115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Release Notes e Rollback - Modelo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5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Artefato simples para o Encontro 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77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478" name="Rounded Rectangle 5"/>
          <p:cNvSpPr/>
          <p:nvPr/>
        </p:nvSpPr>
        <p:spPr>
          <a:xfrm>
            <a:off x="731520" y="1481400"/>
            <a:ext cx="1074240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9" name="TextBox 6"/>
          <p:cNvSpPr/>
          <p:nvPr/>
        </p:nvSpPr>
        <p:spPr>
          <a:xfrm>
            <a:off x="896040" y="1609200"/>
            <a:ext cx="10413360" cy="37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Release v0.2.0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Objetivo: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&lt;qual problema esta versao resolve&gt;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Mudancas: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&lt;mudanca 1&gt;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&lt;mudanca 2&gt;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Evidencias: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CI: &lt;link/print&gt;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Testes: &lt;resumo&gt;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Container: &lt;comando/print&gt;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Riscos: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&lt;risco e mitigacao&gt;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Plano de rollback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Quando acionar: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&lt;sinal de falha&gt;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Como voltar: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1. Identificar versao anterior estavel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2. Reverter tag/imagem/configuracao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3. Validar endpoint /health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4. Comunicar impacto e decisao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0" name="Picture 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481" name="TextBox 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2" name="TextBox 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Depois do Encontro 5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4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que levar pronto para o Encontro 6: observabilidade e apresentação final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5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86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487" name="Rounded Rectangle 5"/>
          <p:cNvSpPr/>
          <p:nvPr/>
        </p:nvSpPr>
        <p:spPr>
          <a:xfrm>
            <a:off x="685800" y="1508760"/>
            <a:ext cx="10833840" cy="136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8" name="Rectangle 6"/>
          <p:cNvSpPr/>
          <p:nvPr/>
        </p:nvSpPr>
        <p:spPr>
          <a:xfrm>
            <a:off x="685800" y="1508760"/>
            <a:ext cx="71280" cy="13608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9" name="TextBox 7"/>
          <p:cNvSpPr/>
          <p:nvPr/>
        </p:nvSpPr>
        <p:spPr>
          <a:xfrm>
            <a:off x="850320" y="163692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Tarefa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0" name="TextBox 8"/>
          <p:cNvSpPr/>
          <p:nvPr/>
        </p:nvSpPr>
        <p:spPr>
          <a:xfrm>
            <a:off x="850320" y="1993320"/>
            <a:ext cx="10541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Preparar observabilidade mínima.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Simular uma falha ou incidente simples.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Organizar apresentação final com evidências e decisões.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1" name="Picture 9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492" name="TextBox 1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3" name="TextBox 1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TextBox 1"/>
          <p:cNvSpPr/>
          <p:nvPr/>
        </p:nvSpPr>
        <p:spPr>
          <a:xfrm>
            <a:off x="777240" y="2286000"/>
            <a:ext cx="106052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Encontro 6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5" name="TextBox 2"/>
          <p:cNvSpPr/>
          <p:nvPr/>
        </p:nvSpPr>
        <p:spPr>
          <a:xfrm>
            <a:off x="1920240" y="3090600"/>
            <a:ext cx="831924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dde7f0"/>
                </a:solidFill>
                <a:latin typeface="Aptos"/>
              </a:rPr>
              <a:t>26/09/2026 | Observabilidade, IA aplicada e projeto final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6" name="TextBox 3"/>
          <p:cNvSpPr/>
          <p:nvPr/>
        </p:nvSpPr>
        <p:spPr>
          <a:xfrm>
            <a:off x="5532120" y="6263640"/>
            <a:ext cx="118692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de7f0"/>
                </a:solidFill>
                <a:latin typeface="Aptos"/>
              </a:rPr>
              <a:t>118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7" name="Picture 4" descr="e6_pulse.png"/>
          <p:cNvPicPr/>
          <p:nvPr/>
        </p:nvPicPr>
        <p:blipFill>
          <a:blip r:embed="rId1"/>
          <a:stretch/>
        </p:blipFill>
        <p:spPr>
          <a:xfrm>
            <a:off x="5615640" y="914400"/>
            <a:ext cx="958320" cy="958320"/>
          </a:xfrm>
          <a:prstGeom prst="rect">
            <a:avLst/>
          </a:prstGeom>
          <a:ln w="0">
            <a:noFill/>
          </a:ln>
        </p:spPr>
      </p:pic>
      <p:pic>
        <p:nvPicPr>
          <p:cNvPr id="2498" name="Picture 5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Encontro 6 - Operação e Evidências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0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Fechar o ciclo com dados, aprendizagem e análise assistida validada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1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2" name="Rounded Rectangle 4"/>
          <p:cNvSpPr/>
          <p:nvPr/>
        </p:nvSpPr>
        <p:spPr>
          <a:xfrm>
            <a:off x="685800" y="1417320"/>
            <a:ext cx="342720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3" name="Rectangle 5"/>
          <p:cNvSpPr/>
          <p:nvPr/>
        </p:nvSpPr>
        <p:spPr>
          <a:xfrm>
            <a:off x="685800" y="1417320"/>
            <a:ext cx="71280" cy="214704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4" name="TextBox 6"/>
          <p:cNvSpPr/>
          <p:nvPr/>
        </p:nvSpPr>
        <p:spPr>
          <a:xfrm>
            <a:off x="85032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Observabilidade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5" name="TextBox 7"/>
          <p:cNvSpPr/>
          <p:nvPr/>
        </p:nvSpPr>
        <p:spPr>
          <a:xfrm>
            <a:off x="850320" y="192024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Logs, métricas e traces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Dashboards e alertas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SLI/SLO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IA para sumarizar logs e levantar hipóteses de causa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Validação operacional de release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6" name="Rounded Rectangle 8"/>
          <p:cNvSpPr/>
          <p:nvPr/>
        </p:nvSpPr>
        <p:spPr>
          <a:xfrm>
            <a:off x="4389120" y="1417320"/>
            <a:ext cx="342720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7" name="Rectangle 9"/>
          <p:cNvSpPr/>
          <p:nvPr/>
        </p:nvSpPr>
        <p:spPr>
          <a:xfrm>
            <a:off x="4389120" y="1417320"/>
            <a:ext cx="71280" cy="214704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8" name="TextBox 10"/>
          <p:cNvSpPr/>
          <p:nvPr/>
        </p:nvSpPr>
        <p:spPr>
          <a:xfrm>
            <a:off x="45536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Evolução do pipeline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9" name="TextBox 11"/>
          <p:cNvSpPr/>
          <p:nvPr/>
        </p:nvSpPr>
        <p:spPr>
          <a:xfrm>
            <a:off x="4553640" y="192024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Dados como base da automação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IA aplicada a troubleshooting e documentação operacional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AIOps como tendência, não substituto de decisão técnica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Automação orientada por eventos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40" spc="-1" strike="noStrike">
                <a:solidFill>
                  <a:srgbClr val="0f172a"/>
                </a:solidFill>
                <a:latin typeface="Aptos"/>
              </a:rPr>
              <a:t>Limites e próximos passos</a:t>
            </a:r>
            <a:endParaRPr b="0" lang="pt-BR" sz="11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0" name="Rounded Rectangle 12"/>
          <p:cNvSpPr/>
          <p:nvPr/>
        </p:nvSpPr>
        <p:spPr>
          <a:xfrm>
            <a:off x="8092440" y="1417320"/>
            <a:ext cx="3427200" cy="214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1" name="Rectangle 13"/>
          <p:cNvSpPr/>
          <p:nvPr/>
        </p:nvSpPr>
        <p:spPr>
          <a:xfrm>
            <a:off x="8092440" y="1417320"/>
            <a:ext cx="71280" cy="214704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2" name="TextBox 14"/>
          <p:cNvSpPr/>
          <p:nvPr/>
        </p:nvSpPr>
        <p:spPr>
          <a:xfrm>
            <a:off x="825696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Apresentações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3" name="TextBox 15"/>
          <p:cNvSpPr/>
          <p:nvPr/>
        </p:nvSpPr>
        <p:spPr>
          <a:xfrm>
            <a:off x="8256960" y="192024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Demonstração do projeto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Evidências do pipeline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Diagnóstico, proposta e registro de 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Tradeoffs e próximos passos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4" name="Rounded Rectangle 16"/>
          <p:cNvSpPr/>
          <p:nvPr/>
        </p:nvSpPr>
        <p:spPr>
          <a:xfrm>
            <a:off x="685800" y="4069080"/>
            <a:ext cx="10833840" cy="91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5" name="Rectangle 17"/>
          <p:cNvSpPr/>
          <p:nvPr/>
        </p:nvSpPr>
        <p:spPr>
          <a:xfrm>
            <a:off x="685800" y="4069080"/>
            <a:ext cx="71280" cy="9126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6" name="TextBox 18"/>
          <p:cNvSpPr/>
          <p:nvPr/>
        </p:nvSpPr>
        <p:spPr>
          <a:xfrm>
            <a:off x="850320" y="4197240"/>
            <a:ext cx="105411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Saída do encontro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7" name="TextBox 19"/>
          <p:cNvSpPr/>
          <p:nvPr/>
        </p:nvSpPr>
        <p:spPr>
          <a:xfrm>
            <a:off x="850320" y="4572000"/>
            <a:ext cx="10541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Entrega final avaliada por evidências: repositório, pipeline, container, release, observabilidade, registro crítico de IA e defesa técnica.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8" name="TextBox 20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9" name="TextBox 21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119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0" name="Picture 22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2521" name="Picture 23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Observabilidade Sem Complicar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3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Usar dados para explicar se a entrega funcionou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4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25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526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7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8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Logs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9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Eventos textuais: erro, início, fim, exceção.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Devem permitir entender o que aconteceu.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Evitar dados sensíveis em logs.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0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1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2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Métricas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3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Números ao longo do tempo: latência, taxa de erro, uso de CPU/memória.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Podem alimentar alertas e decisões.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No laboratório pode ser simples: tempo, status e contadores.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4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5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6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Traces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7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Caminho de uma requisição entre serviços.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Útil para sistemas distribuídos.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Na disciplina: conceitual ou demonstração curta.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8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539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0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120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SLI, SLO, SLA e Error Budget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2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vocabulário que conecta observabilidade a decisão de negócio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3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248c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44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545" name="Chevron 5"/>
          <p:cNvSpPr/>
          <p:nvPr/>
        </p:nvSpPr>
        <p:spPr>
          <a:xfrm>
            <a:off x="685800" y="1417320"/>
            <a:ext cx="3701520" cy="565200"/>
          </a:xfrm>
          <a:prstGeom prst="chevron">
            <a:avLst>
              <a:gd name="adj" fmla="val 50000"/>
            </a:avLst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SLI — o indicador medido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6" name="Chevron 6"/>
          <p:cNvSpPr/>
          <p:nvPr/>
        </p:nvSpPr>
        <p:spPr>
          <a:xfrm>
            <a:off x="4133160" y="1417320"/>
            <a:ext cx="3701520" cy="565200"/>
          </a:xfrm>
          <a:prstGeom prst="chevron">
            <a:avLst>
              <a:gd name="adj" fmla="val 50000"/>
            </a:avLst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SLO — a meta interna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7" name="Chevron 7"/>
          <p:cNvSpPr/>
          <p:nvPr/>
        </p:nvSpPr>
        <p:spPr>
          <a:xfrm>
            <a:off x="7580520" y="1417320"/>
            <a:ext cx="3701520" cy="565200"/>
          </a:xfrm>
          <a:prstGeom prst="chevron">
            <a:avLst>
              <a:gd name="adj" fmla="val 50000"/>
            </a:avLst>
          </a:prstGeom>
          <a:solidFill>
            <a:srgbClr val="248c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SLA — o compromisso formal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8" name="Rounded Rectangle 8"/>
          <p:cNvSpPr/>
          <p:nvPr/>
        </p:nvSpPr>
        <p:spPr>
          <a:xfrm>
            <a:off x="685800" y="225864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9" name="Rectangle 9"/>
          <p:cNvSpPr/>
          <p:nvPr/>
        </p:nvSpPr>
        <p:spPr>
          <a:xfrm>
            <a:off x="685800" y="225864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0" name="TextBox 10"/>
          <p:cNvSpPr/>
          <p:nvPr/>
        </p:nvSpPr>
        <p:spPr>
          <a:xfrm>
            <a:off x="850320" y="238644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SLI — indicador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1" name="TextBox 11"/>
          <p:cNvSpPr/>
          <p:nvPr/>
        </p:nvSpPr>
        <p:spPr>
          <a:xfrm>
            <a:off x="850320" y="274320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 métrica medida na prática.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Exemplo: % de requisições respondidas em menos de 300ms.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2" name="Rounded Rectangle 12"/>
          <p:cNvSpPr/>
          <p:nvPr/>
        </p:nvSpPr>
        <p:spPr>
          <a:xfrm>
            <a:off x="4389120" y="225864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3" name="Rectangle 13"/>
          <p:cNvSpPr/>
          <p:nvPr/>
        </p:nvSpPr>
        <p:spPr>
          <a:xfrm>
            <a:off x="4389120" y="225864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4" name="TextBox 14"/>
          <p:cNvSpPr/>
          <p:nvPr/>
        </p:nvSpPr>
        <p:spPr>
          <a:xfrm>
            <a:off x="4553640" y="238644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SLO — objetivo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5" name="TextBox 15"/>
          <p:cNvSpPr/>
          <p:nvPr/>
        </p:nvSpPr>
        <p:spPr>
          <a:xfrm>
            <a:off x="4553640" y="274320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 meta interna que o time define para esse indicador.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Exemplo: 99% das requisições abaixo de 300ms no mês.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6" name="Rounded Rectangle 16"/>
          <p:cNvSpPr/>
          <p:nvPr/>
        </p:nvSpPr>
        <p:spPr>
          <a:xfrm>
            <a:off x="8092440" y="225864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7" name="Rectangle 17"/>
          <p:cNvSpPr/>
          <p:nvPr/>
        </p:nvSpPr>
        <p:spPr>
          <a:xfrm>
            <a:off x="8092440" y="2258640"/>
            <a:ext cx="71280" cy="1836000"/>
          </a:xfrm>
          <a:prstGeom prst="rect">
            <a:avLst/>
          </a:prstGeom>
          <a:solidFill>
            <a:srgbClr val="248c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8" name="TextBox 18"/>
          <p:cNvSpPr/>
          <p:nvPr/>
        </p:nvSpPr>
        <p:spPr>
          <a:xfrm>
            <a:off x="8256960" y="238644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SLA e error budget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9" name="TextBox 19"/>
          <p:cNvSpPr/>
          <p:nvPr/>
        </p:nvSpPr>
        <p:spPr>
          <a:xfrm>
            <a:off x="8256960" y="274320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SLA: compromisso formal, às vezes contratual, com penalidade.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Error budget: quanto de falha o SLO tolera — se estourar, prioridade vira estabilidade, não feature nova.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0" name="Picture 20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561" name="TextBox 21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2" name="TextBox 22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Anatomia de um Incidente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4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ciclo que fecha operação -&gt; melhoria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5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66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567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8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9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Detecção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0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Um alerta dispara, por métrica ou por log.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MTTD (mean time to detect): tempo até perceber o problema.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1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2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3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Resposta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4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Diagnosticar a causa.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Aplicar mitigação, mesmo que temporária.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MTTR (mean time to restore): tempo até resolver.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5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6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7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Post-mortem sem culpa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8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Documentar o que aconteceu, por que e o que preveniria.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Objetivo é aprendizado do sistema, não achar um culpado.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79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580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1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Incidente Simulado com IA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3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Fechar o ciclo operação -&gt; melhoria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4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85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586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7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8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Preparar falha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9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Quebrar variável de ambiente.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Subir dependência indisponível.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Provocar erro em endpoint ou teste de saúde.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0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1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2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Investigar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3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Coletar logs e status do container/pipeline.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Pedir à IA hipóteses e validações.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Não aceitar correção antes de confirmar a causa.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4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5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6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Resolver e aprender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7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Aplicar correção pequena.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Rodar validação.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Atualizar README, runbook ou alerta.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Registrar causa, ação e prevenção.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8" name="Rounded Rectangle 17"/>
          <p:cNvSpPr/>
          <p:nvPr/>
        </p:nvSpPr>
        <p:spPr>
          <a:xfrm>
            <a:off x="685800" y="3511440"/>
            <a:ext cx="108338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9" name="Rectangle 18"/>
          <p:cNvSpPr/>
          <p:nvPr/>
        </p:nvSpPr>
        <p:spPr>
          <a:xfrm>
            <a:off x="685800" y="3511440"/>
            <a:ext cx="71280" cy="1186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0" name="TextBox 19"/>
          <p:cNvSpPr/>
          <p:nvPr/>
        </p:nvSpPr>
        <p:spPr>
          <a:xfrm>
            <a:off x="850320" y="363924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Entrega/evidência ao final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1" name="TextBox 20"/>
          <p:cNvSpPr/>
          <p:nvPr/>
        </p:nvSpPr>
        <p:spPr>
          <a:xfrm>
            <a:off x="850320" y="3996000"/>
            <a:ext cx="10541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Mini relatório de incidente: sintoma, hipótese, evidência, causa, correção, prevenção e papel da IA, se usada.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2" name="Picture 21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603" name="TextBox 22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4" name="TextBox 23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123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Alertas: Sinal vs Ruído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6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Para provocar debate sobre fadiga de alerta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08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609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0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1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Alerta bom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2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Acionável: existe uma ação clara a tomar.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Específico e ligado a impacto real no usuário.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3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4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b735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5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Alerta ruim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6" name="TextBox 12"/>
          <p:cNvSpPr/>
          <p:nvPr/>
        </p:nvSpPr>
        <p:spPr>
          <a:xfrm>
            <a:off x="455364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Dispara sem ação clara do que fazer.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É ignorado com frequência — fadiga de alerta.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Mede o sintoma errado.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7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8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9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 para discussão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0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Um time que recebe 50 alertas por dia e ignora a maioria — qual é o risco real disso?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vocês fariam para reduzir o ruído sem perder sinal importante?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1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622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3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124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AIOps: Observabilidade e Resposta a Incidentes com IA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5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 problema de "sinal vs. ruído" já tem produto de mercado resolvendo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27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628" name="Rounded Rectangle 5"/>
          <p:cNvSpPr/>
          <p:nvPr/>
        </p:nvSpPr>
        <p:spPr>
          <a:xfrm>
            <a:off x="68580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9" name="Rectangle 6"/>
          <p:cNvSpPr/>
          <p:nvPr/>
        </p:nvSpPr>
        <p:spPr>
          <a:xfrm>
            <a:off x="685800" y="1508760"/>
            <a:ext cx="71280" cy="20739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0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Datadog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1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Watchdog AI: detecção de anomalia, causa raiz automática e forecasting.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Bits AI apoia a investigação durante o incidente.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2" name="Rounded Rectangle 9"/>
          <p:cNvSpPr/>
          <p:nvPr/>
        </p:nvSpPr>
        <p:spPr>
          <a:xfrm>
            <a:off x="438912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3" name="Rectangle 10"/>
          <p:cNvSpPr/>
          <p:nvPr/>
        </p:nvSpPr>
        <p:spPr>
          <a:xfrm>
            <a:off x="4389120" y="1508760"/>
            <a:ext cx="71280" cy="20739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4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PagerDuty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5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Módulo de AIOps treinado em 86 bilhões de eventos históricos.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Reduz ruído de alerta em até 91% — transforma 50 alertas em ~3 incidentes reais.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6" name="Rounded Rectangle 13"/>
          <p:cNvSpPr/>
          <p:nvPr/>
        </p:nvSpPr>
        <p:spPr>
          <a:xfrm>
            <a:off x="8092440" y="1508760"/>
            <a:ext cx="3427200" cy="2073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7" name="Rectangle 14"/>
          <p:cNvSpPr/>
          <p:nvPr/>
        </p:nvSpPr>
        <p:spPr>
          <a:xfrm>
            <a:off x="8092440" y="1508760"/>
            <a:ext cx="71280" cy="207396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8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 papel da IA aqui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9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Ela correlaciona, prioriza e roteia para a pessoa certa.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 causa raiz confirmada e a correção continuam sendo decisão humana.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0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641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2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125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TextBox 1"/>
          <p:cNvSpPr/>
          <p:nvPr/>
        </p:nvSpPr>
        <p:spPr>
          <a:xfrm>
            <a:off x="594360" y="320040"/>
            <a:ext cx="9873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32b42"/>
                </a:solidFill>
                <a:latin typeface="Aptos"/>
              </a:rPr>
              <a:t>Atividade 6 - Observabilidade e Apresentação Final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4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Fechar o projeto com dados e defesa técnica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5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46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647" name="Rounded Rectangle 5"/>
          <p:cNvSpPr/>
          <p:nvPr/>
        </p:nvSpPr>
        <p:spPr>
          <a:xfrm>
            <a:off x="68580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8" name="Rectangle 6"/>
          <p:cNvSpPr/>
          <p:nvPr/>
        </p:nvSpPr>
        <p:spPr>
          <a:xfrm>
            <a:off x="685800" y="1508760"/>
            <a:ext cx="71280" cy="25495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9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Perguntas guia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0" name="TextBox 8"/>
          <p:cNvSpPr/>
          <p:nvPr/>
        </p:nvSpPr>
        <p:spPr>
          <a:xfrm>
            <a:off x="850320" y="1993320"/>
            <a:ext cx="3134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 dado prova que a entrega realmente funciona?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Qual foi a causa real do incidente simulado, não só o sintoma?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grupo consegue defender cada decisão em poucos minutos?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Onde a IA ajudou e onde precisou ser corrigida?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1" name="Rounded Rectangle 9"/>
          <p:cNvSpPr/>
          <p:nvPr/>
        </p:nvSpPr>
        <p:spPr>
          <a:xfrm>
            <a:off x="438912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2" name="Rectangle 10"/>
          <p:cNvSpPr/>
          <p:nvPr/>
        </p:nvSpPr>
        <p:spPr>
          <a:xfrm>
            <a:off x="4389120" y="1508760"/>
            <a:ext cx="71280" cy="25495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3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Evidências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4" name="TextBox 12"/>
          <p:cNvSpPr/>
          <p:nvPr/>
        </p:nvSpPr>
        <p:spPr>
          <a:xfrm>
            <a:off x="4553640" y="1993320"/>
            <a:ext cx="3134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Logs/métricas mínimas da aplicação.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Mini relatório do incidente simulado.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Apresentação cobrindo repositório, pipeline, container, release e operação.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Registro consolidado de uso de IA no projeto.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5" name="Rounded Rectangle 13"/>
          <p:cNvSpPr/>
          <p:nvPr/>
        </p:nvSpPr>
        <p:spPr>
          <a:xfrm>
            <a:off x="8092440" y="1508760"/>
            <a:ext cx="3427200" cy="2549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6" name="Rectangle 14"/>
          <p:cNvSpPr/>
          <p:nvPr/>
        </p:nvSpPr>
        <p:spPr>
          <a:xfrm>
            <a:off x="8092440" y="1508760"/>
            <a:ext cx="71280" cy="25495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7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8" name="TextBox 16"/>
          <p:cNvSpPr/>
          <p:nvPr/>
        </p:nvSpPr>
        <p:spPr>
          <a:xfrm>
            <a:off x="825696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Apresentação de 5 a 7 minutos.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Repositório final com todas as evidências do projeto integrador.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9" name="Rounded Rectangle 17"/>
          <p:cNvSpPr/>
          <p:nvPr/>
        </p:nvSpPr>
        <p:spPr>
          <a:xfrm>
            <a:off x="685800" y="4224600"/>
            <a:ext cx="108338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0" name="Rectangle 18"/>
          <p:cNvSpPr/>
          <p:nvPr/>
        </p:nvSpPr>
        <p:spPr>
          <a:xfrm>
            <a:off x="685800" y="4224600"/>
            <a:ext cx="71280" cy="1186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1" name="TextBox 19"/>
          <p:cNvSpPr/>
          <p:nvPr/>
        </p:nvSpPr>
        <p:spPr>
          <a:xfrm>
            <a:off x="850320" y="435240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Conexão com avaliação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2" name="TextBox 20"/>
          <p:cNvSpPr/>
          <p:nvPr/>
        </p:nvSpPr>
        <p:spPr>
          <a:xfrm>
            <a:off x="850320" y="4709160"/>
            <a:ext cx="10541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Fecha os 10% de Diagnóstico DevOps e os 5% de Apresentação final da rubrica.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63" name="Picture 21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664" name="TextBox 22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5" name="TextBox 23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Prompts Úteis - Operação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IA como apoio à investigação, não como diagnóstico definitivo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6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pic>
        <p:nvPicPr>
          <p:cNvPr id="2670" name="Picture 5" descr="ic_prompt.png"/>
          <p:cNvPicPr/>
          <p:nvPr/>
        </p:nvPicPr>
        <p:blipFill>
          <a:blip r:embed="rId2"/>
          <a:stretch/>
        </p:blipFill>
        <p:spPr>
          <a:xfrm>
            <a:off x="10817280" y="694800"/>
            <a:ext cx="400680" cy="400680"/>
          </a:xfrm>
          <a:prstGeom prst="rect">
            <a:avLst/>
          </a:prstGeom>
          <a:ln w="0">
            <a:noFill/>
          </a:ln>
        </p:spPr>
      </p:pic>
      <p:sp>
        <p:nvSpPr>
          <p:cNvPr id="2671" name="Rounded Rectangle 6"/>
          <p:cNvSpPr/>
          <p:nvPr/>
        </p:nvSpPr>
        <p:spPr>
          <a:xfrm>
            <a:off x="68580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2" name="Rectangle 7"/>
          <p:cNvSpPr/>
          <p:nvPr/>
        </p:nvSpPr>
        <p:spPr>
          <a:xfrm>
            <a:off x="685800" y="1508760"/>
            <a:ext cx="71280" cy="173556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3" name="TextBox 8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Logs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4" name="TextBox 9"/>
          <p:cNvSpPr/>
          <p:nvPr/>
        </p:nvSpPr>
        <p:spPr>
          <a:xfrm>
            <a:off x="850320" y="1993320"/>
            <a:ext cx="31345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Analise os logs abaixo e liste hipóteses de causa em ordem de probabilidade. Para cada hipótese, diga qual evidência confirma ou descarta.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Logs: &lt;trecho sem dados sensíveis&gt;.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5" name="Rounded Rectangle 10"/>
          <p:cNvSpPr/>
          <p:nvPr/>
        </p:nvSpPr>
        <p:spPr>
          <a:xfrm>
            <a:off x="438912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6" name="Rectangle 11"/>
          <p:cNvSpPr/>
          <p:nvPr/>
        </p:nvSpPr>
        <p:spPr>
          <a:xfrm>
            <a:off x="4389120" y="1508760"/>
            <a:ext cx="71280" cy="173556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7" name="TextBox 12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Runbook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8" name="TextBox 13"/>
          <p:cNvSpPr/>
          <p:nvPr/>
        </p:nvSpPr>
        <p:spPr>
          <a:xfrm>
            <a:off x="4553640" y="1993320"/>
            <a:ext cx="31345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Transforme esta solução de incidente em um runbook curto com sintomas, comandos de diagnóstico, ação corretiva e validação final.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Incidente: &lt;resumo&gt;.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9" name="Rounded Rectangle 14"/>
          <p:cNvSpPr/>
          <p:nvPr/>
        </p:nvSpPr>
        <p:spPr>
          <a:xfrm>
            <a:off x="8092440" y="1508760"/>
            <a:ext cx="3427200" cy="173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0" name="Rectangle 15"/>
          <p:cNvSpPr/>
          <p:nvPr/>
        </p:nvSpPr>
        <p:spPr>
          <a:xfrm>
            <a:off x="8092440" y="1508760"/>
            <a:ext cx="71280" cy="173556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1" name="TextBox 16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Apresentação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2" name="TextBox 17"/>
          <p:cNvSpPr/>
          <p:nvPr/>
        </p:nvSpPr>
        <p:spPr>
          <a:xfrm>
            <a:off x="8256960" y="1993320"/>
            <a:ext cx="313452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Com base nas evidências abaixo, ajude a montar uma narrativa técnica de 5 minutos: problema, decisões, pipeline, operação, riscos e próximos passos.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100" spc="-1" strike="noStrike">
                <a:solidFill>
                  <a:srgbClr val="0f172a"/>
                </a:solidFill>
                <a:latin typeface="Aptos"/>
              </a:rPr>
              <a:t>Evidências: &lt;lista&gt;.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83" name="Picture 18" descr="Logo Unifor.png"/>
          <p:cNvPicPr/>
          <p:nvPr/>
        </p:nvPicPr>
        <p:blipFill>
          <a:blip r:embed="rId3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684" name="TextBox 19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5" name="TextBox 20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TextBox 1"/>
          <p:cNvSpPr/>
          <p:nvPr/>
        </p:nvSpPr>
        <p:spPr>
          <a:xfrm>
            <a:off x="594360" y="320040"/>
            <a:ext cx="9873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32b42"/>
                </a:solidFill>
                <a:latin typeface="Aptos"/>
              </a:rPr>
              <a:t>Apresentação Final - Roteiro de 5 a 7 Minutos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Ordem padrão para todos os grupos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8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690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1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2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1. Contexto e diagnóstico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3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Qual problema o projeto representa.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Quais gargalos DevOps foram priorizados.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foi decidido fazer dentro do tempo disponível.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4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5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6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2. Demonstração técnica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7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Repositório e PRs.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Pipeline rodando.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Aplicação em container/Compose.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Release ou rollback/plano.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Logs/métricas/incidente simulado.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8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9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0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3. Defesa crítica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1" name="TextBox 16"/>
          <p:cNvSpPr/>
          <p:nvPr/>
        </p:nvSpPr>
        <p:spPr>
          <a:xfrm>
            <a:off x="825696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Tradeoffs e limitações.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Uso de IA: onde ajudou, onde falhou, como foi validada.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Próximos passos para evolução real.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2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703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4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Rubrica Final - Perguntas de Avaliação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6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Perguntas curtas, respondidas com evidências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08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709" name="Rounded Rectangle 5"/>
          <p:cNvSpPr/>
          <p:nvPr/>
        </p:nvSpPr>
        <p:spPr>
          <a:xfrm>
            <a:off x="68580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0" name="Rectangle 6"/>
          <p:cNvSpPr/>
          <p:nvPr/>
        </p:nvSpPr>
        <p:spPr>
          <a:xfrm>
            <a:off x="685800" y="1508760"/>
            <a:ext cx="71280" cy="18360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1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Projeto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2" name="TextBox 8"/>
          <p:cNvSpPr/>
          <p:nvPr/>
        </p:nvSpPr>
        <p:spPr>
          <a:xfrm>
            <a:off x="85032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Como executo do zero?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Onde está o README?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Qual decisão técnica foi mais importante?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ficou fora do escopo?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3" name="Rounded Rectangle 9"/>
          <p:cNvSpPr/>
          <p:nvPr/>
        </p:nvSpPr>
        <p:spPr>
          <a:xfrm>
            <a:off x="438912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4" name="Rectangle 10"/>
          <p:cNvSpPr/>
          <p:nvPr/>
        </p:nvSpPr>
        <p:spPr>
          <a:xfrm>
            <a:off x="4389120" y="1508760"/>
            <a:ext cx="71280" cy="18360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5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Pipeline/entrega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6" name="TextBox 12"/>
          <p:cNvSpPr/>
          <p:nvPr/>
        </p:nvSpPr>
        <p:spPr>
          <a:xfrm>
            <a:off x="455364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faz o pipeline falhar?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 teste prova comportamento relevante?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Qual artefato é promovido?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Como voltar para versão anterior?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7" name="Rounded Rectangle 13"/>
          <p:cNvSpPr/>
          <p:nvPr/>
        </p:nvSpPr>
        <p:spPr>
          <a:xfrm>
            <a:off x="8092440" y="1508760"/>
            <a:ext cx="3427200" cy="18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8" name="Rectangle 14"/>
          <p:cNvSpPr/>
          <p:nvPr/>
        </p:nvSpPr>
        <p:spPr>
          <a:xfrm>
            <a:off x="8092440" y="1508760"/>
            <a:ext cx="71280" cy="1836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9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Operação/IA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0" name="TextBox 16"/>
          <p:cNvSpPr/>
          <p:nvPr/>
        </p:nvSpPr>
        <p:spPr>
          <a:xfrm>
            <a:off x="8256960" y="1993320"/>
            <a:ext cx="31345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 logs/métricas indicam saúde?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Qual incidente foi simulado?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Que sugestão de IA foi aceita ou rejeitada?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Como vocês validaram?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1" name="Picture 1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722" name="TextBox 1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3" name="TextBox 1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129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TextBox 1"/>
          <p:cNvSpPr/>
          <p:nvPr/>
        </p:nvSpPr>
        <p:spPr>
          <a:xfrm>
            <a:off x="594360" y="320040"/>
            <a:ext cx="9873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Checklist do Projeto Integrador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5" name="TextBox 2"/>
          <p:cNvSpPr/>
          <p:nvPr/>
        </p:nvSpPr>
        <p:spPr>
          <a:xfrm>
            <a:off x="621720" y="841320"/>
            <a:ext cx="9873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Trilha de acompanhamento dos entregáveis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7" name="Rounded Rectangle 4"/>
          <p:cNvSpPr/>
          <p:nvPr/>
        </p:nvSpPr>
        <p:spPr>
          <a:xfrm>
            <a:off x="685800" y="1417320"/>
            <a:ext cx="3427200" cy="200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8" name="Rectangle 5"/>
          <p:cNvSpPr/>
          <p:nvPr/>
        </p:nvSpPr>
        <p:spPr>
          <a:xfrm>
            <a:off x="685800" y="1417320"/>
            <a:ext cx="71280" cy="200988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9" name="TextBox 6"/>
          <p:cNvSpPr/>
          <p:nvPr/>
        </p:nvSpPr>
        <p:spPr>
          <a:xfrm>
            <a:off x="85032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Repositório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0" name="TextBox 7"/>
          <p:cNvSpPr/>
          <p:nvPr/>
        </p:nvSpPr>
        <p:spPr>
          <a:xfrm>
            <a:off x="850320" y="192024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README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Commits e PRs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Tags/releases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Decisões documentadas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1" name="Rounded Rectangle 8"/>
          <p:cNvSpPr/>
          <p:nvPr/>
        </p:nvSpPr>
        <p:spPr>
          <a:xfrm>
            <a:off x="4389120" y="1417320"/>
            <a:ext cx="3427200" cy="200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2" name="Rectangle 9"/>
          <p:cNvSpPr/>
          <p:nvPr/>
        </p:nvSpPr>
        <p:spPr>
          <a:xfrm>
            <a:off x="4389120" y="1417320"/>
            <a:ext cx="71280" cy="200988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3" name="TextBox 10"/>
          <p:cNvSpPr/>
          <p:nvPr/>
        </p:nvSpPr>
        <p:spPr>
          <a:xfrm>
            <a:off x="455364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Automação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4" name="TextBox 11"/>
          <p:cNvSpPr/>
          <p:nvPr/>
        </p:nvSpPr>
        <p:spPr>
          <a:xfrm>
            <a:off x="4553640" y="192024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Pipeline CI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Testes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Qualidade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Artefato/imagem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5" name="Rounded Rectangle 12"/>
          <p:cNvSpPr/>
          <p:nvPr/>
        </p:nvSpPr>
        <p:spPr>
          <a:xfrm>
            <a:off x="8092440" y="1417320"/>
            <a:ext cx="3427200" cy="200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6" name="Rectangle 13"/>
          <p:cNvSpPr/>
          <p:nvPr/>
        </p:nvSpPr>
        <p:spPr>
          <a:xfrm>
            <a:off x="8092440" y="1417320"/>
            <a:ext cx="71280" cy="200988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7" name="TextBox 14"/>
          <p:cNvSpPr/>
          <p:nvPr/>
        </p:nvSpPr>
        <p:spPr>
          <a:xfrm>
            <a:off x="8256960" y="154548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Execução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8" name="TextBox 15"/>
          <p:cNvSpPr/>
          <p:nvPr/>
        </p:nvSpPr>
        <p:spPr>
          <a:xfrm>
            <a:off x="8256960" y="192024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Dockerfile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compose.yaml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Variáveis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Health check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9" name="Rounded Rectangle 16"/>
          <p:cNvSpPr/>
          <p:nvPr/>
        </p:nvSpPr>
        <p:spPr>
          <a:xfrm>
            <a:off x="685800" y="3886200"/>
            <a:ext cx="3427200" cy="182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0" name="Rectangle 17"/>
          <p:cNvSpPr/>
          <p:nvPr/>
        </p:nvSpPr>
        <p:spPr>
          <a:xfrm>
            <a:off x="685800" y="3886200"/>
            <a:ext cx="71280" cy="1827000"/>
          </a:xfrm>
          <a:prstGeom prst="rect">
            <a:avLst/>
          </a:prstGeom>
          <a:solidFill>
            <a:srgbClr val="b736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1" name="TextBox 18"/>
          <p:cNvSpPr/>
          <p:nvPr/>
        </p:nvSpPr>
        <p:spPr>
          <a:xfrm>
            <a:off x="850320" y="401436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2" name="TextBox 19"/>
          <p:cNvSpPr/>
          <p:nvPr/>
        </p:nvSpPr>
        <p:spPr>
          <a:xfrm>
            <a:off x="850320" y="438912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Release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Rollback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Segurança mínima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3" name="Rounded Rectangle 20"/>
          <p:cNvSpPr/>
          <p:nvPr/>
        </p:nvSpPr>
        <p:spPr>
          <a:xfrm>
            <a:off x="4389120" y="3886200"/>
            <a:ext cx="3427200" cy="182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4" name="Rectangle 21"/>
          <p:cNvSpPr/>
          <p:nvPr/>
        </p:nvSpPr>
        <p:spPr>
          <a:xfrm>
            <a:off x="4389120" y="3886200"/>
            <a:ext cx="71280" cy="18270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5" name="TextBox 22"/>
          <p:cNvSpPr/>
          <p:nvPr/>
        </p:nvSpPr>
        <p:spPr>
          <a:xfrm>
            <a:off x="4553640" y="401436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32b42"/>
                </a:solidFill>
                <a:latin typeface="Aptos"/>
              </a:rPr>
              <a:t>Operação e 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6" name="TextBox 23"/>
          <p:cNvSpPr/>
          <p:nvPr/>
        </p:nvSpPr>
        <p:spPr>
          <a:xfrm>
            <a:off x="4553640" y="438912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Logs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Métricas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Incidente simulado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Hipóteses com IA validadas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7" name="Rounded Rectangle 24"/>
          <p:cNvSpPr/>
          <p:nvPr/>
        </p:nvSpPr>
        <p:spPr>
          <a:xfrm>
            <a:off x="8092440" y="3886200"/>
            <a:ext cx="3427200" cy="182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8" name="Rectangle 25"/>
          <p:cNvSpPr/>
          <p:nvPr/>
        </p:nvSpPr>
        <p:spPr>
          <a:xfrm>
            <a:off x="8092440" y="3886200"/>
            <a:ext cx="71280" cy="1827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9" name="TextBox 26"/>
          <p:cNvSpPr/>
          <p:nvPr/>
        </p:nvSpPr>
        <p:spPr>
          <a:xfrm>
            <a:off x="8256960" y="4014360"/>
            <a:ext cx="3134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32b42"/>
                </a:solidFill>
                <a:latin typeface="Aptos"/>
              </a:rPr>
              <a:t>Análise e IA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0" name="TextBox 27"/>
          <p:cNvSpPr/>
          <p:nvPr/>
        </p:nvSpPr>
        <p:spPr>
          <a:xfrm>
            <a:off x="8256960" y="4389120"/>
            <a:ext cx="31345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Diagnóstico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Gargalos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Uso de IA registrado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Validações e riscos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Evolução proposta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1" name="TextBox 28"/>
          <p:cNvSpPr/>
          <p:nvPr/>
        </p:nvSpPr>
        <p:spPr>
          <a:xfrm>
            <a:off x="1298520" y="6446520"/>
            <a:ext cx="58777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2" name="TextBox 29"/>
          <p:cNvSpPr/>
          <p:nvPr/>
        </p:nvSpPr>
        <p:spPr>
          <a:xfrm>
            <a:off x="11201400" y="6446520"/>
            <a:ext cx="5011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130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3" name="Picture 30" descr="Logo Unifor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2754" name="Picture 31" descr="Logo Unifor Pos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Fechamento da Disciplina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6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Conectando prática, maturidade e evolução profissional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58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759" name="Rounded Rectangle 5"/>
          <p:cNvSpPr/>
          <p:nvPr/>
        </p:nvSpPr>
        <p:spPr>
          <a:xfrm>
            <a:off x="685800" y="1508760"/>
            <a:ext cx="10833840" cy="159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0" name="Rectangle 6"/>
          <p:cNvSpPr/>
          <p:nvPr/>
        </p:nvSpPr>
        <p:spPr>
          <a:xfrm>
            <a:off x="685800" y="1508760"/>
            <a:ext cx="71280" cy="15984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1" name="TextBox 7"/>
          <p:cNvSpPr/>
          <p:nvPr/>
        </p:nvSpPr>
        <p:spPr>
          <a:xfrm>
            <a:off x="850320" y="163692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Síntese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2" name="TextBox 8"/>
          <p:cNvSpPr/>
          <p:nvPr/>
        </p:nvSpPr>
        <p:spPr>
          <a:xfrm>
            <a:off x="850320" y="1993320"/>
            <a:ext cx="10541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DevOps é fluxo de entrega com responsabilidade compartilhada.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Automação sem feedback e evidência vira ritual vazio.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IA aumenta velocidade, mas também exige validação e governança.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valor está em entregar software reproduzível, seguro, observável e evolutivo.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3" name="Picture 9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764" name="TextBox 10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5" name="TextBox 11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TextBox 1"/>
          <p:cNvSpPr/>
          <p:nvPr/>
        </p:nvSpPr>
        <p:spPr>
          <a:xfrm>
            <a:off x="777240" y="2286000"/>
            <a:ext cx="1060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fffff"/>
                </a:solidFill>
                <a:latin typeface="Aptos"/>
              </a:rPr>
              <a:t>Anexos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7" name="TextBox 2"/>
          <p:cNvSpPr/>
          <p:nvPr/>
        </p:nvSpPr>
        <p:spPr>
          <a:xfrm>
            <a:off x="1463040" y="3090600"/>
            <a:ext cx="923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dde7f0"/>
                </a:solidFill>
                <a:latin typeface="Aptos"/>
              </a:rPr>
              <a:t>Modelos rápidos, comandos de apoio e bibliografia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68" name="Picture 3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769" name="TextBox 4"/>
          <p:cNvSpPr/>
          <p:nvPr/>
        </p:nvSpPr>
        <p:spPr>
          <a:xfrm>
            <a:off x="5532120" y="6263640"/>
            <a:ext cx="1186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dde7f0"/>
                </a:solidFill>
                <a:latin typeface="Aptos"/>
              </a:rPr>
              <a:t>132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Template - Registro de Uso de IA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1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Um registro simples, não burocrático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2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73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774" name="Rounded Rectangle 5"/>
          <p:cNvSpPr/>
          <p:nvPr/>
        </p:nvSpPr>
        <p:spPr>
          <a:xfrm>
            <a:off x="685800" y="1508760"/>
            <a:ext cx="3427200" cy="159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5" name="Rectangle 6"/>
          <p:cNvSpPr/>
          <p:nvPr/>
        </p:nvSpPr>
        <p:spPr>
          <a:xfrm>
            <a:off x="685800" y="1508760"/>
            <a:ext cx="71280" cy="15984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6" name="TextBox 7"/>
          <p:cNvSpPr/>
          <p:nvPr/>
        </p:nvSpPr>
        <p:spPr>
          <a:xfrm>
            <a:off x="85032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Contexto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7" name="TextBox 8"/>
          <p:cNvSpPr/>
          <p:nvPr/>
        </p:nvSpPr>
        <p:spPr>
          <a:xfrm>
            <a:off x="850320" y="1993320"/>
            <a:ext cx="3134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Ferramenta usada.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Objetivo do uso.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Trecho/contexto fornecido, sem dados sensíveis.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8" name="Rounded Rectangle 9"/>
          <p:cNvSpPr/>
          <p:nvPr/>
        </p:nvSpPr>
        <p:spPr>
          <a:xfrm>
            <a:off x="4389120" y="1508760"/>
            <a:ext cx="3427200" cy="159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9" name="Rectangle 10"/>
          <p:cNvSpPr/>
          <p:nvPr/>
        </p:nvSpPr>
        <p:spPr>
          <a:xfrm>
            <a:off x="4389120" y="1508760"/>
            <a:ext cx="71280" cy="159840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0" name="TextBox 11"/>
          <p:cNvSpPr/>
          <p:nvPr/>
        </p:nvSpPr>
        <p:spPr>
          <a:xfrm>
            <a:off x="455364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Resultado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1" name="TextBox 12"/>
          <p:cNvSpPr/>
          <p:nvPr/>
        </p:nvSpPr>
        <p:spPr>
          <a:xfrm>
            <a:off x="455364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Saída útil recebida.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foi aceito.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O que foi rejeitado ou corrigido.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2" name="Rounded Rectangle 13"/>
          <p:cNvSpPr/>
          <p:nvPr/>
        </p:nvSpPr>
        <p:spPr>
          <a:xfrm>
            <a:off x="8092440" y="1508760"/>
            <a:ext cx="3427200" cy="159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3" name="Rectangle 14"/>
          <p:cNvSpPr/>
          <p:nvPr/>
        </p:nvSpPr>
        <p:spPr>
          <a:xfrm>
            <a:off x="8092440" y="1508760"/>
            <a:ext cx="71280" cy="15984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4" name="TextBox 15"/>
          <p:cNvSpPr/>
          <p:nvPr/>
        </p:nvSpPr>
        <p:spPr>
          <a:xfrm>
            <a:off x="8256960" y="1636920"/>
            <a:ext cx="313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Validação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5" name="TextBox 16"/>
          <p:cNvSpPr/>
          <p:nvPr/>
        </p:nvSpPr>
        <p:spPr>
          <a:xfrm>
            <a:off x="8256960" y="1993320"/>
            <a:ext cx="313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Teste, build, revisão ou execução feita.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Risco identificado.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Decisão humana final.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6" name="Rounded Rectangle 17"/>
          <p:cNvSpPr/>
          <p:nvPr/>
        </p:nvSpPr>
        <p:spPr>
          <a:xfrm>
            <a:off x="685800" y="3273480"/>
            <a:ext cx="10833840" cy="1186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7" name="Rectangle 18"/>
          <p:cNvSpPr/>
          <p:nvPr/>
        </p:nvSpPr>
        <p:spPr>
          <a:xfrm>
            <a:off x="685800" y="3273480"/>
            <a:ext cx="71280" cy="1186920"/>
          </a:xfrm>
          <a:prstGeom prst="rect">
            <a:avLst/>
          </a:prstGeom>
          <a:solidFill>
            <a:srgbClr val="e88b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8" name="TextBox 19"/>
          <p:cNvSpPr/>
          <p:nvPr/>
        </p:nvSpPr>
        <p:spPr>
          <a:xfrm>
            <a:off x="850320" y="340164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Entrega/evidência ao final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9" name="TextBox 20"/>
          <p:cNvSpPr/>
          <p:nvPr/>
        </p:nvSpPr>
        <p:spPr>
          <a:xfrm>
            <a:off x="850320" y="3758040"/>
            <a:ext cx="10541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200" spc="-1" strike="noStrike">
                <a:solidFill>
                  <a:srgbClr val="0f172a"/>
                </a:solidFill>
                <a:latin typeface="Aptos"/>
              </a:rPr>
              <a:t>Um parágrafo ou tabela no README/relatório final basta, desde que permita defender a decisão.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0" name="Picture 21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791" name="TextBox 22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2" name="TextBox 23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133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Template - Diagnóstico DevOps em 1 Página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4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Entregável do Encontro 1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5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96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797" name="Rounded Rectangle 5"/>
          <p:cNvSpPr/>
          <p:nvPr/>
        </p:nvSpPr>
        <p:spPr>
          <a:xfrm>
            <a:off x="731520" y="1481400"/>
            <a:ext cx="1074240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8" name="TextBox 6"/>
          <p:cNvSpPr/>
          <p:nvPr/>
        </p:nvSpPr>
        <p:spPr>
          <a:xfrm>
            <a:off x="896040" y="1609200"/>
            <a:ext cx="10413360" cy="33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 Diagnostico DevOps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Projeto/grupo: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Fluxo atual: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1. Pedido/demanda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2. Desenvolvimento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3. Teste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4. Entrega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5. Operacao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Gargalos: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&lt;gargalo 1&gt;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&lt;gargalo 2&gt;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&lt;gargalo 3&gt;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 Priorizacao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Melhoria escolhida: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Impacto esperado: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Evidencia de sucesso: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Riscos: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IA pode ajudar em: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Validacao humana necessaria: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9" name="Picture 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800" name="TextBox 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1" name="TextBox 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134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4" name="TextBox 3"/>
          <p:cNvSpPr/>
          <p:nvPr/>
        </p:nvSpPr>
        <p:spPr>
          <a:xfrm>
            <a:off x="594360" y="320040"/>
            <a:ext cx="987516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2700" spc="-1" strike="noStrike">
                <a:solidFill>
                  <a:srgbClr val="132b42"/>
                </a:solidFill>
                <a:latin typeface="Aptos"/>
              </a:rPr>
              <a:t>Template — Entrega Inicial do Projeto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5" name="TextBox 4"/>
          <p:cNvSpPr/>
          <p:nvPr/>
        </p:nvSpPr>
        <p:spPr>
          <a:xfrm>
            <a:off x="621720" y="877680"/>
            <a:ext cx="10058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200" spc="-1" strike="noStrike">
                <a:solidFill>
                  <a:srgbClr val="5e6c7a"/>
                </a:solidFill>
                <a:latin typeface="Aptos"/>
              </a:rPr>
              <a:t>Registro do incremento do Encontro 2 no próprio repositório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6" name="Rectangle 5"/>
          <p:cNvSpPr/>
          <p:nvPr/>
        </p:nvSpPr>
        <p:spPr>
          <a:xfrm>
            <a:off x="594360" y="1234440"/>
            <a:ext cx="1234080" cy="40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07" name="Picture 6" descr="image.png"/>
          <p:cNvPicPr/>
          <p:nvPr/>
        </p:nvPicPr>
        <p:blipFill>
          <a:blip r:embed="rId1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pic>
        <p:nvPicPr>
          <p:cNvPr id="2808" name="Picture 7" descr="image.png"/>
          <p:cNvPicPr/>
          <p:nvPr/>
        </p:nvPicPr>
        <p:blipFill>
          <a:blip r:embed="rId2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809" name="TextBox 8"/>
          <p:cNvSpPr/>
          <p:nvPr/>
        </p:nvSpPr>
        <p:spPr>
          <a:xfrm>
            <a:off x="1298520" y="6446520"/>
            <a:ext cx="90522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0" name="TextBox 9"/>
          <p:cNvSpPr/>
          <p:nvPr/>
        </p:nvSpPr>
        <p:spPr>
          <a:xfrm>
            <a:off x="11064240" y="6446520"/>
            <a:ext cx="594000" cy="1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800" spc="-1" strike="noStrike">
                <a:solidFill>
                  <a:srgbClr val="5e6c7a"/>
                </a:solidFill>
                <a:latin typeface="Aptos"/>
              </a:rPr>
              <a:t>135</a:t>
            </a:r>
            <a:endParaRPr b="0" lang="pt-B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1" name="Rectangle 10"/>
          <p:cNvSpPr/>
          <p:nvPr/>
        </p:nvSpPr>
        <p:spPr>
          <a:xfrm>
            <a:off x="685800" y="5715000"/>
            <a:ext cx="10835280" cy="475200"/>
          </a:xfrm>
          <a:prstGeom prst="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2" name="TextBox 11"/>
          <p:cNvSpPr/>
          <p:nvPr/>
        </p:nvSpPr>
        <p:spPr>
          <a:xfrm>
            <a:off x="822960" y="5788080"/>
            <a:ext cx="1051524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400" spc="-1" strike="noStrike">
                <a:solidFill>
                  <a:srgbClr val="132b42"/>
                </a:solidFill>
                <a:latin typeface="Aptos"/>
              </a:rPr>
              <a:t>A evidência conecta pessoas, código, execução e o próximo incremento.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3" name="Rounded Rectangle 12"/>
          <p:cNvSpPr/>
          <p:nvPr/>
        </p:nvSpPr>
        <p:spPr>
          <a:xfrm>
            <a:off x="6858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4" name="Rectangle 13"/>
          <p:cNvSpPr/>
          <p:nvPr/>
        </p:nvSpPr>
        <p:spPr>
          <a:xfrm>
            <a:off x="685800" y="1600200"/>
            <a:ext cx="54360" cy="347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5" name="TextBox 14"/>
          <p:cNvSpPr/>
          <p:nvPr/>
        </p:nvSpPr>
        <p:spPr>
          <a:xfrm>
            <a:off x="84132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Identificação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6" name="TextBox 15"/>
          <p:cNvSpPr/>
          <p:nvPr/>
        </p:nvSpPr>
        <p:spPr>
          <a:xfrm>
            <a:off x="841320" y="2359080"/>
            <a:ext cx="314820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Projeto e objetivo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Organização e URL do repo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Integrantes e responsáveis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Acessos confirmados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7" name="Rounded Rectangle 16"/>
          <p:cNvSpPr/>
          <p:nvPr/>
        </p:nvSpPr>
        <p:spPr>
          <a:xfrm>
            <a:off x="437400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8" name="Rectangle 17"/>
          <p:cNvSpPr/>
          <p:nvPr/>
        </p:nvSpPr>
        <p:spPr>
          <a:xfrm>
            <a:off x="4374000" y="1600200"/>
            <a:ext cx="54360" cy="3474360"/>
          </a:xfrm>
          <a:prstGeom prst="rect">
            <a:avLst/>
          </a:prstGeom>
          <a:solidFill>
            <a:srgbClr val="2a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9" name="TextBox 18"/>
          <p:cNvSpPr/>
          <p:nvPr/>
        </p:nvSpPr>
        <p:spPr>
          <a:xfrm>
            <a:off x="45291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Base inicial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0" name="TextBox 19"/>
          <p:cNvSpPr/>
          <p:nvPr/>
        </p:nvSpPr>
        <p:spPr>
          <a:xfrm>
            <a:off x="4529160" y="2359080"/>
            <a:ext cx="3148200" cy="19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Hash do primeiro commit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Stack e funcionalidade mínima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Comando de execução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Comando e resultado do teste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1" name="Rounded Rectangle 20"/>
          <p:cNvSpPr/>
          <p:nvPr/>
        </p:nvSpPr>
        <p:spPr>
          <a:xfrm>
            <a:off x="8061840" y="1600200"/>
            <a:ext cx="3459240" cy="347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2" name="Rectangle 21"/>
          <p:cNvSpPr/>
          <p:nvPr/>
        </p:nvSpPr>
        <p:spPr>
          <a:xfrm>
            <a:off x="8061840" y="1600200"/>
            <a:ext cx="54360" cy="3474360"/>
          </a:xfrm>
          <a:prstGeom prst="rect">
            <a:avLst/>
          </a:prstGeom>
          <a:solidFill>
            <a:srgbClr val="70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3" name="TextBox 22"/>
          <p:cNvSpPr/>
          <p:nvPr/>
        </p:nvSpPr>
        <p:spPr>
          <a:xfrm>
            <a:off x="8217360" y="1764720"/>
            <a:ext cx="31482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pt-BR" sz="1900" spc="-1" strike="noStrike">
                <a:solidFill>
                  <a:srgbClr val="132b42"/>
                </a:solidFill>
                <a:latin typeface="Aptos"/>
              </a:rPr>
              <a:t>Validação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4" name="TextBox 23"/>
          <p:cNvSpPr/>
          <p:nvPr/>
        </p:nvSpPr>
        <p:spPr>
          <a:xfrm>
            <a:off x="8217360" y="2359080"/>
            <a:ext cx="3148200" cy="16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Quem validou o clone limpo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Link/log da evidência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IA: uso e validação, se aplicada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0" lang="pt-BR" sz="1800" spc="-1" strike="noStrike">
                <a:solidFill>
                  <a:srgbClr val="0f172a"/>
                </a:solidFill>
                <a:latin typeface="Aptos"/>
              </a:rPr>
              <a:t>Próximo passo: pipeline CI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Template - Evidência de Pipeline CI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6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Entregável do Encontro 3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7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28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829" name="Rounded Rectangle 5"/>
          <p:cNvSpPr/>
          <p:nvPr/>
        </p:nvSpPr>
        <p:spPr>
          <a:xfrm>
            <a:off x="731520" y="1481400"/>
            <a:ext cx="1074240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0" name="TextBox 6"/>
          <p:cNvSpPr/>
          <p:nvPr/>
        </p:nvSpPr>
        <p:spPr>
          <a:xfrm>
            <a:off x="896040" y="1609200"/>
            <a:ext cx="10413360" cy="29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 Evidencia de Pipeline CI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Projeto/grupo: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Trigger utilizado: push / pull_request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Execucao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Link ou print do pipeline: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Status: verde / vermelho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Teste que prova o comportamento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Nome do teste: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O que ele valida: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Falha analisada (se houve)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Causa: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Correcao aplicada: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Uso de IA (se aplicavel)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Hipotese sugerida: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Validacao humana feita: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1" name="Picture 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832" name="TextBox 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3" name="TextBox 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136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Template - Checklist de Containerização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5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Entregável do Encontro 4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6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37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838" name="Rounded Rectangle 5"/>
          <p:cNvSpPr/>
          <p:nvPr/>
        </p:nvSpPr>
        <p:spPr>
          <a:xfrm>
            <a:off x="731520" y="1481400"/>
            <a:ext cx="1074240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9" name="TextBox 6"/>
          <p:cNvSpPr/>
          <p:nvPr/>
        </p:nvSpPr>
        <p:spPr>
          <a:xfrm>
            <a:off x="896040" y="1609200"/>
            <a:ext cx="10413360" cy="23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 Checklist de Containerizacao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Projeto/grupo: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Execucao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Comando de subida: docker compose up --build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Porta exposta: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Variaveis obrigatorias: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Evidencia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Print/log da aplicacao respondendo: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Endpoint testado: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## Falha diagnosticada (se houve)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Sintoma: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Causa: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Correcao: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0" name="Picture 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841" name="TextBox 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2" name="TextBox 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137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Template - Mini Relatório de Incidente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4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Entregável do Encontro 6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5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248c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46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847" name="Rounded Rectangle 5"/>
          <p:cNvSpPr/>
          <p:nvPr/>
        </p:nvSpPr>
        <p:spPr>
          <a:xfrm>
            <a:off x="731520" y="1481400"/>
            <a:ext cx="1074240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8" name="TextBox 6"/>
          <p:cNvSpPr/>
          <p:nvPr/>
        </p:nvSpPr>
        <p:spPr>
          <a:xfrm>
            <a:off x="896040" y="1609200"/>
            <a:ext cx="10413360" cy="26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 Mini Relatorio de Incidente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Projeto/grupo: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Sintoma observado: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Hipotese inicial: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Evidencia coletada (log/metrica):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Causa confirmada: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Correcao aplicada: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Prevencao futura: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Papel da IA (se usada):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Hipotese sugerida: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- Validacao humana: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9" name="Picture 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850" name="TextBox 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1" name="TextBox 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138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Comandos Rápidos para Consulta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3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Referência para destravar o laboratório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4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55647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55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sp>
        <p:nvSpPr>
          <p:cNvPr id="2856" name="Rounded Rectangle 5"/>
          <p:cNvSpPr/>
          <p:nvPr/>
        </p:nvSpPr>
        <p:spPr>
          <a:xfrm>
            <a:off x="731520" y="1481400"/>
            <a:ext cx="10742400" cy="420444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7" name="TextBox 6"/>
          <p:cNvSpPr/>
          <p:nvPr/>
        </p:nvSpPr>
        <p:spPr>
          <a:xfrm>
            <a:off x="896040" y="1609200"/>
            <a:ext cx="10413360" cy="330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 Git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status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diff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switch -c feature/x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add .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commit -m "tipo: mensagem"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push -u origin feature/x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pull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tag v0.1.0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git log --oneline --graph --decorate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 CI/CD (conferir local antes do pipeline)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npm ci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npm test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npm run build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 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# Docker/Compose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docker build -t app:local .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docker run --rm -p 3000:3000 app:local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docker compose up --build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docker compose logs -f app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docker compose ps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docker compose down -v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80" spc="-1" strike="noStrike">
                <a:solidFill>
                  <a:srgbClr val="e2e8f0"/>
                </a:solidFill>
                <a:latin typeface="Aptos Mono"/>
              </a:rPr>
              <a:t>curl http://localhost:3000/health</a:t>
            </a:r>
            <a:endParaRPr b="0" lang="pt-BR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8" name="Picture 7" descr="Logo Unifor.png"/>
          <p:cNvPicPr/>
          <p:nvPr/>
        </p:nvPicPr>
        <p:blipFill>
          <a:blip r:embed="rId2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859" name="TextBox 8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0" name="TextBox 9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139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Bibliografia Básica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2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Os quatro livros de referência do plano de ensino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3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64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pic>
        <p:nvPicPr>
          <p:cNvPr id="2865" name="Picture 5" descr="continuous_delivery.jpg"/>
          <p:cNvPicPr/>
          <p:nvPr/>
        </p:nvPicPr>
        <p:blipFill>
          <a:blip r:embed="rId2"/>
          <a:stretch/>
        </p:blipFill>
        <p:spPr>
          <a:xfrm>
            <a:off x="1154520" y="1691640"/>
            <a:ext cx="1712880" cy="228420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2866" name="TextBox 6"/>
          <p:cNvSpPr/>
          <p:nvPr/>
        </p:nvSpPr>
        <p:spPr>
          <a:xfrm>
            <a:off x="594360" y="4069080"/>
            <a:ext cx="283284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32b42"/>
                </a:solidFill>
                <a:latin typeface="Aptos"/>
              </a:rPr>
              <a:t>HUMBLE, J.; FARLEY, D.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132b42"/>
                </a:solidFill>
                <a:latin typeface="Aptos"/>
              </a:rPr>
              <a:t>Continuous Delivery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e6c7a"/>
                </a:solidFill>
                <a:latin typeface="Aptos"/>
              </a:rPr>
              <a:t>Addison-Wesley, 2010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7" name="Picture 7" descr="devops_handbook.jpg"/>
          <p:cNvPicPr/>
          <p:nvPr/>
        </p:nvPicPr>
        <p:blipFill>
          <a:blip r:embed="rId3"/>
          <a:stretch/>
        </p:blipFill>
        <p:spPr>
          <a:xfrm>
            <a:off x="3917520" y="1691640"/>
            <a:ext cx="1490040" cy="228420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2868" name="TextBox 8"/>
          <p:cNvSpPr/>
          <p:nvPr/>
        </p:nvSpPr>
        <p:spPr>
          <a:xfrm>
            <a:off x="3246120" y="4069080"/>
            <a:ext cx="283284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32b42"/>
                </a:solidFill>
                <a:latin typeface="Aptos"/>
              </a:rPr>
              <a:t>KIM, G. et al.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132b42"/>
                </a:solidFill>
                <a:latin typeface="Aptos"/>
              </a:rPr>
              <a:t>The DevOps Handbook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e6c7a"/>
                </a:solidFill>
                <a:latin typeface="Aptos"/>
              </a:rPr>
              <a:t>2. ed. IT Revolution, 2021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9" name="Picture 9" descr="accelerate.jpg"/>
          <p:cNvPicPr/>
          <p:nvPr/>
        </p:nvPicPr>
        <p:blipFill>
          <a:blip r:embed="rId4"/>
          <a:stretch/>
        </p:blipFill>
        <p:spPr>
          <a:xfrm>
            <a:off x="6558480" y="1691640"/>
            <a:ext cx="1511640" cy="228420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2870" name="TextBox 10"/>
          <p:cNvSpPr/>
          <p:nvPr/>
        </p:nvSpPr>
        <p:spPr>
          <a:xfrm>
            <a:off x="5897880" y="4069080"/>
            <a:ext cx="283284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32b42"/>
                </a:solidFill>
                <a:latin typeface="Aptos"/>
              </a:rPr>
              <a:t>FORSGREN, N.; HUMBLE, J.; KIM, G.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132b42"/>
                </a:solidFill>
                <a:latin typeface="Aptos"/>
              </a:rPr>
              <a:t>Accelerate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e6c7a"/>
                </a:solidFill>
                <a:latin typeface="Aptos"/>
              </a:rPr>
              <a:t>IT Revolution, 2018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71" name="Picture 11" descr="modern_swe.jpg"/>
          <p:cNvPicPr/>
          <p:nvPr/>
        </p:nvPicPr>
        <p:blipFill>
          <a:blip r:embed="rId5"/>
          <a:stretch/>
        </p:blipFill>
        <p:spPr>
          <a:xfrm>
            <a:off x="9041040" y="1691640"/>
            <a:ext cx="1850040" cy="228420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2872" name="TextBox 12"/>
          <p:cNvSpPr/>
          <p:nvPr/>
        </p:nvSpPr>
        <p:spPr>
          <a:xfrm>
            <a:off x="8549640" y="4069080"/>
            <a:ext cx="283284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32b42"/>
                </a:solidFill>
                <a:latin typeface="Aptos"/>
              </a:rPr>
              <a:t>FARLEY, D.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132b42"/>
                </a:solidFill>
                <a:latin typeface="Aptos"/>
              </a:rPr>
              <a:t>Modern Software Engineering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e6c7a"/>
                </a:solidFill>
                <a:latin typeface="Aptos"/>
              </a:rPr>
              <a:t>Addison-Wesley, 2021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73" name="Picture 13" descr="Logo Unifor.png"/>
          <p:cNvPicPr/>
          <p:nvPr/>
        </p:nvPicPr>
        <p:blipFill>
          <a:blip r:embed="rId6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874" name="TextBox 14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5" name="TextBox 15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140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TextBox 1"/>
          <p:cNvSpPr/>
          <p:nvPr/>
        </p:nvSpPr>
        <p:spPr>
          <a:xfrm>
            <a:off x="594360" y="320040"/>
            <a:ext cx="9873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32b42"/>
                </a:solidFill>
                <a:latin typeface="Aptos"/>
              </a:rPr>
              <a:t>Bibliografia Complementar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7" name="TextBox 2"/>
          <p:cNvSpPr/>
          <p:nvPr/>
        </p:nvSpPr>
        <p:spPr>
          <a:xfrm>
            <a:off x="621720" y="841320"/>
            <a:ext cx="9873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5e6c7a"/>
                </a:solidFill>
                <a:latin typeface="Aptos"/>
              </a:rPr>
              <a:t>Aprofundamento em microsserviços, infraestrutura e operação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8" name="Rectangle 3"/>
          <p:cNvSpPr/>
          <p:nvPr/>
        </p:nvSpPr>
        <p:spPr>
          <a:xfrm>
            <a:off x="594360" y="1152000"/>
            <a:ext cx="1232640" cy="43920"/>
          </a:xfrm>
          <a:prstGeom prst="rect">
            <a:avLst/>
          </a:prstGeom>
          <a:solidFill>
            <a:srgbClr val="266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79" name="Picture 4" descr="Logo Unifor Pos.png"/>
          <p:cNvPicPr/>
          <p:nvPr/>
        </p:nvPicPr>
        <p:blipFill>
          <a:blip r:embed="rId1"/>
          <a:stretch/>
        </p:blipFill>
        <p:spPr>
          <a:xfrm>
            <a:off x="10522080" y="255960"/>
            <a:ext cx="997920" cy="345600"/>
          </a:xfrm>
          <a:prstGeom prst="rect">
            <a:avLst/>
          </a:prstGeom>
          <a:ln w="0">
            <a:noFill/>
          </a:ln>
        </p:spPr>
      </p:pic>
      <p:pic>
        <p:nvPicPr>
          <p:cNvPr id="2880" name="Picture 5" descr="microservices.jpg"/>
          <p:cNvPicPr/>
          <p:nvPr/>
        </p:nvPicPr>
        <p:blipFill>
          <a:blip r:embed="rId2"/>
          <a:stretch/>
        </p:blipFill>
        <p:spPr>
          <a:xfrm>
            <a:off x="1447560" y="1600200"/>
            <a:ext cx="1492200" cy="196416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2881" name="TextBox 6"/>
          <p:cNvSpPr/>
          <p:nvPr/>
        </p:nvSpPr>
        <p:spPr>
          <a:xfrm>
            <a:off x="777240" y="3657600"/>
            <a:ext cx="283284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32b42"/>
                </a:solidFill>
                <a:latin typeface="Aptos"/>
              </a:rPr>
              <a:t>NEWMAN, 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132b42"/>
                </a:solidFill>
                <a:latin typeface="Aptos"/>
              </a:rPr>
              <a:t>Building Microservices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e6c7a"/>
                </a:solidFill>
                <a:latin typeface="Aptos"/>
              </a:rPr>
              <a:t>2. ed. O'Reilly, 2021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2" name="Picture 7" descr="iac.jpg"/>
          <p:cNvPicPr/>
          <p:nvPr/>
        </p:nvPicPr>
        <p:blipFill>
          <a:blip r:embed="rId3"/>
          <a:stretch/>
        </p:blipFill>
        <p:spPr>
          <a:xfrm>
            <a:off x="5345280" y="1600200"/>
            <a:ext cx="1496160" cy="196416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2883" name="TextBox 8"/>
          <p:cNvSpPr/>
          <p:nvPr/>
        </p:nvSpPr>
        <p:spPr>
          <a:xfrm>
            <a:off x="4677120" y="3657600"/>
            <a:ext cx="283284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32b42"/>
                </a:solidFill>
                <a:latin typeface="Aptos"/>
              </a:rPr>
              <a:t>MORRIS, K.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132b42"/>
                </a:solidFill>
                <a:latin typeface="Aptos"/>
              </a:rPr>
              <a:t>Infrastructure as Code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e6c7a"/>
                </a:solidFill>
                <a:latin typeface="Aptos"/>
              </a:rPr>
              <a:t>2. ed. O'Reilly, 2020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4" name="Picture 9" descr="sre.jpg"/>
          <p:cNvPicPr/>
          <p:nvPr/>
        </p:nvPicPr>
        <p:blipFill>
          <a:blip r:embed="rId4"/>
          <a:stretch/>
        </p:blipFill>
        <p:spPr>
          <a:xfrm>
            <a:off x="9245520" y="1600200"/>
            <a:ext cx="1496160" cy="1964160"/>
          </a:xfrm>
          <a:prstGeom prst="rect">
            <a:avLst/>
          </a:prstGeom>
          <a:ln w="9525">
            <a:solidFill>
              <a:srgbClr val="dae0e7"/>
            </a:solidFill>
            <a:round/>
          </a:ln>
        </p:spPr>
      </p:pic>
      <p:sp>
        <p:nvSpPr>
          <p:cNvPr id="2885" name="TextBox 10"/>
          <p:cNvSpPr/>
          <p:nvPr/>
        </p:nvSpPr>
        <p:spPr>
          <a:xfrm>
            <a:off x="8577000" y="3657600"/>
            <a:ext cx="2832840" cy="5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32b42"/>
                </a:solidFill>
                <a:latin typeface="Aptos"/>
              </a:rPr>
              <a:t>BEYER, B. et al. (org.)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150" spc="-1" strike="noStrike">
                <a:solidFill>
                  <a:srgbClr val="132b42"/>
                </a:solidFill>
                <a:latin typeface="Aptos"/>
              </a:rPr>
              <a:t>Site Reliability Engineering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e6c7a"/>
                </a:solidFill>
                <a:latin typeface="Aptos"/>
              </a:rPr>
              <a:t>O'Reilly, 2016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6" name="Rounded Rectangle 11"/>
          <p:cNvSpPr/>
          <p:nvPr/>
        </p:nvSpPr>
        <p:spPr>
          <a:xfrm>
            <a:off x="685800" y="4572000"/>
            <a:ext cx="10833840" cy="182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0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7" name="Rectangle 12"/>
          <p:cNvSpPr/>
          <p:nvPr/>
        </p:nvSpPr>
        <p:spPr>
          <a:xfrm>
            <a:off x="685800" y="4572000"/>
            <a:ext cx="71280" cy="1827000"/>
          </a:xfrm>
          <a:prstGeom prst="rect">
            <a:avLst/>
          </a:prstGeom>
          <a:solidFill>
            <a:srgbClr val="6750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8" name="TextBox 13"/>
          <p:cNvSpPr/>
          <p:nvPr/>
        </p:nvSpPr>
        <p:spPr>
          <a:xfrm>
            <a:off x="850320" y="4700160"/>
            <a:ext cx="10541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32b42"/>
                </a:solidFill>
                <a:latin typeface="Aptos"/>
              </a:rPr>
              <a:t>Ferramentas, métricas e governança de IA — referências online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9" name="TextBox 14"/>
          <p:cNvSpPr/>
          <p:nvPr/>
        </p:nvSpPr>
        <p:spPr>
          <a:xfrm>
            <a:off x="850320" y="5056560"/>
            <a:ext cx="1054116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DORA; Google Cloud. DORA's software delivery performance metrics.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GitHub. GitHub Actions documentation. | GitHub. GitHub Copilot documentation.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Docker. Docker Compose documentation. | HashiCorp. Terraform Documentation.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OpenAI. Codex: AI coding agents for software engineering. | Google. Gemini Code Assist overview.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NIST. Artificial Intelligence Risk Management Framework (AI RMF 1.0), 2023.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• </a:t>
            </a:r>
            <a:r>
              <a:rPr b="0" lang="en-US" sz="1080" spc="-1" strike="noStrike">
                <a:solidFill>
                  <a:srgbClr val="0f172a"/>
                </a:solidFill>
                <a:latin typeface="Aptos"/>
              </a:rPr>
              <a:t>OWASP. OWASP GenAI LLM Top 10 2026.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0" name="Picture 15" descr="Logo Unifor.png"/>
          <p:cNvPicPr/>
          <p:nvPr/>
        </p:nvPicPr>
        <p:blipFill>
          <a:blip r:embed="rId5"/>
          <a:stretch/>
        </p:blipFill>
        <p:spPr>
          <a:xfrm>
            <a:off x="594360" y="6473880"/>
            <a:ext cx="562680" cy="172080"/>
          </a:xfrm>
          <a:prstGeom prst="rect">
            <a:avLst/>
          </a:prstGeom>
          <a:ln w="0">
            <a:noFill/>
          </a:ln>
        </p:spPr>
      </p:pic>
      <p:sp>
        <p:nvSpPr>
          <p:cNvPr id="2891" name="TextBox 16"/>
          <p:cNvSpPr/>
          <p:nvPr/>
        </p:nvSpPr>
        <p:spPr>
          <a:xfrm>
            <a:off x="1298520" y="6446520"/>
            <a:ext cx="6581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PG2305-04-Z251 | Desenvolvimento de Software Integrado - DevOps | Turma 4 - Z251 | 2026.2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2" name="TextBox 17"/>
          <p:cNvSpPr/>
          <p:nvPr/>
        </p:nvSpPr>
        <p:spPr>
          <a:xfrm>
            <a:off x="10972800" y="6446520"/>
            <a:ext cx="729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5e6c7a"/>
                </a:solidFill>
                <a:latin typeface="Aptos"/>
              </a:rPr>
              <a:t>141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2026-09-11T15:42:57Z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